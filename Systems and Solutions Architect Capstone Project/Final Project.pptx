
<file path=[Content_Types].xml><?xml version="1.0" encoding="utf-8"?>
<Types xmlns="http://schemas.openxmlformats.org/package/2006/content-types">
  <Default Extension="png" ContentType="image/png"/>
  <Default Extension="bin" ContentType="application/vnd.openxmlformats-officedocument.oleObject"/>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omments/modernComment_183_64C5BD31.xml" ContentType="application/vnd.ms-powerpoint.comments+xml"/>
  <Override PartName="/ppt/authors.xml" ContentType="application/vnd.ms-powerpoint.author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8" r:id="rId2"/>
    <p:sldId id="368" r:id="rId3"/>
    <p:sldId id="369" r:id="rId4"/>
    <p:sldId id="370" r:id="rId5"/>
    <p:sldId id="303" r:id="rId6"/>
    <p:sldId id="343" r:id="rId7"/>
    <p:sldId id="372" r:id="rId8"/>
    <p:sldId id="373" r:id="rId9"/>
    <p:sldId id="374" r:id="rId10"/>
    <p:sldId id="375" r:id="rId11"/>
    <p:sldId id="376" r:id="rId12"/>
    <p:sldId id="377" r:id="rId13"/>
    <p:sldId id="407" r:id="rId14"/>
    <p:sldId id="378" r:id="rId15"/>
    <p:sldId id="379" r:id="rId16"/>
    <p:sldId id="380" r:id="rId17"/>
    <p:sldId id="387" r:id="rId18"/>
    <p:sldId id="390" r:id="rId19"/>
    <p:sldId id="391" r:id="rId20"/>
    <p:sldId id="420" r:id="rId21"/>
    <p:sldId id="421" r:id="rId22"/>
    <p:sldId id="393" r:id="rId23"/>
    <p:sldId id="422" r:id="rId24"/>
    <p:sldId id="423" r:id="rId25"/>
    <p:sldId id="424" r:id="rId26"/>
    <p:sldId id="425" r:id="rId27"/>
    <p:sldId id="394" r:id="rId28"/>
    <p:sldId id="426" r:id="rId29"/>
    <p:sldId id="411" r:id="rId30"/>
    <p:sldId id="427" r:id="rId31"/>
    <p:sldId id="428" r:id="rId32"/>
    <p:sldId id="429" r:id="rId33"/>
    <p:sldId id="430" r:id="rId34"/>
    <p:sldId id="431" r:id="rId35"/>
    <p:sldId id="402" r:id="rId36"/>
    <p:sldId id="409" r:id="rId37"/>
    <p:sldId id="410" r:id="rId38"/>
    <p:sldId id="405" r:id="rId39"/>
    <p:sldId id="40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A79EE2B-559B-DC2B-4C15-287514012CD8}" name="Vijay Gupta" initials="VG" userId="S::vijayg@skillup.tech::ae923e97-9288-45af-aa7f-91e714269c80" providerId="AD"/>
  <p188:author id="{E43AE3D5-86DE-71E4-AD78-F0C764A70C96}" name="PRAVEEN THAPLIYAL" initials="PT" userId="8aD9aY3AfM3zttAgeD+ifzCDEfV2eJC1xVKAc9dKGVQ="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1E28"/>
    <a:srgbClr val="00539A"/>
    <a:srgbClr val="491D8B"/>
    <a:srgbClr val="9F1853"/>
    <a:srgbClr val="001D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C9438C-018C-4128-B5DD-FEB867E916A6}" v="423" dt="2026-01-14T00:50:38.33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showGuides="1">
      <p:cViewPr varScale="1">
        <p:scale>
          <a:sx n="65" d="100"/>
          <a:sy n="65" d="100"/>
        </p:scale>
        <p:origin x="724"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jy John" userId="fNKV7hVHPOcypogTpQcMovdyCqGYnK36TpifI0txQVU=" providerId="None" clId="Web-{E9C9438C-018C-4128-B5DD-FEB867E916A6}"/>
    <pc:docChg chg="addSld delSld modSld sldOrd">
      <pc:chgData name="Jojy John" userId="fNKV7hVHPOcypogTpQcMovdyCqGYnK36TpifI0txQVU=" providerId="None" clId="Web-{E9C9438C-018C-4128-B5DD-FEB867E916A6}" dt="2026-01-14T00:50:36.618" v="362" actId="20577"/>
      <pc:docMkLst>
        <pc:docMk/>
      </pc:docMkLst>
      <pc:sldChg chg="modSp">
        <pc:chgData name="Jojy John" userId="fNKV7hVHPOcypogTpQcMovdyCqGYnK36TpifI0txQVU=" providerId="None" clId="Web-{E9C9438C-018C-4128-B5DD-FEB867E916A6}" dt="2026-01-13T07:57:43.818" v="77" actId="20577"/>
        <pc:sldMkLst>
          <pc:docMk/>
          <pc:sldMk cId="2185482482" sldId="390"/>
        </pc:sldMkLst>
        <pc:spChg chg="mod">
          <ac:chgData name="Jojy John" userId="fNKV7hVHPOcypogTpQcMovdyCqGYnK36TpifI0txQVU=" providerId="None" clId="Web-{E9C9438C-018C-4128-B5DD-FEB867E916A6}" dt="2026-01-13T07:57:43.818" v="77" actId="20577"/>
          <ac:spMkLst>
            <pc:docMk/>
            <pc:sldMk cId="2185482482" sldId="390"/>
            <ac:spMk id="8" creationId="{DB049CFC-0239-E617-90F7-4A261297D600}"/>
          </ac:spMkLst>
        </pc:spChg>
      </pc:sldChg>
      <pc:sldChg chg="modSp">
        <pc:chgData name="Jojy John" userId="fNKV7hVHPOcypogTpQcMovdyCqGYnK36TpifI0txQVU=" providerId="None" clId="Web-{E9C9438C-018C-4128-B5DD-FEB867E916A6}" dt="2026-01-14T00:32:18.902" v="306" actId="20577"/>
        <pc:sldMkLst>
          <pc:docMk/>
          <pc:sldMk cId="4238968842" sldId="391"/>
        </pc:sldMkLst>
        <pc:spChg chg="mod">
          <ac:chgData name="Jojy John" userId="fNKV7hVHPOcypogTpQcMovdyCqGYnK36TpifI0txQVU=" providerId="None" clId="Web-{E9C9438C-018C-4128-B5DD-FEB867E916A6}" dt="2026-01-13T07:57:55.870" v="80" actId="20577"/>
          <ac:spMkLst>
            <pc:docMk/>
            <pc:sldMk cId="4238968842" sldId="391"/>
            <ac:spMk id="4" creationId="{BD23D89A-BBAA-408C-0CCD-31610E3D910C}"/>
          </ac:spMkLst>
        </pc:spChg>
        <pc:spChg chg="mod">
          <ac:chgData name="Jojy John" userId="fNKV7hVHPOcypogTpQcMovdyCqGYnK36TpifI0txQVU=" providerId="None" clId="Web-{E9C9438C-018C-4128-B5DD-FEB867E916A6}" dt="2026-01-14T00:32:18.902" v="306" actId="20577"/>
          <ac:spMkLst>
            <pc:docMk/>
            <pc:sldMk cId="4238968842" sldId="391"/>
            <ac:spMk id="8" creationId="{ADD21A90-2949-64C5-5B7F-3467C985E63C}"/>
          </ac:spMkLst>
        </pc:spChg>
      </pc:sldChg>
      <pc:sldChg chg="modSp">
        <pc:chgData name="Jojy John" userId="fNKV7hVHPOcypogTpQcMovdyCqGYnK36TpifI0txQVU=" providerId="None" clId="Web-{E9C9438C-018C-4128-B5DD-FEB867E916A6}" dt="2026-01-14T00:50:36.618" v="362" actId="20577"/>
        <pc:sldMkLst>
          <pc:docMk/>
          <pc:sldMk cId="2472288591" sldId="393"/>
        </pc:sldMkLst>
        <pc:spChg chg="mod">
          <ac:chgData name="Jojy John" userId="fNKV7hVHPOcypogTpQcMovdyCqGYnK36TpifI0txQVU=" providerId="None" clId="Web-{E9C9438C-018C-4128-B5DD-FEB867E916A6}" dt="2026-01-13T07:59:13.387" v="88" actId="20577"/>
          <ac:spMkLst>
            <pc:docMk/>
            <pc:sldMk cId="2472288591" sldId="393"/>
            <ac:spMk id="4" creationId="{07D48B57-8B80-2913-BD20-CD738953F632}"/>
          </ac:spMkLst>
        </pc:spChg>
        <pc:spChg chg="mod">
          <ac:chgData name="Jojy John" userId="fNKV7hVHPOcypogTpQcMovdyCqGYnK36TpifI0txQVU=" providerId="None" clId="Web-{E9C9438C-018C-4128-B5DD-FEB867E916A6}" dt="2026-01-14T00:50:36.618" v="362" actId="20577"/>
          <ac:spMkLst>
            <pc:docMk/>
            <pc:sldMk cId="2472288591" sldId="393"/>
            <ac:spMk id="8" creationId="{65495165-6991-8FF4-F704-6E297EAFFECE}"/>
          </ac:spMkLst>
        </pc:spChg>
      </pc:sldChg>
      <pc:sldChg chg="modSp">
        <pc:chgData name="Jojy John" userId="fNKV7hVHPOcypogTpQcMovdyCqGYnK36TpifI0txQVU=" providerId="None" clId="Web-{E9C9438C-018C-4128-B5DD-FEB867E916A6}" dt="2026-01-14T00:39:08.461" v="317" actId="20577"/>
        <pc:sldMkLst>
          <pc:docMk/>
          <pc:sldMk cId="2195193157" sldId="394"/>
        </pc:sldMkLst>
        <pc:spChg chg="mod">
          <ac:chgData name="Jojy John" userId="fNKV7hVHPOcypogTpQcMovdyCqGYnK36TpifI0txQVU=" providerId="None" clId="Web-{E9C9438C-018C-4128-B5DD-FEB867E916A6}" dt="2026-01-14T00:39:08.461" v="317" actId="20577"/>
          <ac:spMkLst>
            <pc:docMk/>
            <pc:sldMk cId="2195193157" sldId="394"/>
            <ac:spMk id="4" creationId="{DA1F0203-3159-B3EA-3C91-8052123825C0}"/>
          </ac:spMkLst>
        </pc:spChg>
        <pc:spChg chg="mod">
          <ac:chgData name="Jojy John" userId="fNKV7hVHPOcypogTpQcMovdyCqGYnK36TpifI0txQVU=" providerId="None" clId="Web-{E9C9438C-018C-4128-B5DD-FEB867E916A6}" dt="2026-01-13T17:15:49.978" v="301" actId="20577"/>
          <ac:spMkLst>
            <pc:docMk/>
            <pc:sldMk cId="2195193157" sldId="394"/>
            <ac:spMk id="8" creationId="{5720B179-696D-9BCE-D135-4ECE0E4FD1FD}"/>
          </ac:spMkLst>
        </pc:spChg>
      </pc:sldChg>
      <pc:sldChg chg="del">
        <pc:chgData name="Jojy John" userId="fNKV7hVHPOcypogTpQcMovdyCqGYnK36TpifI0txQVU=" providerId="None" clId="Web-{E9C9438C-018C-4128-B5DD-FEB867E916A6}" dt="2026-01-14T00:43:18.603" v="349"/>
        <pc:sldMkLst>
          <pc:docMk/>
          <pc:sldMk cId="2338594038" sldId="395"/>
        </pc:sldMkLst>
      </pc:sldChg>
      <pc:sldChg chg="del">
        <pc:chgData name="Jojy John" userId="fNKV7hVHPOcypogTpQcMovdyCqGYnK36TpifI0txQVU=" providerId="None" clId="Web-{E9C9438C-018C-4128-B5DD-FEB867E916A6}" dt="2026-01-14T00:43:17.493" v="348"/>
        <pc:sldMkLst>
          <pc:docMk/>
          <pc:sldMk cId="1318145206" sldId="396"/>
        </pc:sldMkLst>
      </pc:sldChg>
      <pc:sldChg chg="del">
        <pc:chgData name="Jojy John" userId="fNKV7hVHPOcypogTpQcMovdyCqGYnK36TpifI0txQVU=" providerId="None" clId="Web-{E9C9438C-018C-4128-B5DD-FEB867E916A6}" dt="2026-01-14T00:43:16.493" v="347"/>
        <pc:sldMkLst>
          <pc:docMk/>
          <pc:sldMk cId="970132721" sldId="397"/>
        </pc:sldMkLst>
      </pc:sldChg>
      <pc:sldChg chg="del">
        <pc:chgData name="Jojy John" userId="fNKV7hVHPOcypogTpQcMovdyCqGYnK36TpifI0txQVU=" providerId="None" clId="Web-{E9C9438C-018C-4128-B5DD-FEB867E916A6}" dt="2026-01-14T00:43:11.134" v="344"/>
        <pc:sldMkLst>
          <pc:docMk/>
          <pc:sldMk cId="2132424631" sldId="398"/>
        </pc:sldMkLst>
      </pc:sldChg>
      <pc:sldChg chg="del">
        <pc:chgData name="Jojy John" userId="fNKV7hVHPOcypogTpQcMovdyCqGYnK36TpifI0txQVU=" providerId="None" clId="Web-{E9C9438C-018C-4128-B5DD-FEB867E916A6}" dt="2026-01-14T00:43:07.134" v="343"/>
        <pc:sldMkLst>
          <pc:docMk/>
          <pc:sldMk cId="3013663133" sldId="399"/>
        </pc:sldMkLst>
      </pc:sldChg>
      <pc:sldChg chg="del">
        <pc:chgData name="Jojy John" userId="fNKV7hVHPOcypogTpQcMovdyCqGYnK36TpifI0txQVU=" providerId="None" clId="Web-{E9C9438C-018C-4128-B5DD-FEB867E916A6}" dt="2026-01-14T00:43:05.134" v="342"/>
        <pc:sldMkLst>
          <pc:docMk/>
          <pc:sldMk cId="1631569173" sldId="400"/>
        </pc:sldMkLst>
      </pc:sldChg>
      <pc:sldChg chg="ord">
        <pc:chgData name="Jojy John" userId="fNKV7hVHPOcypogTpQcMovdyCqGYnK36TpifI0txQVU=" providerId="None" clId="Web-{E9C9438C-018C-4128-B5DD-FEB867E916A6}" dt="2026-01-13T17:14:03.541" v="300"/>
        <pc:sldMkLst>
          <pc:docMk/>
          <pc:sldMk cId="2555747456" sldId="402"/>
        </pc:sldMkLst>
      </pc:sldChg>
      <pc:sldChg chg="del">
        <pc:chgData name="Jojy John" userId="fNKV7hVHPOcypogTpQcMovdyCqGYnK36TpifI0txQVU=" providerId="None" clId="Web-{E9C9438C-018C-4128-B5DD-FEB867E916A6}" dt="2026-01-14T00:43:02.321" v="340"/>
        <pc:sldMkLst>
          <pc:docMk/>
          <pc:sldMk cId="2821731014" sldId="403"/>
        </pc:sldMkLst>
      </pc:sldChg>
      <pc:sldChg chg="del">
        <pc:chgData name="Jojy John" userId="fNKV7hVHPOcypogTpQcMovdyCqGYnK36TpifI0txQVU=" providerId="None" clId="Web-{E9C9438C-018C-4128-B5DD-FEB867E916A6}" dt="2026-01-14T00:42:58.806" v="339"/>
        <pc:sldMkLst>
          <pc:docMk/>
          <pc:sldMk cId="1923470524" sldId="404"/>
        </pc:sldMkLst>
      </pc:sldChg>
      <pc:sldChg chg="modSp add del ord modCm">
        <pc:chgData name="Jojy John" userId="fNKV7hVHPOcypogTpQcMovdyCqGYnK36TpifI0txQVU=" providerId="None" clId="Web-{E9C9438C-018C-4128-B5DD-FEB867E916A6}" dt="2026-01-14T00:43:53.524" v="357"/>
        <pc:sldMkLst>
          <pc:docMk/>
          <pc:sldMk cId="2607404804" sldId="405"/>
        </pc:sldMkLst>
        <pc:spChg chg="mod">
          <ac:chgData name="Jojy John" userId="fNKV7hVHPOcypogTpQcMovdyCqGYnK36TpifI0txQVU=" providerId="None" clId="Web-{E9C9438C-018C-4128-B5DD-FEB867E916A6}" dt="2026-01-14T00:41:21.025" v="328" actId="20577"/>
          <ac:spMkLst>
            <pc:docMk/>
            <pc:sldMk cId="2607404804" sldId="405"/>
            <ac:spMk id="8" creationId="{F58C856C-E871-1D81-9531-41D62F571353}"/>
          </ac:spMkLst>
        </pc:spChg>
        <pc:extLst>
          <p:ext xmlns:p="http://schemas.openxmlformats.org/presentationml/2006/main" uri="{D6D511B9-2390-475A-947B-AFAB55BFBCF1}">
            <pc226:cmChg xmlns:pc226="http://schemas.microsoft.com/office/powerpoint/2022/06/main/command" chg="mod">
              <pc226:chgData name="Jojy John" userId="fNKV7hVHPOcypogTpQcMovdyCqGYnK36TpifI0txQVU=" providerId="None" clId="Web-{E9C9438C-018C-4128-B5DD-FEB867E916A6}" dt="2026-01-14T00:41:21.025" v="328" actId="20577"/>
              <pc2:cmMkLst xmlns:pc2="http://schemas.microsoft.com/office/powerpoint/2019/9/main/command">
                <pc:docMk/>
                <pc:sldMk cId="2607404804" sldId="405"/>
                <pc2:cmMk id="{5FEC417D-6109-465F-A174-9BECE40515B2}"/>
              </pc2:cmMkLst>
            </pc226:cmChg>
          </p:ext>
        </pc:extLst>
      </pc:sldChg>
      <pc:sldChg chg="del">
        <pc:chgData name="Jojy John" userId="fNKV7hVHPOcypogTpQcMovdyCqGYnK36TpifI0txQVU=" providerId="None" clId="Web-{E9C9438C-018C-4128-B5DD-FEB867E916A6}" dt="2026-01-14T00:43:04.071" v="341"/>
        <pc:sldMkLst>
          <pc:docMk/>
          <pc:sldMk cId="3607627578" sldId="408"/>
        </pc:sldMkLst>
      </pc:sldChg>
      <pc:sldChg chg="modSp">
        <pc:chgData name="Jojy John" userId="fNKV7hVHPOcypogTpQcMovdyCqGYnK36TpifI0txQVU=" providerId="None" clId="Web-{E9C9438C-018C-4128-B5DD-FEB867E916A6}" dt="2026-01-14T00:42:44.384" v="338" actId="20577"/>
        <pc:sldMkLst>
          <pc:docMk/>
          <pc:sldMk cId="1594822019" sldId="409"/>
        </pc:sldMkLst>
        <pc:spChg chg="mod">
          <ac:chgData name="Jojy John" userId="fNKV7hVHPOcypogTpQcMovdyCqGYnK36TpifI0txQVU=" providerId="None" clId="Web-{E9C9438C-018C-4128-B5DD-FEB867E916A6}" dt="2026-01-13T17:06:06.717" v="290" actId="20577"/>
          <ac:spMkLst>
            <pc:docMk/>
            <pc:sldMk cId="1594822019" sldId="409"/>
            <ac:spMk id="4" creationId="{FB027EF3-E175-97A4-E55A-3F99214BCB8F}"/>
          </ac:spMkLst>
        </pc:spChg>
        <pc:spChg chg="mod">
          <ac:chgData name="Jojy John" userId="fNKV7hVHPOcypogTpQcMovdyCqGYnK36TpifI0txQVU=" providerId="None" clId="Web-{E9C9438C-018C-4128-B5DD-FEB867E916A6}" dt="2026-01-14T00:42:44.384" v="338" actId="20577"/>
          <ac:spMkLst>
            <pc:docMk/>
            <pc:sldMk cId="1594822019" sldId="409"/>
            <ac:spMk id="8" creationId="{B7F8757F-14D2-A91B-246F-1E4177D4C520}"/>
          </ac:spMkLst>
        </pc:spChg>
      </pc:sldChg>
      <pc:sldChg chg="modSp add del">
        <pc:chgData name="Jojy John" userId="fNKV7hVHPOcypogTpQcMovdyCqGYnK36TpifI0txQVU=" providerId="None" clId="Web-{E9C9438C-018C-4128-B5DD-FEB867E916A6}" dt="2026-01-14T00:43:39.134" v="356"/>
        <pc:sldMkLst>
          <pc:docMk/>
          <pc:sldMk cId="4110692607" sldId="410"/>
        </pc:sldMkLst>
        <pc:spChg chg="mod">
          <ac:chgData name="Jojy John" userId="fNKV7hVHPOcypogTpQcMovdyCqGYnK36TpifI0txQVU=" providerId="None" clId="Web-{E9C9438C-018C-4128-B5DD-FEB867E916A6}" dt="2026-01-13T17:07:06.435" v="297" actId="20577"/>
          <ac:spMkLst>
            <pc:docMk/>
            <pc:sldMk cId="4110692607" sldId="410"/>
            <ac:spMk id="4" creationId="{BC1E832A-5D3E-611B-6EEA-48C31A729DB9}"/>
          </ac:spMkLst>
        </pc:spChg>
        <pc:spChg chg="mod">
          <ac:chgData name="Jojy John" userId="fNKV7hVHPOcypogTpQcMovdyCqGYnK36TpifI0txQVU=" providerId="None" clId="Web-{E9C9438C-018C-4128-B5DD-FEB867E916A6}" dt="2026-01-14T00:42:20.103" v="334" actId="20577"/>
          <ac:spMkLst>
            <pc:docMk/>
            <pc:sldMk cId="4110692607" sldId="410"/>
            <ac:spMk id="8" creationId="{E91DBB7E-8308-CDF9-F42F-CB5B33C06C63}"/>
          </ac:spMkLst>
        </pc:spChg>
      </pc:sldChg>
      <pc:sldChg chg="modSp">
        <pc:chgData name="Jojy John" userId="fNKV7hVHPOcypogTpQcMovdyCqGYnK36TpifI0txQVU=" providerId="None" clId="Web-{E9C9438C-018C-4128-B5DD-FEB867E916A6}" dt="2026-01-13T17:02:49.373" v="275" actId="20577"/>
        <pc:sldMkLst>
          <pc:docMk/>
          <pc:sldMk cId="1454088270" sldId="411"/>
        </pc:sldMkLst>
        <pc:spChg chg="mod">
          <ac:chgData name="Jojy John" userId="fNKV7hVHPOcypogTpQcMovdyCqGYnK36TpifI0txQVU=" providerId="None" clId="Web-{E9C9438C-018C-4128-B5DD-FEB867E916A6}" dt="2026-01-13T16:53:06.175" v="240" actId="20577"/>
          <ac:spMkLst>
            <pc:docMk/>
            <pc:sldMk cId="1454088270" sldId="411"/>
            <ac:spMk id="4" creationId="{51A26662-7D55-8D74-DB1C-CE6350E9AE94}"/>
          </ac:spMkLst>
        </pc:spChg>
        <pc:spChg chg="mod">
          <ac:chgData name="Jojy John" userId="fNKV7hVHPOcypogTpQcMovdyCqGYnK36TpifI0txQVU=" providerId="None" clId="Web-{E9C9438C-018C-4128-B5DD-FEB867E916A6}" dt="2026-01-13T17:02:49.373" v="275" actId="20577"/>
          <ac:spMkLst>
            <pc:docMk/>
            <pc:sldMk cId="1454088270" sldId="411"/>
            <ac:spMk id="8" creationId="{1FD1E875-4172-0570-4CDD-CDE5A56ADD52}"/>
          </ac:spMkLst>
        </pc:spChg>
      </pc:sldChg>
      <pc:sldChg chg="del">
        <pc:chgData name="Jojy John" userId="fNKV7hVHPOcypogTpQcMovdyCqGYnK36TpifI0txQVU=" providerId="None" clId="Web-{E9C9438C-018C-4128-B5DD-FEB867E916A6}" dt="2026-01-14T00:43:23.103" v="353"/>
        <pc:sldMkLst>
          <pc:docMk/>
          <pc:sldMk cId="627445149" sldId="412"/>
        </pc:sldMkLst>
      </pc:sldChg>
      <pc:sldChg chg="del">
        <pc:chgData name="Jojy John" userId="fNKV7hVHPOcypogTpQcMovdyCqGYnK36TpifI0txQVU=" providerId="None" clId="Web-{E9C9438C-018C-4128-B5DD-FEB867E916A6}" dt="2026-01-14T00:43:15.259" v="346"/>
        <pc:sldMkLst>
          <pc:docMk/>
          <pc:sldMk cId="1106089016" sldId="414"/>
        </pc:sldMkLst>
      </pc:sldChg>
      <pc:sldChg chg="del">
        <pc:chgData name="Jojy John" userId="fNKV7hVHPOcypogTpQcMovdyCqGYnK36TpifI0txQVU=" providerId="None" clId="Web-{E9C9438C-018C-4128-B5DD-FEB867E916A6}" dt="2026-01-14T00:43:22.118" v="352"/>
        <pc:sldMkLst>
          <pc:docMk/>
          <pc:sldMk cId="2211447290" sldId="415"/>
        </pc:sldMkLst>
      </pc:sldChg>
      <pc:sldChg chg="del">
        <pc:chgData name="Jojy John" userId="fNKV7hVHPOcypogTpQcMovdyCqGYnK36TpifI0txQVU=" providerId="None" clId="Web-{E9C9438C-018C-4128-B5DD-FEB867E916A6}" dt="2026-01-14T00:43:21.071" v="351"/>
        <pc:sldMkLst>
          <pc:docMk/>
          <pc:sldMk cId="3653763197" sldId="416"/>
        </pc:sldMkLst>
      </pc:sldChg>
      <pc:sldChg chg="del">
        <pc:chgData name="Jojy John" userId="fNKV7hVHPOcypogTpQcMovdyCqGYnK36TpifI0txQVU=" providerId="None" clId="Web-{E9C9438C-018C-4128-B5DD-FEB867E916A6}" dt="2026-01-14T00:43:19.743" v="350"/>
        <pc:sldMkLst>
          <pc:docMk/>
          <pc:sldMk cId="2899722180" sldId="417"/>
        </pc:sldMkLst>
      </pc:sldChg>
      <pc:sldChg chg="del">
        <pc:chgData name="Jojy John" userId="fNKV7hVHPOcypogTpQcMovdyCqGYnK36TpifI0txQVU=" providerId="None" clId="Web-{E9C9438C-018C-4128-B5DD-FEB867E916A6}" dt="2026-01-14T00:43:13.587" v="345"/>
        <pc:sldMkLst>
          <pc:docMk/>
          <pc:sldMk cId="929604826" sldId="418"/>
        </pc:sldMkLst>
      </pc:sldChg>
      <pc:sldChg chg="modSp add del replId">
        <pc:chgData name="Jojy John" userId="fNKV7hVHPOcypogTpQcMovdyCqGYnK36TpifI0txQVU=" providerId="None" clId="Web-{E9C9438C-018C-4128-B5DD-FEB867E916A6}" dt="2026-01-14T00:32:22.402" v="307"/>
        <pc:sldMkLst>
          <pc:docMk/>
          <pc:sldMk cId="319928139" sldId="419"/>
        </pc:sldMkLst>
        <pc:spChg chg="mod">
          <ac:chgData name="Jojy John" userId="fNKV7hVHPOcypogTpQcMovdyCqGYnK36TpifI0txQVU=" providerId="None" clId="Web-{E9C9438C-018C-4128-B5DD-FEB867E916A6}" dt="2026-01-13T16:03:45.805" v="144" actId="20577"/>
          <ac:spMkLst>
            <pc:docMk/>
            <pc:sldMk cId="319928139" sldId="419"/>
            <ac:spMk id="8" creationId="{DA85134A-63DE-8FB6-A899-7A6076A0111F}"/>
          </ac:spMkLst>
        </pc:spChg>
      </pc:sldChg>
      <pc:sldChg chg="modSp add replId">
        <pc:chgData name="Jojy John" userId="fNKV7hVHPOcypogTpQcMovdyCqGYnK36TpifI0txQVU=" providerId="None" clId="Web-{E9C9438C-018C-4128-B5DD-FEB867E916A6}" dt="2026-01-13T16:04:26.227" v="156" actId="20577"/>
        <pc:sldMkLst>
          <pc:docMk/>
          <pc:sldMk cId="3803525537" sldId="420"/>
        </pc:sldMkLst>
        <pc:spChg chg="mod">
          <ac:chgData name="Jojy John" userId="fNKV7hVHPOcypogTpQcMovdyCqGYnK36TpifI0txQVU=" providerId="None" clId="Web-{E9C9438C-018C-4128-B5DD-FEB867E916A6}" dt="2026-01-13T16:04:26.227" v="156" actId="20577"/>
          <ac:spMkLst>
            <pc:docMk/>
            <pc:sldMk cId="3803525537" sldId="420"/>
            <ac:spMk id="8" creationId="{099B7162-7D75-D20D-2B5C-099DFE9F376B}"/>
          </ac:spMkLst>
        </pc:spChg>
      </pc:sldChg>
      <pc:sldChg chg="modSp add replId">
        <pc:chgData name="Jojy John" userId="fNKV7hVHPOcypogTpQcMovdyCqGYnK36TpifI0txQVU=" providerId="None" clId="Web-{E9C9438C-018C-4128-B5DD-FEB867E916A6}" dt="2026-01-14T00:32:41.620" v="308" actId="20577"/>
        <pc:sldMkLst>
          <pc:docMk/>
          <pc:sldMk cId="2933810248" sldId="421"/>
        </pc:sldMkLst>
        <pc:spChg chg="mod">
          <ac:chgData name="Jojy John" userId="fNKV7hVHPOcypogTpQcMovdyCqGYnK36TpifI0txQVU=" providerId="None" clId="Web-{E9C9438C-018C-4128-B5DD-FEB867E916A6}" dt="2026-01-14T00:32:41.620" v="308" actId="20577"/>
          <ac:spMkLst>
            <pc:docMk/>
            <pc:sldMk cId="2933810248" sldId="421"/>
            <ac:spMk id="8" creationId="{FB3A29F4-6013-B47C-5654-F2A830BCA049}"/>
          </ac:spMkLst>
        </pc:spChg>
      </pc:sldChg>
      <pc:sldChg chg="modSp add replId">
        <pc:chgData name="Jojy John" userId="fNKV7hVHPOcypogTpQcMovdyCqGYnK36TpifI0txQVU=" providerId="None" clId="Web-{E9C9438C-018C-4128-B5DD-FEB867E916A6}" dt="2026-01-14T00:33:17.136" v="310" actId="20577"/>
        <pc:sldMkLst>
          <pc:docMk/>
          <pc:sldMk cId="1162413134" sldId="422"/>
        </pc:sldMkLst>
        <pc:spChg chg="mod">
          <ac:chgData name="Jojy John" userId="fNKV7hVHPOcypogTpQcMovdyCqGYnK36TpifI0txQVU=" providerId="None" clId="Web-{E9C9438C-018C-4128-B5DD-FEB867E916A6}" dt="2026-01-14T00:33:17.136" v="310" actId="20577"/>
          <ac:spMkLst>
            <pc:docMk/>
            <pc:sldMk cId="1162413134" sldId="422"/>
            <ac:spMk id="8" creationId="{3BA6798E-F6F4-42FB-C8A3-C3DD88D25CD7}"/>
          </ac:spMkLst>
        </pc:spChg>
      </pc:sldChg>
      <pc:sldChg chg="modSp add replId">
        <pc:chgData name="Jojy John" userId="fNKV7hVHPOcypogTpQcMovdyCqGYnK36TpifI0txQVU=" providerId="None" clId="Web-{E9C9438C-018C-4128-B5DD-FEB867E916A6}" dt="2026-01-14T00:33:39.245" v="313" actId="20577"/>
        <pc:sldMkLst>
          <pc:docMk/>
          <pc:sldMk cId="1011941594" sldId="423"/>
        </pc:sldMkLst>
        <pc:spChg chg="mod">
          <ac:chgData name="Jojy John" userId="fNKV7hVHPOcypogTpQcMovdyCqGYnK36TpifI0txQVU=" providerId="None" clId="Web-{E9C9438C-018C-4128-B5DD-FEB867E916A6}" dt="2026-01-14T00:33:39.245" v="313" actId="20577"/>
          <ac:spMkLst>
            <pc:docMk/>
            <pc:sldMk cId="1011941594" sldId="423"/>
            <ac:spMk id="8" creationId="{DC35AA0F-3124-1C72-A090-DBCC51D3CD5D}"/>
          </ac:spMkLst>
        </pc:spChg>
      </pc:sldChg>
      <pc:sldChg chg="modSp add replId">
        <pc:chgData name="Jojy John" userId="fNKV7hVHPOcypogTpQcMovdyCqGYnK36TpifI0txQVU=" providerId="None" clId="Web-{E9C9438C-018C-4128-B5DD-FEB867E916A6}" dt="2026-01-14T00:33:48.432" v="314" actId="20577"/>
        <pc:sldMkLst>
          <pc:docMk/>
          <pc:sldMk cId="3425723334" sldId="424"/>
        </pc:sldMkLst>
        <pc:spChg chg="mod">
          <ac:chgData name="Jojy John" userId="fNKV7hVHPOcypogTpQcMovdyCqGYnK36TpifI0txQVU=" providerId="None" clId="Web-{E9C9438C-018C-4128-B5DD-FEB867E916A6}" dt="2026-01-14T00:33:48.432" v="314" actId="20577"/>
          <ac:spMkLst>
            <pc:docMk/>
            <pc:sldMk cId="3425723334" sldId="424"/>
            <ac:spMk id="8" creationId="{6EBF7F26-70E8-8F0A-9EEF-FF09EABBE3B4}"/>
          </ac:spMkLst>
        </pc:spChg>
      </pc:sldChg>
      <pc:sldChg chg="modSp add replId">
        <pc:chgData name="Jojy John" userId="fNKV7hVHPOcypogTpQcMovdyCqGYnK36TpifI0txQVU=" providerId="None" clId="Web-{E9C9438C-018C-4128-B5DD-FEB867E916A6}" dt="2026-01-14T00:33:57.182" v="315" actId="20577"/>
        <pc:sldMkLst>
          <pc:docMk/>
          <pc:sldMk cId="2369798534" sldId="425"/>
        </pc:sldMkLst>
        <pc:spChg chg="mod">
          <ac:chgData name="Jojy John" userId="fNKV7hVHPOcypogTpQcMovdyCqGYnK36TpifI0txQVU=" providerId="None" clId="Web-{E9C9438C-018C-4128-B5DD-FEB867E916A6}" dt="2026-01-14T00:33:57.182" v="315" actId="20577"/>
          <ac:spMkLst>
            <pc:docMk/>
            <pc:sldMk cId="2369798534" sldId="425"/>
            <ac:spMk id="8" creationId="{136C01C3-A9C5-0652-D45B-B41050237728}"/>
          </ac:spMkLst>
        </pc:spChg>
      </pc:sldChg>
      <pc:sldChg chg="modSp add replId">
        <pc:chgData name="Jojy John" userId="fNKV7hVHPOcypogTpQcMovdyCqGYnK36TpifI0txQVU=" providerId="None" clId="Web-{E9C9438C-018C-4128-B5DD-FEB867E916A6}" dt="2026-01-14T00:38:57.977" v="316" actId="20577"/>
        <pc:sldMkLst>
          <pc:docMk/>
          <pc:sldMk cId="2602368583" sldId="426"/>
        </pc:sldMkLst>
        <pc:spChg chg="mod">
          <ac:chgData name="Jojy John" userId="fNKV7hVHPOcypogTpQcMovdyCqGYnK36TpifI0txQVU=" providerId="None" clId="Web-{E9C9438C-018C-4128-B5DD-FEB867E916A6}" dt="2026-01-14T00:38:57.977" v="316" actId="20577"/>
          <ac:spMkLst>
            <pc:docMk/>
            <pc:sldMk cId="2602368583" sldId="426"/>
            <ac:spMk id="4" creationId="{757B0AD9-5140-3E92-6AA8-463627B3EF56}"/>
          </ac:spMkLst>
        </pc:spChg>
        <pc:spChg chg="mod">
          <ac:chgData name="Jojy John" userId="fNKV7hVHPOcypogTpQcMovdyCqGYnK36TpifI0txQVU=" providerId="None" clId="Web-{E9C9438C-018C-4128-B5DD-FEB867E916A6}" dt="2026-01-13T17:15:58.665" v="302" actId="20577"/>
          <ac:spMkLst>
            <pc:docMk/>
            <pc:sldMk cId="2602368583" sldId="426"/>
            <ac:spMk id="8" creationId="{2500E4EA-AF72-6392-00FA-1C26E597DC41}"/>
          </ac:spMkLst>
        </pc:spChg>
      </pc:sldChg>
      <pc:sldChg chg="modSp add replId">
        <pc:chgData name="Jojy John" userId="fNKV7hVHPOcypogTpQcMovdyCqGYnK36TpifI0txQVU=" providerId="None" clId="Web-{E9C9438C-018C-4128-B5DD-FEB867E916A6}" dt="2026-01-14T00:39:45.195" v="318" actId="20577"/>
        <pc:sldMkLst>
          <pc:docMk/>
          <pc:sldMk cId="2068071627" sldId="427"/>
        </pc:sldMkLst>
        <pc:spChg chg="mod">
          <ac:chgData name="Jojy John" userId="fNKV7hVHPOcypogTpQcMovdyCqGYnK36TpifI0txQVU=" providerId="None" clId="Web-{E9C9438C-018C-4128-B5DD-FEB867E916A6}" dt="2026-01-13T16:53:12.207" v="243" actId="20577"/>
          <ac:spMkLst>
            <pc:docMk/>
            <pc:sldMk cId="2068071627" sldId="427"/>
            <ac:spMk id="4" creationId="{1B14C28B-256F-4AEF-FF1C-70C9EF3567AC}"/>
          </ac:spMkLst>
        </pc:spChg>
        <pc:spChg chg="mod">
          <ac:chgData name="Jojy John" userId="fNKV7hVHPOcypogTpQcMovdyCqGYnK36TpifI0txQVU=" providerId="None" clId="Web-{E9C9438C-018C-4128-B5DD-FEB867E916A6}" dt="2026-01-14T00:39:45.195" v="318" actId="20577"/>
          <ac:spMkLst>
            <pc:docMk/>
            <pc:sldMk cId="2068071627" sldId="427"/>
            <ac:spMk id="8" creationId="{33CC5425-C181-DDA7-CA9E-A4AF53248B80}"/>
          </ac:spMkLst>
        </pc:spChg>
      </pc:sldChg>
      <pc:sldChg chg="modSp add replId">
        <pc:chgData name="Jojy John" userId="fNKV7hVHPOcypogTpQcMovdyCqGYnK36TpifI0txQVU=" providerId="None" clId="Web-{E9C9438C-018C-4128-B5DD-FEB867E916A6}" dt="2026-01-14T00:39:54.523" v="319" actId="20577"/>
        <pc:sldMkLst>
          <pc:docMk/>
          <pc:sldMk cId="1013609324" sldId="428"/>
        </pc:sldMkLst>
        <pc:spChg chg="mod">
          <ac:chgData name="Jojy John" userId="fNKV7hVHPOcypogTpQcMovdyCqGYnK36TpifI0txQVU=" providerId="None" clId="Web-{E9C9438C-018C-4128-B5DD-FEB867E916A6}" dt="2026-01-13T16:53:17.175" v="246" actId="20577"/>
          <ac:spMkLst>
            <pc:docMk/>
            <pc:sldMk cId="1013609324" sldId="428"/>
            <ac:spMk id="4" creationId="{121EE23E-8BD0-EF64-913E-088148C3C136}"/>
          </ac:spMkLst>
        </pc:spChg>
        <pc:spChg chg="mod">
          <ac:chgData name="Jojy John" userId="fNKV7hVHPOcypogTpQcMovdyCqGYnK36TpifI0txQVU=" providerId="None" clId="Web-{E9C9438C-018C-4128-B5DD-FEB867E916A6}" dt="2026-01-14T00:39:54.523" v="319" actId="20577"/>
          <ac:spMkLst>
            <pc:docMk/>
            <pc:sldMk cId="1013609324" sldId="428"/>
            <ac:spMk id="8" creationId="{1B9E111D-549D-1D24-DF81-DF9C8D92E8DE}"/>
          </ac:spMkLst>
        </pc:spChg>
      </pc:sldChg>
      <pc:sldChg chg="modSp add replId">
        <pc:chgData name="Jojy John" userId="fNKV7hVHPOcypogTpQcMovdyCqGYnK36TpifI0txQVU=" providerId="None" clId="Web-{E9C9438C-018C-4128-B5DD-FEB867E916A6}" dt="2026-01-13T17:04:05.295" v="283" actId="20577"/>
        <pc:sldMkLst>
          <pc:docMk/>
          <pc:sldMk cId="344342084" sldId="429"/>
        </pc:sldMkLst>
        <pc:spChg chg="mod">
          <ac:chgData name="Jojy John" userId="fNKV7hVHPOcypogTpQcMovdyCqGYnK36TpifI0txQVU=" providerId="None" clId="Web-{E9C9438C-018C-4128-B5DD-FEB867E916A6}" dt="2026-01-13T16:53:24.675" v="249" actId="20577"/>
          <ac:spMkLst>
            <pc:docMk/>
            <pc:sldMk cId="344342084" sldId="429"/>
            <ac:spMk id="4" creationId="{52873621-74FF-2EB6-8184-8F40645F6A55}"/>
          </ac:spMkLst>
        </pc:spChg>
        <pc:spChg chg="mod">
          <ac:chgData name="Jojy John" userId="fNKV7hVHPOcypogTpQcMovdyCqGYnK36TpifI0txQVU=" providerId="None" clId="Web-{E9C9438C-018C-4128-B5DD-FEB867E916A6}" dt="2026-01-13T17:04:05.295" v="283" actId="20577"/>
          <ac:spMkLst>
            <pc:docMk/>
            <pc:sldMk cId="344342084" sldId="429"/>
            <ac:spMk id="8" creationId="{7FE39946-25C6-A79A-6335-765303B9FD71}"/>
          </ac:spMkLst>
        </pc:spChg>
      </pc:sldChg>
      <pc:sldChg chg="modSp add replId">
        <pc:chgData name="Jojy John" userId="fNKV7hVHPOcypogTpQcMovdyCqGYnK36TpifI0txQVU=" providerId="None" clId="Web-{E9C9438C-018C-4128-B5DD-FEB867E916A6}" dt="2026-01-14T00:40:08.914" v="320" actId="20577"/>
        <pc:sldMkLst>
          <pc:docMk/>
          <pc:sldMk cId="1762916455" sldId="430"/>
        </pc:sldMkLst>
        <pc:spChg chg="mod">
          <ac:chgData name="Jojy John" userId="fNKV7hVHPOcypogTpQcMovdyCqGYnK36TpifI0txQVU=" providerId="None" clId="Web-{E9C9438C-018C-4128-B5DD-FEB867E916A6}" dt="2026-01-13T16:53:31.659" v="252" actId="20577"/>
          <ac:spMkLst>
            <pc:docMk/>
            <pc:sldMk cId="1762916455" sldId="430"/>
            <ac:spMk id="4" creationId="{B418BCBC-A381-19B9-0A86-57945A71A104}"/>
          </ac:spMkLst>
        </pc:spChg>
        <pc:spChg chg="mod">
          <ac:chgData name="Jojy John" userId="fNKV7hVHPOcypogTpQcMovdyCqGYnK36TpifI0txQVU=" providerId="None" clId="Web-{E9C9438C-018C-4128-B5DD-FEB867E916A6}" dt="2026-01-14T00:40:08.914" v="320" actId="20577"/>
          <ac:spMkLst>
            <pc:docMk/>
            <pc:sldMk cId="1762916455" sldId="430"/>
            <ac:spMk id="8" creationId="{42E4F986-C161-BD4B-A458-C9E3622E4A87}"/>
          </ac:spMkLst>
        </pc:spChg>
      </pc:sldChg>
      <pc:sldChg chg="modSp add replId">
        <pc:chgData name="Jojy John" userId="fNKV7hVHPOcypogTpQcMovdyCqGYnK36TpifI0txQVU=" providerId="None" clId="Web-{E9C9438C-018C-4128-B5DD-FEB867E916A6}" dt="2026-01-14T00:40:17.289" v="321" actId="20577"/>
        <pc:sldMkLst>
          <pc:docMk/>
          <pc:sldMk cId="1266786165" sldId="431"/>
        </pc:sldMkLst>
        <pc:spChg chg="mod">
          <ac:chgData name="Jojy John" userId="fNKV7hVHPOcypogTpQcMovdyCqGYnK36TpifI0txQVU=" providerId="None" clId="Web-{E9C9438C-018C-4128-B5DD-FEB867E916A6}" dt="2026-01-14T00:40:17.289" v="321" actId="20577"/>
          <ac:spMkLst>
            <pc:docMk/>
            <pc:sldMk cId="1266786165" sldId="431"/>
            <ac:spMk id="8" creationId="{2EE0C3C8-2842-DBD7-6B43-E760E003E237}"/>
          </ac:spMkLst>
        </pc:spChg>
      </pc:sldChg>
    </pc:docChg>
  </pc:docChgLst>
</pc:chgInfo>
</file>

<file path=ppt/comments/modernComment_183_64C5BD31.xml><?xml version="1.0" encoding="utf-8"?>
<p188:cmLst xmlns:a="http://schemas.openxmlformats.org/drawingml/2006/main" xmlns:r="http://schemas.openxmlformats.org/officeDocument/2006/relationships" xmlns:p188="http://schemas.microsoft.com/office/powerpoint/2018/8/main">
  <p188:cm id="{BAD2BC6B-3A8A-4393-9CD5-DC893FCBF063}" authorId="{E43AE3D5-86DE-71E4-AD78-F0C764A70C96}" created="2025-12-09T08:45:16.617">
    <ac:txMkLst xmlns:ac="http://schemas.microsoft.com/office/drawing/2013/main/command">
      <pc:docMk xmlns:pc="http://schemas.microsoft.com/office/powerpoint/2013/main/command"/>
      <pc:sldMk xmlns:pc="http://schemas.microsoft.com/office/powerpoint/2013/main/command" cId="1690680625" sldId="387"/>
      <ac:spMk id="8" creationId="{272E9F1D-20A5-5EDA-6D2E-C59D716D80F2}"/>
      <ac:txMk cp="80" len="39">
        <ac:context len="155" hash="346014331"/>
      </ac:txMk>
    </ac:txMkLst>
    <p188:pos x="9474679" y="776377"/>
    <p188:txBody>
      <a:bodyPr/>
      <a:lstStyle/>
      <a:p>
        <a:r>
          <a:rPr lang="en-US"/>
          <a:t>@ID: Check the lab name for the spelling of "Modeling"</a:t>
        </a:r>
      </a:p>
    </p188:txBody>
  </p188:cm>
</p188:cmLst>
</file>

<file path=ppt/drawings/_rels/vmlDrawing1.v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image" Target="../media/image5.emf"/><Relationship Id="rId4" Type="http://schemas.openxmlformats.org/officeDocument/2006/relationships/image" Target="../media/image8.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E7DFC-5F54-412C-A0CF-699F8379DFE2}" type="datetimeFigureOut">
              <a:rPr lang="en-IN" smtClean="0"/>
              <a:t>18-02-2026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89104E2-9D76-4F87-84A7-A6A1F581541A}" type="slidenum">
              <a:rPr lang="en-IN" smtClean="0"/>
              <a:t>‹#›</a:t>
            </a:fld>
            <a:endParaRPr lang="en-IN"/>
          </a:p>
        </p:txBody>
      </p:sp>
    </p:spTree>
    <p:extLst>
      <p:ext uri="{BB962C8B-B14F-4D97-AF65-F5344CB8AC3E}">
        <p14:creationId xmlns:p14="http://schemas.microsoft.com/office/powerpoint/2010/main" val="742882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0913-F22E-32F2-A12A-E2F82FD8CF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8E48B5-1F68-2998-8156-0E0EFEA965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32594-40C0-0B38-40A0-A3E28D1B91B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8BF0CFB-FBDF-B865-57CD-14D52238F065}"/>
              </a:ext>
            </a:extLst>
          </p:cNvPr>
          <p:cNvSpPr>
            <a:spLocks noGrp="1"/>
          </p:cNvSpPr>
          <p:nvPr>
            <p:ph type="sldNum" sz="quarter" idx="5"/>
          </p:nvPr>
        </p:nvSpPr>
        <p:spPr/>
        <p:txBody>
          <a:bodyPr/>
          <a:lstStyle/>
          <a:p>
            <a:fld id="{CEDC7F85-B619-534F-A66A-9B8DC36C34F8}" type="slidenum">
              <a:rPr lang="en-US" smtClean="0"/>
              <a:t>5</a:t>
            </a:fld>
            <a:endParaRPr lang="en-US"/>
          </a:p>
        </p:txBody>
      </p:sp>
    </p:spTree>
    <p:extLst>
      <p:ext uri="{BB962C8B-B14F-4D97-AF65-F5344CB8AC3E}">
        <p14:creationId xmlns:p14="http://schemas.microsoft.com/office/powerpoint/2010/main" val="25837265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CFDFC640-4632-7DFE-F85D-B774A8BEBEBB}"/>
              </a:ext>
            </a:extLst>
          </p:cNvPr>
          <p:cNvSpPr/>
          <p:nvPr userDrawn="1"/>
        </p:nvSpPr>
        <p:spPr>
          <a:xfrm>
            <a:off x="6105824" y="660400"/>
            <a:ext cx="5409981" cy="0"/>
          </a:xfrm>
          <a:prstGeom prst="line">
            <a:avLst/>
          </a:prstGeom>
          <a:ln w="76200" cap="flat">
            <a:solidFill>
              <a:srgbClr val="00539A"/>
            </a:solidFill>
            <a:prstDash val="solid"/>
            <a:headEnd type="none" w="sm" len="sm"/>
            <a:tailEnd type="none" w="sm" len="sm"/>
          </a:ln>
        </p:spPr>
        <p:txBody>
          <a:bodyPr/>
          <a:lstStyle/>
          <a:p>
            <a:endParaRPr lang="en-IN" sz="800"/>
          </a:p>
        </p:txBody>
      </p:sp>
      <p:sp>
        <p:nvSpPr>
          <p:cNvPr id="8" name="AutoShape 4">
            <a:extLst>
              <a:ext uri="{FF2B5EF4-FFF2-40B4-BE49-F238E27FC236}">
                <a16:creationId xmlns:a16="http://schemas.microsoft.com/office/drawing/2014/main" id="{E067CCC8-EFFB-6CB9-7599-48E82C41834F}"/>
              </a:ext>
            </a:extLst>
          </p:cNvPr>
          <p:cNvSpPr/>
          <p:nvPr userDrawn="1"/>
        </p:nvSpPr>
        <p:spPr>
          <a:xfrm>
            <a:off x="695843" y="6197600"/>
            <a:ext cx="5409981" cy="0"/>
          </a:xfrm>
          <a:prstGeom prst="line">
            <a:avLst/>
          </a:prstGeom>
          <a:ln w="76200" cap="flat">
            <a:solidFill>
              <a:srgbClr val="00539A"/>
            </a:solidFill>
            <a:prstDash val="solid"/>
            <a:headEnd type="none" w="sm" len="sm"/>
            <a:tailEnd type="none" w="sm" len="sm"/>
          </a:ln>
        </p:spPr>
        <p:txBody>
          <a:bodyPr/>
          <a:lstStyle/>
          <a:p>
            <a:endParaRPr lang="en-IN" sz="800"/>
          </a:p>
        </p:txBody>
      </p:sp>
      <p:sp>
        <p:nvSpPr>
          <p:cNvPr id="9" name="Freeform 5">
            <a:extLst>
              <a:ext uri="{FF2B5EF4-FFF2-40B4-BE49-F238E27FC236}">
                <a16:creationId xmlns:a16="http://schemas.microsoft.com/office/drawing/2014/main" id="{1425AE85-A86D-CAAA-58ED-BFADA2230253}"/>
              </a:ext>
            </a:extLst>
          </p:cNvPr>
          <p:cNvSpPr/>
          <p:nvPr userDrawn="1"/>
        </p:nvSpPr>
        <p:spPr>
          <a:xfrm>
            <a:off x="6412471" y="6024995"/>
            <a:ext cx="1979236" cy="294411"/>
          </a:xfrm>
          <a:custGeom>
            <a:avLst/>
            <a:gdLst/>
            <a:ahLst/>
            <a:cxnLst/>
            <a:rect l="l" t="t" r="r" b="b"/>
            <a:pathLst>
              <a:path w="2968854" h="441617">
                <a:moveTo>
                  <a:pt x="0" y="0"/>
                </a:moveTo>
                <a:lnTo>
                  <a:pt x="2968854" y="0"/>
                </a:lnTo>
                <a:lnTo>
                  <a:pt x="2968854" y="441616"/>
                </a:lnTo>
                <a:lnTo>
                  <a:pt x="0" y="44161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10" name="Freeform 9">
            <a:extLst>
              <a:ext uri="{FF2B5EF4-FFF2-40B4-BE49-F238E27FC236}">
                <a16:creationId xmlns:a16="http://schemas.microsoft.com/office/drawing/2014/main" id="{40085673-280C-2F0C-B3B4-E97949BB6221}"/>
              </a:ext>
            </a:extLst>
          </p:cNvPr>
          <p:cNvSpPr/>
          <p:nvPr userDrawn="1"/>
        </p:nvSpPr>
        <p:spPr>
          <a:xfrm>
            <a:off x="3764495" y="538595"/>
            <a:ext cx="1979236" cy="294411"/>
          </a:xfrm>
          <a:custGeom>
            <a:avLst/>
            <a:gdLst/>
            <a:ahLst/>
            <a:cxnLst/>
            <a:rect l="l" t="t" r="r" b="b"/>
            <a:pathLst>
              <a:path w="2968854" h="441617">
                <a:moveTo>
                  <a:pt x="0" y="0"/>
                </a:moveTo>
                <a:lnTo>
                  <a:pt x="2968854" y="0"/>
                </a:lnTo>
                <a:lnTo>
                  <a:pt x="2968854" y="441616"/>
                </a:lnTo>
                <a:lnTo>
                  <a:pt x="0" y="44161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11" name="Title Placeholder 1">
            <a:extLst>
              <a:ext uri="{FF2B5EF4-FFF2-40B4-BE49-F238E27FC236}">
                <a16:creationId xmlns:a16="http://schemas.microsoft.com/office/drawing/2014/main" id="{3E1066EB-9DBA-1A4B-F899-1780283326F8}"/>
              </a:ext>
            </a:extLst>
          </p:cNvPr>
          <p:cNvSpPr>
            <a:spLocks noGrp="1"/>
          </p:cNvSpPr>
          <p:nvPr>
            <p:ph type="title"/>
          </p:nvPr>
        </p:nvSpPr>
        <p:spPr>
          <a:xfrm>
            <a:off x="838200" y="2103437"/>
            <a:ext cx="10515600" cy="1325563"/>
          </a:xfrm>
          <a:prstGeom prst="rect">
            <a:avLst/>
          </a:prstGeom>
        </p:spPr>
        <p:txBody>
          <a:bodyPr vert="horz" lIns="91440" tIns="45720" rIns="91440" bIns="45720" rtlCol="0" anchor="ctr">
            <a:normAutofit/>
          </a:bodyPr>
          <a:lstStyle>
            <a:lvl1pPr algn="ctr">
              <a:defRPr sz="4000"/>
            </a:lvl1pPr>
          </a:lstStyle>
          <a:p>
            <a:r>
              <a:rPr lang="en-US" dirty="0"/>
              <a:t>Click to edit Master title style</a:t>
            </a:r>
            <a:endParaRPr lang="en-IN" dirty="0"/>
          </a:p>
        </p:txBody>
      </p:sp>
      <p:sp>
        <p:nvSpPr>
          <p:cNvPr id="12" name="Text Placeholder 2">
            <a:extLst>
              <a:ext uri="{FF2B5EF4-FFF2-40B4-BE49-F238E27FC236}">
                <a16:creationId xmlns:a16="http://schemas.microsoft.com/office/drawing/2014/main" id="{396EF56F-370E-954F-3816-54A9CD8AAB27}"/>
              </a:ext>
            </a:extLst>
          </p:cNvPr>
          <p:cNvSpPr>
            <a:spLocks noGrp="1"/>
          </p:cNvSpPr>
          <p:nvPr>
            <p:ph idx="1" hasCustomPrompt="1"/>
          </p:nvPr>
        </p:nvSpPr>
        <p:spPr>
          <a:xfrm>
            <a:off x="838200" y="3563937"/>
            <a:ext cx="10515600" cy="779409"/>
          </a:xfrm>
          <a:prstGeom prst="rect">
            <a:avLst/>
          </a:prstGeom>
        </p:spPr>
        <p:txBody>
          <a:bodyPr vert="horz" lIns="91440" tIns="45720" rIns="91440" bIns="45720" rtlCol="0">
            <a:normAutofit/>
          </a:bodyPr>
          <a:lstStyle>
            <a:lvl1pPr marL="0" indent="0" algn="ctr">
              <a:buNone/>
              <a:defRPr sz="2400"/>
            </a:lvl1pPr>
            <a:lvl2pPr algn="ctr">
              <a:defRPr/>
            </a:lvl2pPr>
            <a:lvl3pPr algn="ctr">
              <a:defRPr/>
            </a:lvl3pPr>
            <a:lvl4pPr algn="ctr">
              <a:defRPr/>
            </a:lvl4pPr>
            <a:lvl5pPr algn="ctr">
              <a:defRPr/>
            </a:lvl5pPr>
          </a:lstStyle>
          <a:p>
            <a:pPr lvl="0"/>
            <a:r>
              <a:rPr lang="en-US" dirty="0"/>
              <a:t>Click to edit Master text styles</a:t>
            </a:r>
          </a:p>
        </p:txBody>
      </p:sp>
    </p:spTree>
    <p:extLst>
      <p:ext uri="{BB962C8B-B14F-4D97-AF65-F5344CB8AC3E}">
        <p14:creationId xmlns:p14="http://schemas.microsoft.com/office/powerpoint/2010/main" val="237737743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65ED8-9FED-60BB-A889-9C4737E2086A}"/>
              </a:ext>
            </a:extLst>
          </p:cNvPr>
          <p:cNvSpPr>
            <a:spLocks noGrp="1"/>
          </p:cNvSpPr>
          <p:nvPr>
            <p:ph type="title"/>
          </p:nvPr>
        </p:nvSpPr>
        <p:spPr>
          <a:xfrm>
            <a:off x="572756" y="133943"/>
            <a:ext cx="9813446" cy="850726"/>
          </a:xfrm>
        </p:spPr>
        <p:txBody>
          <a:bodyPr>
            <a:normAutofit/>
          </a:bodyPr>
          <a:lstStyle>
            <a:lvl1pPr>
              <a:defRPr sz="3600"/>
            </a:lvl1pPr>
          </a:lstStyle>
          <a:p>
            <a:r>
              <a:rPr lang="en-US" dirty="0"/>
              <a:t>Click to edit Master title style</a:t>
            </a:r>
            <a:endParaRPr lang="en-IN" dirty="0"/>
          </a:p>
        </p:txBody>
      </p:sp>
      <p:sp>
        <p:nvSpPr>
          <p:cNvPr id="7" name="Freeform 13">
            <a:extLst>
              <a:ext uri="{FF2B5EF4-FFF2-40B4-BE49-F238E27FC236}">
                <a16:creationId xmlns:a16="http://schemas.microsoft.com/office/drawing/2014/main" id="{5B70AD12-A226-75A8-1A4F-055B55ABCFF0}"/>
              </a:ext>
            </a:extLst>
          </p:cNvPr>
          <p:cNvSpPr/>
          <p:nvPr userDrawn="1"/>
        </p:nvSpPr>
        <p:spPr>
          <a:xfrm>
            <a:off x="10386202" y="476006"/>
            <a:ext cx="1119998" cy="166600"/>
          </a:xfrm>
          <a:custGeom>
            <a:avLst/>
            <a:gdLst/>
            <a:ahLst/>
            <a:cxnLst/>
            <a:rect l="l" t="t" r="r" b="b"/>
            <a:pathLst>
              <a:path w="1679997" h="249900">
                <a:moveTo>
                  <a:pt x="0" y="0"/>
                </a:moveTo>
                <a:lnTo>
                  <a:pt x="1679997" y="0"/>
                </a:lnTo>
                <a:lnTo>
                  <a:pt x="1679997" y="249900"/>
                </a:lnTo>
                <a:lnTo>
                  <a:pt x="0" y="249900"/>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8" name="Freeform 14">
            <a:extLst>
              <a:ext uri="{FF2B5EF4-FFF2-40B4-BE49-F238E27FC236}">
                <a16:creationId xmlns:a16="http://schemas.microsoft.com/office/drawing/2014/main" id="{1D7036F5-9CC3-491B-5637-086A0A3232A9}"/>
              </a:ext>
            </a:extLst>
          </p:cNvPr>
          <p:cNvSpPr/>
          <p:nvPr userDrawn="1"/>
        </p:nvSpPr>
        <p:spPr>
          <a:xfrm>
            <a:off x="682923" y="6353149"/>
            <a:ext cx="1119998" cy="166600"/>
          </a:xfrm>
          <a:custGeom>
            <a:avLst/>
            <a:gdLst/>
            <a:ahLst/>
            <a:cxnLst/>
            <a:rect l="l" t="t" r="r" b="b"/>
            <a:pathLst>
              <a:path w="1679997" h="249900">
                <a:moveTo>
                  <a:pt x="0" y="0"/>
                </a:moveTo>
                <a:lnTo>
                  <a:pt x="1679997" y="0"/>
                </a:lnTo>
                <a:lnTo>
                  <a:pt x="1679997" y="249900"/>
                </a:lnTo>
                <a:lnTo>
                  <a:pt x="0" y="249900"/>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9" name="Text Placeholder 2">
            <a:extLst>
              <a:ext uri="{FF2B5EF4-FFF2-40B4-BE49-F238E27FC236}">
                <a16:creationId xmlns:a16="http://schemas.microsoft.com/office/drawing/2014/main" id="{5C8860C4-A3B6-52F0-A610-858CA1156FC6}"/>
              </a:ext>
            </a:extLst>
          </p:cNvPr>
          <p:cNvSpPr>
            <a:spLocks noGrp="1"/>
          </p:cNvSpPr>
          <p:nvPr>
            <p:ph idx="1"/>
          </p:nvPr>
        </p:nvSpPr>
        <p:spPr>
          <a:xfrm>
            <a:off x="572755" y="1428565"/>
            <a:ext cx="10781043"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cxnSp>
        <p:nvCxnSpPr>
          <p:cNvPr id="11" name="Straight Connector 10">
            <a:extLst>
              <a:ext uri="{FF2B5EF4-FFF2-40B4-BE49-F238E27FC236}">
                <a16:creationId xmlns:a16="http://schemas.microsoft.com/office/drawing/2014/main" id="{311B37FB-E952-F8F6-03FC-F9C677FDF1C6}"/>
              </a:ext>
            </a:extLst>
          </p:cNvPr>
          <p:cNvCxnSpPr>
            <a:cxnSpLocks/>
          </p:cNvCxnSpPr>
          <p:nvPr userDrawn="1"/>
        </p:nvCxnSpPr>
        <p:spPr>
          <a:xfrm>
            <a:off x="682922" y="862445"/>
            <a:ext cx="248400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9953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grpSp>
        <p:nvGrpSpPr>
          <p:cNvPr id="13" name="Group 2">
            <a:extLst>
              <a:ext uri="{FF2B5EF4-FFF2-40B4-BE49-F238E27FC236}">
                <a16:creationId xmlns:a16="http://schemas.microsoft.com/office/drawing/2014/main" id="{6F9B4F8B-B122-67E2-9010-15B2F1056576}"/>
              </a:ext>
            </a:extLst>
          </p:cNvPr>
          <p:cNvGrpSpPr/>
          <p:nvPr userDrawn="1"/>
        </p:nvGrpSpPr>
        <p:grpSpPr>
          <a:xfrm>
            <a:off x="9395929" y="10566"/>
            <a:ext cx="2796071" cy="6847434"/>
            <a:chOff x="0" y="0"/>
            <a:chExt cx="1104621" cy="2705159"/>
          </a:xfrm>
          <a:solidFill>
            <a:srgbClr val="00539A"/>
          </a:solidFill>
        </p:grpSpPr>
        <p:sp>
          <p:nvSpPr>
            <p:cNvPr id="14" name="Freeform 3">
              <a:extLst>
                <a:ext uri="{FF2B5EF4-FFF2-40B4-BE49-F238E27FC236}">
                  <a16:creationId xmlns:a16="http://schemas.microsoft.com/office/drawing/2014/main" id="{99F318B2-740D-DEF6-BF88-6F62EAA55F72}"/>
                </a:ext>
              </a:extLst>
            </p:cNvPr>
            <p:cNvSpPr/>
            <p:nvPr/>
          </p:nvSpPr>
          <p:spPr>
            <a:xfrm>
              <a:off x="0" y="0"/>
              <a:ext cx="1104621" cy="2705159"/>
            </a:xfrm>
            <a:custGeom>
              <a:avLst/>
              <a:gdLst/>
              <a:ahLst/>
              <a:cxnLst/>
              <a:rect l="l" t="t" r="r" b="b"/>
              <a:pathLst>
                <a:path w="1104621" h="2705159">
                  <a:moveTo>
                    <a:pt x="0" y="0"/>
                  </a:moveTo>
                  <a:lnTo>
                    <a:pt x="1104621" y="0"/>
                  </a:lnTo>
                  <a:lnTo>
                    <a:pt x="1104621" y="2705159"/>
                  </a:lnTo>
                  <a:lnTo>
                    <a:pt x="0" y="2705159"/>
                  </a:lnTo>
                  <a:close/>
                </a:path>
              </a:pathLst>
            </a:custGeom>
            <a:grpFill/>
          </p:spPr>
          <p:txBody>
            <a:bodyPr/>
            <a:lstStyle/>
            <a:p>
              <a:endParaRPr lang="en-IN" sz="800"/>
            </a:p>
          </p:txBody>
        </p:sp>
        <p:sp>
          <p:nvSpPr>
            <p:cNvPr id="15" name="TextBox 4">
              <a:extLst>
                <a:ext uri="{FF2B5EF4-FFF2-40B4-BE49-F238E27FC236}">
                  <a16:creationId xmlns:a16="http://schemas.microsoft.com/office/drawing/2014/main" id="{9E9765B9-2017-62B5-06FE-8A31A0C9BE52}"/>
                </a:ext>
              </a:extLst>
            </p:cNvPr>
            <p:cNvSpPr txBox="1"/>
            <p:nvPr/>
          </p:nvSpPr>
          <p:spPr>
            <a:xfrm>
              <a:off x="0" y="-47625"/>
              <a:ext cx="1104621" cy="2752784"/>
            </a:xfrm>
            <a:prstGeom prst="rect">
              <a:avLst/>
            </a:prstGeom>
            <a:grpFill/>
          </p:spPr>
          <p:txBody>
            <a:bodyPr lIns="33867" tIns="33867" rIns="33867" bIns="33867" rtlCol="0" anchor="ctr"/>
            <a:lstStyle/>
            <a:p>
              <a:pPr algn="ctr">
                <a:lnSpc>
                  <a:spcPts val="2462"/>
                </a:lnSpc>
              </a:pPr>
              <a:endParaRPr sz="800"/>
            </a:p>
          </p:txBody>
        </p:sp>
      </p:grpSp>
      <p:sp>
        <p:nvSpPr>
          <p:cNvPr id="22" name="Picture Placeholder 21">
            <a:extLst>
              <a:ext uri="{FF2B5EF4-FFF2-40B4-BE49-F238E27FC236}">
                <a16:creationId xmlns:a16="http://schemas.microsoft.com/office/drawing/2014/main" id="{5AA800E9-0BFF-7F59-EEB4-582A61F241E2}"/>
              </a:ext>
            </a:extLst>
          </p:cNvPr>
          <p:cNvSpPr>
            <a:spLocks noGrp="1"/>
          </p:cNvSpPr>
          <p:nvPr>
            <p:ph type="pic" sz="quarter" idx="10"/>
          </p:nvPr>
        </p:nvSpPr>
        <p:spPr>
          <a:xfrm>
            <a:off x="5195455" y="1570412"/>
            <a:ext cx="6310744" cy="4487488"/>
          </a:xfrm>
          <a:prstGeom prst="roundRect">
            <a:avLst>
              <a:gd name="adj" fmla="val 4858"/>
            </a:avLst>
          </a:prstGeom>
          <a:ln>
            <a:solidFill>
              <a:schemeClr val="tx1">
                <a:lumMod val="20000"/>
                <a:lumOff val="80000"/>
              </a:schemeClr>
            </a:solidFill>
          </a:ln>
        </p:spPr>
        <p:txBody>
          <a:bodyPr/>
          <a:lstStyle/>
          <a:p>
            <a:endParaRPr lang="en-IN"/>
          </a:p>
        </p:txBody>
      </p:sp>
      <p:sp>
        <p:nvSpPr>
          <p:cNvPr id="18" name="Freeform 7">
            <a:extLst>
              <a:ext uri="{FF2B5EF4-FFF2-40B4-BE49-F238E27FC236}">
                <a16:creationId xmlns:a16="http://schemas.microsoft.com/office/drawing/2014/main" id="{766DEB4A-3027-1B45-CF63-AB5B208E1BA6}"/>
              </a:ext>
            </a:extLst>
          </p:cNvPr>
          <p:cNvSpPr/>
          <p:nvPr userDrawn="1"/>
        </p:nvSpPr>
        <p:spPr>
          <a:xfrm>
            <a:off x="685800" y="5983288"/>
            <a:ext cx="1270000" cy="188913"/>
          </a:xfrm>
          <a:custGeom>
            <a:avLst/>
            <a:gdLst/>
            <a:ahLst/>
            <a:cxnLst/>
            <a:rect l="l" t="t" r="r" b="b"/>
            <a:pathLst>
              <a:path w="1905000" h="283369">
                <a:moveTo>
                  <a:pt x="0" y="0"/>
                </a:moveTo>
                <a:lnTo>
                  <a:pt x="1905000" y="0"/>
                </a:lnTo>
                <a:lnTo>
                  <a:pt x="1905000" y="283369"/>
                </a:lnTo>
                <a:lnTo>
                  <a:pt x="0" y="28336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20" name="Title 1">
            <a:extLst>
              <a:ext uri="{FF2B5EF4-FFF2-40B4-BE49-F238E27FC236}">
                <a16:creationId xmlns:a16="http://schemas.microsoft.com/office/drawing/2014/main" id="{FDC6D0E2-6FEE-8FFC-D5AE-1933DFD279B0}"/>
              </a:ext>
            </a:extLst>
          </p:cNvPr>
          <p:cNvSpPr>
            <a:spLocks noGrp="1"/>
          </p:cNvSpPr>
          <p:nvPr userDrawn="1">
            <p:ph type="title"/>
          </p:nvPr>
        </p:nvSpPr>
        <p:spPr>
          <a:xfrm>
            <a:off x="572756" y="365126"/>
            <a:ext cx="8488117" cy="850726"/>
          </a:xfrm>
        </p:spPr>
        <p:txBody>
          <a:bodyPr>
            <a:normAutofit/>
          </a:bodyPr>
          <a:lstStyle>
            <a:lvl1pPr>
              <a:defRPr sz="3600"/>
            </a:lvl1pPr>
          </a:lstStyle>
          <a:p>
            <a:r>
              <a:rPr lang="en-US" dirty="0"/>
              <a:t>Click to edit Master title style</a:t>
            </a:r>
            <a:endParaRPr lang="en-IN" dirty="0"/>
          </a:p>
        </p:txBody>
      </p:sp>
    </p:spTree>
    <p:extLst>
      <p:ext uri="{BB962C8B-B14F-4D97-AF65-F5344CB8AC3E}">
        <p14:creationId xmlns:p14="http://schemas.microsoft.com/office/powerpoint/2010/main" val="32953318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grpSp>
        <p:nvGrpSpPr>
          <p:cNvPr id="13" name="Group 2">
            <a:extLst>
              <a:ext uri="{FF2B5EF4-FFF2-40B4-BE49-F238E27FC236}">
                <a16:creationId xmlns:a16="http://schemas.microsoft.com/office/drawing/2014/main" id="{6F9B4F8B-B122-67E2-9010-15B2F1056576}"/>
              </a:ext>
            </a:extLst>
          </p:cNvPr>
          <p:cNvGrpSpPr/>
          <p:nvPr userDrawn="1"/>
        </p:nvGrpSpPr>
        <p:grpSpPr>
          <a:xfrm>
            <a:off x="9395929" y="10566"/>
            <a:ext cx="2796071" cy="6847434"/>
            <a:chOff x="0" y="0"/>
            <a:chExt cx="1104621" cy="2705159"/>
          </a:xfrm>
          <a:solidFill>
            <a:srgbClr val="00539A"/>
          </a:solidFill>
        </p:grpSpPr>
        <p:sp>
          <p:nvSpPr>
            <p:cNvPr id="14" name="Freeform 3">
              <a:extLst>
                <a:ext uri="{FF2B5EF4-FFF2-40B4-BE49-F238E27FC236}">
                  <a16:creationId xmlns:a16="http://schemas.microsoft.com/office/drawing/2014/main" id="{99F318B2-740D-DEF6-BF88-6F62EAA55F72}"/>
                </a:ext>
              </a:extLst>
            </p:cNvPr>
            <p:cNvSpPr/>
            <p:nvPr/>
          </p:nvSpPr>
          <p:spPr>
            <a:xfrm>
              <a:off x="0" y="0"/>
              <a:ext cx="1104621" cy="2705159"/>
            </a:xfrm>
            <a:custGeom>
              <a:avLst/>
              <a:gdLst/>
              <a:ahLst/>
              <a:cxnLst/>
              <a:rect l="l" t="t" r="r" b="b"/>
              <a:pathLst>
                <a:path w="1104621" h="2705159">
                  <a:moveTo>
                    <a:pt x="0" y="0"/>
                  </a:moveTo>
                  <a:lnTo>
                    <a:pt x="1104621" y="0"/>
                  </a:lnTo>
                  <a:lnTo>
                    <a:pt x="1104621" y="2705159"/>
                  </a:lnTo>
                  <a:lnTo>
                    <a:pt x="0" y="2705159"/>
                  </a:lnTo>
                  <a:close/>
                </a:path>
              </a:pathLst>
            </a:custGeom>
            <a:grpFill/>
          </p:spPr>
          <p:txBody>
            <a:bodyPr/>
            <a:lstStyle/>
            <a:p>
              <a:endParaRPr lang="en-IN" sz="800"/>
            </a:p>
          </p:txBody>
        </p:sp>
        <p:sp>
          <p:nvSpPr>
            <p:cNvPr id="15" name="TextBox 4">
              <a:extLst>
                <a:ext uri="{FF2B5EF4-FFF2-40B4-BE49-F238E27FC236}">
                  <a16:creationId xmlns:a16="http://schemas.microsoft.com/office/drawing/2014/main" id="{9E9765B9-2017-62B5-06FE-8A31A0C9BE52}"/>
                </a:ext>
              </a:extLst>
            </p:cNvPr>
            <p:cNvSpPr txBox="1"/>
            <p:nvPr/>
          </p:nvSpPr>
          <p:spPr>
            <a:xfrm>
              <a:off x="0" y="-47625"/>
              <a:ext cx="1104621" cy="2752784"/>
            </a:xfrm>
            <a:prstGeom prst="rect">
              <a:avLst/>
            </a:prstGeom>
            <a:grpFill/>
          </p:spPr>
          <p:txBody>
            <a:bodyPr lIns="33867" tIns="33867" rIns="33867" bIns="33867" rtlCol="0" anchor="ctr"/>
            <a:lstStyle/>
            <a:p>
              <a:pPr algn="ctr">
                <a:lnSpc>
                  <a:spcPts val="2462"/>
                </a:lnSpc>
              </a:pPr>
              <a:endParaRPr sz="800"/>
            </a:p>
          </p:txBody>
        </p:sp>
      </p:grpSp>
      <p:sp>
        <p:nvSpPr>
          <p:cNvPr id="22" name="Picture Placeholder 21">
            <a:extLst>
              <a:ext uri="{FF2B5EF4-FFF2-40B4-BE49-F238E27FC236}">
                <a16:creationId xmlns:a16="http://schemas.microsoft.com/office/drawing/2014/main" id="{5AA800E9-0BFF-7F59-EEB4-582A61F241E2}"/>
              </a:ext>
            </a:extLst>
          </p:cNvPr>
          <p:cNvSpPr>
            <a:spLocks noGrp="1"/>
          </p:cNvSpPr>
          <p:nvPr>
            <p:ph type="pic" sz="quarter" idx="10"/>
          </p:nvPr>
        </p:nvSpPr>
        <p:spPr>
          <a:xfrm>
            <a:off x="2514600" y="1570412"/>
            <a:ext cx="8991599" cy="4487488"/>
          </a:xfrm>
          <a:prstGeom prst="roundRect">
            <a:avLst>
              <a:gd name="adj" fmla="val 4858"/>
            </a:avLst>
          </a:prstGeom>
          <a:ln>
            <a:solidFill>
              <a:schemeClr val="tx1">
                <a:lumMod val="20000"/>
                <a:lumOff val="80000"/>
              </a:schemeClr>
            </a:solidFill>
          </a:ln>
        </p:spPr>
        <p:txBody>
          <a:bodyPr/>
          <a:lstStyle/>
          <a:p>
            <a:endParaRPr lang="en-IN"/>
          </a:p>
        </p:txBody>
      </p:sp>
      <p:sp>
        <p:nvSpPr>
          <p:cNvPr id="18" name="Freeform 7">
            <a:extLst>
              <a:ext uri="{FF2B5EF4-FFF2-40B4-BE49-F238E27FC236}">
                <a16:creationId xmlns:a16="http://schemas.microsoft.com/office/drawing/2014/main" id="{766DEB4A-3027-1B45-CF63-AB5B208E1BA6}"/>
              </a:ext>
            </a:extLst>
          </p:cNvPr>
          <p:cNvSpPr/>
          <p:nvPr userDrawn="1"/>
        </p:nvSpPr>
        <p:spPr>
          <a:xfrm>
            <a:off x="685800" y="5983288"/>
            <a:ext cx="1270000" cy="188913"/>
          </a:xfrm>
          <a:custGeom>
            <a:avLst/>
            <a:gdLst/>
            <a:ahLst/>
            <a:cxnLst/>
            <a:rect l="l" t="t" r="r" b="b"/>
            <a:pathLst>
              <a:path w="1905000" h="283369">
                <a:moveTo>
                  <a:pt x="0" y="0"/>
                </a:moveTo>
                <a:lnTo>
                  <a:pt x="1905000" y="0"/>
                </a:lnTo>
                <a:lnTo>
                  <a:pt x="1905000" y="283369"/>
                </a:lnTo>
                <a:lnTo>
                  <a:pt x="0" y="28336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20" name="Title 1">
            <a:extLst>
              <a:ext uri="{FF2B5EF4-FFF2-40B4-BE49-F238E27FC236}">
                <a16:creationId xmlns:a16="http://schemas.microsoft.com/office/drawing/2014/main" id="{FDC6D0E2-6FEE-8FFC-D5AE-1933DFD279B0}"/>
              </a:ext>
            </a:extLst>
          </p:cNvPr>
          <p:cNvSpPr>
            <a:spLocks noGrp="1"/>
          </p:cNvSpPr>
          <p:nvPr userDrawn="1">
            <p:ph type="title"/>
          </p:nvPr>
        </p:nvSpPr>
        <p:spPr>
          <a:xfrm>
            <a:off x="572756" y="365126"/>
            <a:ext cx="8488117" cy="850726"/>
          </a:xfrm>
        </p:spPr>
        <p:txBody>
          <a:bodyPr>
            <a:normAutofit/>
          </a:bodyPr>
          <a:lstStyle>
            <a:lvl1pPr>
              <a:defRPr sz="3600"/>
            </a:lvl1pPr>
          </a:lstStyle>
          <a:p>
            <a:r>
              <a:rPr lang="en-US" dirty="0"/>
              <a:t>Click to edit Master title style</a:t>
            </a:r>
            <a:endParaRPr lang="en-IN" dirty="0"/>
          </a:p>
        </p:txBody>
      </p:sp>
    </p:spTree>
    <p:extLst>
      <p:ext uri="{BB962C8B-B14F-4D97-AF65-F5344CB8AC3E}">
        <p14:creationId xmlns:p14="http://schemas.microsoft.com/office/powerpoint/2010/main" val="120236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grpSp>
        <p:nvGrpSpPr>
          <p:cNvPr id="6" name="Group 2">
            <a:extLst>
              <a:ext uri="{FF2B5EF4-FFF2-40B4-BE49-F238E27FC236}">
                <a16:creationId xmlns:a16="http://schemas.microsoft.com/office/drawing/2014/main" id="{C3B4D1CD-B099-450F-A845-169B78D25A91}"/>
              </a:ext>
            </a:extLst>
          </p:cNvPr>
          <p:cNvGrpSpPr/>
          <p:nvPr userDrawn="1"/>
        </p:nvGrpSpPr>
        <p:grpSpPr>
          <a:xfrm>
            <a:off x="0" y="0"/>
            <a:ext cx="12192000" cy="2732991"/>
            <a:chOff x="0" y="0"/>
            <a:chExt cx="4816593" cy="1079700"/>
          </a:xfrm>
          <a:solidFill>
            <a:srgbClr val="00539A"/>
          </a:solidFill>
        </p:grpSpPr>
        <p:sp>
          <p:nvSpPr>
            <p:cNvPr id="7" name="Freeform 3">
              <a:extLst>
                <a:ext uri="{FF2B5EF4-FFF2-40B4-BE49-F238E27FC236}">
                  <a16:creationId xmlns:a16="http://schemas.microsoft.com/office/drawing/2014/main" id="{BC9F01E6-ACC2-F1D7-C770-3A6EA5F06E8A}"/>
                </a:ext>
              </a:extLst>
            </p:cNvPr>
            <p:cNvSpPr/>
            <p:nvPr/>
          </p:nvSpPr>
          <p:spPr>
            <a:xfrm>
              <a:off x="0" y="0"/>
              <a:ext cx="4816592" cy="1079700"/>
            </a:xfrm>
            <a:custGeom>
              <a:avLst/>
              <a:gdLst/>
              <a:ahLst/>
              <a:cxnLst/>
              <a:rect l="l" t="t" r="r" b="b"/>
              <a:pathLst>
                <a:path w="4816592" h="1079700">
                  <a:moveTo>
                    <a:pt x="0" y="0"/>
                  </a:moveTo>
                  <a:lnTo>
                    <a:pt x="4816592" y="0"/>
                  </a:lnTo>
                  <a:lnTo>
                    <a:pt x="4816592" y="1079700"/>
                  </a:lnTo>
                  <a:lnTo>
                    <a:pt x="0" y="1079700"/>
                  </a:lnTo>
                  <a:close/>
                </a:path>
              </a:pathLst>
            </a:custGeom>
            <a:grpFill/>
          </p:spPr>
          <p:txBody>
            <a:bodyPr/>
            <a:lstStyle/>
            <a:p>
              <a:endParaRPr lang="en-IN" sz="800"/>
            </a:p>
          </p:txBody>
        </p:sp>
        <p:sp>
          <p:nvSpPr>
            <p:cNvPr id="8" name="TextBox 4">
              <a:extLst>
                <a:ext uri="{FF2B5EF4-FFF2-40B4-BE49-F238E27FC236}">
                  <a16:creationId xmlns:a16="http://schemas.microsoft.com/office/drawing/2014/main" id="{10EDCE3C-3DC1-BCCC-A48F-09BDA3978D2E}"/>
                </a:ext>
              </a:extLst>
            </p:cNvPr>
            <p:cNvSpPr txBox="1"/>
            <p:nvPr/>
          </p:nvSpPr>
          <p:spPr>
            <a:xfrm>
              <a:off x="0" y="-47625"/>
              <a:ext cx="4816593" cy="1127325"/>
            </a:xfrm>
            <a:prstGeom prst="rect">
              <a:avLst/>
            </a:prstGeom>
            <a:grpFill/>
          </p:spPr>
          <p:txBody>
            <a:bodyPr lIns="33867" tIns="33867" rIns="33867" bIns="33867" rtlCol="0" anchor="ctr"/>
            <a:lstStyle/>
            <a:p>
              <a:pPr algn="ctr">
                <a:lnSpc>
                  <a:spcPts val="2462"/>
                </a:lnSpc>
              </a:pPr>
              <a:endParaRPr sz="800"/>
            </a:p>
          </p:txBody>
        </p:sp>
      </p:grpSp>
      <p:sp>
        <p:nvSpPr>
          <p:cNvPr id="9" name="AutoShape 18">
            <a:extLst>
              <a:ext uri="{FF2B5EF4-FFF2-40B4-BE49-F238E27FC236}">
                <a16:creationId xmlns:a16="http://schemas.microsoft.com/office/drawing/2014/main" id="{001C3FCB-D1A3-1F64-E374-0C94991DE578}"/>
              </a:ext>
            </a:extLst>
          </p:cNvPr>
          <p:cNvSpPr/>
          <p:nvPr userDrawn="1"/>
        </p:nvSpPr>
        <p:spPr>
          <a:xfrm>
            <a:off x="3931920" y="5787470"/>
            <a:ext cx="4328160" cy="0"/>
          </a:xfrm>
          <a:prstGeom prst="line">
            <a:avLst/>
          </a:prstGeom>
          <a:ln w="76200" cap="flat">
            <a:solidFill>
              <a:srgbClr val="00539A"/>
            </a:solidFill>
            <a:prstDash val="solid"/>
            <a:headEnd type="none" w="sm" len="sm"/>
            <a:tailEnd type="none" w="sm" len="sm"/>
          </a:ln>
        </p:spPr>
        <p:txBody>
          <a:bodyPr/>
          <a:lstStyle/>
          <a:p>
            <a:endParaRPr lang="en-IN" sz="800"/>
          </a:p>
        </p:txBody>
      </p:sp>
      <p:sp>
        <p:nvSpPr>
          <p:cNvPr id="10" name="Freeform 19">
            <a:extLst>
              <a:ext uri="{FF2B5EF4-FFF2-40B4-BE49-F238E27FC236}">
                <a16:creationId xmlns:a16="http://schemas.microsoft.com/office/drawing/2014/main" id="{F40E8225-AA76-2321-759B-DC3FA939E280}"/>
              </a:ext>
            </a:extLst>
          </p:cNvPr>
          <p:cNvSpPr/>
          <p:nvPr userDrawn="1"/>
        </p:nvSpPr>
        <p:spPr>
          <a:xfrm>
            <a:off x="5536001" y="6353149"/>
            <a:ext cx="1119998" cy="166600"/>
          </a:xfrm>
          <a:custGeom>
            <a:avLst/>
            <a:gdLst/>
            <a:ahLst/>
            <a:cxnLst/>
            <a:rect l="l" t="t" r="r" b="b"/>
            <a:pathLst>
              <a:path w="1679997" h="249900">
                <a:moveTo>
                  <a:pt x="0" y="0"/>
                </a:moveTo>
                <a:lnTo>
                  <a:pt x="1679998" y="0"/>
                </a:lnTo>
                <a:lnTo>
                  <a:pt x="1679998" y="249900"/>
                </a:lnTo>
                <a:lnTo>
                  <a:pt x="0" y="249900"/>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txBody>
          <a:bodyPr/>
          <a:lstStyle/>
          <a:p>
            <a:endParaRPr lang="en-IN" sz="800"/>
          </a:p>
        </p:txBody>
      </p:sp>
      <p:sp>
        <p:nvSpPr>
          <p:cNvPr id="11" name="Title 1">
            <a:extLst>
              <a:ext uri="{FF2B5EF4-FFF2-40B4-BE49-F238E27FC236}">
                <a16:creationId xmlns:a16="http://schemas.microsoft.com/office/drawing/2014/main" id="{A7E5C6DB-98D8-7590-9FF2-EB3E7FD32ED0}"/>
              </a:ext>
            </a:extLst>
          </p:cNvPr>
          <p:cNvSpPr>
            <a:spLocks noGrp="1"/>
          </p:cNvSpPr>
          <p:nvPr>
            <p:ph type="title"/>
          </p:nvPr>
        </p:nvSpPr>
        <p:spPr>
          <a:xfrm>
            <a:off x="572756" y="365126"/>
            <a:ext cx="10781044" cy="850726"/>
          </a:xfrm>
        </p:spPr>
        <p:txBody>
          <a:bodyPr>
            <a:normAutofit/>
          </a:bodyPr>
          <a:lstStyle>
            <a:lvl1pPr algn="ctr">
              <a:defRPr sz="3600">
                <a:solidFill>
                  <a:schemeClr val="bg1"/>
                </a:solidFill>
              </a:defRPr>
            </a:lvl1pPr>
          </a:lstStyle>
          <a:p>
            <a:r>
              <a:rPr lang="en-US"/>
              <a:t>Click to edit Master title style</a:t>
            </a:r>
            <a:endParaRPr lang="en-IN"/>
          </a:p>
        </p:txBody>
      </p:sp>
    </p:spTree>
    <p:extLst>
      <p:ext uri="{BB962C8B-B14F-4D97-AF65-F5344CB8AC3E}">
        <p14:creationId xmlns:p14="http://schemas.microsoft.com/office/powerpoint/2010/main" val="2674042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BB2AA-06AD-F2FC-5383-B4B7B95FA0D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EFFB339-D764-126A-043A-AA902A2D94B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2CEC418-3953-DA2D-A0FB-CABD98BBE893}"/>
              </a:ext>
            </a:extLst>
          </p:cNvPr>
          <p:cNvSpPr>
            <a:spLocks noGrp="1"/>
          </p:cNvSpPr>
          <p:nvPr>
            <p:ph type="dt" sz="half" idx="10"/>
          </p:nvPr>
        </p:nvSpPr>
        <p:spPr>
          <a:xfrm>
            <a:off x="838200" y="6356350"/>
            <a:ext cx="2743200" cy="365125"/>
          </a:xfrm>
          <a:prstGeom prst="rect">
            <a:avLst/>
          </a:prstGeom>
        </p:spPr>
        <p:txBody>
          <a:bodyPr/>
          <a:lstStyle/>
          <a:p>
            <a:fld id="{CB937118-AA9C-D947-A395-0A8492468232}" type="datetimeFigureOut">
              <a:rPr lang="en-US" smtClean="0"/>
              <a:t>2/18/2026</a:t>
            </a:fld>
            <a:endParaRPr lang="en-US"/>
          </a:p>
        </p:txBody>
      </p:sp>
      <p:sp>
        <p:nvSpPr>
          <p:cNvPr id="5" name="Footer Placeholder 4">
            <a:extLst>
              <a:ext uri="{FF2B5EF4-FFF2-40B4-BE49-F238E27FC236}">
                <a16:creationId xmlns:a16="http://schemas.microsoft.com/office/drawing/2014/main" id="{C38B8AE1-51E6-F6DC-0366-71136A416FD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E9BB31A-1A8F-2867-8E45-A1156E678421}"/>
              </a:ext>
            </a:extLst>
          </p:cNvPr>
          <p:cNvSpPr>
            <a:spLocks noGrp="1"/>
          </p:cNvSpPr>
          <p:nvPr>
            <p:ph type="sldNum" sz="quarter" idx="12"/>
          </p:nvPr>
        </p:nvSpPr>
        <p:spPr/>
        <p:txBody>
          <a:bodyPr/>
          <a:lstStyle/>
          <a:p>
            <a:fld id="{4A0E460F-6C90-364E-AA71-6C064F716047}" type="slidenum">
              <a:rPr lang="en-US" smtClean="0"/>
              <a:t>‹#›</a:t>
            </a:fld>
            <a:endParaRPr lang="en-US"/>
          </a:p>
        </p:txBody>
      </p:sp>
      <p:cxnSp>
        <p:nvCxnSpPr>
          <p:cNvPr id="7" name="Straight Connector 6">
            <a:extLst>
              <a:ext uri="{FF2B5EF4-FFF2-40B4-BE49-F238E27FC236}">
                <a16:creationId xmlns:a16="http://schemas.microsoft.com/office/drawing/2014/main" id="{CF6DD119-3AB1-5E89-283B-CFC7450F3221}"/>
              </a:ext>
            </a:extLst>
          </p:cNvPr>
          <p:cNvCxnSpPr>
            <a:cxnSpLocks/>
          </p:cNvCxnSpPr>
          <p:nvPr userDrawn="1"/>
        </p:nvCxnSpPr>
        <p:spPr>
          <a:xfrm>
            <a:off x="838200" y="1051034"/>
            <a:ext cx="10515599" cy="0"/>
          </a:xfrm>
          <a:prstGeom prst="line">
            <a:avLst/>
          </a:prstGeom>
          <a:ln w="38100">
            <a:solidFill>
              <a:schemeClr val="tx2">
                <a:lumMod val="75000"/>
                <a:lumOff val="25000"/>
              </a:schemeClr>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4186092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FC22291-C337-39C7-FD40-EBE02BC965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IN" dirty="0"/>
          </a:p>
        </p:txBody>
      </p:sp>
      <p:sp>
        <p:nvSpPr>
          <p:cNvPr id="3" name="Text Placeholder 2">
            <a:extLst>
              <a:ext uri="{FF2B5EF4-FFF2-40B4-BE49-F238E27FC236}">
                <a16:creationId xmlns:a16="http://schemas.microsoft.com/office/drawing/2014/main" id="{8CE1A707-7AA0-0DFF-8F6F-671208DFD0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79BEA0E-A411-0881-4E46-B05D96BD117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5D1529-08C7-4C99-9E99-20E4A08C4BFB}" type="datetimeFigureOut">
              <a:rPr lang="en-IN" smtClean="0"/>
              <a:t>18-02-2026</a:t>
            </a:fld>
            <a:endParaRPr lang="en-IN"/>
          </a:p>
        </p:txBody>
      </p:sp>
      <p:sp>
        <p:nvSpPr>
          <p:cNvPr id="5" name="Footer Placeholder 4">
            <a:extLst>
              <a:ext uri="{FF2B5EF4-FFF2-40B4-BE49-F238E27FC236}">
                <a16:creationId xmlns:a16="http://schemas.microsoft.com/office/drawing/2014/main" id="{DB21033E-FC3A-580B-9671-FFCF7244FB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CFB5395A-0FDE-A8A9-655F-D3C2759586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75567B-EEA3-4D70-9A5C-C93BDFA2DBFF}" type="slidenum">
              <a:rPr lang="en-IN" smtClean="0"/>
              <a:t>‹#›</a:t>
            </a:fld>
            <a:endParaRPr lang="en-IN"/>
          </a:p>
        </p:txBody>
      </p:sp>
    </p:spTree>
    <p:extLst>
      <p:ext uri="{BB962C8B-B14F-4D97-AF65-F5344CB8AC3E}">
        <p14:creationId xmlns:p14="http://schemas.microsoft.com/office/powerpoint/2010/main" val="325626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5" r:id="rId4"/>
    <p:sldLayoutId id="2147483652" r:id="rId5"/>
    <p:sldLayoutId id="2147483656" r:id="rId6"/>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microsoft.com/office/2018/10/relationships/comments" Target="../comments/modernComment_183_64C5BD3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6.emf"/><Relationship Id="rId5" Type="http://schemas.openxmlformats.org/officeDocument/2006/relationships/oleObject" Target="../embeddings/oleObject2.bin"/><Relationship Id="rId10" Type="http://schemas.openxmlformats.org/officeDocument/2006/relationships/image" Target="../media/image8.emf"/><Relationship Id="rId4" Type="http://schemas.openxmlformats.org/officeDocument/2006/relationships/image" Target="../media/image5.emf"/><Relationship Id="rId9" Type="http://schemas.openxmlformats.org/officeDocument/2006/relationships/oleObject" Target="../embeddings/oleObject4.bin"/></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04E27C-C591-24A3-967D-D6775A2BBC02}"/>
              </a:ext>
            </a:extLst>
          </p:cNvPr>
          <p:cNvSpPr>
            <a:spLocks noGrp="1"/>
          </p:cNvSpPr>
          <p:nvPr>
            <p:ph type="title"/>
          </p:nvPr>
        </p:nvSpPr>
        <p:spPr>
          <a:xfrm>
            <a:off x="573088" y="185244"/>
            <a:ext cx="8488117" cy="850726"/>
          </a:xfrm>
        </p:spPr>
        <p:txBody>
          <a:bodyPr>
            <a:noAutofit/>
          </a:bodyPr>
          <a:lstStyle/>
          <a:p>
            <a:pPr algn="ctr"/>
            <a:r>
              <a:rPr lang="en-US" dirty="0"/>
              <a:t>Modernizing Digital Banking Operations at a Retail Bank</a:t>
            </a:r>
          </a:p>
        </p:txBody>
      </p:sp>
      <p:sp>
        <p:nvSpPr>
          <p:cNvPr id="11" name="Subtitle 2">
            <a:extLst>
              <a:ext uri="{FF2B5EF4-FFF2-40B4-BE49-F238E27FC236}">
                <a16:creationId xmlns:a16="http://schemas.microsoft.com/office/drawing/2014/main" id="{4A2428E5-EDEC-4952-5A1E-4B0CEA274A4C}"/>
              </a:ext>
            </a:extLst>
          </p:cNvPr>
          <p:cNvSpPr txBox="1">
            <a:spLocks/>
          </p:cNvSpPr>
          <p:nvPr/>
        </p:nvSpPr>
        <p:spPr>
          <a:xfrm>
            <a:off x="573088" y="3066329"/>
            <a:ext cx="4372985" cy="93627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chemeClr val="bg2">
                    <a:lumMod val="10000"/>
                  </a:schemeClr>
                </a:solidFill>
              </a:rPr>
              <a:t>Name</a:t>
            </a:r>
            <a:r>
              <a:rPr lang="en-US" sz="2400" b="1" dirty="0" smtClean="0">
                <a:solidFill>
                  <a:schemeClr val="bg2">
                    <a:lumMod val="10000"/>
                  </a:schemeClr>
                </a:solidFill>
              </a:rPr>
              <a:t>: Dennis 	 </a:t>
            </a:r>
            <a:endParaRPr lang="en-US" sz="2400" b="1" dirty="0">
              <a:solidFill>
                <a:schemeClr val="bg2">
                  <a:lumMod val="10000"/>
                </a:schemeClr>
              </a:solidFill>
            </a:endParaRPr>
          </a:p>
          <a:p>
            <a:pPr marL="0" indent="0">
              <a:buNone/>
            </a:pPr>
            <a:r>
              <a:rPr lang="en-US" sz="2400" b="1" dirty="0">
                <a:solidFill>
                  <a:schemeClr val="bg2">
                    <a:lumMod val="10000"/>
                  </a:schemeClr>
                </a:solidFill>
              </a:rPr>
              <a:t>Date: </a:t>
            </a:r>
            <a:r>
              <a:rPr lang="en-US" sz="2400" b="1" dirty="0" smtClean="0">
                <a:solidFill>
                  <a:schemeClr val="bg2">
                    <a:lumMod val="10000"/>
                  </a:schemeClr>
                </a:solidFill>
              </a:rPr>
              <a:t>2026</a:t>
            </a:r>
            <a:endParaRPr lang="en-US" sz="2400" b="1" dirty="0">
              <a:solidFill>
                <a:schemeClr val="bg2">
                  <a:lumMod val="10000"/>
                </a:schemeClr>
              </a:solidFill>
            </a:endParaRPr>
          </a:p>
        </p:txBody>
      </p:sp>
    </p:spTree>
    <p:extLst>
      <p:ext uri="{BB962C8B-B14F-4D97-AF65-F5344CB8AC3E}">
        <p14:creationId xmlns:p14="http://schemas.microsoft.com/office/powerpoint/2010/main" val="37569812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CDD966-B4DC-454B-9A1F-2D06F536C6F5}"/>
              </a:ext>
            </a:extLst>
          </p:cNvPr>
          <p:cNvSpPr>
            <a:spLocks noGrp="1"/>
          </p:cNvSpPr>
          <p:nvPr>
            <p:ph type="title"/>
          </p:nvPr>
        </p:nvSpPr>
        <p:spPr/>
        <p:txBody>
          <a:bodyPr/>
          <a:lstStyle/>
          <a:p>
            <a:r>
              <a:rPr lang="en-IN" dirty="0"/>
              <a:t>Executive Summary</a:t>
            </a:r>
          </a:p>
        </p:txBody>
      </p:sp>
      <p:sp>
        <p:nvSpPr>
          <p:cNvPr id="3" name="Content Placeholder 2">
            <a:extLst>
              <a:ext uri="{FF2B5EF4-FFF2-40B4-BE49-F238E27FC236}">
                <a16:creationId xmlns:a16="http://schemas.microsoft.com/office/drawing/2014/main" id="{FE35D305-1814-B28B-73A0-AF88EC3D4589}"/>
              </a:ext>
            </a:extLst>
          </p:cNvPr>
          <p:cNvSpPr>
            <a:spLocks noGrp="1"/>
          </p:cNvSpPr>
          <p:nvPr>
            <p:ph idx="1"/>
          </p:nvPr>
        </p:nvSpPr>
        <p:spPr>
          <a:xfrm>
            <a:off x="572755" y="1210356"/>
            <a:ext cx="10781043" cy="4826762"/>
          </a:xfrm>
        </p:spPr>
        <p:txBody>
          <a:bodyPr vert="horz" lIns="91440" tIns="45720" rIns="91440" bIns="45720" rtlCol="0" anchor="t">
            <a:noAutofit/>
          </a:bodyPr>
          <a:lstStyle/>
          <a:p>
            <a:pPr marL="0" indent="0">
              <a:spcBef>
                <a:spcPts val="600"/>
              </a:spcBef>
              <a:buNone/>
            </a:pPr>
            <a:endParaRPr lang="en-US" sz="1600" b="1" dirty="0">
              <a:cs typeface="Arial" panose="020B0604020202020204" pitchFamily="34" charset="0"/>
            </a:endParaRPr>
          </a:p>
          <a:p>
            <a:pPr marL="0" indent="0">
              <a:spcBef>
                <a:spcPts val="600"/>
              </a:spcBef>
              <a:buNone/>
            </a:pPr>
            <a:r>
              <a:rPr lang="en-US" sz="1600" b="1" dirty="0">
                <a:cs typeface="Arial" panose="020B0604020202020204" pitchFamily="34" charset="0"/>
              </a:rPr>
              <a:t>Problem:</a:t>
            </a:r>
          </a:p>
          <a:p>
            <a:pPr marL="457200" indent="-457200">
              <a:spcBef>
                <a:spcPts val="600"/>
              </a:spcBef>
              <a:buFont typeface="+mj-lt"/>
              <a:buAutoNum type="arabicPeriod"/>
            </a:pPr>
            <a:r>
              <a:rPr lang="en-US" sz="1600" dirty="0">
                <a:cs typeface="Arial" panose="020B0604020202020204" pitchFamily="34" charset="0"/>
              </a:rPr>
              <a:t> </a:t>
            </a:r>
            <a:r>
              <a:rPr lang="en-US" sz="1600" dirty="0"/>
              <a:t>Legacy, </a:t>
            </a:r>
            <a:r>
              <a:rPr lang="en-US" sz="1600" dirty="0" err="1"/>
              <a:t>siloed</a:t>
            </a:r>
            <a:r>
              <a:rPr lang="en-US" sz="1600" dirty="0"/>
              <a:t> banking systems cause slow onboarding, delayed transactions, and regulatory risk.</a:t>
            </a:r>
            <a:endParaRPr lang="en-US" sz="1600" dirty="0">
              <a:cs typeface="Arial" panose="020B0604020202020204" pitchFamily="34" charset="0"/>
            </a:endParaRPr>
          </a:p>
          <a:p>
            <a:pPr>
              <a:spcBef>
                <a:spcPts val="600"/>
              </a:spcBef>
            </a:pPr>
            <a:endParaRPr lang="en-US" sz="1600" dirty="0">
              <a:cs typeface="Arial" panose="020B0604020202020204" pitchFamily="34" charset="0"/>
            </a:endParaRPr>
          </a:p>
          <a:p>
            <a:pPr>
              <a:spcBef>
                <a:spcPts val="600"/>
              </a:spcBef>
            </a:pPr>
            <a:endParaRPr lang="en-US" sz="1600" dirty="0">
              <a:cs typeface="Arial" panose="020B0604020202020204" pitchFamily="34" charset="0"/>
            </a:endParaRPr>
          </a:p>
          <a:p>
            <a:pPr marL="0" indent="0">
              <a:spcBef>
                <a:spcPts val="600"/>
              </a:spcBef>
              <a:buNone/>
            </a:pPr>
            <a:r>
              <a:rPr lang="en-US" sz="1600" b="1" dirty="0">
                <a:cs typeface="Arial" panose="020B0604020202020204" pitchFamily="34" charset="0"/>
              </a:rPr>
              <a:t>Key insights:</a:t>
            </a:r>
          </a:p>
          <a:p>
            <a:pPr marL="457200" indent="-457200">
              <a:spcBef>
                <a:spcPts val="600"/>
              </a:spcBef>
              <a:buFont typeface="+mj-lt"/>
              <a:buAutoNum type="arabicPeriod"/>
            </a:pPr>
            <a:r>
              <a:rPr lang="en-US" sz="1600" dirty="0" smtClean="0">
                <a:cs typeface="Arial" panose="020B0604020202020204" pitchFamily="34" charset="0"/>
              </a:rPr>
              <a:t>Operational </a:t>
            </a:r>
            <a:r>
              <a:rPr lang="en-US" sz="1600" dirty="0">
                <a:cs typeface="Arial" panose="020B0604020202020204" pitchFamily="34" charset="0"/>
              </a:rPr>
              <a:t>telemetry shows frequent CPU, I/O, and latency spikes during peak windows, impacting customer experience.</a:t>
            </a:r>
          </a:p>
          <a:p>
            <a:pPr marL="457200" indent="-457200">
              <a:spcBef>
                <a:spcPts val="600"/>
              </a:spcBef>
              <a:buFont typeface="+mj-lt"/>
              <a:buAutoNum type="arabicPeriod"/>
            </a:pPr>
            <a:r>
              <a:rPr lang="en-US" sz="1600" dirty="0" smtClean="0">
                <a:cs typeface="Arial" panose="020B0604020202020204" pitchFamily="34" charset="0"/>
              </a:rPr>
              <a:t>Fragmented </a:t>
            </a:r>
            <a:r>
              <a:rPr lang="en-US" sz="1600" dirty="0">
                <a:cs typeface="Arial" panose="020B0604020202020204" pitchFamily="34" charset="0"/>
              </a:rPr>
              <a:t>data sources lead to duplicate records and slow reconciliations, hindering real‑time fraud detection and reporting.</a:t>
            </a:r>
          </a:p>
          <a:p>
            <a:pPr>
              <a:spcBef>
                <a:spcPts val="600"/>
              </a:spcBef>
            </a:pPr>
            <a:endParaRPr lang="en-US" sz="1600" dirty="0">
              <a:cs typeface="Arial" panose="020B0604020202020204" pitchFamily="34" charset="0"/>
            </a:endParaRPr>
          </a:p>
          <a:p>
            <a:pPr marL="0" indent="0">
              <a:spcBef>
                <a:spcPts val="600"/>
              </a:spcBef>
              <a:buNone/>
            </a:pPr>
            <a:r>
              <a:rPr lang="en-US" sz="1600" b="1" dirty="0">
                <a:cs typeface="Arial" panose="020B0604020202020204" pitchFamily="34" charset="0"/>
              </a:rPr>
              <a:t>Recommended actions:</a:t>
            </a:r>
          </a:p>
          <a:p>
            <a:pPr marL="457200" indent="-457200">
              <a:spcBef>
                <a:spcPts val="600"/>
              </a:spcBef>
              <a:buFont typeface="+mj-lt"/>
              <a:buAutoNum type="arabicPeriod"/>
            </a:pPr>
            <a:r>
              <a:rPr lang="en-US" sz="1600" dirty="0">
                <a:cs typeface="Arial" panose="020B0604020202020204" pitchFamily="34" charset="0"/>
              </a:rPr>
              <a:t> </a:t>
            </a:r>
            <a:r>
              <a:rPr lang="en-US" sz="1600" dirty="0"/>
              <a:t>Migrate to a cloud‑native </a:t>
            </a:r>
            <a:r>
              <a:rPr lang="en-US" sz="1600" dirty="0" err="1"/>
              <a:t>microservices</a:t>
            </a:r>
            <a:r>
              <a:rPr lang="en-US" sz="1600" dirty="0"/>
              <a:t> architecture with </a:t>
            </a:r>
            <a:r>
              <a:rPr lang="en-US" sz="1600" dirty="0" err="1"/>
              <a:t>autoscaling</a:t>
            </a:r>
            <a:r>
              <a:rPr lang="en-US" sz="1600" dirty="0"/>
              <a:t> and containerized deployments.</a:t>
            </a:r>
            <a:endParaRPr lang="en-US" sz="1600" dirty="0">
              <a:cs typeface="Arial" panose="020B0604020202020204" pitchFamily="34" charset="0"/>
            </a:endParaRPr>
          </a:p>
          <a:p>
            <a:pPr marL="457200" indent="-457200">
              <a:spcBef>
                <a:spcPts val="600"/>
              </a:spcBef>
              <a:buFont typeface="+mj-lt"/>
              <a:buAutoNum type="arabicPeriod"/>
            </a:pPr>
            <a:r>
              <a:rPr lang="en-US" sz="1600" dirty="0">
                <a:cs typeface="Arial" panose="020B0604020202020204" pitchFamily="34" charset="0"/>
              </a:rPr>
              <a:t> </a:t>
            </a:r>
            <a:r>
              <a:rPr lang="en-US" sz="1600" dirty="0"/>
              <a:t>Implement an event‑driven data pipeline and centralized, compliance‑ready data layer with end‑to‑end lineage.</a:t>
            </a:r>
            <a:endParaRPr lang="en-US" sz="1600" dirty="0">
              <a:cs typeface="Arial" panose="020B0604020202020204" pitchFamily="34" charset="0"/>
            </a:endParaRPr>
          </a:p>
          <a:p>
            <a:pPr marL="457200" indent="-457200">
              <a:spcBef>
                <a:spcPts val="600"/>
              </a:spcBef>
              <a:buFont typeface="+mj-lt"/>
              <a:buAutoNum type="arabicPeriod"/>
            </a:pPr>
            <a:r>
              <a:rPr lang="en-US" sz="1600" dirty="0">
                <a:cs typeface="Arial" panose="020B0604020202020204" pitchFamily="34" charset="0"/>
              </a:rPr>
              <a:t> </a:t>
            </a:r>
            <a:r>
              <a:rPr lang="en-US" sz="1600" dirty="0"/>
              <a:t>Establish centralized monitoring, SRE </a:t>
            </a:r>
            <a:r>
              <a:rPr lang="en-US" sz="1600" dirty="0" err="1"/>
              <a:t>runbooks</a:t>
            </a:r>
            <a:r>
              <a:rPr lang="en-US" sz="1600" dirty="0"/>
              <a:t>, and compliance controls (audit trails, encryption, RBAC</a:t>
            </a:r>
            <a:r>
              <a:rPr lang="en-US" sz="1600" dirty="0" smtClean="0"/>
              <a:t>)</a:t>
            </a:r>
            <a:endParaRPr lang="en-IN" sz="1600" dirty="0"/>
          </a:p>
        </p:txBody>
      </p:sp>
    </p:spTree>
    <p:extLst>
      <p:ext uri="{BB962C8B-B14F-4D97-AF65-F5344CB8AC3E}">
        <p14:creationId xmlns:p14="http://schemas.microsoft.com/office/powerpoint/2010/main" val="337715687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A4BA1-23B0-50EE-C7D5-5D12C019EE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98F4C-51ED-6428-2AC2-C8AEE7BDB27D}"/>
              </a:ext>
            </a:extLst>
          </p:cNvPr>
          <p:cNvSpPr>
            <a:spLocks noGrp="1"/>
          </p:cNvSpPr>
          <p:nvPr>
            <p:ph type="title"/>
          </p:nvPr>
        </p:nvSpPr>
        <p:spPr/>
        <p:txBody>
          <a:bodyPr/>
          <a:lstStyle/>
          <a:p>
            <a:r>
              <a:rPr lang="en-IN" dirty="0"/>
              <a:t>Introduction</a:t>
            </a:r>
          </a:p>
        </p:txBody>
      </p:sp>
      <p:sp>
        <p:nvSpPr>
          <p:cNvPr id="3" name="Content Placeholder 2">
            <a:extLst>
              <a:ext uri="{FF2B5EF4-FFF2-40B4-BE49-F238E27FC236}">
                <a16:creationId xmlns:a16="http://schemas.microsoft.com/office/drawing/2014/main" id="{A2228A40-6553-3659-03A7-738C440F8B8A}"/>
              </a:ext>
            </a:extLst>
          </p:cNvPr>
          <p:cNvSpPr>
            <a:spLocks noGrp="1"/>
          </p:cNvSpPr>
          <p:nvPr>
            <p:ph idx="1"/>
          </p:nvPr>
        </p:nvSpPr>
        <p:spPr>
          <a:xfrm>
            <a:off x="572755" y="1210354"/>
            <a:ext cx="10781043" cy="4826762"/>
          </a:xfrm>
        </p:spPr>
        <p:txBody>
          <a:bodyPr vert="horz" lIns="91440" tIns="45720" rIns="91440" bIns="45720" rtlCol="0" anchor="t">
            <a:noAutofit/>
          </a:bodyPr>
          <a:lstStyle/>
          <a:p>
            <a:pPr marL="0" indent="0">
              <a:buNone/>
            </a:pPr>
            <a:r>
              <a:rPr lang="en-US" sz="1600" b="1" dirty="0" smtClean="0">
                <a:cs typeface="Arial" panose="020B0604020202020204" pitchFamily="34" charset="0"/>
              </a:rPr>
              <a:t>Opportunity</a:t>
            </a:r>
            <a:r>
              <a:rPr lang="en-US" sz="1600" b="1" dirty="0">
                <a:cs typeface="Arial" panose="020B0604020202020204" pitchFamily="34" charset="0"/>
              </a:rPr>
              <a:t>:</a:t>
            </a:r>
          </a:p>
          <a:p>
            <a:pPr marL="0" indent="0">
              <a:buNone/>
            </a:pPr>
            <a:r>
              <a:rPr lang="en-US" sz="1600" b="1" dirty="0">
                <a:cs typeface="Arial" panose="020B0604020202020204" pitchFamily="34" charset="0"/>
              </a:rPr>
              <a:t>1. </a:t>
            </a:r>
            <a:r>
              <a:rPr lang="en-US" sz="1600" b="1" dirty="0"/>
              <a:t>Modernize legacy systems</a:t>
            </a:r>
            <a:r>
              <a:rPr lang="en-US" sz="1600" dirty="0"/>
              <a:t> to reduce onboarding time and improve customer </a:t>
            </a:r>
            <a:r>
              <a:rPr lang="en-US" sz="1600" dirty="0" smtClean="0"/>
              <a:t>satisfaction</a:t>
            </a:r>
            <a:endParaRPr lang="en-US" sz="1600" b="1" dirty="0">
              <a:cs typeface="Arial" panose="020B0604020202020204" pitchFamily="34" charset="0"/>
            </a:endParaRPr>
          </a:p>
          <a:p>
            <a:pPr marL="0" indent="0">
              <a:buNone/>
            </a:pPr>
            <a:r>
              <a:rPr lang="en-US" sz="1600" b="1" dirty="0">
                <a:cs typeface="Arial" panose="020B0604020202020204" pitchFamily="34" charset="0"/>
              </a:rPr>
              <a:t>2</a:t>
            </a:r>
            <a:r>
              <a:rPr lang="en-US" sz="1600" b="1" dirty="0" smtClean="0">
                <a:cs typeface="Arial" panose="020B0604020202020204" pitchFamily="34" charset="0"/>
              </a:rPr>
              <a:t>. </a:t>
            </a:r>
            <a:r>
              <a:rPr lang="en-US" sz="1600" b="1" dirty="0"/>
              <a:t>Enable real‑time fraud detection and reporting</a:t>
            </a:r>
            <a:r>
              <a:rPr lang="en-US" sz="1600" dirty="0"/>
              <a:t> to lower financial and compliance </a:t>
            </a:r>
            <a:r>
              <a:rPr lang="en-US" sz="1600" dirty="0" smtClean="0"/>
              <a:t>risk</a:t>
            </a:r>
            <a:endParaRPr lang="en-US" sz="1600" b="1" dirty="0">
              <a:cs typeface="Arial" panose="020B0604020202020204" pitchFamily="34" charset="0"/>
            </a:endParaRPr>
          </a:p>
          <a:p>
            <a:endParaRPr lang="en-US" sz="1600" b="1" dirty="0">
              <a:cs typeface="Arial" panose="020B0604020202020204" pitchFamily="34" charset="0"/>
            </a:endParaRPr>
          </a:p>
          <a:p>
            <a:pPr marL="0" indent="0">
              <a:buNone/>
            </a:pPr>
            <a:r>
              <a:rPr lang="en-US" sz="1600" b="1" dirty="0">
                <a:cs typeface="Arial" panose="020B0604020202020204" pitchFamily="34" charset="0"/>
              </a:rPr>
              <a:t>Approach:</a:t>
            </a:r>
          </a:p>
          <a:p>
            <a:pPr marL="0" indent="0">
              <a:buNone/>
            </a:pPr>
            <a:r>
              <a:rPr lang="en-US" sz="1600" b="1" dirty="0">
                <a:cs typeface="Arial" panose="020B0604020202020204" pitchFamily="34" charset="0"/>
              </a:rPr>
              <a:t>1</a:t>
            </a:r>
            <a:r>
              <a:rPr lang="en-US" sz="1600" b="1" dirty="0" smtClean="0">
                <a:cs typeface="Arial" panose="020B0604020202020204" pitchFamily="34" charset="0"/>
              </a:rPr>
              <a:t>. </a:t>
            </a:r>
            <a:r>
              <a:rPr lang="en-US" sz="1600" b="1" dirty="0"/>
              <a:t>Stakeholder interviews and workshops</a:t>
            </a:r>
            <a:r>
              <a:rPr lang="en-US" sz="1600" dirty="0"/>
              <a:t> to capture business and regulatory needs</a:t>
            </a:r>
            <a:endParaRPr lang="en-US" sz="1600" b="1" dirty="0">
              <a:cs typeface="Arial" panose="020B0604020202020204" pitchFamily="34" charset="0"/>
            </a:endParaRPr>
          </a:p>
          <a:p>
            <a:pPr marL="0" indent="0">
              <a:buNone/>
            </a:pPr>
            <a:r>
              <a:rPr lang="en-US" sz="1600" b="1" dirty="0">
                <a:cs typeface="Arial" panose="020B0604020202020204" pitchFamily="34" charset="0"/>
              </a:rPr>
              <a:t>2</a:t>
            </a:r>
            <a:r>
              <a:rPr lang="en-US" sz="1600" b="1" dirty="0" smtClean="0">
                <a:cs typeface="Arial" panose="020B0604020202020204" pitchFamily="34" charset="0"/>
              </a:rPr>
              <a:t>. </a:t>
            </a:r>
            <a:r>
              <a:rPr lang="en-US" sz="1600" b="1" dirty="0"/>
              <a:t>Data consolidation and ERD design</a:t>
            </a:r>
            <a:r>
              <a:rPr lang="en-US" sz="1600" dirty="0"/>
              <a:t> with secure ETL pipelines and lineage tracking</a:t>
            </a:r>
            <a:endParaRPr lang="en-US" sz="1600" b="1" dirty="0">
              <a:cs typeface="Arial" panose="020B0604020202020204" pitchFamily="34" charset="0"/>
            </a:endParaRPr>
          </a:p>
          <a:p>
            <a:endParaRPr lang="en-US" sz="1600" b="1" dirty="0">
              <a:cs typeface="Arial" panose="020B0604020202020204" pitchFamily="34" charset="0"/>
            </a:endParaRPr>
          </a:p>
          <a:p>
            <a:pPr marL="0" indent="0">
              <a:buNone/>
            </a:pPr>
            <a:r>
              <a:rPr lang="en-US" sz="1600" b="1" dirty="0">
                <a:cs typeface="Arial" panose="020B0604020202020204" pitchFamily="34" charset="0"/>
              </a:rPr>
              <a:t>Key questions/hypotheses:</a:t>
            </a:r>
          </a:p>
          <a:p>
            <a:pPr marL="0" indent="0">
              <a:buNone/>
            </a:pPr>
            <a:r>
              <a:rPr lang="en-US" sz="1600" b="1" dirty="0">
                <a:cs typeface="Arial" panose="020B0604020202020204" pitchFamily="34" charset="0"/>
              </a:rPr>
              <a:t>1</a:t>
            </a:r>
            <a:r>
              <a:rPr lang="en-US" sz="1600" b="1" dirty="0" smtClean="0">
                <a:cs typeface="Arial" panose="020B0604020202020204" pitchFamily="34" charset="0"/>
              </a:rPr>
              <a:t>. </a:t>
            </a:r>
            <a:r>
              <a:rPr lang="en-US" sz="1600" dirty="0"/>
              <a:t>Real‑time EDA + centralized data layer will reduce fraud detection latency and cut manual reconciliation by ≥50%</a:t>
            </a:r>
            <a:endParaRPr lang="en-US" sz="1600" b="1" dirty="0">
              <a:cs typeface="Arial" panose="020B0604020202020204" pitchFamily="34" charset="0"/>
            </a:endParaRPr>
          </a:p>
          <a:p>
            <a:pPr marL="0" indent="0">
              <a:buNone/>
            </a:pPr>
            <a:r>
              <a:rPr lang="en-US" sz="1600" b="1" dirty="0" smtClean="0">
                <a:cs typeface="Arial" panose="020B0604020202020204" pitchFamily="34" charset="0"/>
              </a:rPr>
              <a:t>2. </a:t>
            </a:r>
            <a:r>
              <a:rPr lang="en-US" sz="1600" dirty="0" smtClean="0">
                <a:cs typeface="Arial" panose="020B0604020202020204" pitchFamily="34" charset="0"/>
              </a:rPr>
              <a:t>C</a:t>
            </a:r>
            <a:r>
              <a:rPr lang="en-US" sz="1600" dirty="0" smtClean="0"/>
              <a:t>ontainerized </a:t>
            </a:r>
            <a:r>
              <a:rPr lang="en-US" sz="1600" dirty="0" err="1"/>
              <a:t>microservices</a:t>
            </a:r>
            <a:r>
              <a:rPr lang="en-US" sz="1600" dirty="0"/>
              <a:t> with </a:t>
            </a:r>
            <a:r>
              <a:rPr lang="en-US" sz="1600" dirty="0" err="1"/>
              <a:t>autoscaling</a:t>
            </a:r>
            <a:r>
              <a:rPr lang="en-US" sz="1600" dirty="0"/>
              <a:t> will meet peak SLAs while controlling cost</a:t>
            </a:r>
            <a:endParaRPr lang="en-US" sz="1600" b="1" dirty="0">
              <a:cs typeface="Arial" panose="020B0604020202020204" pitchFamily="34" charset="0"/>
            </a:endParaRPr>
          </a:p>
        </p:txBody>
      </p:sp>
    </p:spTree>
    <p:extLst>
      <p:ext uri="{BB962C8B-B14F-4D97-AF65-F5344CB8AC3E}">
        <p14:creationId xmlns:p14="http://schemas.microsoft.com/office/powerpoint/2010/main" val="305794492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B57BA-D528-9116-493C-88E1284CF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D67553-26A5-5154-779D-68121ACA07A7}"/>
              </a:ext>
            </a:extLst>
          </p:cNvPr>
          <p:cNvSpPr>
            <a:spLocks noGrp="1"/>
          </p:cNvSpPr>
          <p:nvPr>
            <p:ph type="title"/>
          </p:nvPr>
        </p:nvSpPr>
        <p:spPr/>
        <p:txBody>
          <a:bodyPr/>
          <a:lstStyle/>
          <a:p>
            <a:r>
              <a:rPr lang="en-IN" dirty="0"/>
              <a:t>Objectives</a:t>
            </a:r>
          </a:p>
        </p:txBody>
      </p:sp>
      <p:sp>
        <p:nvSpPr>
          <p:cNvPr id="3" name="Content Placeholder 2">
            <a:extLst>
              <a:ext uri="{FF2B5EF4-FFF2-40B4-BE49-F238E27FC236}">
                <a16:creationId xmlns:a16="http://schemas.microsoft.com/office/drawing/2014/main" id="{CD487492-1EC2-9E7C-EB0D-D407742FA862}"/>
              </a:ext>
            </a:extLst>
          </p:cNvPr>
          <p:cNvSpPr>
            <a:spLocks noGrp="1"/>
          </p:cNvSpPr>
          <p:nvPr>
            <p:ph idx="1"/>
          </p:nvPr>
        </p:nvSpPr>
        <p:spPr>
          <a:xfrm>
            <a:off x="572755" y="1210354"/>
            <a:ext cx="10781043" cy="4826762"/>
          </a:xfrm>
        </p:spPr>
        <p:txBody>
          <a:bodyPr vert="horz" lIns="91440" tIns="45720" rIns="91440" bIns="45720" rtlCol="0" anchor="t">
            <a:noAutofit/>
          </a:bodyPr>
          <a:lstStyle/>
          <a:p>
            <a:pPr marL="457200" indent="-457200">
              <a:buFont typeface="+mj-lt"/>
              <a:buAutoNum type="arabicPeriod"/>
            </a:pPr>
            <a:r>
              <a:rPr lang="en-US" sz="1800" b="1" dirty="0"/>
              <a:t>Reduce onboarding time</a:t>
            </a:r>
            <a:r>
              <a:rPr lang="en-US" sz="1800" dirty="0"/>
              <a:t> — cut end‑to‑end customer onboarding from X days to \&lt;24 hours through automation and API integration</a:t>
            </a:r>
            <a:r>
              <a:rPr lang="en-US" sz="1800" dirty="0" smtClean="0">
                <a:cs typeface="Arial" panose="020B0604020202020204" pitchFamily="34" charset="0"/>
              </a:rPr>
              <a:t> </a:t>
            </a:r>
            <a:endParaRPr lang="en-US" sz="1800" dirty="0">
              <a:cs typeface="Arial" panose="020B0604020202020204" pitchFamily="34" charset="0"/>
            </a:endParaRPr>
          </a:p>
          <a:p>
            <a:pPr marL="457200" indent="-457200">
              <a:buFont typeface="+mj-lt"/>
              <a:buAutoNum type="arabicPeriod"/>
            </a:pPr>
            <a:r>
              <a:rPr lang="en-US" sz="1800" b="1" dirty="0"/>
              <a:t>Improve transaction throughput and latency</a:t>
            </a:r>
            <a:r>
              <a:rPr lang="en-US" sz="1800" dirty="0"/>
              <a:t> — achieve sub‑second processing for retail transactions and 99.95% availability</a:t>
            </a:r>
            <a:r>
              <a:rPr lang="en-US" sz="1800" dirty="0" smtClean="0">
                <a:cs typeface="Arial" panose="020B0604020202020204" pitchFamily="34" charset="0"/>
              </a:rPr>
              <a:t> </a:t>
            </a:r>
            <a:endParaRPr lang="en-US" sz="1800" dirty="0">
              <a:cs typeface="Arial" panose="020B0604020202020204" pitchFamily="34" charset="0"/>
            </a:endParaRPr>
          </a:p>
          <a:p>
            <a:pPr marL="457200" indent="-457200">
              <a:buFont typeface="+mj-lt"/>
              <a:buAutoNum type="arabicPeriod"/>
            </a:pPr>
            <a:r>
              <a:rPr lang="en-US" sz="1800" b="1" dirty="0"/>
              <a:t>Enable real‑time fraud detection</a:t>
            </a:r>
            <a:r>
              <a:rPr lang="en-US" sz="1800" dirty="0"/>
              <a:t> — detect and alert on high‑risk events within seconds using an event‑driven pipeline</a:t>
            </a:r>
            <a:r>
              <a:rPr lang="en-US" sz="1800" dirty="0" smtClean="0">
                <a:cs typeface="Arial" panose="020B0604020202020204" pitchFamily="34" charset="0"/>
              </a:rPr>
              <a:t> </a:t>
            </a:r>
            <a:endParaRPr lang="en-US" sz="1800" dirty="0">
              <a:cs typeface="Arial" panose="020B0604020202020204" pitchFamily="34" charset="0"/>
            </a:endParaRPr>
          </a:p>
          <a:p>
            <a:pPr marL="457200" indent="-457200">
              <a:buFont typeface="+mj-lt"/>
              <a:buAutoNum type="arabicPeriod"/>
            </a:pPr>
            <a:r>
              <a:rPr lang="en-US" sz="1800" b="1" dirty="0"/>
              <a:t>Consolidate data for compliance</a:t>
            </a:r>
            <a:r>
              <a:rPr lang="en-US" sz="1800" dirty="0"/>
              <a:t> — centralize CRM, core banking, loan, and transaction data with full lineage and retention controls</a:t>
            </a:r>
            <a:r>
              <a:rPr lang="en-US" sz="1800" dirty="0" smtClean="0">
                <a:cs typeface="Arial" panose="020B0604020202020204" pitchFamily="34" charset="0"/>
              </a:rPr>
              <a:t> </a:t>
            </a:r>
            <a:endParaRPr lang="en-US" sz="1800" dirty="0">
              <a:cs typeface="Arial" panose="020B0604020202020204" pitchFamily="34" charset="0"/>
            </a:endParaRPr>
          </a:p>
          <a:p>
            <a:pPr marL="457200" indent="-457200">
              <a:buFont typeface="+mj-lt"/>
              <a:buAutoNum type="arabicPeriod"/>
            </a:pPr>
            <a:r>
              <a:rPr lang="en-US" sz="1800" b="1" dirty="0"/>
              <a:t>Secure, scalable platform</a:t>
            </a:r>
            <a:r>
              <a:rPr lang="en-US" sz="1800" dirty="0"/>
              <a:t> — deploy containerized </a:t>
            </a:r>
            <a:r>
              <a:rPr lang="en-US" sz="1800" dirty="0" err="1"/>
              <a:t>microservices</a:t>
            </a:r>
            <a:r>
              <a:rPr lang="en-US" sz="1800" dirty="0"/>
              <a:t> with RBAC, encryption, </a:t>
            </a:r>
            <a:r>
              <a:rPr lang="en-US" sz="1800" dirty="0" err="1"/>
              <a:t>autoscaling</a:t>
            </a:r>
            <a:r>
              <a:rPr lang="en-US" sz="1800" dirty="0"/>
              <a:t>, and disaster </a:t>
            </a:r>
            <a:r>
              <a:rPr lang="en-US" sz="1800"/>
              <a:t>recovery</a:t>
            </a:r>
            <a:r>
              <a:rPr lang="en-US" sz="1800" smtClean="0">
                <a:cs typeface="Arial" panose="020B0604020202020204" pitchFamily="34" charset="0"/>
              </a:rPr>
              <a:t> </a:t>
            </a:r>
            <a:endParaRPr lang="en-US" sz="1800" dirty="0">
              <a:cs typeface="Arial" panose="020B0604020202020204" pitchFamily="34" charset="0"/>
            </a:endParaRPr>
          </a:p>
        </p:txBody>
      </p:sp>
    </p:spTree>
    <p:extLst>
      <p:ext uri="{BB962C8B-B14F-4D97-AF65-F5344CB8AC3E}">
        <p14:creationId xmlns:p14="http://schemas.microsoft.com/office/powerpoint/2010/main" val="368402557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85A4E-F8B6-34CA-1C67-94E45A6FF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97E2FD-202A-960A-E4CA-B2534C34ADC9}"/>
              </a:ext>
            </a:extLst>
          </p:cNvPr>
          <p:cNvSpPr>
            <a:spLocks noGrp="1"/>
          </p:cNvSpPr>
          <p:nvPr>
            <p:ph type="title"/>
          </p:nvPr>
        </p:nvSpPr>
        <p:spPr>
          <a:xfrm>
            <a:off x="630265" y="2809277"/>
            <a:ext cx="8488117" cy="850726"/>
          </a:xfrm>
          <a:solidFill>
            <a:schemeClr val="bg1"/>
          </a:solidFill>
        </p:spPr>
        <p:txBody>
          <a:bodyPr anchor="ctr">
            <a:normAutofit/>
          </a:bodyPr>
          <a:lstStyle/>
          <a:p>
            <a:pPr algn="ctr"/>
            <a:r>
              <a:rPr lang="en-US" sz="5400" dirty="0"/>
              <a:t>Artifacts</a:t>
            </a:r>
          </a:p>
        </p:txBody>
      </p:sp>
      <p:sp>
        <p:nvSpPr>
          <p:cNvPr id="3" name="Content Placeholder 2">
            <a:extLst>
              <a:ext uri="{FF2B5EF4-FFF2-40B4-BE49-F238E27FC236}">
                <a16:creationId xmlns:a16="http://schemas.microsoft.com/office/drawing/2014/main" id="{CA113C5F-7EFE-3B6A-E572-2BF2662BB1BF}"/>
              </a:ext>
            </a:extLst>
          </p:cNvPr>
          <p:cNvSpPr>
            <a:spLocks noGrp="1"/>
          </p:cNvSpPr>
          <p:nvPr>
            <p:ph sz="half" idx="4294967295"/>
          </p:nvPr>
        </p:nvSpPr>
        <p:spPr>
          <a:xfrm>
            <a:off x="0" y="1163638"/>
            <a:ext cx="5181600" cy="5013325"/>
          </a:xfrm>
        </p:spPr>
        <p:txBody>
          <a:bodyPr>
            <a:normAutofit/>
          </a:bodyPr>
          <a:lstStyle/>
          <a:p>
            <a:pPr marL="0" indent="0" rtl="0" fontAlgn="base">
              <a:buNone/>
            </a:pPr>
            <a:endParaRPr lang="en-US" sz="1700" b="0" i="0">
              <a:effectLst/>
            </a:endParaRPr>
          </a:p>
          <a:p>
            <a:pPr marL="0" indent="0">
              <a:spcAft>
                <a:spcPts val="800"/>
              </a:spcAft>
              <a:buNone/>
            </a:pPr>
            <a:endParaRPr lang="en-US" sz="1700"/>
          </a:p>
        </p:txBody>
      </p:sp>
    </p:spTree>
    <p:extLst>
      <p:ext uri="{BB962C8B-B14F-4D97-AF65-F5344CB8AC3E}">
        <p14:creationId xmlns:p14="http://schemas.microsoft.com/office/powerpoint/2010/main" val="28266858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BF8EE-E197-D5B9-6826-F4C85C6C420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CBD2466-32A8-C9D7-A496-84A2B1ADF301}"/>
              </a:ext>
            </a:extLst>
          </p:cNvPr>
          <p:cNvSpPr>
            <a:spLocks noGrp="1"/>
          </p:cNvSpPr>
          <p:nvPr>
            <p:ph type="title"/>
          </p:nvPr>
        </p:nvSpPr>
        <p:spPr>
          <a:xfrm>
            <a:off x="572756" y="133943"/>
            <a:ext cx="9813446" cy="850726"/>
          </a:xfrm>
        </p:spPr>
        <p:txBody>
          <a:bodyPr>
            <a:noAutofit/>
          </a:bodyPr>
          <a:lstStyle/>
          <a:p>
            <a:r>
              <a:rPr lang="en-US" sz="3200" dirty="0"/>
              <a:t>Project Initiation and Stakeholder Engagement</a:t>
            </a:r>
          </a:p>
        </p:txBody>
      </p:sp>
      <p:sp>
        <p:nvSpPr>
          <p:cNvPr id="8" name="Content Placeholder 4">
            <a:extLst>
              <a:ext uri="{FF2B5EF4-FFF2-40B4-BE49-F238E27FC236}">
                <a16:creationId xmlns:a16="http://schemas.microsoft.com/office/drawing/2014/main" id="{A8BE4308-1D98-CDF3-3F22-9CE0B8C58C6F}"/>
              </a:ext>
            </a:extLst>
          </p:cNvPr>
          <p:cNvSpPr txBox="1">
            <a:spLocks/>
          </p:cNvSpPr>
          <p:nvPr/>
        </p:nvSpPr>
        <p:spPr>
          <a:xfrm>
            <a:off x="573087" y="1216024"/>
            <a:ext cx="10659485" cy="5499407"/>
          </a:xfrm>
          <a:prstGeom prst="rect">
            <a:avLst/>
          </a:prstGeom>
        </p:spPr>
        <p:txBody>
          <a:bodyPr vert="horz" lIns="91440" tIns="45720" rIns="91440" bIns="45720" rtlCol="0" anchor="t">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N" sz="2400" b="1" dirty="0"/>
              <a:t>Project </a:t>
            </a:r>
            <a:r>
              <a:rPr lang="en-IN" sz="2400" b="1" dirty="0" smtClean="0"/>
              <a:t>Charter</a:t>
            </a:r>
            <a:endParaRPr lang="en-IN" sz="2400" b="1" dirty="0">
              <a:cs typeface="Arial"/>
            </a:endParaRPr>
          </a:p>
          <a:p>
            <a:pPr marL="0" indent="0">
              <a:buNone/>
            </a:pPr>
            <a:r>
              <a:rPr lang="en-US" sz="2100" b="1" dirty="0"/>
              <a:t>1. Project Description</a:t>
            </a:r>
          </a:p>
          <a:p>
            <a:pPr marL="0" indent="0">
              <a:buNone/>
            </a:pPr>
            <a:r>
              <a:rPr lang="en-US" sz="2100" dirty="0"/>
              <a:t>The Core Digital Transformation for Retail Banking project is a strategic initiative to modernize the bank's entire technology infrastructure and operational systems. The project will replace legacy batch-processing platforms with a unified, cloud-native architecture leveraging </a:t>
            </a:r>
            <a:r>
              <a:rPr lang="en-US" sz="2100" dirty="0" err="1"/>
              <a:t>microservices</a:t>
            </a:r>
            <a:r>
              <a:rPr lang="en-US" sz="2100" dirty="0"/>
              <a:t>, containerization, and real-time data pipelines. The transformation addresses critical gaps in customer experience, regulatory compliance, and data integrity across all banking operations including customer onboarding, transaction processing, and loan servicing.</a:t>
            </a:r>
          </a:p>
          <a:p>
            <a:pPr marL="0" indent="0">
              <a:buNone/>
            </a:pPr>
            <a:endParaRPr lang="en-US" sz="2100" b="1" dirty="0"/>
          </a:p>
          <a:p>
            <a:pPr marL="0" indent="0">
              <a:buNone/>
            </a:pPr>
            <a:r>
              <a:rPr lang="en-US" sz="2100" b="1" dirty="0"/>
              <a:t>2. Objectives</a:t>
            </a:r>
          </a:p>
          <a:p>
            <a:pPr marL="0" indent="0">
              <a:buNone/>
            </a:pPr>
            <a:r>
              <a:rPr lang="en-US" sz="2100" dirty="0"/>
              <a:t>The project will achieve the following strategic objectives:</a:t>
            </a:r>
          </a:p>
          <a:p>
            <a:pPr marL="0" indent="0">
              <a:buNone/>
            </a:pPr>
            <a:r>
              <a:rPr lang="en-US" sz="2100" dirty="0" smtClean="0"/>
              <a:t>•Migrate </a:t>
            </a:r>
            <a:r>
              <a:rPr lang="en-US" sz="2100" dirty="0"/>
              <a:t>all legacy systems from </a:t>
            </a:r>
            <a:r>
              <a:rPr lang="en-US" sz="2100" dirty="0" err="1"/>
              <a:t>siloed</a:t>
            </a:r>
            <a:r>
              <a:rPr lang="en-US" sz="2100" dirty="0"/>
              <a:t> databases and batch workflows to a unified cloud-native </a:t>
            </a:r>
            <a:r>
              <a:rPr lang="en-US" sz="2100" dirty="0" err="1"/>
              <a:t>microservices</a:t>
            </a:r>
            <a:r>
              <a:rPr lang="en-US" sz="2100" dirty="0"/>
              <a:t> architecture.</a:t>
            </a:r>
          </a:p>
          <a:p>
            <a:pPr marL="0" indent="0">
              <a:buNone/>
            </a:pPr>
            <a:r>
              <a:rPr lang="en-US" sz="2100" dirty="0" smtClean="0"/>
              <a:t>•Establish </a:t>
            </a:r>
            <a:r>
              <a:rPr lang="en-US" sz="2100" dirty="0"/>
              <a:t>real-time data pipelines and a centralized data warehouse with secure APIs to enable data-driven decision-making.</a:t>
            </a:r>
          </a:p>
          <a:p>
            <a:pPr marL="0" indent="0">
              <a:buNone/>
            </a:pPr>
            <a:r>
              <a:rPr lang="en-US" sz="2100" dirty="0" smtClean="0"/>
              <a:t>•Implement </a:t>
            </a:r>
            <a:r>
              <a:rPr lang="en-US" sz="2100" dirty="0"/>
              <a:t>full auditability, encryption, and role-based access controls (RBAC) to meet regulatory mandates.</a:t>
            </a:r>
          </a:p>
          <a:p>
            <a:pPr marL="0" indent="0">
              <a:buNone/>
            </a:pPr>
            <a:r>
              <a:rPr lang="en-US" sz="2100" dirty="0" smtClean="0"/>
              <a:t>•Achieve </a:t>
            </a:r>
            <a:r>
              <a:rPr lang="en-US" sz="2100" dirty="0"/>
              <a:t>full compliance with KYC, AML, PCI-DSS, and GDPR regulatory frameworks.</a:t>
            </a:r>
          </a:p>
          <a:p>
            <a:pPr marL="0" indent="0">
              <a:buNone/>
            </a:pPr>
            <a:r>
              <a:rPr lang="en-US" sz="2100" dirty="0" smtClean="0"/>
              <a:t>•Reduce </a:t>
            </a:r>
            <a:r>
              <a:rPr lang="en-US" sz="2100" dirty="0"/>
              <a:t>manual processing errors and improve system scalability to support business growth.</a:t>
            </a:r>
          </a:p>
          <a:p>
            <a:pPr marL="0" indent="0">
              <a:buNone/>
            </a:pPr>
            <a:r>
              <a:rPr lang="en-US" sz="2100" dirty="0" smtClean="0"/>
              <a:t>•Deploy </a:t>
            </a:r>
            <a:r>
              <a:rPr lang="en-US" sz="2100" dirty="0"/>
              <a:t>fraud detection and customer analytics dashboards with real-time alerting capabilities.</a:t>
            </a:r>
          </a:p>
          <a:p>
            <a:pPr marL="0" indent="0">
              <a:buNone/>
            </a:pPr>
            <a:endParaRPr lang="en-US" sz="2100" b="1" dirty="0"/>
          </a:p>
          <a:p>
            <a:pPr marL="0" indent="0">
              <a:buNone/>
            </a:pPr>
            <a:r>
              <a:rPr lang="en-US" sz="2100" b="1" dirty="0"/>
              <a:t>3. Success Criteria</a:t>
            </a:r>
          </a:p>
          <a:p>
            <a:pPr marL="0" indent="0">
              <a:buNone/>
            </a:pPr>
            <a:r>
              <a:rPr lang="en-US" sz="2100" dirty="0"/>
              <a:t>Project success will be measured against the following criteria:</a:t>
            </a:r>
          </a:p>
          <a:p>
            <a:pPr marL="0" indent="0">
              <a:buNone/>
            </a:pPr>
            <a:r>
              <a:rPr lang="en-US" sz="2100" dirty="0" smtClean="0"/>
              <a:t>•100</a:t>
            </a:r>
            <a:r>
              <a:rPr lang="en-US" sz="2100" dirty="0"/>
              <a:t>% of core banking systems migrated to cloud-native architecture within project timeline.</a:t>
            </a:r>
          </a:p>
          <a:p>
            <a:pPr marL="0" indent="0">
              <a:buNone/>
            </a:pPr>
            <a:r>
              <a:rPr lang="en-US" sz="2100" dirty="0" smtClean="0"/>
              <a:t>•Zero </a:t>
            </a:r>
            <a:r>
              <a:rPr lang="en-US" sz="2100" dirty="0"/>
              <a:t>critical compliance findings in post-implementation KYC, AML, PCI-DSS, and GDPR audits.</a:t>
            </a:r>
          </a:p>
          <a:p>
            <a:pPr marL="0" indent="0">
              <a:buNone/>
            </a:pPr>
            <a:r>
              <a:rPr lang="en-US" sz="2100" dirty="0" smtClean="0"/>
              <a:t>•System </a:t>
            </a:r>
            <a:r>
              <a:rPr lang="en-US" sz="2100" dirty="0"/>
              <a:t>uptime of 99.9% or greater following go-live for all production services.</a:t>
            </a:r>
          </a:p>
          <a:p>
            <a:pPr marL="0" indent="0">
              <a:buNone/>
            </a:pPr>
            <a:r>
              <a:rPr lang="en-US" sz="2100" dirty="0" smtClean="0"/>
              <a:t>•Real-time </a:t>
            </a:r>
            <a:r>
              <a:rPr lang="en-US" sz="2100" dirty="0"/>
              <a:t>transaction processing latency reduced to under 500ms for 95th percentile requests.</a:t>
            </a:r>
          </a:p>
          <a:p>
            <a:pPr marL="0" indent="0">
              <a:buNone/>
            </a:pPr>
            <a:r>
              <a:rPr lang="en-US" sz="2100" dirty="0" smtClean="0"/>
              <a:t>•Fraud </a:t>
            </a:r>
            <a:r>
              <a:rPr lang="en-US" sz="2100" dirty="0"/>
              <a:t>detection alerts operational within 30 seconds of suspicious activity.</a:t>
            </a:r>
          </a:p>
          <a:p>
            <a:pPr marL="0" indent="0">
              <a:buNone/>
            </a:pPr>
            <a:r>
              <a:rPr lang="en-US" sz="2100" dirty="0" smtClean="0"/>
              <a:t>•All </a:t>
            </a:r>
            <a:r>
              <a:rPr lang="en-US" sz="2100" dirty="0"/>
              <a:t>data encrypted in transit and at rest; RBAC fully implemented and auditable.</a:t>
            </a:r>
          </a:p>
          <a:p>
            <a:pPr marL="0" indent="0">
              <a:buNone/>
            </a:pPr>
            <a:r>
              <a:rPr lang="en-US" sz="2100" dirty="0" smtClean="0"/>
              <a:t>•Successful </a:t>
            </a:r>
            <a:r>
              <a:rPr lang="en-US" sz="2100" dirty="0"/>
              <a:t>User Acceptance Testing (UAT) with sign-off from business unit leads.</a:t>
            </a:r>
          </a:p>
          <a:p>
            <a:pPr marL="0" indent="0">
              <a:buFont typeface="Arial" panose="020B0604020202020204" pitchFamily="34" charset="0"/>
              <a:buNone/>
            </a:pPr>
            <a:endParaRPr lang="en-IN" sz="800" dirty="0"/>
          </a:p>
        </p:txBody>
      </p:sp>
    </p:spTree>
    <p:extLst>
      <p:ext uri="{BB962C8B-B14F-4D97-AF65-F5344CB8AC3E}">
        <p14:creationId xmlns:p14="http://schemas.microsoft.com/office/powerpoint/2010/main" val="274600273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D9950B-3294-0080-17A8-8A9CD383ABA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E81ACA-3B0A-9AE5-0607-EC7C9311430A}"/>
              </a:ext>
            </a:extLst>
          </p:cNvPr>
          <p:cNvSpPr>
            <a:spLocks noGrp="1"/>
          </p:cNvSpPr>
          <p:nvPr>
            <p:ph type="title"/>
          </p:nvPr>
        </p:nvSpPr>
        <p:spPr>
          <a:xfrm>
            <a:off x="572756" y="133943"/>
            <a:ext cx="9813446" cy="850726"/>
          </a:xfrm>
        </p:spPr>
        <p:txBody>
          <a:bodyPr>
            <a:noAutofit/>
          </a:bodyPr>
          <a:lstStyle/>
          <a:p>
            <a:r>
              <a:rPr lang="en-US" sz="3200" dirty="0"/>
              <a:t>Project Initiation and Stakeholder Engagement</a:t>
            </a:r>
          </a:p>
        </p:txBody>
      </p:sp>
      <p:sp>
        <p:nvSpPr>
          <p:cNvPr id="8" name="Content Placeholder 4">
            <a:extLst>
              <a:ext uri="{FF2B5EF4-FFF2-40B4-BE49-F238E27FC236}">
                <a16:creationId xmlns:a16="http://schemas.microsoft.com/office/drawing/2014/main" id="{25B78938-8947-ED6F-BD84-6B7BC1589E42}"/>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N" sz="2400" b="1" dirty="0"/>
              <a:t>Stakeholder Register</a:t>
            </a:r>
          </a:p>
          <a:p>
            <a:pPr>
              <a:buNone/>
            </a:pPr>
            <a:endParaRPr lang="en-IN" sz="1000" dirty="0">
              <a:solidFill>
                <a:srgbClr val="111620"/>
              </a:solidFill>
              <a:cs typeface="Arial"/>
            </a:endParaRPr>
          </a:p>
          <a:p>
            <a:pPr marL="0" indent="0">
              <a:buNone/>
            </a:pPr>
            <a:endParaRPr lang="en-IN" sz="2400" b="1" dirty="0">
              <a:solidFill>
                <a:srgbClr val="111620"/>
              </a:solidFill>
              <a:cs typeface="Arial"/>
            </a:endParaRPr>
          </a:p>
        </p:txBody>
      </p:sp>
      <p:graphicFrame>
        <p:nvGraphicFramePr>
          <p:cNvPr id="2" name="Table 1"/>
          <p:cNvGraphicFramePr>
            <a:graphicFrameLocks noGrp="1"/>
          </p:cNvGraphicFramePr>
          <p:nvPr>
            <p:extLst>
              <p:ext uri="{D42A27DB-BD31-4B8C-83A1-F6EECF244321}">
                <p14:modId xmlns:p14="http://schemas.microsoft.com/office/powerpoint/2010/main" val="1152818825"/>
              </p:ext>
            </p:extLst>
          </p:nvPr>
        </p:nvGraphicFramePr>
        <p:xfrm>
          <a:off x="658760" y="1825625"/>
          <a:ext cx="10854814" cy="4351337"/>
        </p:xfrm>
        <a:graphic>
          <a:graphicData uri="http://schemas.openxmlformats.org/drawingml/2006/table">
            <a:tbl>
              <a:tblPr firstRow="1" firstCol="1" bandRow="1">
                <a:tableStyleId>{5C22544A-7EE6-4342-B048-85BDC9FD1C3A}</a:tableStyleId>
              </a:tblPr>
              <a:tblGrid>
                <a:gridCol w="392934">
                  <a:extLst>
                    <a:ext uri="{9D8B030D-6E8A-4147-A177-3AD203B41FA5}">
                      <a16:colId xmlns:a16="http://schemas.microsoft.com/office/drawing/2014/main" val="3619517104"/>
                    </a:ext>
                  </a:extLst>
                </a:gridCol>
                <a:gridCol w="1309782">
                  <a:extLst>
                    <a:ext uri="{9D8B030D-6E8A-4147-A177-3AD203B41FA5}">
                      <a16:colId xmlns:a16="http://schemas.microsoft.com/office/drawing/2014/main" val="566751027"/>
                    </a:ext>
                  </a:extLst>
                </a:gridCol>
                <a:gridCol w="1227920">
                  <a:extLst>
                    <a:ext uri="{9D8B030D-6E8A-4147-A177-3AD203B41FA5}">
                      <a16:colId xmlns:a16="http://schemas.microsoft.com/office/drawing/2014/main" val="4070526994"/>
                    </a:ext>
                  </a:extLst>
                </a:gridCol>
                <a:gridCol w="982336">
                  <a:extLst>
                    <a:ext uri="{9D8B030D-6E8A-4147-A177-3AD203B41FA5}">
                      <a16:colId xmlns:a16="http://schemas.microsoft.com/office/drawing/2014/main" val="635855134"/>
                    </a:ext>
                  </a:extLst>
                </a:gridCol>
                <a:gridCol w="491169">
                  <a:extLst>
                    <a:ext uri="{9D8B030D-6E8A-4147-A177-3AD203B41FA5}">
                      <a16:colId xmlns:a16="http://schemas.microsoft.com/office/drawing/2014/main" val="1310056928"/>
                    </a:ext>
                  </a:extLst>
                </a:gridCol>
                <a:gridCol w="474795">
                  <a:extLst>
                    <a:ext uri="{9D8B030D-6E8A-4147-A177-3AD203B41FA5}">
                      <a16:colId xmlns:a16="http://schemas.microsoft.com/office/drawing/2014/main" val="1003805757"/>
                    </a:ext>
                  </a:extLst>
                </a:gridCol>
                <a:gridCol w="573030">
                  <a:extLst>
                    <a:ext uri="{9D8B030D-6E8A-4147-A177-3AD203B41FA5}">
                      <a16:colId xmlns:a16="http://schemas.microsoft.com/office/drawing/2014/main" val="2073106046"/>
                    </a:ext>
                  </a:extLst>
                </a:gridCol>
                <a:gridCol w="450236">
                  <a:extLst>
                    <a:ext uri="{9D8B030D-6E8A-4147-A177-3AD203B41FA5}">
                      <a16:colId xmlns:a16="http://schemas.microsoft.com/office/drawing/2014/main" val="1929409397"/>
                    </a:ext>
                  </a:extLst>
                </a:gridCol>
                <a:gridCol w="1309782">
                  <a:extLst>
                    <a:ext uri="{9D8B030D-6E8A-4147-A177-3AD203B41FA5}">
                      <a16:colId xmlns:a16="http://schemas.microsoft.com/office/drawing/2014/main" val="1046779764"/>
                    </a:ext>
                  </a:extLst>
                </a:gridCol>
                <a:gridCol w="736752">
                  <a:extLst>
                    <a:ext uri="{9D8B030D-6E8A-4147-A177-3AD203B41FA5}">
                      <a16:colId xmlns:a16="http://schemas.microsoft.com/office/drawing/2014/main" val="2318124998"/>
                    </a:ext>
                  </a:extLst>
                </a:gridCol>
                <a:gridCol w="818613">
                  <a:extLst>
                    <a:ext uri="{9D8B030D-6E8A-4147-A177-3AD203B41FA5}">
                      <a16:colId xmlns:a16="http://schemas.microsoft.com/office/drawing/2014/main" val="3194169257"/>
                    </a:ext>
                  </a:extLst>
                </a:gridCol>
                <a:gridCol w="1391643">
                  <a:extLst>
                    <a:ext uri="{9D8B030D-6E8A-4147-A177-3AD203B41FA5}">
                      <a16:colId xmlns:a16="http://schemas.microsoft.com/office/drawing/2014/main" val="3364419157"/>
                    </a:ext>
                  </a:extLst>
                </a:gridCol>
                <a:gridCol w="695822">
                  <a:extLst>
                    <a:ext uri="{9D8B030D-6E8A-4147-A177-3AD203B41FA5}">
                      <a16:colId xmlns:a16="http://schemas.microsoft.com/office/drawing/2014/main" val="2386297084"/>
                    </a:ext>
                  </a:extLst>
                </a:gridCol>
              </a:tblGrid>
              <a:tr h="469034">
                <a:tc>
                  <a:txBody>
                    <a:bodyPr/>
                    <a:lstStyle/>
                    <a:p>
                      <a:pPr>
                        <a:spcAft>
                          <a:spcPts val="0"/>
                        </a:spcAft>
                      </a:pPr>
                      <a:r>
                        <a:rPr lang="en-MY" sz="800">
                          <a:effectLst/>
                        </a:rPr>
                        <a:t>ID</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Stakeholder</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Role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Department / Group</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Attitude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Influence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Impact</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Interest</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Comm. Preferences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Location</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Availability</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Success Criteria</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Work Hours</a:t>
                      </a:r>
                      <a:endParaRPr lang="en-MY" sz="900">
                        <a:effectLst/>
                        <a:latin typeface="Arial" panose="020B0604020202020204" pitchFamily="34" charset="0"/>
                        <a:ea typeface="Arial" panose="020B0604020202020204" pitchFamily="34" charset="0"/>
                      </a:endParaRPr>
                    </a:p>
                  </a:txBody>
                  <a:tcPr marL="58049" marR="58049" marT="46439" marB="46439"/>
                </a:tc>
                <a:extLst>
                  <a:ext uri="{0D108BD9-81ED-4DB2-BD59-A6C34878D82A}">
                    <a16:rowId xmlns:a16="http://schemas.microsoft.com/office/drawing/2014/main" val="1806131067"/>
                  </a:ext>
                </a:extLst>
              </a:tr>
              <a:tr h="970576">
                <a:tc>
                  <a:txBody>
                    <a:bodyPr/>
                    <a:lstStyle/>
                    <a:p>
                      <a:pPr>
                        <a:spcAft>
                          <a:spcPts val="0"/>
                        </a:spcAft>
                      </a:pPr>
                      <a:r>
                        <a:rPr lang="en-MY" sz="800">
                          <a:effectLst/>
                        </a:rPr>
                        <a:t>S-01</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Chief Executive Officer (CEO)</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Project Sponsor / Executive Champion</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Executive Leadership</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Supportive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Monthly executive summary reports; escalations as needed</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Head Office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Limited – strategic decisions only</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Regulatory compliance achieved; revenue growth; reduced operational risk</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As required for approvals and escalations</a:t>
                      </a:r>
                      <a:endParaRPr lang="en-MY" sz="900">
                        <a:effectLst/>
                        <a:latin typeface="Arial" panose="020B0604020202020204" pitchFamily="34" charset="0"/>
                        <a:ea typeface="Arial" panose="020B0604020202020204" pitchFamily="34" charset="0"/>
                      </a:endParaRPr>
                    </a:p>
                  </a:txBody>
                  <a:tcPr marL="58049" marR="58049" marT="46439" marB="46439"/>
                </a:tc>
                <a:extLst>
                  <a:ext uri="{0D108BD9-81ED-4DB2-BD59-A6C34878D82A}">
                    <a16:rowId xmlns:a16="http://schemas.microsoft.com/office/drawing/2014/main" val="1797807371"/>
                  </a:ext>
                </a:extLst>
              </a:tr>
              <a:tr h="719805">
                <a:tc>
                  <a:txBody>
                    <a:bodyPr/>
                    <a:lstStyle/>
                    <a:p>
                      <a:pPr>
                        <a:spcAft>
                          <a:spcPts val="0"/>
                        </a:spcAft>
                      </a:pPr>
                      <a:r>
                        <a:rPr lang="en-MY" sz="800">
                          <a:effectLst/>
                        </a:rPr>
                        <a:t>S-02</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Chief Information Officer (CIO)</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Project Manager / IT Lead</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Information Technology</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Supportive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Weekly project status reports; daily stand-up during critical phases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Head Office / Remote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Full-time project involvement</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On-time, on-budget delivery; stable production systems post go-live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Full-time (40 hrs/week)</a:t>
                      </a:r>
                      <a:endParaRPr lang="en-MY" sz="900">
                        <a:effectLst/>
                        <a:latin typeface="Arial" panose="020B0604020202020204" pitchFamily="34" charset="0"/>
                        <a:ea typeface="Arial" panose="020B0604020202020204" pitchFamily="34" charset="0"/>
                      </a:endParaRPr>
                    </a:p>
                  </a:txBody>
                  <a:tcPr marL="58049" marR="58049" marT="46439" marB="46439"/>
                </a:tc>
                <a:extLst>
                  <a:ext uri="{0D108BD9-81ED-4DB2-BD59-A6C34878D82A}">
                    <a16:rowId xmlns:a16="http://schemas.microsoft.com/office/drawing/2014/main" val="3051536553"/>
                  </a:ext>
                </a:extLst>
              </a:tr>
              <a:tr h="845190">
                <a:tc>
                  <a:txBody>
                    <a:bodyPr/>
                    <a:lstStyle/>
                    <a:p>
                      <a:pPr>
                        <a:spcAft>
                          <a:spcPts val="0"/>
                        </a:spcAft>
                      </a:pPr>
                      <a:r>
                        <a:rPr lang="en-MY" sz="800">
                          <a:effectLst/>
                        </a:rPr>
                        <a:t>S-03</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Chief Compliance Officer (CCO)</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Regulatory Advisor / Approver</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Regulatory Affairs &amp; Compliance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Supportive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Bi-weekly compliance updates; immediate alerts for regulatory risks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Head Office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Available for reviews and milestone sign-offs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Zero compliance violations; KYC, AML, PCI-DSS, GDPR fully satisfied</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Approx. 10–15 hrs/week</a:t>
                      </a:r>
                      <a:endParaRPr lang="en-MY" sz="900">
                        <a:effectLst/>
                        <a:latin typeface="Arial" panose="020B0604020202020204" pitchFamily="34" charset="0"/>
                        <a:ea typeface="Arial" panose="020B0604020202020204" pitchFamily="34" charset="0"/>
                      </a:endParaRPr>
                    </a:p>
                  </a:txBody>
                  <a:tcPr marL="58049" marR="58049" marT="46439" marB="46439"/>
                </a:tc>
                <a:extLst>
                  <a:ext uri="{0D108BD9-81ED-4DB2-BD59-A6C34878D82A}">
                    <a16:rowId xmlns:a16="http://schemas.microsoft.com/office/drawing/2014/main" val="1210873937"/>
                  </a:ext>
                </a:extLst>
              </a:tr>
              <a:tr h="1346732">
                <a:tc>
                  <a:txBody>
                    <a:bodyPr/>
                    <a:lstStyle/>
                    <a:p>
                      <a:pPr>
                        <a:spcAft>
                          <a:spcPts val="0"/>
                        </a:spcAft>
                      </a:pPr>
                      <a:r>
                        <a:rPr lang="en-MY" sz="800">
                          <a:effectLst/>
                        </a:rPr>
                        <a:t>S-04</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Enterprise Architect</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Solution Designer / Technical Governance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IT Architecture Team</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Supportive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lgn="ctr">
                        <a:spcAft>
                          <a:spcPts val="0"/>
                        </a:spcAft>
                      </a:pPr>
                      <a:r>
                        <a:rPr lang="en-MY" sz="800">
                          <a:effectLst/>
                        </a:rPr>
                        <a:t>High</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Weekly architecture review meetings; technical design documentation</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Head Office / Remote</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Full-time during design; part-time in later phases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a:effectLst/>
                        </a:rPr>
                        <a:t>Scalable, secure, and maintainable architecture approved by all stakeholders</a:t>
                      </a:r>
                      <a:endParaRPr lang="en-MY" sz="900">
                        <a:effectLst/>
                        <a:latin typeface="Arial" panose="020B0604020202020204" pitchFamily="34" charset="0"/>
                        <a:ea typeface="Arial" panose="020B0604020202020204" pitchFamily="34" charset="0"/>
                      </a:endParaRPr>
                    </a:p>
                  </a:txBody>
                  <a:tcPr marL="58049" marR="58049" marT="46439" marB="46439"/>
                </a:tc>
                <a:tc>
                  <a:txBody>
                    <a:bodyPr/>
                    <a:lstStyle/>
                    <a:p>
                      <a:pPr>
                        <a:spcAft>
                          <a:spcPts val="0"/>
                        </a:spcAft>
                      </a:pPr>
                      <a:r>
                        <a:rPr lang="en-MY" sz="800" dirty="0">
                          <a:effectLst/>
                        </a:rPr>
                        <a:t>Full-time (40 hrs/week) – Phases 1–2; 20 hrs/week thereafter</a:t>
                      </a:r>
                      <a:endParaRPr lang="en-MY" sz="900" dirty="0">
                        <a:effectLst/>
                        <a:latin typeface="Arial" panose="020B0604020202020204" pitchFamily="34" charset="0"/>
                        <a:ea typeface="Arial" panose="020B0604020202020204" pitchFamily="34" charset="0"/>
                      </a:endParaRPr>
                    </a:p>
                  </a:txBody>
                  <a:tcPr marL="58049" marR="58049" marT="46439" marB="46439"/>
                </a:tc>
                <a:extLst>
                  <a:ext uri="{0D108BD9-81ED-4DB2-BD59-A6C34878D82A}">
                    <a16:rowId xmlns:a16="http://schemas.microsoft.com/office/drawing/2014/main" val="2963964451"/>
                  </a:ext>
                </a:extLst>
              </a:tr>
            </a:tbl>
          </a:graphicData>
        </a:graphic>
      </p:graphicFrame>
    </p:spTree>
    <p:extLst>
      <p:ext uri="{BB962C8B-B14F-4D97-AF65-F5344CB8AC3E}">
        <p14:creationId xmlns:p14="http://schemas.microsoft.com/office/powerpoint/2010/main" val="64981231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28B80-6E3F-55F1-1496-FCE9195BC79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B4F61-2C4D-2A21-D1AB-493E1B7375F6}"/>
              </a:ext>
            </a:extLst>
          </p:cNvPr>
          <p:cNvSpPr>
            <a:spLocks noGrp="1"/>
          </p:cNvSpPr>
          <p:nvPr>
            <p:ph type="title"/>
          </p:nvPr>
        </p:nvSpPr>
        <p:spPr>
          <a:xfrm>
            <a:off x="572756" y="133943"/>
            <a:ext cx="9813446" cy="850726"/>
          </a:xfrm>
        </p:spPr>
        <p:txBody>
          <a:bodyPr>
            <a:noAutofit/>
          </a:bodyPr>
          <a:lstStyle/>
          <a:p>
            <a:r>
              <a:rPr lang="en-US" sz="3200" dirty="0"/>
              <a:t>Project Initiation and Stakeholder Engagement</a:t>
            </a:r>
          </a:p>
        </p:txBody>
      </p:sp>
      <p:sp>
        <p:nvSpPr>
          <p:cNvPr id="8" name="Content Placeholder 4">
            <a:extLst>
              <a:ext uri="{FF2B5EF4-FFF2-40B4-BE49-F238E27FC236}">
                <a16:creationId xmlns:a16="http://schemas.microsoft.com/office/drawing/2014/main" id="{F3A1BE54-E011-A20C-CE51-1D9F007CF5C5}"/>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N" sz="2400" b="1" dirty="0"/>
              <a:t>Stakeholder Engagement </a:t>
            </a:r>
            <a:r>
              <a:rPr lang="en-IN" sz="2400" b="1" dirty="0" smtClean="0"/>
              <a:t>Plan</a:t>
            </a:r>
          </a:p>
          <a:p>
            <a:pPr marL="0" indent="0">
              <a:buFont typeface="Arial" panose="020B0604020202020204" pitchFamily="34" charset="0"/>
              <a:buNone/>
            </a:pPr>
            <a:endParaRPr lang="en-IN" sz="1000" b="1" dirty="0"/>
          </a:p>
        </p:txBody>
      </p:sp>
      <p:graphicFrame>
        <p:nvGraphicFramePr>
          <p:cNvPr id="2" name="Table 1"/>
          <p:cNvGraphicFramePr>
            <a:graphicFrameLocks noGrp="1"/>
          </p:cNvGraphicFramePr>
          <p:nvPr>
            <p:extLst>
              <p:ext uri="{D42A27DB-BD31-4B8C-83A1-F6EECF244321}">
                <p14:modId xmlns:p14="http://schemas.microsoft.com/office/powerpoint/2010/main" val="3352672443"/>
              </p:ext>
            </p:extLst>
          </p:nvPr>
        </p:nvGraphicFramePr>
        <p:xfrm>
          <a:off x="712270" y="1867302"/>
          <a:ext cx="9955730" cy="4273616"/>
        </p:xfrm>
        <a:graphic>
          <a:graphicData uri="http://schemas.openxmlformats.org/drawingml/2006/table">
            <a:tbl>
              <a:tblPr>
                <a:tableStyleId>{5C22544A-7EE6-4342-B048-85BDC9FD1C3A}</a:tableStyleId>
              </a:tblPr>
              <a:tblGrid>
                <a:gridCol w="345685">
                  <a:extLst>
                    <a:ext uri="{9D8B030D-6E8A-4147-A177-3AD203B41FA5}">
                      <a16:colId xmlns:a16="http://schemas.microsoft.com/office/drawing/2014/main" val="89327264"/>
                    </a:ext>
                  </a:extLst>
                </a:gridCol>
                <a:gridCol w="1244466">
                  <a:extLst>
                    <a:ext uri="{9D8B030D-6E8A-4147-A177-3AD203B41FA5}">
                      <a16:colId xmlns:a16="http://schemas.microsoft.com/office/drawing/2014/main" val="1952116823"/>
                    </a:ext>
                  </a:extLst>
                </a:gridCol>
                <a:gridCol w="760507">
                  <a:extLst>
                    <a:ext uri="{9D8B030D-6E8A-4147-A177-3AD203B41FA5}">
                      <a16:colId xmlns:a16="http://schemas.microsoft.com/office/drawing/2014/main" val="3113136371"/>
                    </a:ext>
                  </a:extLst>
                </a:gridCol>
                <a:gridCol w="207411">
                  <a:extLst>
                    <a:ext uri="{9D8B030D-6E8A-4147-A177-3AD203B41FA5}">
                      <a16:colId xmlns:a16="http://schemas.microsoft.com/office/drawing/2014/main" val="3493073993"/>
                    </a:ext>
                  </a:extLst>
                </a:gridCol>
                <a:gridCol w="760507">
                  <a:extLst>
                    <a:ext uri="{9D8B030D-6E8A-4147-A177-3AD203B41FA5}">
                      <a16:colId xmlns:a16="http://schemas.microsoft.com/office/drawing/2014/main" val="2231617287"/>
                    </a:ext>
                  </a:extLst>
                </a:gridCol>
                <a:gridCol w="1797563">
                  <a:extLst>
                    <a:ext uri="{9D8B030D-6E8A-4147-A177-3AD203B41FA5}">
                      <a16:colId xmlns:a16="http://schemas.microsoft.com/office/drawing/2014/main" val="835112347"/>
                    </a:ext>
                  </a:extLst>
                </a:gridCol>
                <a:gridCol w="4839591">
                  <a:extLst>
                    <a:ext uri="{9D8B030D-6E8A-4147-A177-3AD203B41FA5}">
                      <a16:colId xmlns:a16="http://schemas.microsoft.com/office/drawing/2014/main" val="889401900"/>
                    </a:ext>
                  </a:extLst>
                </a:gridCol>
              </a:tblGrid>
              <a:tr h="572912">
                <a:tc>
                  <a:txBody>
                    <a:bodyPr/>
                    <a:lstStyle/>
                    <a:p>
                      <a:pPr>
                        <a:spcAft>
                          <a:spcPts val="0"/>
                        </a:spcAft>
                      </a:pPr>
                      <a:r>
                        <a:rPr lang="en-MY" sz="900" b="1">
                          <a:effectLst/>
                        </a:rPr>
                        <a:t>ID</a:t>
                      </a:r>
                      <a:endParaRPr lang="en-MY" sz="1000" b="1">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a:effectLst/>
                        </a:rPr>
                        <a:t>Stakeholder</a:t>
                      </a:r>
                      <a:endParaRPr lang="en-MY" sz="1000" b="1">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a:effectLst/>
                        </a:rPr>
                        <a:t>Current Level</a:t>
                      </a:r>
                      <a:endParaRPr lang="en-MY" sz="1000" b="1">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dirty="0">
                          <a:effectLst/>
                        </a:rPr>
                        <a:t>→</a:t>
                      </a:r>
                      <a:endParaRPr lang="en-MY" sz="1000" b="1" dirty="0">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a:effectLst/>
                        </a:rPr>
                        <a:t>Desired Level</a:t>
                      </a:r>
                      <a:endParaRPr lang="en-MY" sz="1000" b="1">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dirty="0">
                          <a:effectLst/>
                        </a:rPr>
                        <a:t>Rationale for Gap</a:t>
                      </a:r>
                      <a:endParaRPr lang="en-MY" sz="1000" b="1" dirty="0">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tc>
                  <a:txBody>
                    <a:bodyPr/>
                    <a:lstStyle/>
                    <a:p>
                      <a:pPr>
                        <a:spcAft>
                          <a:spcPts val="0"/>
                        </a:spcAft>
                      </a:pPr>
                      <a:r>
                        <a:rPr lang="en-MY" sz="900" b="1" dirty="0">
                          <a:effectLst/>
                        </a:rPr>
                        <a:t>Engagement Strategies</a:t>
                      </a:r>
                      <a:endParaRPr lang="en-MY" sz="1000" b="1" dirty="0">
                        <a:effectLst/>
                        <a:latin typeface="Arial" panose="020B0604020202020204" pitchFamily="34" charset="0"/>
                        <a:ea typeface="Arial" panose="020B0604020202020204" pitchFamily="34" charset="0"/>
                      </a:endParaRPr>
                    </a:p>
                  </a:txBody>
                  <a:tcPr marL="69850" marR="69850" marT="50800" marB="50800">
                    <a:solidFill>
                      <a:schemeClr val="accent1">
                        <a:lumMod val="20000"/>
                        <a:lumOff val="80000"/>
                      </a:schemeClr>
                    </a:solidFill>
                  </a:tcPr>
                </a:tc>
                <a:extLst>
                  <a:ext uri="{0D108BD9-81ED-4DB2-BD59-A6C34878D82A}">
                    <a16:rowId xmlns:a16="http://schemas.microsoft.com/office/drawing/2014/main" val="47772477"/>
                  </a:ext>
                </a:extLst>
              </a:tr>
              <a:tr h="859368">
                <a:tc>
                  <a:txBody>
                    <a:bodyPr/>
                    <a:lstStyle/>
                    <a:p>
                      <a:pPr>
                        <a:spcAft>
                          <a:spcPts val="0"/>
                        </a:spcAft>
                      </a:pPr>
                      <a:r>
                        <a:rPr lang="en-MY" sz="900">
                          <a:effectLst/>
                        </a:rPr>
                        <a:t>S-01</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Chief Executive Officer (CEO)</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S – Supportive</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lgn="ctr">
                        <a:spcAft>
                          <a:spcPts val="0"/>
                        </a:spcAft>
                      </a:pPr>
                      <a:r>
                        <a:rPr lang="en-MY" sz="1000">
                          <a:effectLst/>
                        </a:rPr>
                        <a:t>→</a:t>
                      </a:r>
                      <a:endParaRPr lang="en-MY" sz="1000">
                        <a:effectLst/>
                        <a:latin typeface="Arial" panose="020B0604020202020204" pitchFamily="34" charset="0"/>
                        <a:ea typeface="Arial" panose="020B0604020202020204" pitchFamily="34" charset="0"/>
                      </a:endParaRPr>
                    </a:p>
                  </a:txBody>
                  <a:tcPr marL="50800" marR="50800" marT="50800" marB="50800"/>
                </a:tc>
                <a:tc>
                  <a:txBody>
                    <a:bodyPr/>
                    <a:lstStyle/>
                    <a:p>
                      <a:pPr algn="ctr">
                        <a:spcAft>
                          <a:spcPts val="0"/>
                        </a:spcAft>
                      </a:pPr>
                      <a:r>
                        <a:rPr lang="en-MY" sz="900">
                          <a:effectLst/>
                        </a:rPr>
                        <a:t>L – Leading</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spcAft>
                          <a:spcPts val="0"/>
                        </a:spcAft>
                      </a:pPr>
                      <a:r>
                        <a:rPr lang="en-MY" sz="900" dirty="0">
                          <a:effectLst/>
                        </a:rPr>
                        <a:t>Sponsor needs to actively champion the initiative, not just approve deliverables.</a:t>
                      </a:r>
                      <a:endParaRPr lang="en-MY" sz="1000" dirty="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1. Monthly executive briefings with milestone dashboards and risk summaries.</a:t>
                      </a:r>
                      <a:endParaRPr lang="en-MY" sz="1000">
                        <a:effectLst/>
                      </a:endParaRPr>
                    </a:p>
                    <a:p>
                      <a:pPr>
                        <a:spcBef>
                          <a:spcPts val="200"/>
                        </a:spcBef>
                        <a:spcAft>
                          <a:spcPts val="0"/>
                        </a:spcAft>
                      </a:pPr>
                      <a:r>
                        <a:rPr lang="en-MY" sz="900">
                          <a:effectLst/>
                        </a:rPr>
                        <a:t>2. Involve CEO in milestone celebrations and regulatory validation announcements.</a:t>
                      </a:r>
                      <a:endParaRPr lang="en-MY" sz="1000">
                        <a:effectLst/>
                      </a:endParaRPr>
                    </a:p>
                    <a:p>
                      <a:pPr>
                        <a:spcBef>
                          <a:spcPts val="200"/>
                        </a:spcBef>
                        <a:spcAft>
                          <a:spcPts val="0"/>
                        </a:spcAft>
                      </a:pPr>
                      <a:r>
                        <a:rPr lang="en-MY" sz="900">
                          <a:effectLst/>
                        </a:rPr>
                        <a:t>3. Provide concise escalation memos to keep decisions fast and visible.</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1872652239"/>
                  </a:ext>
                </a:extLst>
              </a:tr>
              <a:tr h="859368">
                <a:tc>
                  <a:txBody>
                    <a:bodyPr/>
                    <a:lstStyle/>
                    <a:p>
                      <a:pPr>
                        <a:spcAft>
                          <a:spcPts val="0"/>
                        </a:spcAft>
                      </a:pPr>
                      <a:r>
                        <a:rPr lang="en-MY" sz="900">
                          <a:effectLst/>
                        </a:rPr>
                        <a:t>S-02</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Chief Information Officer (CIO)</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L – Leading</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lgn="ctr">
                        <a:spcAft>
                          <a:spcPts val="0"/>
                        </a:spcAft>
                      </a:pPr>
                      <a:r>
                        <a:rPr lang="en-MY" sz="1000">
                          <a:effectLst/>
                        </a:rPr>
                        <a:t>→</a:t>
                      </a:r>
                      <a:endParaRPr lang="en-MY" sz="1000">
                        <a:effectLst/>
                        <a:latin typeface="Arial" panose="020B0604020202020204" pitchFamily="34" charset="0"/>
                        <a:ea typeface="Arial" panose="020B0604020202020204" pitchFamily="34" charset="0"/>
                      </a:endParaRPr>
                    </a:p>
                  </a:txBody>
                  <a:tcPr marL="50800" marR="50800" marT="50800" marB="50800"/>
                </a:tc>
                <a:tc>
                  <a:txBody>
                    <a:bodyPr/>
                    <a:lstStyle/>
                    <a:p>
                      <a:pPr algn="ctr">
                        <a:spcAft>
                          <a:spcPts val="0"/>
                        </a:spcAft>
                      </a:pPr>
                      <a:r>
                        <a:rPr lang="en-MY" sz="900" dirty="0">
                          <a:effectLst/>
                        </a:rPr>
                        <a:t>L – Leading</a:t>
                      </a:r>
                      <a:endParaRPr lang="en-MY" sz="1000" dirty="0">
                        <a:effectLst/>
                        <a:latin typeface="Arial" panose="020B0604020202020204" pitchFamily="34" charset="0"/>
                        <a:ea typeface="Arial" panose="020B0604020202020204" pitchFamily="34" charset="0"/>
                      </a:endParaRPr>
                    </a:p>
                  </a:txBody>
                  <a:tcPr marL="69850" marR="69850" marT="50800" marB="50800" anchor="ctr"/>
                </a:tc>
                <a:tc>
                  <a:txBody>
                    <a:bodyPr/>
                    <a:lstStyle/>
                    <a:p>
                      <a:pPr>
                        <a:spcAft>
                          <a:spcPts val="0"/>
                        </a:spcAft>
                      </a:pPr>
                      <a:r>
                        <a:rPr lang="en-MY" sz="900">
                          <a:effectLst/>
                        </a:rPr>
                        <a:t>Project Manager is already at the highest engagement level; maintain momentum.</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dirty="0">
                          <a:effectLst/>
                        </a:rPr>
                        <a:t>1. Weekly status reviews and daily stand-ups during critical delivery phases.</a:t>
                      </a:r>
                      <a:endParaRPr lang="en-MY" sz="1000" dirty="0">
                        <a:effectLst/>
                      </a:endParaRPr>
                    </a:p>
                    <a:p>
                      <a:pPr>
                        <a:spcBef>
                          <a:spcPts val="200"/>
                        </a:spcBef>
                        <a:spcAft>
                          <a:spcPts val="0"/>
                        </a:spcAft>
                      </a:pPr>
                      <a:r>
                        <a:rPr lang="en-MY" sz="900" dirty="0">
                          <a:effectLst/>
                        </a:rPr>
                        <a:t>2. Empower CIO with real-time project dashboards and risk registers.</a:t>
                      </a:r>
                      <a:endParaRPr lang="en-MY" sz="1000" dirty="0">
                        <a:effectLst/>
                      </a:endParaRPr>
                    </a:p>
                    <a:p>
                      <a:pPr>
                        <a:spcBef>
                          <a:spcPts val="200"/>
                        </a:spcBef>
                        <a:spcAft>
                          <a:spcPts val="0"/>
                        </a:spcAft>
                      </a:pPr>
                      <a:r>
                        <a:rPr lang="en-MY" sz="900" dirty="0">
                          <a:effectLst/>
                        </a:rPr>
                        <a:t>3. Recognize contributions publicly in steering committee updates.</a:t>
                      </a:r>
                      <a:endParaRPr lang="en-MY" sz="1000" dirty="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1869085814"/>
                  </a:ext>
                </a:extLst>
              </a:tr>
              <a:tr h="990984">
                <a:tc>
                  <a:txBody>
                    <a:bodyPr/>
                    <a:lstStyle/>
                    <a:p>
                      <a:pPr>
                        <a:spcAft>
                          <a:spcPts val="0"/>
                        </a:spcAft>
                      </a:pPr>
                      <a:r>
                        <a:rPr lang="en-MY" sz="900">
                          <a:effectLst/>
                        </a:rPr>
                        <a:t>S-03</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Chief Compliance Officer (CCO)</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S – Supportive</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lgn="ctr">
                        <a:spcAft>
                          <a:spcPts val="0"/>
                        </a:spcAft>
                      </a:pPr>
                      <a:r>
                        <a:rPr lang="en-MY" sz="1000">
                          <a:effectLst/>
                        </a:rPr>
                        <a:t>→</a:t>
                      </a:r>
                      <a:endParaRPr lang="en-MY" sz="1000">
                        <a:effectLst/>
                        <a:latin typeface="Arial" panose="020B0604020202020204" pitchFamily="34" charset="0"/>
                        <a:ea typeface="Arial" panose="020B0604020202020204" pitchFamily="34" charset="0"/>
                      </a:endParaRPr>
                    </a:p>
                  </a:txBody>
                  <a:tcPr marL="50800" marR="50800" marT="50800" marB="50800"/>
                </a:tc>
                <a:tc>
                  <a:txBody>
                    <a:bodyPr/>
                    <a:lstStyle/>
                    <a:p>
                      <a:pPr algn="ctr">
                        <a:spcAft>
                          <a:spcPts val="0"/>
                        </a:spcAft>
                      </a:pPr>
                      <a:r>
                        <a:rPr lang="en-MY" sz="900">
                          <a:effectLst/>
                        </a:rPr>
                        <a:t>L – Leading</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spcAft>
                          <a:spcPts val="0"/>
                        </a:spcAft>
                      </a:pPr>
                      <a:r>
                        <a:rPr lang="en-MY" sz="900" dirty="0">
                          <a:effectLst/>
                        </a:rPr>
                        <a:t>Regulatory stakes are critical; CCO must co-lead compliance decisions, not merely review.</a:t>
                      </a:r>
                      <a:endParaRPr lang="en-MY" sz="1000" dirty="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1. Bi-weekly compliance checkpoint meetings with live audit trail reviews.</a:t>
                      </a:r>
                      <a:endParaRPr lang="en-MY" sz="1000">
                        <a:effectLst/>
                      </a:endParaRPr>
                    </a:p>
                    <a:p>
                      <a:pPr>
                        <a:spcBef>
                          <a:spcPts val="200"/>
                        </a:spcBef>
                        <a:spcAft>
                          <a:spcPts val="0"/>
                        </a:spcAft>
                      </a:pPr>
                      <a:r>
                        <a:rPr lang="en-MY" sz="900">
                          <a:effectLst/>
                        </a:rPr>
                        <a:t>2. Include CCO as approver for all KYC, AML, PCI-DSS, and GDPR deliverables.</a:t>
                      </a:r>
                      <a:endParaRPr lang="en-MY" sz="1000">
                        <a:effectLst/>
                      </a:endParaRPr>
                    </a:p>
                    <a:p>
                      <a:pPr>
                        <a:spcBef>
                          <a:spcPts val="200"/>
                        </a:spcBef>
                        <a:spcAft>
                          <a:spcPts val="0"/>
                        </a:spcAft>
                      </a:pPr>
                      <a:r>
                        <a:rPr lang="en-MY" sz="900">
                          <a:effectLst/>
                        </a:rPr>
                        <a:t>3. Provide early warning alerts for any regulatory risk so CCO can act proactively.</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1356928362"/>
                  </a:ext>
                </a:extLst>
              </a:tr>
              <a:tr h="990984">
                <a:tc>
                  <a:txBody>
                    <a:bodyPr/>
                    <a:lstStyle/>
                    <a:p>
                      <a:pPr>
                        <a:spcAft>
                          <a:spcPts val="0"/>
                        </a:spcAft>
                      </a:pPr>
                      <a:r>
                        <a:rPr lang="en-MY" sz="900">
                          <a:effectLst/>
                        </a:rPr>
                        <a:t>S-04</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Enterprise Architect</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L – Leading</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lgn="ctr">
                        <a:spcAft>
                          <a:spcPts val="0"/>
                        </a:spcAft>
                      </a:pPr>
                      <a:r>
                        <a:rPr lang="en-MY" sz="1000">
                          <a:effectLst/>
                        </a:rPr>
                        <a:t>→</a:t>
                      </a:r>
                      <a:endParaRPr lang="en-MY" sz="1000">
                        <a:effectLst/>
                        <a:latin typeface="Arial" panose="020B0604020202020204" pitchFamily="34" charset="0"/>
                        <a:ea typeface="Arial" panose="020B0604020202020204" pitchFamily="34" charset="0"/>
                      </a:endParaRPr>
                    </a:p>
                  </a:txBody>
                  <a:tcPr marL="50800" marR="50800" marT="50800" marB="50800"/>
                </a:tc>
                <a:tc>
                  <a:txBody>
                    <a:bodyPr/>
                    <a:lstStyle/>
                    <a:p>
                      <a:pPr algn="ctr">
                        <a:spcAft>
                          <a:spcPts val="0"/>
                        </a:spcAft>
                      </a:pPr>
                      <a:r>
                        <a:rPr lang="en-MY" sz="900">
                          <a:effectLst/>
                        </a:rPr>
                        <a:t>L – Leading</a:t>
                      </a:r>
                      <a:endParaRPr lang="en-MY" sz="1000">
                        <a:effectLst/>
                        <a:latin typeface="Arial" panose="020B0604020202020204" pitchFamily="34" charset="0"/>
                        <a:ea typeface="Arial" panose="020B0604020202020204" pitchFamily="34" charset="0"/>
                      </a:endParaRPr>
                    </a:p>
                  </a:txBody>
                  <a:tcPr marL="69850" marR="69850" marT="50800" marB="50800" anchor="ctr"/>
                </a:tc>
                <a:tc>
                  <a:txBody>
                    <a:bodyPr/>
                    <a:lstStyle/>
                    <a:p>
                      <a:pPr>
                        <a:spcAft>
                          <a:spcPts val="0"/>
                        </a:spcAft>
                      </a:pPr>
                      <a:r>
                        <a:rPr lang="en-MY" sz="900">
                          <a:effectLst/>
                        </a:rPr>
                        <a:t>Technical governance requires sustained leadership engagement through all design phases.</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dirty="0">
                          <a:effectLst/>
                        </a:rPr>
                        <a:t>1. Weekly architecture review cadence with documented design decisions.</a:t>
                      </a:r>
                      <a:endParaRPr lang="en-MY" sz="1000" dirty="0">
                        <a:effectLst/>
                      </a:endParaRPr>
                    </a:p>
                    <a:p>
                      <a:pPr>
                        <a:spcBef>
                          <a:spcPts val="200"/>
                        </a:spcBef>
                        <a:spcAft>
                          <a:spcPts val="0"/>
                        </a:spcAft>
                      </a:pPr>
                      <a:r>
                        <a:rPr lang="en-MY" sz="900" dirty="0">
                          <a:effectLst/>
                        </a:rPr>
                        <a:t>2. Assign EA as technical approver for all integration and API designs.</a:t>
                      </a:r>
                      <a:endParaRPr lang="en-MY" sz="1000" dirty="0">
                        <a:effectLst/>
                      </a:endParaRPr>
                    </a:p>
                    <a:p>
                      <a:pPr>
                        <a:spcBef>
                          <a:spcPts val="200"/>
                        </a:spcBef>
                        <a:spcAft>
                          <a:spcPts val="0"/>
                        </a:spcAft>
                      </a:pPr>
                      <a:r>
                        <a:rPr lang="en-MY" sz="900" dirty="0">
                          <a:effectLst/>
                        </a:rPr>
                        <a:t>3. Involve EA in vendor evaluation and cloud infrastructure sign-offs.</a:t>
                      </a:r>
                      <a:endParaRPr lang="en-MY" sz="1000" dirty="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2253504370"/>
                  </a:ext>
                </a:extLst>
              </a:tr>
            </a:tbl>
          </a:graphicData>
        </a:graphic>
      </p:graphicFrame>
    </p:spTree>
    <p:extLst>
      <p:ext uri="{BB962C8B-B14F-4D97-AF65-F5344CB8AC3E}">
        <p14:creationId xmlns:p14="http://schemas.microsoft.com/office/powerpoint/2010/main" val="126480758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015D9-3EA3-6350-E4EA-11FCDE4B27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8CB3C8B-C2B9-053C-082B-E2A5F9C8C55D}"/>
              </a:ext>
            </a:extLst>
          </p:cNvPr>
          <p:cNvSpPr>
            <a:spLocks noGrp="1"/>
          </p:cNvSpPr>
          <p:nvPr>
            <p:ph type="title"/>
          </p:nvPr>
        </p:nvSpPr>
        <p:spPr>
          <a:xfrm>
            <a:off x="572756" y="133943"/>
            <a:ext cx="9813446" cy="850726"/>
          </a:xfrm>
        </p:spPr>
        <p:txBody>
          <a:bodyPr>
            <a:noAutofit/>
          </a:bodyPr>
          <a:lstStyle/>
          <a:p>
            <a:r>
              <a:rPr lang="en-US" sz="3200" dirty="0"/>
              <a:t>Requirements Gathering</a:t>
            </a:r>
          </a:p>
        </p:txBody>
      </p:sp>
      <p:sp>
        <p:nvSpPr>
          <p:cNvPr id="8" name="Content Placeholder 4">
            <a:extLst>
              <a:ext uri="{FF2B5EF4-FFF2-40B4-BE49-F238E27FC236}">
                <a16:creationId xmlns:a16="http://schemas.microsoft.com/office/drawing/2014/main" id="{1C371C2C-9AFA-178C-34D1-0C089CE7C789}"/>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N" sz="2400" b="1" dirty="0"/>
              <a:t>Business Requirements Document (BRD</a:t>
            </a:r>
            <a:r>
              <a:rPr lang="en-IN" sz="2400" b="1" dirty="0" smtClean="0"/>
              <a:t>)</a:t>
            </a:r>
          </a:p>
          <a:p>
            <a:pPr marL="0" indent="0">
              <a:buFont typeface="Arial" panose="020B0604020202020204" pitchFamily="34" charset="0"/>
              <a:buNone/>
            </a:pPr>
            <a:endParaRPr lang="en-IN" sz="1000" b="1" dirty="0"/>
          </a:p>
        </p:txBody>
      </p:sp>
      <p:graphicFrame>
        <p:nvGraphicFramePr>
          <p:cNvPr id="2" name="Table 1"/>
          <p:cNvGraphicFramePr>
            <a:graphicFrameLocks noGrp="1"/>
          </p:cNvGraphicFramePr>
          <p:nvPr>
            <p:extLst>
              <p:ext uri="{D42A27DB-BD31-4B8C-83A1-F6EECF244321}">
                <p14:modId xmlns:p14="http://schemas.microsoft.com/office/powerpoint/2010/main" val="334768192"/>
              </p:ext>
            </p:extLst>
          </p:nvPr>
        </p:nvGraphicFramePr>
        <p:xfrm>
          <a:off x="654518" y="2329313"/>
          <a:ext cx="11049802" cy="3869355"/>
        </p:xfrm>
        <a:graphic>
          <a:graphicData uri="http://schemas.openxmlformats.org/drawingml/2006/table">
            <a:tbl>
              <a:tblPr firstRow="1" firstCol="1" bandRow="1">
                <a:tableStyleId>{5C22544A-7EE6-4342-B048-85BDC9FD1C3A}</a:tableStyleId>
              </a:tblPr>
              <a:tblGrid>
                <a:gridCol w="1284860">
                  <a:extLst>
                    <a:ext uri="{9D8B030D-6E8A-4147-A177-3AD203B41FA5}">
                      <a16:colId xmlns:a16="http://schemas.microsoft.com/office/drawing/2014/main" val="3841459480"/>
                    </a:ext>
                  </a:extLst>
                </a:gridCol>
                <a:gridCol w="6424304">
                  <a:extLst>
                    <a:ext uri="{9D8B030D-6E8A-4147-A177-3AD203B41FA5}">
                      <a16:colId xmlns:a16="http://schemas.microsoft.com/office/drawing/2014/main" val="3008204464"/>
                    </a:ext>
                  </a:extLst>
                </a:gridCol>
                <a:gridCol w="1927290">
                  <a:extLst>
                    <a:ext uri="{9D8B030D-6E8A-4147-A177-3AD203B41FA5}">
                      <a16:colId xmlns:a16="http://schemas.microsoft.com/office/drawing/2014/main" val="2132893758"/>
                    </a:ext>
                  </a:extLst>
                </a:gridCol>
                <a:gridCol w="1413348">
                  <a:extLst>
                    <a:ext uri="{9D8B030D-6E8A-4147-A177-3AD203B41FA5}">
                      <a16:colId xmlns:a16="http://schemas.microsoft.com/office/drawing/2014/main" val="1355944868"/>
                    </a:ext>
                  </a:extLst>
                </a:gridCol>
              </a:tblGrid>
              <a:tr h="552765">
                <a:tc>
                  <a:txBody>
                    <a:bodyPr/>
                    <a:lstStyle/>
                    <a:p>
                      <a:pPr>
                        <a:spcAft>
                          <a:spcPts val="0"/>
                        </a:spcAft>
                      </a:pPr>
                      <a:r>
                        <a:rPr lang="en-MY" sz="900">
                          <a:effectLst/>
                        </a:rPr>
                        <a:t>ID</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Objective</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Domain</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Priority</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160472932"/>
                  </a:ext>
                </a:extLst>
              </a:tr>
              <a:tr h="552765">
                <a:tc>
                  <a:txBody>
                    <a:bodyPr/>
                    <a:lstStyle/>
                    <a:p>
                      <a:pPr>
                        <a:spcAft>
                          <a:spcPts val="0"/>
                        </a:spcAft>
                      </a:pPr>
                      <a:r>
                        <a:rPr lang="en-MY" sz="900">
                          <a:effectLst/>
                        </a:rPr>
                        <a:t>OBJ-01</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dirty="0">
                          <a:effectLst/>
                        </a:rPr>
                        <a:t>Migrate to a secure, cloud-native infrastructure by Q4 2026.</a:t>
                      </a:r>
                      <a:endParaRPr lang="en-MY" sz="1000" dirty="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Technology</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Critical</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3302058323"/>
                  </a:ext>
                </a:extLst>
              </a:tr>
              <a:tr h="552765">
                <a:tc>
                  <a:txBody>
                    <a:bodyPr/>
                    <a:lstStyle/>
                    <a:p>
                      <a:pPr>
                        <a:spcAft>
                          <a:spcPts val="0"/>
                        </a:spcAft>
                      </a:pPr>
                      <a:r>
                        <a:rPr lang="en-MY" sz="900">
                          <a:effectLst/>
                        </a:rPr>
                        <a:t>OBJ-02</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dirty="0">
                          <a:effectLst/>
                        </a:rPr>
                        <a:t>Improve customer </a:t>
                      </a:r>
                      <a:r>
                        <a:rPr lang="en-MY" sz="900" dirty="0" err="1">
                          <a:effectLst/>
                        </a:rPr>
                        <a:t>onboarding</a:t>
                      </a:r>
                      <a:r>
                        <a:rPr lang="en-MY" sz="900" dirty="0">
                          <a:effectLst/>
                        </a:rPr>
                        <a:t> and loan processing time by 40%.</a:t>
                      </a:r>
                      <a:endParaRPr lang="en-MY" sz="1000" dirty="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Operations</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High</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2859671981"/>
                  </a:ext>
                </a:extLst>
              </a:tr>
              <a:tr h="552765">
                <a:tc>
                  <a:txBody>
                    <a:bodyPr/>
                    <a:lstStyle/>
                    <a:p>
                      <a:pPr>
                        <a:spcAft>
                          <a:spcPts val="0"/>
                        </a:spcAft>
                      </a:pPr>
                      <a:r>
                        <a:rPr lang="en-MY" sz="900">
                          <a:effectLst/>
                        </a:rPr>
                        <a:t>OBJ-03</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Achieve 100% compliance with KYC, AML, PCI-DSS, and GDPR.</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Compliance</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Critical</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593410722"/>
                  </a:ext>
                </a:extLst>
              </a:tr>
              <a:tr h="552765">
                <a:tc>
                  <a:txBody>
                    <a:bodyPr/>
                    <a:lstStyle/>
                    <a:p>
                      <a:pPr>
                        <a:spcAft>
                          <a:spcPts val="0"/>
                        </a:spcAft>
                      </a:pPr>
                      <a:r>
                        <a:rPr lang="en-MY" sz="900">
                          <a:effectLst/>
                        </a:rPr>
                        <a:t>OBJ-04</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Maintain 99.99% uptime with scalable, redundant infrastructure.</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Technology</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High</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2553602175"/>
                  </a:ext>
                </a:extLst>
              </a:tr>
              <a:tr h="552765">
                <a:tc>
                  <a:txBody>
                    <a:bodyPr/>
                    <a:lstStyle/>
                    <a:p>
                      <a:pPr>
                        <a:spcAft>
                          <a:spcPts val="0"/>
                        </a:spcAft>
                      </a:pPr>
                      <a:r>
                        <a:rPr lang="en-MY" sz="900">
                          <a:effectLst/>
                        </a:rPr>
                        <a:t>OBJ-05</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Reduce fraud losses through real-time detection and alerting.</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Risk</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a:effectLst/>
                        </a:rPr>
                        <a:t>High</a:t>
                      </a:r>
                      <a:endParaRPr lang="en-MY" sz="100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4123800939"/>
                  </a:ext>
                </a:extLst>
              </a:tr>
              <a:tr h="552765">
                <a:tc>
                  <a:txBody>
                    <a:bodyPr/>
                    <a:lstStyle/>
                    <a:p>
                      <a:pPr>
                        <a:spcAft>
                          <a:spcPts val="0"/>
                        </a:spcAft>
                      </a:pPr>
                      <a:r>
                        <a:rPr lang="en-MY" sz="900">
                          <a:effectLst/>
                        </a:rPr>
                        <a:t>OBJ-06</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dirty="0">
                          <a:effectLst/>
                        </a:rPr>
                        <a:t>Enable data-driven decision-making via centralized analytics.</a:t>
                      </a:r>
                      <a:endParaRPr lang="en-MY" sz="1000" dirty="0">
                        <a:effectLst/>
                        <a:latin typeface="Arial" panose="020B0604020202020204" pitchFamily="34" charset="0"/>
                        <a:ea typeface="Arial" panose="020B0604020202020204" pitchFamily="34" charset="0"/>
                      </a:endParaRPr>
                    </a:p>
                  </a:txBody>
                  <a:tcPr marL="69850" marR="69850" marT="50800" marB="50800"/>
                </a:tc>
                <a:tc>
                  <a:txBody>
                    <a:bodyPr/>
                    <a:lstStyle/>
                    <a:p>
                      <a:pPr>
                        <a:spcAft>
                          <a:spcPts val="0"/>
                        </a:spcAft>
                      </a:pPr>
                      <a:r>
                        <a:rPr lang="en-MY" sz="900">
                          <a:effectLst/>
                        </a:rPr>
                        <a:t>Strategy</a:t>
                      </a:r>
                      <a:endParaRPr lang="en-MY" sz="1000">
                        <a:effectLst/>
                        <a:latin typeface="Arial" panose="020B0604020202020204" pitchFamily="34" charset="0"/>
                        <a:ea typeface="Arial" panose="020B0604020202020204" pitchFamily="34" charset="0"/>
                      </a:endParaRPr>
                    </a:p>
                  </a:txBody>
                  <a:tcPr marL="69850" marR="69850" marT="50800" marB="50800"/>
                </a:tc>
                <a:tc>
                  <a:txBody>
                    <a:bodyPr/>
                    <a:lstStyle/>
                    <a:p>
                      <a:pPr algn="ctr">
                        <a:spcAft>
                          <a:spcPts val="0"/>
                        </a:spcAft>
                      </a:pPr>
                      <a:r>
                        <a:rPr lang="en-MY" sz="900" dirty="0">
                          <a:effectLst/>
                        </a:rPr>
                        <a:t>Medium</a:t>
                      </a:r>
                      <a:endParaRPr lang="en-MY" sz="1000" dirty="0">
                        <a:effectLst/>
                        <a:latin typeface="Arial" panose="020B0604020202020204" pitchFamily="34" charset="0"/>
                        <a:ea typeface="Arial" panose="020B0604020202020204" pitchFamily="34" charset="0"/>
                      </a:endParaRPr>
                    </a:p>
                  </a:txBody>
                  <a:tcPr marL="69850" marR="69850" marT="50800" marB="50800"/>
                </a:tc>
                <a:extLst>
                  <a:ext uri="{0D108BD9-81ED-4DB2-BD59-A6C34878D82A}">
                    <a16:rowId xmlns:a16="http://schemas.microsoft.com/office/drawing/2014/main" val="371726833"/>
                  </a:ext>
                </a:extLst>
              </a:tr>
            </a:tbl>
          </a:graphicData>
        </a:graphic>
      </p:graphicFrame>
    </p:spTree>
    <p:extLst>
      <p:ext uri="{BB962C8B-B14F-4D97-AF65-F5344CB8AC3E}">
        <p14:creationId xmlns:p14="http://schemas.microsoft.com/office/powerpoint/2010/main" val="10719202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667E7-DFE5-81A1-B201-4F2933132C1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89EBB5-EE2A-D663-F37B-D0097FAE18D8}"/>
              </a:ext>
            </a:extLst>
          </p:cNvPr>
          <p:cNvSpPr>
            <a:spLocks noGrp="1"/>
          </p:cNvSpPr>
          <p:nvPr>
            <p:ph type="title"/>
          </p:nvPr>
        </p:nvSpPr>
        <p:spPr>
          <a:xfrm>
            <a:off x="572756" y="133943"/>
            <a:ext cx="9813446" cy="850726"/>
          </a:xfrm>
        </p:spPr>
        <p:txBody>
          <a:bodyPr>
            <a:noAutofit/>
          </a:bodyPr>
          <a:lstStyle/>
          <a:p>
            <a:r>
              <a:rPr lang="en-US" sz="3200" dirty="0"/>
              <a:t>Requirements Gathering</a:t>
            </a:r>
          </a:p>
        </p:txBody>
      </p:sp>
      <p:sp>
        <p:nvSpPr>
          <p:cNvPr id="8" name="Content Placeholder 4">
            <a:extLst>
              <a:ext uri="{FF2B5EF4-FFF2-40B4-BE49-F238E27FC236}">
                <a16:creationId xmlns:a16="http://schemas.microsoft.com/office/drawing/2014/main" id="{AE6DA914-A2CC-478F-879B-0390CE6488F4}"/>
              </a:ext>
            </a:extLst>
          </p:cNvPr>
          <p:cNvSpPr txBox="1">
            <a:spLocks/>
          </p:cNvSpPr>
          <p:nvPr/>
        </p:nvSpPr>
        <p:spPr>
          <a:xfrm>
            <a:off x="573087" y="1174282"/>
            <a:ext cx="10659485" cy="5072514"/>
          </a:xfrm>
          <a:prstGeom prst="rect">
            <a:avLst/>
          </a:prstGeom>
        </p:spPr>
        <p:txBody>
          <a:bodyPr vert="horz" lIns="91440" tIns="45720" rIns="91440" bIns="45720" rtlCol="0" anchor="t">
            <a:normAutofit fontScale="3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900" b="1" dirty="0"/>
              <a:t>Use Case Diagram and Detailed Flow Descriptions</a:t>
            </a:r>
          </a:p>
          <a:p>
            <a:endParaRPr lang="en-MY" dirty="0"/>
          </a:p>
          <a:p>
            <a:r>
              <a:rPr lang="en-MY" dirty="0"/>
              <a:t> ┌─────────────────────────────────────────────────────────────────────────┐ │                                                                         │ │  Customer                      CORE DIGITAL BANKING PLATFORM            │ │    (O)  ────────────►  ( </a:t>
            </a:r>
            <a:r>
              <a:rPr lang="en-MY" dirty="0" err="1"/>
              <a:t>Onboard</a:t>
            </a:r>
            <a:r>
              <a:rPr lang="en-MY" dirty="0"/>
              <a:t> New Customer )                        │ │     │                                                                   │ │     └──────────────►  ( Manage Patient Account )                       │ │                                                                         │ │                                                                         │ │  Product Owner                                                          │ │    (O)  ────────────►  ( Configure Compliance Rules )                  │ │     │                                                                   │ │     └──────────────►  ( Monitor Fraud Alerts )                         │ │                                                                         │ │                                                                         │ │  Compliance Officer                                                     │ │    (O)  ────────────►  ( Configure Compliance Rules )                  │ │                                                                         │ │                                                                         │ │  DevOps Engineer                                                        │ │    (O)  ────────────►  ( Manage Deployment Pipeline )                  │ │                                                                         │ │                                                                         │ │                            ( </a:t>
            </a:r>
            <a:r>
              <a:rPr lang="en-MY" dirty="0" err="1"/>
              <a:t>Onboard</a:t>
            </a:r>
            <a:r>
              <a:rPr lang="en-MY" dirty="0"/>
              <a:t> New Customer )  ◄────  Credit      │ │                                                             Bureau API  │ │                                                                         │ │                            ( Monitor Fraud Alerts )  ◄────  Fraud       │ │                                                             Detection   │ │                                                             Engine      │ │                                                                         │ │                            ( Access Regulatory     )  ◄────  External   │ │                            ( Reports               )         Regulator  │ │                                                                         │ </a:t>
            </a:r>
            <a:r>
              <a:rPr lang="en-MY" dirty="0" smtClean="0"/>
              <a:t>└─────────────────────────────────────────────────────────────────────────┘</a:t>
            </a:r>
          </a:p>
          <a:p>
            <a:pPr marL="0" indent="0">
              <a:buNone/>
            </a:pPr>
            <a:r>
              <a:rPr lang="en-MY" b="1" dirty="0" smtClean="0"/>
              <a:t>Use Case: </a:t>
            </a:r>
            <a:r>
              <a:rPr lang="en-MY" b="1" dirty="0" err="1" smtClean="0"/>
              <a:t>Onboard</a:t>
            </a:r>
            <a:r>
              <a:rPr lang="en-MY" b="1" dirty="0" smtClean="0"/>
              <a:t> New Customer</a:t>
            </a:r>
            <a:endParaRPr lang="en-MY" dirty="0" smtClean="0"/>
          </a:p>
          <a:p>
            <a:r>
              <a:rPr lang="en-MY" dirty="0" smtClean="0"/>
              <a:t>Precondition</a:t>
            </a:r>
            <a:r>
              <a:rPr lang="en-MY" dirty="0"/>
              <a:t>: Customer has valid identity documents (passport, driver's license, or national ID)</a:t>
            </a:r>
          </a:p>
          <a:p>
            <a:r>
              <a:rPr lang="en-MY" dirty="0"/>
              <a:t>Main Flow:</a:t>
            </a:r>
          </a:p>
          <a:p>
            <a:pPr lvl="0"/>
            <a:r>
              <a:rPr lang="en-MY" dirty="0"/>
              <a:t>Customer navigates to the </a:t>
            </a:r>
            <a:r>
              <a:rPr lang="en-MY" dirty="0" err="1"/>
              <a:t>onboarding</a:t>
            </a:r>
            <a:r>
              <a:rPr lang="en-MY" dirty="0"/>
              <a:t> portal (web or mobile app)</a:t>
            </a:r>
          </a:p>
          <a:p>
            <a:pPr lvl="0"/>
            <a:r>
              <a:rPr lang="en-MY" dirty="0"/>
              <a:t>System presents KYC data collection form (name, address, DOB, ID number)</a:t>
            </a:r>
          </a:p>
          <a:p>
            <a:pPr lvl="0"/>
            <a:r>
              <a:rPr lang="en-MY" dirty="0"/>
              <a:t>Customer uploads identity verification documents (passport scan, proof of address)</a:t>
            </a:r>
          </a:p>
          <a:p>
            <a:pPr lvl="0"/>
            <a:r>
              <a:rPr lang="en-MY" dirty="0"/>
              <a:t>System validates document formats and performs OCR extraction</a:t>
            </a:r>
          </a:p>
          <a:p>
            <a:pPr lvl="0"/>
            <a:r>
              <a:rPr lang="en-MY" dirty="0"/>
              <a:t>System invokes Credit Bureau API to verify identity and credit history</a:t>
            </a:r>
          </a:p>
          <a:p>
            <a:pPr lvl="0"/>
            <a:r>
              <a:rPr lang="en-MY" dirty="0"/>
              <a:t>System performs AML screening against </a:t>
            </a:r>
            <a:r>
              <a:rPr lang="en-MY" dirty="0" err="1"/>
              <a:t>watchlists</a:t>
            </a:r>
            <a:r>
              <a:rPr lang="en-MY" dirty="0"/>
              <a:t> and sanctions databases</a:t>
            </a:r>
          </a:p>
          <a:p>
            <a:pPr lvl="0"/>
            <a:r>
              <a:rPr lang="en-MY" dirty="0"/>
              <a:t>If all checks pass, system creates customer account and assigns account number</a:t>
            </a:r>
          </a:p>
          <a:p>
            <a:pPr lvl="0"/>
            <a:r>
              <a:rPr lang="en-MY" dirty="0"/>
              <a:t>System sends confirmation email/SMS with account credentials</a:t>
            </a:r>
          </a:p>
          <a:p>
            <a:r>
              <a:rPr lang="en-MY" dirty="0" err="1"/>
              <a:t>Postcondition</a:t>
            </a:r>
            <a:r>
              <a:rPr lang="en-MY" dirty="0"/>
              <a:t>: Customer account is active and ready for transactions. </a:t>
            </a:r>
            <a:r>
              <a:rPr lang="en-MY" dirty="0" err="1"/>
              <a:t>Onboarding</a:t>
            </a:r>
            <a:r>
              <a:rPr lang="en-MY" dirty="0"/>
              <a:t> completed in under 5 minutes.</a:t>
            </a:r>
          </a:p>
          <a:p>
            <a:r>
              <a:rPr lang="en-MY" dirty="0"/>
              <a:t>Alternative Flow: If identity verification fails, system prompts customer to re-upload documents or contact support.</a:t>
            </a:r>
          </a:p>
          <a:p>
            <a:endParaRPr lang="en-MY" dirty="0"/>
          </a:p>
          <a:p>
            <a:pPr marL="0" indent="0">
              <a:buNone/>
            </a:pPr>
            <a:endParaRPr lang="en-US" sz="1000" dirty="0">
              <a:highlight>
                <a:srgbClr val="FFFF00"/>
              </a:highlight>
              <a:cs typeface="Arial"/>
            </a:endParaRPr>
          </a:p>
          <a:p>
            <a:pPr marL="0" indent="0">
              <a:buNone/>
            </a:pPr>
            <a:endParaRPr lang="en-US" sz="2400" b="1" dirty="0">
              <a:cs typeface="Arial"/>
            </a:endParaRPr>
          </a:p>
        </p:txBody>
      </p:sp>
    </p:spTree>
    <p:extLst>
      <p:ext uri="{BB962C8B-B14F-4D97-AF65-F5344CB8AC3E}">
        <p14:creationId xmlns:p14="http://schemas.microsoft.com/office/powerpoint/2010/main" val="307794693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D78D7-362F-C655-FB13-E3EF28D4C3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45B8ECF-125E-DB8D-FD48-6BAE82443CD7}"/>
              </a:ext>
            </a:extLst>
          </p:cNvPr>
          <p:cNvSpPr>
            <a:spLocks noGrp="1"/>
          </p:cNvSpPr>
          <p:nvPr>
            <p:ph type="title"/>
          </p:nvPr>
        </p:nvSpPr>
        <p:spPr>
          <a:xfrm>
            <a:off x="572756" y="133943"/>
            <a:ext cx="9813446" cy="850726"/>
          </a:xfrm>
        </p:spPr>
        <p:txBody>
          <a:bodyPr>
            <a:noAutofit/>
          </a:bodyPr>
          <a:lstStyle/>
          <a:p>
            <a:r>
              <a:rPr lang="en-US" sz="3200" dirty="0"/>
              <a:t>Requirements Gathering</a:t>
            </a:r>
          </a:p>
        </p:txBody>
      </p:sp>
      <p:sp>
        <p:nvSpPr>
          <p:cNvPr id="8" name="Content Placeholder 4">
            <a:extLst>
              <a:ext uri="{FF2B5EF4-FFF2-40B4-BE49-F238E27FC236}">
                <a16:creationId xmlns:a16="http://schemas.microsoft.com/office/drawing/2014/main" id="{C12E9D48-7404-B389-7D8A-3A5774B90994}"/>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Requirements Traceability Matrix (RTM</a:t>
            </a:r>
            <a:r>
              <a:rPr lang="en-US" sz="2400" b="1" dirty="0" smtClean="0"/>
              <a:t>)</a:t>
            </a:r>
          </a:p>
          <a:p>
            <a:pPr marL="0" indent="0">
              <a:buFont typeface="Arial" panose="020B0604020202020204" pitchFamily="34" charset="0"/>
              <a:buNone/>
            </a:pPr>
            <a:endParaRPr lang="en-US" sz="1000" b="1" dirty="0"/>
          </a:p>
        </p:txBody>
      </p:sp>
      <p:graphicFrame>
        <p:nvGraphicFramePr>
          <p:cNvPr id="3" name="Table 2"/>
          <p:cNvGraphicFramePr>
            <a:graphicFrameLocks noGrp="1"/>
          </p:cNvGraphicFramePr>
          <p:nvPr>
            <p:extLst>
              <p:ext uri="{D42A27DB-BD31-4B8C-83A1-F6EECF244321}">
                <p14:modId xmlns:p14="http://schemas.microsoft.com/office/powerpoint/2010/main" val="4028533911"/>
              </p:ext>
            </p:extLst>
          </p:nvPr>
        </p:nvGraphicFramePr>
        <p:xfrm>
          <a:off x="347134" y="1837264"/>
          <a:ext cx="11006665" cy="4301068"/>
        </p:xfrm>
        <a:graphic>
          <a:graphicData uri="http://schemas.openxmlformats.org/drawingml/2006/table">
            <a:tbl>
              <a:tblPr/>
              <a:tblGrid>
                <a:gridCol w="528704">
                  <a:extLst>
                    <a:ext uri="{9D8B030D-6E8A-4147-A177-3AD203B41FA5}">
                      <a16:colId xmlns:a16="http://schemas.microsoft.com/office/drawing/2014/main" val="4262721927"/>
                    </a:ext>
                  </a:extLst>
                </a:gridCol>
                <a:gridCol w="634445">
                  <a:extLst>
                    <a:ext uri="{9D8B030D-6E8A-4147-A177-3AD203B41FA5}">
                      <a16:colId xmlns:a16="http://schemas.microsoft.com/office/drawing/2014/main" val="3996798744"/>
                    </a:ext>
                  </a:extLst>
                </a:gridCol>
                <a:gridCol w="2114819">
                  <a:extLst>
                    <a:ext uri="{9D8B030D-6E8A-4147-A177-3AD203B41FA5}">
                      <a16:colId xmlns:a16="http://schemas.microsoft.com/office/drawing/2014/main" val="1347614431"/>
                    </a:ext>
                  </a:extLst>
                </a:gridCol>
                <a:gridCol w="1586113">
                  <a:extLst>
                    <a:ext uri="{9D8B030D-6E8A-4147-A177-3AD203B41FA5}">
                      <a16:colId xmlns:a16="http://schemas.microsoft.com/office/drawing/2014/main" val="1014548353"/>
                    </a:ext>
                  </a:extLst>
                </a:gridCol>
                <a:gridCol w="1855272">
                  <a:extLst>
                    <a:ext uri="{9D8B030D-6E8A-4147-A177-3AD203B41FA5}">
                      <a16:colId xmlns:a16="http://schemas.microsoft.com/office/drawing/2014/main" val="2667343825"/>
                    </a:ext>
                  </a:extLst>
                </a:gridCol>
                <a:gridCol w="1163151">
                  <a:extLst>
                    <a:ext uri="{9D8B030D-6E8A-4147-A177-3AD203B41FA5}">
                      <a16:colId xmlns:a16="http://schemas.microsoft.com/office/drawing/2014/main" val="2643526801"/>
                    </a:ext>
                  </a:extLst>
                </a:gridCol>
                <a:gridCol w="634445">
                  <a:extLst>
                    <a:ext uri="{9D8B030D-6E8A-4147-A177-3AD203B41FA5}">
                      <a16:colId xmlns:a16="http://schemas.microsoft.com/office/drawing/2014/main" val="212795263"/>
                    </a:ext>
                  </a:extLst>
                </a:gridCol>
                <a:gridCol w="634445">
                  <a:extLst>
                    <a:ext uri="{9D8B030D-6E8A-4147-A177-3AD203B41FA5}">
                      <a16:colId xmlns:a16="http://schemas.microsoft.com/office/drawing/2014/main" val="4008928015"/>
                    </a:ext>
                  </a:extLst>
                </a:gridCol>
                <a:gridCol w="528704">
                  <a:extLst>
                    <a:ext uri="{9D8B030D-6E8A-4147-A177-3AD203B41FA5}">
                      <a16:colId xmlns:a16="http://schemas.microsoft.com/office/drawing/2014/main" val="3381583893"/>
                    </a:ext>
                  </a:extLst>
                </a:gridCol>
                <a:gridCol w="1326567">
                  <a:extLst>
                    <a:ext uri="{9D8B030D-6E8A-4147-A177-3AD203B41FA5}">
                      <a16:colId xmlns:a16="http://schemas.microsoft.com/office/drawing/2014/main" val="4130612429"/>
                    </a:ext>
                  </a:extLst>
                </a:gridCol>
              </a:tblGrid>
              <a:tr h="571299">
                <a:tc>
                  <a:txBody>
                    <a:bodyPr/>
                    <a:lstStyle/>
                    <a:p>
                      <a:pPr algn="ctr" fontAlgn="ctr"/>
                      <a:r>
                        <a:rPr lang="en-MY" sz="1000" b="1" i="0" u="none" strike="noStrike" dirty="0" err="1">
                          <a:solidFill>
                            <a:srgbClr val="FFFFFF"/>
                          </a:solidFill>
                          <a:effectLst/>
                          <a:latin typeface="Arial" panose="020B0604020202020204" pitchFamily="34" charset="0"/>
                        </a:rPr>
                        <a:t>Req</a:t>
                      </a:r>
                      <a:r>
                        <a:rPr lang="en-MY" sz="1000" b="1" i="0" u="none" strike="noStrike" dirty="0">
                          <a:solidFill>
                            <a:srgbClr val="FFFFFF"/>
                          </a:solidFill>
                          <a:effectLst/>
                          <a:latin typeface="Arial" panose="020B0604020202020204" pitchFamily="34" charset="0"/>
                        </a:rPr>
                        <a:t> ID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dirty="0">
                          <a:solidFill>
                            <a:srgbClr val="FFFFFF"/>
                          </a:solidFill>
                          <a:effectLst/>
                          <a:latin typeface="Arial" panose="020B0604020202020204" pitchFamily="34" charset="0"/>
                        </a:rPr>
                        <a:t>Requirement Type</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dirty="0">
                          <a:solidFill>
                            <a:srgbClr val="FFFFFF"/>
                          </a:solidFill>
                          <a:effectLst/>
                          <a:latin typeface="Arial" panose="020B0604020202020204" pitchFamily="34" charset="0"/>
                        </a:rPr>
                        <a:t>Requirement Description</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Mapped to BRD Objective</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Acceptance Criteria</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Verification Method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Test Case ID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Test Status</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Priority</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000" b="1" i="0" u="none" strike="noStrike">
                          <a:solidFill>
                            <a:srgbClr val="FFFFFF"/>
                          </a:solidFill>
                          <a:effectLst/>
                          <a:latin typeface="Arial" panose="020B0604020202020204" pitchFamily="34" charset="0"/>
                        </a:rPr>
                        <a:t>Notes</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extLst>
                  <a:ext uri="{0D108BD9-81ED-4DB2-BD59-A6C34878D82A}">
                    <a16:rowId xmlns:a16="http://schemas.microsoft.com/office/drawing/2014/main" val="103658661"/>
                  </a:ext>
                </a:extLst>
              </a:tr>
              <a:tr h="791657">
                <a:tc>
                  <a:txBody>
                    <a:bodyPr/>
                    <a:lstStyle/>
                    <a:p>
                      <a:pPr algn="l" fontAlgn="t"/>
                      <a:r>
                        <a:rPr lang="en-MY" sz="1000" b="0" i="0" u="none" strike="noStrike">
                          <a:solidFill>
                            <a:srgbClr val="000000"/>
                          </a:solidFill>
                          <a:effectLst/>
                          <a:latin typeface="Arial" panose="020B0604020202020204" pitchFamily="34" charset="0"/>
                        </a:rPr>
                        <a:t>FR-01</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Functional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Customers can securely register and onboard via web and mobile apps with identity verification and KYC checks completed in real time</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OBJ-02: Improve customer onboarding time by 40%</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a:solidFill>
                            <a:srgbClr val="000000"/>
                          </a:solidFill>
                          <a:effectLst/>
                          <a:latin typeface="Arial" panose="020B0604020202020204" pitchFamily="34" charset="0"/>
                        </a:rPr>
                        <a:t>KYC verification completes in &lt;5 min; Account activated immediately upon approval; Identity docs OCR accuracy &gt;95%</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UAT + Integration Testing</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TC-ON-001</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ctr" fontAlgn="ctr"/>
                      <a:r>
                        <a:rPr lang="en-MY" sz="1000" b="1" i="0" u="none" strike="noStrike">
                          <a:solidFill>
                            <a:srgbClr val="375623"/>
                          </a:solidFill>
                          <a:effectLst/>
                          <a:latin typeface="Arial" panose="020B0604020202020204" pitchFamily="34" charset="0"/>
                        </a:rPr>
                        <a:t>Passed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a:solidFill>
                            <a:srgbClr val="833C00"/>
                          </a:solidFill>
                          <a:effectLst/>
                          <a:latin typeface="Arial" panose="020B0604020202020204" pitchFamily="34" charset="0"/>
                        </a:rPr>
                        <a:t>Critical</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tc>
                  <a:txBody>
                    <a:bodyPr/>
                    <a:lstStyle/>
                    <a:p>
                      <a:pPr algn="l" fontAlgn="t"/>
                      <a:r>
                        <a:rPr lang="en-US" sz="1000" b="0" i="0" u="none" strike="noStrike">
                          <a:solidFill>
                            <a:srgbClr val="000000"/>
                          </a:solidFill>
                          <a:effectLst/>
                          <a:latin typeface="Arial" panose="020B0604020202020204" pitchFamily="34" charset="0"/>
                        </a:rPr>
                        <a:t>Integrated with Credit Bureau API</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4263505334"/>
                  </a:ext>
                </a:extLst>
              </a:tr>
              <a:tr h="734528">
                <a:tc>
                  <a:txBody>
                    <a:bodyPr/>
                    <a:lstStyle/>
                    <a:p>
                      <a:pPr algn="l" fontAlgn="t"/>
                      <a:r>
                        <a:rPr lang="en-MY" sz="1000" b="0" i="0" u="none" strike="noStrike">
                          <a:solidFill>
                            <a:srgbClr val="000000"/>
                          </a:solidFill>
                          <a:effectLst/>
                          <a:latin typeface="Arial" panose="020B0604020202020204" pitchFamily="34" charset="0"/>
                        </a:rPr>
                        <a:t>FR-02</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Functional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a:solidFill>
                            <a:srgbClr val="000000"/>
                          </a:solidFill>
                          <a:effectLst/>
                          <a:latin typeface="Arial" panose="020B0604020202020204" pitchFamily="34" charset="0"/>
                        </a:rPr>
                        <a:t>Customers can manage account settings, view statements, and update personal information through a self-service portal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dirty="0">
                          <a:solidFill>
                            <a:srgbClr val="000000"/>
                          </a:solidFill>
                          <a:effectLst/>
                          <a:latin typeface="Arial" panose="020B0604020202020204" pitchFamily="34" charset="0"/>
                        </a:rPr>
                        <a:t>OBJ-02: Improve customer onboarding time by 40%</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a:solidFill>
                            <a:srgbClr val="000000"/>
                          </a:solidFill>
                          <a:effectLst/>
                          <a:latin typeface="Arial" panose="020B0604020202020204" pitchFamily="34" charset="0"/>
                        </a:rPr>
                        <a:t>Account updates reflect in &lt;30 sec; Statement download available in PDF/CSV; Profile changes logged in audit trail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UAT + Security Testing</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TC-AC-002</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fontAlgn="ctr"/>
                      <a:r>
                        <a:rPr lang="en-MY" sz="1000" b="1" i="0" u="none" strike="noStrike">
                          <a:solidFill>
                            <a:srgbClr val="375623"/>
                          </a:solidFill>
                          <a:effectLst/>
                          <a:latin typeface="Arial" panose="020B0604020202020204" pitchFamily="34" charset="0"/>
                        </a:rPr>
                        <a:t>Passed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a:solidFill>
                            <a:srgbClr val="7F6000"/>
                          </a:solidFill>
                          <a:effectLst/>
                          <a:latin typeface="Arial" panose="020B0604020202020204" pitchFamily="34" charset="0"/>
                        </a:rPr>
                        <a:t>High</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l" fontAlgn="t"/>
                      <a:r>
                        <a:rPr lang="en-MY" sz="1000" b="0" i="0" u="none" strike="noStrike">
                          <a:solidFill>
                            <a:srgbClr val="000000"/>
                          </a:solidFill>
                          <a:effectLst/>
                          <a:latin typeface="Arial" panose="020B0604020202020204" pitchFamily="34" charset="0"/>
                        </a:rPr>
                        <a:t>GDPR-compliant data access controls</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944369269"/>
                  </a:ext>
                </a:extLst>
              </a:tr>
              <a:tr h="734528">
                <a:tc>
                  <a:txBody>
                    <a:bodyPr/>
                    <a:lstStyle/>
                    <a:p>
                      <a:pPr algn="l" fontAlgn="t"/>
                      <a:r>
                        <a:rPr lang="en-MY" sz="1000" b="0" i="0" u="none" strike="noStrike">
                          <a:solidFill>
                            <a:srgbClr val="000000"/>
                          </a:solidFill>
                          <a:effectLst/>
                          <a:latin typeface="Arial" panose="020B0604020202020204" pitchFamily="34" charset="0"/>
                        </a:rPr>
                        <a:t>FR-03</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Functional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a:solidFill>
                            <a:srgbClr val="000000"/>
                          </a:solidFill>
                          <a:effectLst/>
                          <a:latin typeface="Arial" panose="020B0604020202020204" pitchFamily="34" charset="0"/>
                        </a:rPr>
                        <a:t>The system must send automated notifications (email/SMS) for account actions, transaction alerts, and compliance events</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OBJ-02: Improve onboarding time by 40%</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Notifications delivered within 60 sec; Multi-channel delivery (email + SMS); Opt-out preferences honored</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Integration Testing</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TC-NT-003</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ctr" fontAlgn="ctr"/>
                      <a:r>
                        <a:rPr lang="en-MY" sz="1000" b="1" i="0" u="none" strike="noStrike">
                          <a:solidFill>
                            <a:srgbClr val="375623"/>
                          </a:solidFill>
                          <a:effectLst/>
                          <a:latin typeface="Arial" panose="020B0604020202020204" pitchFamily="34" charset="0"/>
                        </a:rPr>
                        <a:t>Passed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a:solidFill>
                            <a:srgbClr val="375623"/>
                          </a:solidFill>
                          <a:effectLst/>
                          <a:latin typeface="Arial" panose="020B0604020202020204" pitchFamily="34" charset="0"/>
                        </a:rPr>
                        <a:t>Medium</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l" fontAlgn="t"/>
                      <a:r>
                        <a:rPr lang="en-MY" sz="1000" b="0" i="0" u="none" strike="noStrike">
                          <a:solidFill>
                            <a:srgbClr val="000000"/>
                          </a:solidFill>
                          <a:effectLst/>
                          <a:latin typeface="Arial" panose="020B0604020202020204" pitchFamily="34" charset="0"/>
                        </a:rPr>
                        <a:t>Using third-party notification gateway</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476866196"/>
                  </a:ext>
                </a:extLst>
              </a:tr>
              <a:tr h="734528">
                <a:tc>
                  <a:txBody>
                    <a:bodyPr/>
                    <a:lstStyle/>
                    <a:p>
                      <a:pPr algn="l" fontAlgn="t"/>
                      <a:r>
                        <a:rPr lang="en-MY" sz="1000" b="0" i="0" u="none" strike="noStrike">
                          <a:solidFill>
                            <a:srgbClr val="000000"/>
                          </a:solidFill>
                          <a:effectLst/>
                          <a:latin typeface="Arial" panose="020B0604020202020204" pitchFamily="34" charset="0"/>
                        </a:rPr>
                        <a:t>FR-04</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Functional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a:solidFill>
                            <a:srgbClr val="000000"/>
                          </a:solidFill>
                          <a:effectLst/>
                          <a:latin typeface="Arial" panose="020B0604020202020204" pitchFamily="34" charset="0"/>
                        </a:rPr>
                        <a:t>Customer onboarding must be completed within 5 minutes end-to-end under normal operating conditions</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a:solidFill>
                            <a:srgbClr val="000000"/>
                          </a:solidFill>
                          <a:effectLst/>
                          <a:latin typeface="Arial" panose="020B0604020202020204" pitchFamily="34" charset="0"/>
                        </a:rPr>
                        <a:t>OBJ-02: Improve customer onboarding time by 40%</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US" sz="1000" b="0" i="0" u="none" strike="noStrike" dirty="0">
                          <a:solidFill>
                            <a:srgbClr val="000000"/>
                          </a:solidFill>
                          <a:effectLst/>
                          <a:latin typeface="Arial" panose="020B0604020202020204" pitchFamily="34" charset="0"/>
                        </a:rPr>
                        <a:t>95th percentile onboarding time &lt;5 min; &lt;2% rejection rate; Dashboard shows real-time onboarding metrics</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Performance Testing</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fontAlgn="t"/>
                      <a:r>
                        <a:rPr lang="en-MY" sz="1000" b="0" i="0" u="none" strike="noStrike">
                          <a:solidFill>
                            <a:srgbClr val="000000"/>
                          </a:solidFill>
                          <a:effectLst/>
                          <a:latin typeface="Arial" panose="020B0604020202020204" pitchFamily="34" charset="0"/>
                        </a:rPr>
                        <a:t>TC-ON-004</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fontAlgn="ctr"/>
                      <a:r>
                        <a:rPr lang="en-MY" sz="1000" b="1" i="0" u="none" strike="noStrike">
                          <a:solidFill>
                            <a:srgbClr val="375623"/>
                          </a:solidFill>
                          <a:effectLst/>
                          <a:latin typeface="Arial" panose="020B0604020202020204" pitchFamily="34" charset="0"/>
                        </a:rPr>
                        <a:t>Passed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a:solidFill>
                            <a:srgbClr val="7F6000"/>
                          </a:solidFill>
                          <a:effectLst/>
                          <a:latin typeface="Arial" panose="020B0604020202020204" pitchFamily="34" charset="0"/>
                        </a:rPr>
                        <a:t>High</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l" fontAlgn="t"/>
                      <a:r>
                        <a:rPr lang="en-MY" sz="1000" b="0" i="0" u="none" strike="noStrike">
                          <a:solidFill>
                            <a:srgbClr val="000000"/>
                          </a:solidFill>
                          <a:effectLst/>
                          <a:latin typeface="Arial" panose="020B0604020202020204" pitchFamily="34" charset="0"/>
                        </a:rPr>
                        <a:t>Baseline: 12 min → Target: 5 min achieved</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76440145"/>
                  </a:ext>
                </a:extLst>
              </a:tr>
              <a:tr h="734528">
                <a:tc>
                  <a:txBody>
                    <a:bodyPr/>
                    <a:lstStyle/>
                    <a:p>
                      <a:pPr algn="l" fontAlgn="t"/>
                      <a:r>
                        <a:rPr lang="en-MY" sz="1000" b="0" i="0" u="none" strike="noStrike">
                          <a:solidFill>
                            <a:srgbClr val="000000"/>
                          </a:solidFill>
                          <a:effectLst/>
                          <a:latin typeface="Arial" panose="020B0604020202020204" pitchFamily="34" charset="0"/>
                        </a:rPr>
                        <a:t>FR-05</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a:solidFill>
                            <a:srgbClr val="000000"/>
                          </a:solidFill>
                          <a:effectLst/>
                          <a:latin typeface="Arial" panose="020B0604020202020204" pitchFamily="34" charset="0"/>
                        </a:rPr>
                        <a:t>Functional</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a:solidFill>
                            <a:srgbClr val="000000"/>
                          </a:solidFill>
                          <a:effectLst/>
                          <a:latin typeface="Arial" panose="020B0604020202020204" pitchFamily="34" charset="0"/>
                        </a:rPr>
                        <a:t>Compliance staff can access real-time audit logs and KYC/AML reports via a dedicated compliance dashboard</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OBJ-03: Achieve 100% compliance with KYC, AML, PCI-DSS, GDPR</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US" sz="1000" b="0" i="0" u="none" strike="noStrike" dirty="0">
                          <a:solidFill>
                            <a:srgbClr val="000000"/>
                          </a:solidFill>
                          <a:effectLst/>
                          <a:latin typeface="Arial" panose="020B0604020202020204" pitchFamily="34" charset="0"/>
                        </a:rPr>
                        <a:t>Audit logs available with &lt;1 sec latency; Reports exportable in CSV/Excel; Role-based access enforced</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dirty="0">
                          <a:solidFill>
                            <a:srgbClr val="000000"/>
                          </a:solidFill>
                          <a:effectLst/>
                          <a:latin typeface="Arial" panose="020B0604020202020204" pitchFamily="34" charset="0"/>
                        </a:rPr>
                        <a:t>UAT + Compliance Audit</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l" fontAlgn="t"/>
                      <a:r>
                        <a:rPr lang="en-MY" sz="1000" b="0" i="0" u="none" strike="noStrike" dirty="0">
                          <a:solidFill>
                            <a:srgbClr val="000000"/>
                          </a:solidFill>
                          <a:effectLst/>
                          <a:latin typeface="Arial" panose="020B0604020202020204" pitchFamily="34" charset="0"/>
                        </a:rPr>
                        <a:t>TC-CM-005</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tc>
                  <a:txBody>
                    <a:bodyPr/>
                    <a:lstStyle/>
                    <a:p>
                      <a:pPr algn="ctr" fontAlgn="ctr"/>
                      <a:r>
                        <a:rPr lang="en-MY" sz="1000" b="1" i="0" u="none" strike="noStrike" dirty="0">
                          <a:solidFill>
                            <a:srgbClr val="375623"/>
                          </a:solidFill>
                          <a:effectLst/>
                          <a:latin typeface="Arial" panose="020B0604020202020204" pitchFamily="34" charset="0"/>
                        </a:rPr>
                        <a:t>Passed</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dirty="0">
                          <a:solidFill>
                            <a:srgbClr val="833C00"/>
                          </a:solidFill>
                          <a:effectLst/>
                          <a:latin typeface="Arial" panose="020B0604020202020204" pitchFamily="34" charset="0"/>
                        </a:rPr>
                        <a:t>Critical</a:t>
                      </a:r>
                    </a:p>
                  </a:txBody>
                  <a:tcPr marL="4592" marR="4592" marT="4592"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tc>
                  <a:txBody>
                    <a:bodyPr/>
                    <a:lstStyle/>
                    <a:p>
                      <a:pPr algn="l" fontAlgn="t"/>
                      <a:r>
                        <a:rPr lang="en-MY" sz="1000" b="0" i="0" u="none" strike="noStrike" dirty="0">
                          <a:solidFill>
                            <a:srgbClr val="000000"/>
                          </a:solidFill>
                          <a:effectLst/>
                          <a:latin typeface="Arial" panose="020B0604020202020204" pitchFamily="34" charset="0"/>
                        </a:rPr>
                        <a:t>External auditor validated controls</a:t>
                      </a:r>
                    </a:p>
                  </a:txBody>
                  <a:tcPr marL="4592" marR="4592" marT="4592"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539915433"/>
                  </a:ext>
                </a:extLst>
              </a:tr>
            </a:tbl>
          </a:graphicData>
        </a:graphic>
      </p:graphicFrame>
    </p:spTree>
    <p:extLst>
      <p:ext uri="{BB962C8B-B14F-4D97-AF65-F5344CB8AC3E}">
        <p14:creationId xmlns:p14="http://schemas.microsoft.com/office/powerpoint/2010/main" val="76334392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4FC67-B255-3D71-DC5B-91D75CF535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1DDDEF-ABB6-308C-B4C8-97DE1E659682}"/>
              </a:ext>
            </a:extLst>
          </p:cNvPr>
          <p:cNvSpPr>
            <a:spLocks noGrp="1"/>
          </p:cNvSpPr>
          <p:nvPr>
            <p:ph type="title"/>
          </p:nvPr>
        </p:nvSpPr>
        <p:spPr>
          <a:xfrm>
            <a:off x="572756" y="133943"/>
            <a:ext cx="9813446" cy="850726"/>
          </a:xfrm>
        </p:spPr>
        <p:txBody>
          <a:bodyPr>
            <a:noAutofit/>
          </a:bodyPr>
          <a:lstStyle/>
          <a:p>
            <a:r>
              <a:rPr lang="en-US" sz="3200" dirty="0"/>
              <a:t>Project Planning and Risk Analysis</a:t>
            </a:r>
          </a:p>
        </p:txBody>
      </p:sp>
      <p:sp>
        <p:nvSpPr>
          <p:cNvPr id="8" name="Content Placeholder 4">
            <a:extLst>
              <a:ext uri="{FF2B5EF4-FFF2-40B4-BE49-F238E27FC236}">
                <a16:creationId xmlns:a16="http://schemas.microsoft.com/office/drawing/2014/main" id="{BDBAF68E-7DF9-0CAA-8CA8-9B3288B3C2C3}"/>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Work Breakdown Structure (WBS</a:t>
            </a:r>
            <a:r>
              <a:rPr lang="en-US" sz="2400" b="1" dirty="0" smtClean="0"/>
              <a:t>)</a:t>
            </a:r>
          </a:p>
          <a:p>
            <a:pPr marL="0" indent="0">
              <a:buFont typeface="Arial" panose="020B0604020202020204" pitchFamily="34" charset="0"/>
              <a:buNone/>
            </a:pPr>
            <a:endParaRPr lang="en-US" sz="2400" b="1" dirty="0"/>
          </a:p>
          <a:p>
            <a:pPr marL="0" indent="0">
              <a:buFont typeface="Arial" panose="020B0604020202020204" pitchFamily="34" charset="0"/>
              <a:buNone/>
            </a:pPr>
            <a:endParaRPr lang="en-US" sz="2400" b="1" dirty="0"/>
          </a:p>
        </p:txBody>
      </p:sp>
      <p:graphicFrame>
        <p:nvGraphicFramePr>
          <p:cNvPr id="5" name="Table 4"/>
          <p:cNvGraphicFramePr>
            <a:graphicFrameLocks noGrp="1"/>
          </p:cNvGraphicFramePr>
          <p:nvPr>
            <p:extLst>
              <p:ext uri="{D42A27DB-BD31-4B8C-83A1-F6EECF244321}">
                <p14:modId xmlns:p14="http://schemas.microsoft.com/office/powerpoint/2010/main" val="586443234"/>
              </p:ext>
            </p:extLst>
          </p:nvPr>
        </p:nvGraphicFramePr>
        <p:xfrm>
          <a:off x="668866" y="1896531"/>
          <a:ext cx="10563705" cy="3823231"/>
        </p:xfrm>
        <a:graphic>
          <a:graphicData uri="http://schemas.openxmlformats.org/drawingml/2006/table">
            <a:tbl>
              <a:tblPr/>
              <a:tblGrid>
                <a:gridCol w="990347">
                  <a:extLst>
                    <a:ext uri="{9D8B030D-6E8A-4147-A177-3AD203B41FA5}">
                      <a16:colId xmlns:a16="http://schemas.microsoft.com/office/drawing/2014/main" val="2604126824"/>
                    </a:ext>
                  </a:extLst>
                </a:gridCol>
                <a:gridCol w="3961390">
                  <a:extLst>
                    <a:ext uri="{9D8B030D-6E8A-4147-A177-3AD203B41FA5}">
                      <a16:colId xmlns:a16="http://schemas.microsoft.com/office/drawing/2014/main" val="2846020734"/>
                    </a:ext>
                  </a:extLst>
                </a:gridCol>
                <a:gridCol w="660231">
                  <a:extLst>
                    <a:ext uri="{9D8B030D-6E8A-4147-A177-3AD203B41FA5}">
                      <a16:colId xmlns:a16="http://schemas.microsoft.com/office/drawing/2014/main" val="4009662577"/>
                    </a:ext>
                  </a:extLst>
                </a:gridCol>
                <a:gridCol w="4951737">
                  <a:extLst>
                    <a:ext uri="{9D8B030D-6E8A-4147-A177-3AD203B41FA5}">
                      <a16:colId xmlns:a16="http://schemas.microsoft.com/office/drawing/2014/main" val="2816132720"/>
                    </a:ext>
                  </a:extLst>
                </a:gridCol>
              </a:tblGrid>
              <a:tr h="475921">
                <a:tc>
                  <a:txBody>
                    <a:bodyPr/>
                    <a:lstStyle/>
                    <a:p>
                      <a:pPr algn="ctr" fontAlgn="ctr"/>
                      <a:r>
                        <a:rPr lang="en-MY" sz="1200" b="1" i="0" u="none" strike="noStrike">
                          <a:solidFill>
                            <a:srgbClr val="FFFFFF"/>
                          </a:solidFill>
                          <a:effectLst/>
                          <a:latin typeface="Arial" panose="020B0604020202020204" pitchFamily="34" charset="0"/>
                        </a:rPr>
                        <a:t>WBS Code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200" b="1" i="0" u="none" strike="noStrike">
                          <a:solidFill>
                            <a:srgbClr val="FFFFFF"/>
                          </a:solidFill>
                          <a:effectLst/>
                          <a:latin typeface="Arial" panose="020B0604020202020204" pitchFamily="34" charset="0"/>
                        </a:rPr>
                        <a:t>Task / Deliverable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200" b="1" i="0" u="none" strike="noStrike">
                          <a:solidFill>
                            <a:srgbClr val="FFFFFF"/>
                          </a:solidFill>
                          <a:effectLst/>
                          <a:latin typeface="Arial" panose="020B0604020202020204" pitchFamily="34" charset="0"/>
                        </a:rPr>
                        <a:t>Level</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200" b="1" i="0" u="none" strike="noStrike">
                          <a:solidFill>
                            <a:srgbClr val="FFFFFF"/>
                          </a:solidFill>
                          <a:effectLst/>
                          <a:latin typeface="Arial" panose="020B0604020202020204" pitchFamily="34" charset="0"/>
                        </a:rPr>
                        <a:t>Description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extLst>
                  <a:ext uri="{0D108BD9-81ED-4DB2-BD59-A6C34878D82A}">
                    <a16:rowId xmlns:a16="http://schemas.microsoft.com/office/drawing/2014/main" val="1968989135"/>
                  </a:ext>
                </a:extLst>
              </a:tr>
              <a:tr h="1348442">
                <a:tc>
                  <a:txBody>
                    <a:bodyPr/>
                    <a:lstStyle/>
                    <a:p>
                      <a:pPr algn="ctr" fontAlgn="ctr"/>
                      <a:r>
                        <a:rPr lang="en-MY" sz="1400" b="1" i="0" u="none" strike="noStrike">
                          <a:solidFill>
                            <a:srgbClr val="FFFFFF"/>
                          </a:solidFill>
                          <a:effectLst/>
                          <a:latin typeface="Arial" panose="020B0604020202020204" pitchFamily="34" charset="0"/>
                        </a:rPr>
                        <a:t>1.0</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75B6"/>
                    </a:solidFill>
                  </a:tcPr>
                </a:tc>
                <a:tc>
                  <a:txBody>
                    <a:bodyPr/>
                    <a:lstStyle/>
                    <a:p>
                      <a:pPr algn="l" fontAlgn="ctr"/>
                      <a:r>
                        <a:rPr lang="en-MY" sz="1400" b="1" i="0" u="none" strike="noStrike">
                          <a:solidFill>
                            <a:srgbClr val="FFFFFF"/>
                          </a:solidFill>
                          <a:effectLst/>
                          <a:latin typeface="Arial" panose="020B0604020202020204" pitchFamily="34" charset="0"/>
                        </a:rPr>
                        <a:t>Core Digital Transformation for a Retail Banking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75B6"/>
                    </a:solidFill>
                  </a:tcPr>
                </a:tc>
                <a:tc>
                  <a:txBody>
                    <a:bodyPr/>
                    <a:lstStyle/>
                    <a:p>
                      <a:pPr algn="ctr" fontAlgn="ctr"/>
                      <a:r>
                        <a:rPr lang="en-MY" sz="1400" b="1" i="0" u="none" strike="noStrike">
                          <a:solidFill>
                            <a:srgbClr val="FFFFFF"/>
                          </a:solidFill>
                          <a:effectLst/>
                          <a:latin typeface="Arial" panose="020B0604020202020204" pitchFamily="34" charset="0"/>
                        </a:rPr>
                        <a:t>0</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75B6"/>
                    </a:solidFill>
                  </a:tcPr>
                </a:tc>
                <a:tc>
                  <a:txBody>
                    <a:bodyPr/>
                    <a:lstStyle/>
                    <a:p>
                      <a:pPr algn="l" fontAlgn="t"/>
                      <a:r>
                        <a:rPr lang="en-US" sz="1400" b="1" i="0" u="none" strike="noStrike">
                          <a:solidFill>
                            <a:srgbClr val="FFFFFF"/>
                          </a:solidFill>
                          <a:effectLst/>
                          <a:latin typeface="Arial" panose="020B0604020202020204" pitchFamily="34" charset="0"/>
                        </a:rPr>
                        <a:t>Complete digital transformation initiative to modernize retail banking systems with cloud-native architecture, regulatory compliance, and real-time data capabilities</a:t>
                      </a:r>
                    </a:p>
                  </a:txBody>
                  <a:tcPr marL="6350" marR="6350" marT="6350"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75B6"/>
                    </a:solidFill>
                  </a:tcPr>
                </a:tc>
                <a:extLst>
                  <a:ext uri="{0D108BD9-81ED-4DB2-BD59-A6C34878D82A}">
                    <a16:rowId xmlns:a16="http://schemas.microsoft.com/office/drawing/2014/main" val="2728371087"/>
                  </a:ext>
                </a:extLst>
              </a:tr>
              <a:tr h="737677">
                <a:tc>
                  <a:txBody>
                    <a:bodyPr/>
                    <a:lstStyle/>
                    <a:p>
                      <a:pPr algn="ctr" fontAlgn="ctr"/>
                      <a:r>
                        <a:rPr lang="en-MY" sz="1100" b="1" i="0" u="none" strike="noStrike">
                          <a:solidFill>
                            <a:srgbClr val="1F4E79"/>
                          </a:solidFill>
                          <a:effectLst/>
                          <a:latin typeface="Arial" panose="020B0604020202020204" pitchFamily="34" charset="0"/>
                        </a:rPr>
                        <a:t>1.1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100" b="1" i="0" u="none" strike="noStrike" dirty="0">
                          <a:solidFill>
                            <a:srgbClr val="1F4E79"/>
                          </a:solidFill>
                          <a:effectLst/>
                          <a:latin typeface="Arial" panose="020B0604020202020204" pitchFamily="34" charset="0"/>
                        </a:rPr>
                        <a:t>Planning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100" b="1" i="0" u="none" strike="noStrike">
                          <a:solidFill>
                            <a:srgbClr val="1F4E79"/>
                          </a:solidFill>
                          <a:effectLst/>
                          <a:latin typeface="Arial" panose="020B0604020202020204" pitchFamily="34" charset="0"/>
                        </a:rPr>
                        <a:t>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t"/>
                      <a:r>
                        <a:rPr lang="en-US" sz="1100" b="1" i="0" u="none" strike="noStrike">
                          <a:solidFill>
                            <a:srgbClr val="1F4E79"/>
                          </a:solidFill>
                          <a:effectLst/>
                          <a:latin typeface="Arial" panose="020B0604020202020204" pitchFamily="34" charset="0"/>
                        </a:rPr>
                        <a:t>Project initiation, stakeholder engagement, requirements gathering, and architectural design</a:t>
                      </a:r>
                    </a:p>
                  </a:txBody>
                  <a:tcPr marL="6350" marR="6350" marT="6350"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extLst>
                  <a:ext uri="{0D108BD9-81ED-4DB2-BD59-A6C34878D82A}">
                    <a16:rowId xmlns:a16="http://schemas.microsoft.com/office/drawing/2014/main" val="500235995"/>
                  </a:ext>
                </a:extLst>
              </a:tr>
              <a:tr h="396601">
                <a:tc>
                  <a:txBody>
                    <a:bodyPr/>
                    <a:lstStyle/>
                    <a:p>
                      <a:pPr algn="ctr" fontAlgn="ctr"/>
                      <a:r>
                        <a:rPr lang="en-MY" sz="1100" b="1" i="0" u="none" strike="noStrike">
                          <a:solidFill>
                            <a:srgbClr val="1F4E79"/>
                          </a:solidFill>
                          <a:effectLst/>
                          <a:latin typeface="Arial" panose="020B0604020202020204" pitchFamily="34" charset="0"/>
                        </a:rPr>
                        <a:t>1.2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100" b="1" i="0" u="none" strike="noStrike">
                          <a:solidFill>
                            <a:srgbClr val="1F4E79"/>
                          </a:solidFill>
                          <a:effectLst/>
                          <a:latin typeface="Arial" panose="020B0604020202020204" pitchFamily="34" charset="0"/>
                        </a:rPr>
                        <a:t>Execution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100" b="1" i="0" u="none" strike="noStrike">
                          <a:solidFill>
                            <a:srgbClr val="1F4E79"/>
                          </a:solidFill>
                          <a:effectLst/>
                          <a:latin typeface="Arial" panose="020B0604020202020204" pitchFamily="34" charset="0"/>
                        </a:rPr>
                        <a:t>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t"/>
                      <a:r>
                        <a:rPr lang="en-US" sz="1100" b="1" i="0" u="none" strike="noStrike">
                          <a:solidFill>
                            <a:srgbClr val="1F4E79"/>
                          </a:solidFill>
                          <a:effectLst/>
                          <a:latin typeface="Arial" panose="020B0604020202020204" pitchFamily="34" charset="0"/>
                        </a:rPr>
                        <a:t>Development, integration, testing, and compliance validation</a:t>
                      </a:r>
                    </a:p>
                  </a:txBody>
                  <a:tcPr marL="6350" marR="6350" marT="6350"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extLst>
                  <a:ext uri="{0D108BD9-81ED-4DB2-BD59-A6C34878D82A}">
                    <a16:rowId xmlns:a16="http://schemas.microsoft.com/office/drawing/2014/main" val="94258337"/>
                  </a:ext>
                </a:extLst>
              </a:tr>
              <a:tr h="864590">
                <a:tc>
                  <a:txBody>
                    <a:bodyPr/>
                    <a:lstStyle/>
                    <a:p>
                      <a:pPr algn="ctr" fontAlgn="ctr"/>
                      <a:r>
                        <a:rPr lang="en-MY" sz="1100" b="1" i="0" u="none" strike="noStrike">
                          <a:solidFill>
                            <a:srgbClr val="1F4E79"/>
                          </a:solidFill>
                          <a:effectLst/>
                          <a:latin typeface="Arial" panose="020B0604020202020204" pitchFamily="34" charset="0"/>
                        </a:rPr>
                        <a:t>1.3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100" b="1" i="0" u="none" strike="noStrike">
                          <a:solidFill>
                            <a:srgbClr val="1F4E79"/>
                          </a:solidFill>
                          <a:effectLst/>
                          <a:latin typeface="Arial" panose="020B0604020202020204" pitchFamily="34" charset="0"/>
                        </a:rPr>
                        <a:t>Closure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100" b="1" i="0" u="none" strike="noStrike">
                          <a:solidFill>
                            <a:srgbClr val="1F4E79"/>
                          </a:solidFill>
                          <a:effectLst/>
                          <a:latin typeface="Arial" panose="020B0604020202020204" pitchFamily="34" charset="0"/>
                        </a:rPr>
                        <a:t>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t"/>
                      <a:r>
                        <a:rPr lang="en-MY" sz="1100" b="1" i="0" u="none" strike="noStrike" dirty="0">
                          <a:solidFill>
                            <a:srgbClr val="1F4E79"/>
                          </a:solidFill>
                          <a:effectLst/>
                          <a:latin typeface="Arial" panose="020B0604020202020204" pitchFamily="34" charset="0"/>
                        </a:rPr>
                        <a:t>Production deployment, training, handover, and post-implementation support</a:t>
                      </a:r>
                    </a:p>
                  </a:txBody>
                  <a:tcPr marL="6350" marR="6350" marT="6350"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extLst>
                  <a:ext uri="{0D108BD9-81ED-4DB2-BD59-A6C34878D82A}">
                    <a16:rowId xmlns:a16="http://schemas.microsoft.com/office/drawing/2014/main" val="2020766222"/>
                  </a:ext>
                </a:extLst>
              </a:tr>
            </a:tbl>
          </a:graphicData>
        </a:graphic>
      </p:graphicFrame>
    </p:spTree>
    <p:extLst>
      <p:ext uri="{BB962C8B-B14F-4D97-AF65-F5344CB8AC3E}">
        <p14:creationId xmlns:p14="http://schemas.microsoft.com/office/powerpoint/2010/main" val="227025291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547F8-DC26-412E-D013-E868F7681D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0BD5F8-EDD6-16DB-3C40-DCA71922457D}"/>
              </a:ext>
            </a:extLst>
          </p:cNvPr>
          <p:cNvSpPr>
            <a:spLocks noGrp="1"/>
          </p:cNvSpPr>
          <p:nvPr>
            <p:ph type="title"/>
          </p:nvPr>
        </p:nvSpPr>
        <p:spPr>
          <a:xfrm>
            <a:off x="572756" y="133943"/>
            <a:ext cx="9813446" cy="850726"/>
          </a:xfrm>
        </p:spPr>
        <p:txBody>
          <a:bodyPr>
            <a:noAutofit/>
          </a:bodyPr>
          <a:lstStyle/>
          <a:p>
            <a:r>
              <a:rPr lang="en-US" sz="3200" dirty="0"/>
              <a:t>Project Planning and Risk Analysis</a:t>
            </a:r>
          </a:p>
        </p:txBody>
      </p:sp>
      <p:sp>
        <p:nvSpPr>
          <p:cNvPr id="8" name="Content Placeholder 4">
            <a:extLst>
              <a:ext uri="{FF2B5EF4-FFF2-40B4-BE49-F238E27FC236}">
                <a16:creationId xmlns:a16="http://schemas.microsoft.com/office/drawing/2014/main" id="{F3013976-8F52-A961-B85F-1F3DD9C169F3}"/>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Network </a:t>
            </a:r>
            <a:r>
              <a:rPr lang="en-US" sz="2400" b="1" dirty="0" smtClean="0"/>
              <a:t>Diagram</a:t>
            </a:r>
          </a:p>
          <a:p>
            <a:pPr marL="0" indent="0">
              <a:buFont typeface="Arial" panose="020B0604020202020204" pitchFamily="34" charset="0"/>
              <a:buNone/>
            </a:pPr>
            <a:endParaRPr lang="en-US" sz="2400" b="1" dirty="0"/>
          </a:p>
        </p:txBody>
      </p:sp>
      <p:graphicFrame>
        <p:nvGraphicFramePr>
          <p:cNvPr id="3" name="Table 2"/>
          <p:cNvGraphicFramePr>
            <a:graphicFrameLocks noGrp="1"/>
          </p:cNvGraphicFramePr>
          <p:nvPr>
            <p:extLst>
              <p:ext uri="{D42A27DB-BD31-4B8C-83A1-F6EECF244321}">
                <p14:modId xmlns:p14="http://schemas.microsoft.com/office/powerpoint/2010/main" val="2381788007"/>
              </p:ext>
            </p:extLst>
          </p:nvPr>
        </p:nvGraphicFramePr>
        <p:xfrm>
          <a:off x="702733" y="1938864"/>
          <a:ext cx="9743017" cy="3967430"/>
        </p:xfrm>
        <a:graphic>
          <a:graphicData uri="http://schemas.openxmlformats.org/drawingml/2006/table">
            <a:tbl>
              <a:tblPr/>
              <a:tblGrid>
                <a:gridCol w="2304188">
                  <a:extLst>
                    <a:ext uri="{9D8B030D-6E8A-4147-A177-3AD203B41FA5}">
                      <a16:colId xmlns:a16="http://schemas.microsoft.com/office/drawing/2014/main" val="2047062859"/>
                    </a:ext>
                  </a:extLst>
                </a:gridCol>
                <a:gridCol w="2531762">
                  <a:extLst>
                    <a:ext uri="{9D8B030D-6E8A-4147-A177-3AD203B41FA5}">
                      <a16:colId xmlns:a16="http://schemas.microsoft.com/office/drawing/2014/main" val="3620197750"/>
                    </a:ext>
                  </a:extLst>
                </a:gridCol>
                <a:gridCol w="668499">
                  <a:extLst>
                    <a:ext uri="{9D8B030D-6E8A-4147-A177-3AD203B41FA5}">
                      <a16:colId xmlns:a16="http://schemas.microsoft.com/office/drawing/2014/main" val="3006948318"/>
                    </a:ext>
                  </a:extLst>
                </a:gridCol>
                <a:gridCol w="682722">
                  <a:extLst>
                    <a:ext uri="{9D8B030D-6E8A-4147-A177-3AD203B41FA5}">
                      <a16:colId xmlns:a16="http://schemas.microsoft.com/office/drawing/2014/main" val="1857354293"/>
                    </a:ext>
                  </a:extLst>
                </a:gridCol>
                <a:gridCol w="1080977">
                  <a:extLst>
                    <a:ext uri="{9D8B030D-6E8A-4147-A177-3AD203B41FA5}">
                      <a16:colId xmlns:a16="http://schemas.microsoft.com/office/drawing/2014/main" val="252906345"/>
                    </a:ext>
                  </a:extLst>
                </a:gridCol>
                <a:gridCol w="768063">
                  <a:extLst>
                    <a:ext uri="{9D8B030D-6E8A-4147-A177-3AD203B41FA5}">
                      <a16:colId xmlns:a16="http://schemas.microsoft.com/office/drawing/2014/main" val="1738896481"/>
                    </a:ext>
                  </a:extLst>
                </a:gridCol>
                <a:gridCol w="768063">
                  <a:extLst>
                    <a:ext uri="{9D8B030D-6E8A-4147-A177-3AD203B41FA5}">
                      <a16:colId xmlns:a16="http://schemas.microsoft.com/office/drawing/2014/main" val="134958949"/>
                    </a:ext>
                  </a:extLst>
                </a:gridCol>
                <a:gridCol w="938743">
                  <a:extLst>
                    <a:ext uri="{9D8B030D-6E8A-4147-A177-3AD203B41FA5}">
                      <a16:colId xmlns:a16="http://schemas.microsoft.com/office/drawing/2014/main" val="121811144"/>
                    </a:ext>
                  </a:extLst>
                </a:gridCol>
              </a:tblGrid>
              <a:tr h="396743">
                <a:tc>
                  <a:txBody>
                    <a:bodyPr/>
                    <a:lstStyle/>
                    <a:p>
                      <a:pPr algn="ctr" fontAlgn="ctr"/>
                      <a:r>
                        <a:rPr lang="en-MY" sz="1100" b="1" i="0" u="none" strike="noStrike">
                          <a:solidFill>
                            <a:srgbClr val="FFFFFF"/>
                          </a:solidFill>
                          <a:effectLst/>
                          <a:latin typeface="Arial" panose="020B0604020202020204" pitchFamily="34" charset="0"/>
                        </a:rPr>
                        <a:t>Task ID</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Task Name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Phase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Duration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Predecessors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Start</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End</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algn="ctr" fontAlgn="ctr"/>
                      <a:r>
                        <a:rPr lang="en-MY" sz="1100" b="1" i="0" u="none" strike="noStrike">
                          <a:solidFill>
                            <a:srgbClr val="FFFFFF"/>
                          </a:solidFill>
                          <a:effectLst/>
                          <a:latin typeface="Arial" panose="020B0604020202020204" pitchFamily="34" charset="0"/>
                        </a:rPr>
                        <a:t>Critical Path</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extLst>
                  <a:ext uri="{0D108BD9-81ED-4DB2-BD59-A6C34878D82A}">
                    <a16:rowId xmlns:a16="http://schemas.microsoft.com/office/drawing/2014/main" val="44642379"/>
                  </a:ext>
                </a:extLst>
              </a:tr>
              <a:tr h="396743">
                <a:tc>
                  <a:txBody>
                    <a:bodyPr/>
                    <a:lstStyle/>
                    <a:p>
                      <a:pPr algn="ctr" fontAlgn="ctr"/>
                      <a:r>
                        <a:rPr lang="en-MY" sz="1000" b="0" i="0" u="none" strike="noStrike">
                          <a:solidFill>
                            <a:srgbClr val="000000"/>
                          </a:solidFill>
                          <a:effectLst/>
                          <a:latin typeface="Arial" panose="020B0604020202020204" pitchFamily="34" charset="0"/>
                        </a:rPr>
                        <a:t>1.1.1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000" b="0" i="0" u="none" strike="noStrike">
                          <a:solidFill>
                            <a:srgbClr val="000000"/>
                          </a:solidFill>
                          <a:effectLst/>
                          <a:latin typeface="Arial" panose="020B0604020202020204" pitchFamily="34" charset="0"/>
                        </a:rPr>
                        <a:t>Identify Stakeholders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Planning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3 days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2741971057"/>
                  </a:ext>
                </a:extLst>
              </a:tr>
              <a:tr h="396743">
                <a:tc>
                  <a:txBody>
                    <a:bodyPr/>
                    <a:lstStyle/>
                    <a:p>
                      <a:pPr algn="ctr" fontAlgn="ctr"/>
                      <a:r>
                        <a:rPr lang="en-MY" sz="1000" b="0" i="0" u="none" strike="noStrike" dirty="0">
                          <a:solidFill>
                            <a:srgbClr val="000000"/>
                          </a:solidFill>
                          <a:effectLst/>
                          <a:latin typeface="Arial" panose="020B0604020202020204" pitchFamily="34" charset="0"/>
                        </a:rPr>
                        <a:t>1.1.2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000" b="0" i="0" u="none" strike="noStrike">
                          <a:solidFill>
                            <a:srgbClr val="000000"/>
                          </a:solidFill>
                          <a:effectLst/>
                          <a:latin typeface="Arial" panose="020B0604020202020204" pitchFamily="34" charset="0"/>
                        </a:rPr>
                        <a:t>Gather Requirements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Planning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1 week</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1.1.1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1269151785"/>
                  </a:ext>
                </a:extLst>
              </a:tr>
              <a:tr h="396743">
                <a:tc>
                  <a:txBody>
                    <a:bodyPr/>
                    <a:lstStyle/>
                    <a:p>
                      <a:pPr algn="ctr" fontAlgn="ctr"/>
                      <a:r>
                        <a:rPr lang="en-MY" sz="1000" b="0" i="0" u="none" strike="noStrike">
                          <a:solidFill>
                            <a:srgbClr val="000000"/>
                          </a:solidFill>
                          <a:effectLst/>
                          <a:latin typeface="Arial" panose="020B0604020202020204" pitchFamily="34" charset="0"/>
                        </a:rPr>
                        <a:t>1.1.3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l" fontAlgn="ctr"/>
                      <a:r>
                        <a:rPr lang="en-MY" sz="1000" b="0" i="0" u="none" strike="noStrike">
                          <a:solidFill>
                            <a:srgbClr val="000000"/>
                          </a:solidFill>
                          <a:effectLst/>
                          <a:latin typeface="Arial" panose="020B0604020202020204" pitchFamily="34" charset="0"/>
                        </a:rPr>
                        <a:t>Design Cloud-Native Architecture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Planning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1 week</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1.1.2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0" i="0" u="none" strike="noStrike">
                          <a:solidFill>
                            <a:srgbClr val="000000"/>
                          </a:solidFill>
                          <a:effectLst/>
                          <a:latin typeface="Arial" panose="020B0604020202020204" pitchFamily="34" charset="0"/>
                        </a:rPr>
                        <a:t>Week 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6E4F0"/>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3739243739"/>
                  </a:ext>
                </a:extLst>
              </a:tr>
              <a:tr h="396743">
                <a:tc>
                  <a:txBody>
                    <a:bodyPr/>
                    <a:lstStyle/>
                    <a:p>
                      <a:pPr algn="ctr" fontAlgn="ctr"/>
                      <a:r>
                        <a:rPr lang="en-MY" sz="1000" b="0" i="0" u="none" strike="noStrike">
                          <a:solidFill>
                            <a:srgbClr val="000000"/>
                          </a:solidFill>
                          <a:effectLst/>
                          <a:latin typeface="Arial" panose="020B0604020202020204" pitchFamily="34" charset="0"/>
                        </a:rPr>
                        <a:t>1.2.1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l" fontAlgn="ctr"/>
                      <a:r>
                        <a:rPr lang="en-MY" sz="1000" b="0" i="0" u="none" strike="noStrike">
                          <a:solidFill>
                            <a:srgbClr val="000000"/>
                          </a:solidFill>
                          <a:effectLst/>
                          <a:latin typeface="Arial" panose="020B0604020202020204" pitchFamily="34" charset="0"/>
                        </a:rPr>
                        <a:t>Configure CI/CD Pipeline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Execution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1 month</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1.1.3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169109615"/>
                  </a:ext>
                </a:extLst>
              </a:tr>
              <a:tr h="396743">
                <a:tc>
                  <a:txBody>
                    <a:bodyPr/>
                    <a:lstStyle/>
                    <a:p>
                      <a:pPr algn="ctr" fontAlgn="ctr"/>
                      <a:r>
                        <a:rPr lang="en-MY" sz="1000" b="0" i="0" u="none" strike="noStrike">
                          <a:solidFill>
                            <a:srgbClr val="000000"/>
                          </a:solidFill>
                          <a:effectLst/>
                          <a:latin typeface="Arial" panose="020B0604020202020204" pitchFamily="34" charset="0"/>
                        </a:rPr>
                        <a:t>1.2.2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l" fontAlgn="ctr"/>
                      <a:r>
                        <a:rPr lang="en-US" sz="1000" b="0" i="0" u="none" strike="noStrike">
                          <a:solidFill>
                            <a:srgbClr val="000000"/>
                          </a:solidFill>
                          <a:effectLst/>
                          <a:latin typeface="Arial" panose="020B0604020202020204" pitchFamily="34" charset="0"/>
                        </a:rPr>
                        <a:t>Integrate Core Banking &amp; API Layers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Execution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4 months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1.2.1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403304022"/>
                  </a:ext>
                </a:extLst>
              </a:tr>
              <a:tr h="396743">
                <a:tc>
                  <a:txBody>
                    <a:bodyPr/>
                    <a:lstStyle/>
                    <a:p>
                      <a:pPr algn="ctr" fontAlgn="ctr"/>
                      <a:r>
                        <a:rPr lang="en-MY" sz="1000" b="0" i="0" u="none" strike="noStrike">
                          <a:solidFill>
                            <a:srgbClr val="000000"/>
                          </a:solidFill>
                          <a:effectLst/>
                          <a:latin typeface="Arial" panose="020B0604020202020204" pitchFamily="34" charset="0"/>
                        </a:rPr>
                        <a:t>1.2.3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l" fontAlgn="ctr"/>
                      <a:r>
                        <a:rPr lang="en-MY" sz="1000" b="0" i="0" u="none" strike="noStrike">
                          <a:solidFill>
                            <a:srgbClr val="000000"/>
                          </a:solidFill>
                          <a:effectLst/>
                          <a:latin typeface="Arial" panose="020B0604020202020204" pitchFamily="34" charset="0"/>
                        </a:rPr>
                        <a:t>Test Compliance (KYC/AML/PCI-DSS)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Execution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2 months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1.2.2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0" i="0" u="none" strike="noStrike">
                          <a:solidFill>
                            <a:srgbClr val="000000"/>
                          </a:solidFill>
                          <a:effectLst/>
                          <a:latin typeface="Arial" panose="020B0604020202020204" pitchFamily="34" charset="0"/>
                        </a:rPr>
                        <a:t>Month 6.5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2CC"/>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1604940122"/>
                  </a:ext>
                </a:extLst>
              </a:tr>
              <a:tr h="396743">
                <a:tc>
                  <a:txBody>
                    <a:bodyPr/>
                    <a:lstStyle/>
                    <a:p>
                      <a:pPr algn="ctr" fontAlgn="ctr"/>
                      <a:r>
                        <a:rPr lang="en-MY" sz="1000" b="0" i="0" u="none" strike="noStrike">
                          <a:solidFill>
                            <a:srgbClr val="000000"/>
                          </a:solidFill>
                          <a:effectLst/>
                          <a:latin typeface="Arial" panose="020B0604020202020204" pitchFamily="34" charset="0"/>
                        </a:rPr>
                        <a:t>1.3.1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l" fontAlgn="ctr"/>
                      <a:r>
                        <a:rPr lang="en-MY" sz="1000" b="0" i="0" u="none" strike="noStrike">
                          <a:solidFill>
                            <a:srgbClr val="000000"/>
                          </a:solidFill>
                          <a:effectLst/>
                          <a:latin typeface="Arial" panose="020B0604020202020204" pitchFamily="34" charset="0"/>
                        </a:rPr>
                        <a:t>Deploy to Production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Closure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2 weeks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1.2.3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6.5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7</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3194513748"/>
                  </a:ext>
                </a:extLst>
              </a:tr>
              <a:tr h="396743">
                <a:tc>
                  <a:txBody>
                    <a:bodyPr/>
                    <a:lstStyle/>
                    <a:p>
                      <a:pPr algn="ctr" fontAlgn="ctr"/>
                      <a:r>
                        <a:rPr lang="en-MY" sz="1000" b="0" i="0" u="none" strike="noStrike">
                          <a:solidFill>
                            <a:srgbClr val="000000"/>
                          </a:solidFill>
                          <a:effectLst/>
                          <a:latin typeface="Arial" panose="020B0604020202020204" pitchFamily="34" charset="0"/>
                        </a:rPr>
                        <a:t>1.3.2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l" fontAlgn="ctr"/>
                      <a:r>
                        <a:rPr lang="en-MY" sz="1000" b="0" i="0" u="none" strike="noStrike">
                          <a:solidFill>
                            <a:srgbClr val="000000"/>
                          </a:solidFill>
                          <a:effectLst/>
                          <a:latin typeface="Arial" panose="020B0604020202020204" pitchFamily="34" charset="0"/>
                        </a:rPr>
                        <a:t>Conduct User Training</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Closure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3 weeks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1.3.1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7</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7.75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No</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extLst>
                  <a:ext uri="{0D108BD9-81ED-4DB2-BD59-A6C34878D82A}">
                    <a16:rowId xmlns:a16="http://schemas.microsoft.com/office/drawing/2014/main" val="2474513235"/>
                  </a:ext>
                </a:extLst>
              </a:tr>
              <a:tr h="396743">
                <a:tc>
                  <a:txBody>
                    <a:bodyPr/>
                    <a:lstStyle/>
                    <a:p>
                      <a:pPr algn="ctr" fontAlgn="ctr"/>
                      <a:r>
                        <a:rPr lang="en-MY" sz="1000" b="0" i="0" u="none" strike="noStrike">
                          <a:solidFill>
                            <a:srgbClr val="000000"/>
                          </a:solidFill>
                          <a:effectLst/>
                          <a:latin typeface="Arial" panose="020B0604020202020204" pitchFamily="34" charset="0"/>
                        </a:rPr>
                        <a:t>1.3.3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l" fontAlgn="ctr"/>
                      <a:r>
                        <a:rPr lang="en-MY" sz="1000" b="0" i="0" u="none" strike="noStrike">
                          <a:solidFill>
                            <a:srgbClr val="000000"/>
                          </a:solidFill>
                          <a:effectLst/>
                          <a:latin typeface="Arial" panose="020B0604020202020204" pitchFamily="34" charset="0"/>
                        </a:rPr>
                        <a:t>Perform Handover to Operations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Closure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2 weeks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1.3.1, 1.3.2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7.75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0" i="0" u="none" strike="noStrike">
                          <a:solidFill>
                            <a:srgbClr val="000000"/>
                          </a:solidFill>
                          <a:effectLst/>
                          <a:latin typeface="Arial" panose="020B0604020202020204" pitchFamily="34" charset="0"/>
                        </a:rPr>
                        <a:t>Month 8.5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2EFDA"/>
                    </a:solidFill>
                  </a:tcPr>
                </a:tc>
                <a:tc>
                  <a:txBody>
                    <a:bodyPr/>
                    <a:lstStyle/>
                    <a:p>
                      <a:pPr algn="ctr" fontAlgn="ctr"/>
                      <a:r>
                        <a:rPr lang="en-MY" sz="1000" b="1" i="0" u="none" strike="noStrike" dirty="0">
                          <a:solidFill>
                            <a:srgbClr val="833C00"/>
                          </a:solidFill>
                          <a:effectLst/>
                          <a:latin typeface="Arial" panose="020B0604020202020204" pitchFamily="34" charset="0"/>
                        </a:rPr>
                        <a:t>Yes</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CE4D6"/>
                    </a:solidFill>
                  </a:tcPr>
                </a:tc>
                <a:extLst>
                  <a:ext uri="{0D108BD9-81ED-4DB2-BD59-A6C34878D82A}">
                    <a16:rowId xmlns:a16="http://schemas.microsoft.com/office/drawing/2014/main" val="2315875879"/>
                  </a:ext>
                </a:extLst>
              </a:tr>
            </a:tbl>
          </a:graphicData>
        </a:graphic>
      </p:graphicFrame>
    </p:spTree>
    <p:extLst>
      <p:ext uri="{BB962C8B-B14F-4D97-AF65-F5344CB8AC3E}">
        <p14:creationId xmlns:p14="http://schemas.microsoft.com/office/powerpoint/2010/main" val="129268342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80060-D74F-6F0F-9636-61DC4B1AED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C72172-AC1F-3AB7-78EE-10BF4008100D}"/>
              </a:ext>
            </a:extLst>
          </p:cNvPr>
          <p:cNvSpPr>
            <a:spLocks noGrp="1"/>
          </p:cNvSpPr>
          <p:nvPr>
            <p:ph type="title"/>
          </p:nvPr>
        </p:nvSpPr>
        <p:spPr>
          <a:xfrm>
            <a:off x="572756" y="133943"/>
            <a:ext cx="9813446" cy="850726"/>
          </a:xfrm>
        </p:spPr>
        <p:txBody>
          <a:bodyPr>
            <a:noAutofit/>
          </a:bodyPr>
          <a:lstStyle/>
          <a:p>
            <a:r>
              <a:rPr lang="en-US" sz="3200" dirty="0"/>
              <a:t>Project Planning and Risk Analysis</a:t>
            </a:r>
          </a:p>
        </p:txBody>
      </p:sp>
      <p:sp>
        <p:nvSpPr>
          <p:cNvPr id="8" name="Content Placeholder 4">
            <a:extLst>
              <a:ext uri="{FF2B5EF4-FFF2-40B4-BE49-F238E27FC236}">
                <a16:creationId xmlns:a16="http://schemas.microsoft.com/office/drawing/2014/main" id="{33B50135-4B3C-1F31-9594-890C0102F91C}"/>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SWOT </a:t>
            </a:r>
            <a:r>
              <a:rPr lang="en-US" sz="2400" b="1" dirty="0" smtClean="0"/>
              <a:t>Analysis</a:t>
            </a:r>
            <a:endParaRPr lang="en-US" sz="1800" dirty="0">
              <a:highlight>
                <a:srgbClr val="FFFF00"/>
              </a:highlight>
              <a:cs typeface="Arial"/>
            </a:endParaRPr>
          </a:p>
          <a:p>
            <a:pPr marL="0" indent="0">
              <a:buFont typeface="Arial" panose="020B0604020202020204" pitchFamily="34" charset="0"/>
              <a:buNone/>
            </a:pPr>
            <a:endParaRPr lang="en-US" sz="2400" b="1" dirty="0"/>
          </a:p>
        </p:txBody>
      </p:sp>
      <p:graphicFrame>
        <p:nvGraphicFramePr>
          <p:cNvPr id="3" name="Table 2"/>
          <p:cNvGraphicFramePr>
            <a:graphicFrameLocks noGrp="1"/>
          </p:cNvGraphicFramePr>
          <p:nvPr>
            <p:extLst>
              <p:ext uri="{D42A27DB-BD31-4B8C-83A1-F6EECF244321}">
                <p14:modId xmlns:p14="http://schemas.microsoft.com/office/powerpoint/2010/main" val="2199861136"/>
              </p:ext>
            </p:extLst>
          </p:nvPr>
        </p:nvGraphicFramePr>
        <p:xfrm>
          <a:off x="678424" y="1872774"/>
          <a:ext cx="10638504" cy="4756654"/>
        </p:xfrm>
        <a:graphic>
          <a:graphicData uri="http://schemas.openxmlformats.org/drawingml/2006/table">
            <a:tbl>
              <a:tblPr firstRow="1" firstCol="1" bandRow="1"/>
              <a:tblGrid>
                <a:gridCol w="5319252">
                  <a:extLst>
                    <a:ext uri="{9D8B030D-6E8A-4147-A177-3AD203B41FA5}">
                      <a16:colId xmlns:a16="http://schemas.microsoft.com/office/drawing/2014/main" val="1788482242"/>
                    </a:ext>
                  </a:extLst>
                </a:gridCol>
                <a:gridCol w="5319252">
                  <a:extLst>
                    <a:ext uri="{9D8B030D-6E8A-4147-A177-3AD203B41FA5}">
                      <a16:colId xmlns:a16="http://schemas.microsoft.com/office/drawing/2014/main" val="3327369873"/>
                    </a:ext>
                  </a:extLst>
                </a:gridCol>
              </a:tblGrid>
              <a:tr h="544447">
                <a:tc>
                  <a:txBody>
                    <a:bodyPr/>
                    <a:lstStyle/>
                    <a:p>
                      <a:pPr algn="ctr">
                        <a:spcAft>
                          <a:spcPts val="0"/>
                        </a:spcAft>
                      </a:pPr>
                      <a:r>
                        <a:rPr lang="en-MY" sz="1300" b="1">
                          <a:solidFill>
                            <a:srgbClr val="FFFFFF"/>
                          </a:solidFill>
                          <a:effectLst/>
                          <a:latin typeface="Arial" panose="020B0604020202020204" pitchFamily="34" charset="0"/>
                          <a:ea typeface="Arial" panose="020B0604020202020204" pitchFamily="34" charset="0"/>
                        </a:rPr>
                        <a:t>STRENGTHS</a:t>
                      </a:r>
                      <a:endParaRPr lang="en-MY" sz="1100">
                        <a:effectLst/>
                        <a:latin typeface="Arial" panose="020B0604020202020204" pitchFamily="34" charset="0"/>
                        <a:ea typeface="Arial" panose="020B0604020202020204" pitchFamily="34" charset="0"/>
                      </a:endParaRPr>
                    </a:p>
                  </a:txBody>
                  <a:tcPr marL="95250" marR="95250" marT="63500" marB="635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F7A4C"/>
                    </a:solidFill>
                  </a:tcPr>
                </a:tc>
                <a:tc>
                  <a:txBody>
                    <a:bodyPr/>
                    <a:lstStyle/>
                    <a:p>
                      <a:pPr algn="ctr">
                        <a:spcAft>
                          <a:spcPts val="0"/>
                        </a:spcAft>
                      </a:pPr>
                      <a:r>
                        <a:rPr lang="en-MY" sz="1300" b="1">
                          <a:solidFill>
                            <a:srgbClr val="FFFFFF"/>
                          </a:solidFill>
                          <a:effectLst/>
                          <a:latin typeface="Arial" panose="020B0604020202020204" pitchFamily="34" charset="0"/>
                          <a:ea typeface="Arial" panose="020B0604020202020204" pitchFamily="34" charset="0"/>
                        </a:rPr>
                        <a:t>WEAKNESSES</a:t>
                      </a:r>
                      <a:endParaRPr lang="en-MY" sz="1100">
                        <a:effectLst/>
                        <a:latin typeface="Arial" panose="020B0604020202020204" pitchFamily="34" charset="0"/>
                        <a:ea typeface="Arial" panose="020B0604020202020204" pitchFamily="34" charset="0"/>
                      </a:endParaRPr>
                    </a:p>
                  </a:txBody>
                  <a:tcPr marL="95250" marR="95250" marT="63500" marB="635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C0392B"/>
                    </a:solidFill>
                  </a:tcPr>
                </a:tc>
                <a:extLst>
                  <a:ext uri="{0D108BD9-81ED-4DB2-BD59-A6C34878D82A}">
                    <a16:rowId xmlns:a16="http://schemas.microsoft.com/office/drawing/2014/main" val="3620647891"/>
                  </a:ext>
                </a:extLst>
              </a:tr>
              <a:tr h="1616327">
                <a:tc>
                  <a:txBody>
                    <a:bodyPr/>
                    <a:lstStyle/>
                    <a:p>
                      <a:pPr>
                        <a:spcAft>
                          <a:spcPts val="0"/>
                        </a:spcAft>
                      </a:pPr>
                      <a:r>
                        <a:rPr lang="en-MY" sz="1400" dirty="0">
                          <a:effectLst/>
                          <a:latin typeface="Arial" panose="020B0604020202020204" pitchFamily="34" charset="0"/>
                          <a:ea typeface="Arial" panose="020B0604020202020204" pitchFamily="34" charset="0"/>
                        </a:rPr>
                        <a:t>• Experienced DevOps team with CI/CD expertise</a:t>
                      </a:r>
                    </a:p>
                    <a:p>
                      <a:pPr>
                        <a:spcAft>
                          <a:spcPts val="0"/>
                        </a:spcAft>
                      </a:pPr>
                      <a:r>
                        <a:rPr lang="en-MY" sz="1400" dirty="0">
                          <a:effectLst/>
                          <a:latin typeface="Arial" panose="020B0604020202020204" pitchFamily="34" charset="0"/>
                          <a:ea typeface="Arial" panose="020B0604020202020204" pitchFamily="34" charset="0"/>
                        </a:rPr>
                        <a:t>• Strong CTO/CIO sponsorship ensuring executive alignment</a:t>
                      </a:r>
                    </a:p>
                    <a:p>
                      <a:pPr>
                        <a:spcAft>
                          <a:spcPts val="0"/>
                        </a:spcAft>
                      </a:pPr>
                      <a:r>
                        <a:rPr lang="en-MY" sz="1400" dirty="0">
                          <a:effectLst/>
                          <a:latin typeface="Arial" panose="020B0604020202020204" pitchFamily="34" charset="0"/>
                          <a:ea typeface="Arial" panose="020B0604020202020204" pitchFamily="34" charset="0"/>
                        </a:rPr>
                        <a:t>• Secured cloud partnerships with established vendors (AWS/Azure/GCP)</a:t>
                      </a:r>
                    </a:p>
                    <a:p>
                      <a:pPr>
                        <a:spcAft>
                          <a:spcPts val="0"/>
                        </a:spcAft>
                      </a:pPr>
                      <a:r>
                        <a:rPr lang="en-MY" sz="1400" dirty="0">
                          <a:effectLst/>
                          <a:latin typeface="Arial" panose="020B0604020202020204" pitchFamily="34" charset="0"/>
                          <a:ea typeface="Arial" panose="020B0604020202020204" pitchFamily="34" charset="0"/>
                        </a:rPr>
                        <a:t>• Existing regulatory compliance knowledge within the CCO team</a:t>
                      </a:r>
                    </a:p>
                    <a:p>
                      <a:pPr>
                        <a:spcAft>
                          <a:spcPts val="0"/>
                        </a:spcAft>
                      </a:pPr>
                      <a:r>
                        <a:rPr lang="en-MY" sz="1400" dirty="0">
                          <a:effectLst/>
                          <a:latin typeface="Arial" panose="020B0604020202020204" pitchFamily="34" charset="0"/>
                          <a:ea typeface="Arial" panose="020B0604020202020204" pitchFamily="34" charset="0"/>
                        </a:rPr>
                        <a:t>• Active stakeholder engagement across all business units</a:t>
                      </a:r>
                    </a:p>
                  </a:txBody>
                  <a:tcPr marL="95250" marR="95250" marT="63500" marB="635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AF7EF"/>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 Legacy system integration risk with </a:t>
                      </a:r>
                      <a:r>
                        <a:rPr lang="en-MY" sz="1400" dirty="0" err="1">
                          <a:effectLst/>
                          <a:latin typeface="Arial" panose="020B0604020202020204" pitchFamily="34" charset="0"/>
                          <a:ea typeface="Arial" panose="020B0604020202020204" pitchFamily="34" charset="0"/>
                        </a:rPr>
                        <a:t>siloed</a:t>
                      </a:r>
                      <a:r>
                        <a:rPr lang="en-MY" sz="1400" dirty="0">
                          <a:effectLst/>
                          <a:latin typeface="Arial" panose="020B0604020202020204" pitchFamily="34" charset="0"/>
                          <a:ea typeface="Arial" panose="020B0604020202020204" pitchFamily="34" charset="0"/>
                        </a:rPr>
                        <a:t> databases</a:t>
                      </a:r>
                    </a:p>
                    <a:p>
                      <a:pPr>
                        <a:spcAft>
                          <a:spcPts val="0"/>
                        </a:spcAft>
                      </a:pPr>
                      <a:r>
                        <a:rPr lang="en-MY" sz="1400" dirty="0">
                          <a:effectLst/>
                          <a:latin typeface="Arial" panose="020B0604020202020204" pitchFamily="34" charset="0"/>
                          <a:ea typeface="Arial" panose="020B0604020202020204" pitchFamily="34" charset="0"/>
                        </a:rPr>
                        <a:t>• Skill silos across teams — limited cross-functional cloud expertise</a:t>
                      </a:r>
                    </a:p>
                    <a:p>
                      <a:pPr>
                        <a:spcAft>
                          <a:spcPts val="0"/>
                        </a:spcAft>
                      </a:pPr>
                      <a:r>
                        <a:rPr lang="en-MY" sz="1400" dirty="0">
                          <a:effectLst/>
                          <a:latin typeface="Arial" panose="020B0604020202020204" pitchFamily="34" charset="0"/>
                          <a:ea typeface="Arial" panose="020B0604020202020204" pitchFamily="34" charset="0"/>
                        </a:rPr>
                        <a:t>• Compliance complexity across KYC, AML, PCI-DSS, and GDPR simultaneously</a:t>
                      </a:r>
                    </a:p>
                    <a:p>
                      <a:pPr>
                        <a:spcAft>
                          <a:spcPts val="0"/>
                        </a:spcAft>
                      </a:pPr>
                      <a:r>
                        <a:rPr lang="en-MY" sz="1400" dirty="0">
                          <a:effectLst/>
                          <a:latin typeface="Arial" panose="020B0604020202020204" pitchFamily="34" charset="0"/>
                          <a:ea typeface="Arial" panose="020B0604020202020204" pitchFamily="34" charset="0"/>
                        </a:rPr>
                        <a:t>• Batch-processing architecture causing real-time data gaps</a:t>
                      </a:r>
                    </a:p>
                    <a:p>
                      <a:pPr>
                        <a:spcAft>
                          <a:spcPts val="0"/>
                        </a:spcAft>
                      </a:pPr>
                      <a:r>
                        <a:rPr lang="en-MY" sz="1400" dirty="0">
                          <a:effectLst/>
                          <a:latin typeface="Arial" panose="020B0604020202020204" pitchFamily="34" charset="0"/>
                          <a:ea typeface="Arial" panose="020B0604020202020204" pitchFamily="34" charset="0"/>
                        </a:rPr>
                        <a:t>• Potential resource constraints during peak business periods</a:t>
                      </a:r>
                    </a:p>
                  </a:txBody>
                  <a:tcPr marL="95250" marR="95250" marT="63500" marB="635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DEDEC"/>
                    </a:solidFill>
                  </a:tcPr>
                </a:tc>
                <a:extLst>
                  <a:ext uri="{0D108BD9-81ED-4DB2-BD59-A6C34878D82A}">
                    <a16:rowId xmlns:a16="http://schemas.microsoft.com/office/drawing/2014/main" val="1578881397"/>
                  </a:ext>
                </a:extLst>
              </a:tr>
              <a:tr h="544447">
                <a:tc>
                  <a:txBody>
                    <a:bodyPr/>
                    <a:lstStyle/>
                    <a:p>
                      <a:pPr algn="ctr">
                        <a:spcAft>
                          <a:spcPts val="0"/>
                        </a:spcAft>
                      </a:pPr>
                      <a:r>
                        <a:rPr lang="en-MY" sz="1300" b="1">
                          <a:solidFill>
                            <a:srgbClr val="FFFFFF"/>
                          </a:solidFill>
                          <a:effectLst/>
                          <a:latin typeface="Arial" panose="020B0604020202020204" pitchFamily="34" charset="0"/>
                          <a:ea typeface="Arial" panose="020B0604020202020204" pitchFamily="34" charset="0"/>
                        </a:rPr>
                        <a:t>OPPORTUNITIES</a:t>
                      </a:r>
                      <a:endParaRPr lang="en-MY" sz="1100">
                        <a:effectLst/>
                        <a:latin typeface="Arial" panose="020B0604020202020204" pitchFamily="34" charset="0"/>
                        <a:ea typeface="Arial" panose="020B0604020202020204" pitchFamily="34" charset="0"/>
                      </a:endParaRPr>
                    </a:p>
                  </a:txBody>
                  <a:tcPr marL="95250" marR="95250" marT="63500" marB="635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5276"/>
                    </a:solidFill>
                  </a:tcPr>
                </a:tc>
                <a:tc>
                  <a:txBody>
                    <a:bodyPr/>
                    <a:lstStyle/>
                    <a:p>
                      <a:pPr algn="ctr">
                        <a:spcAft>
                          <a:spcPts val="0"/>
                        </a:spcAft>
                      </a:pPr>
                      <a:r>
                        <a:rPr lang="en-MY" sz="1300" b="1" dirty="0">
                          <a:solidFill>
                            <a:srgbClr val="FFFFFF"/>
                          </a:solidFill>
                          <a:effectLst/>
                          <a:latin typeface="Arial" panose="020B0604020202020204" pitchFamily="34" charset="0"/>
                          <a:ea typeface="Arial" panose="020B0604020202020204" pitchFamily="34" charset="0"/>
                        </a:rPr>
                        <a:t>THREATS</a:t>
                      </a:r>
                      <a:endParaRPr lang="en-MY" sz="1100" dirty="0">
                        <a:effectLst/>
                        <a:latin typeface="Arial" panose="020B0604020202020204" pitchFamily="34" charset="0"/>
                        <a:ea typeface="Arial" panose="020B0604020202020204" pitchFamily="34" charset="0"/>
                      </a:endParaRPr>
                    </a:p>
                  </a:txBody>
                  <a:tcPr marL="95250" marR="95250" marT="63500" marB="635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84212"/>
                    </a:solidFill>
                  </a:tcPr>
                </a:tc>
                <a:extLst>
                  <a:ext uri="{0D108BD9-81ED-4DB2-BD59-A6C34878D82A}">
                    <a16:rowId xmlns:a16="http://schemas.microsoft.com/office/drawing/2014/main" val="1008415594"/>
                  </a:ext>
                </a:extLst>
              </a:tr>
              <a:tr h="1616327">
                <a:tc>
                  <a:txBody>
                    <a:bodyPr/>
                    <a:lstStyle/>
                    <a:p>
                      <a:pPr>
                        <a:spcAft>
                          <a:spcPts val="0"/>
                        </a:spcAft>
                      </a:pPr>
                      <a:r>
                        <a:rPr lang="en-MY" sz="1400" dirty="0">
                          <a:effectLst/>
                          <a:latin typeface="Arial" panose="020B0604020202020204" pitchFamily="34" charset="0"/>
                          <a:ea typeface="Arial" panose="020B0604020202020204" pitchFamily="34" charset="0"/>
                        </a:rPr>
                        <a:t>• Real-time banking capabilities to improve customer experience and NPS</a:t>
                      </a:r>
                    </a:p>
                    <a:p>
                      <a:pPr>
                        <a:spcAft>
                          <a:spcPts val="0"/>
                        </a:spcAft>
                      </a:pPr>
                      <a:r>
                        <a:rPr lang="en-MY" sz="1400" dirty="0">
                          <a:effectLst/>
                          <a:latin typeface="Arial" panose="020B0604020202020204" pitchFamily="34" charset="0"/>
                          <a:ea typeface="Arial" panose="020B0604020202020204" pitchFamily="34" charset="0"/>
                        </a:rPr>
                        <a:t>• Advanced fraud detection using AI/ML to reduce fraud losses</a:t>
                      </a:r>
                    </a:p>
                    <a:p>
                      <a:pPr>
                        <a:spcAft>
                          <a:spcPts val="0"/>
                        </a:spcAft>
                      </a:pPr>
                      <a:r>
                        <a:rPr lang="en-MY" sz="1400" dirty="0">
                          <a:effectLst/>
                          <a:latin typeface="Arial" panose="020B0604020202020204" pitchFamily="34" charset="0"/>
                          <a:ea typeface="Arial" panose="020B0604020202020204" pitchFamily="34" charset="0"/>
                        </a:rPr>
                        <a:t>• Regulatory technology (</a:t>
                      </a:r>
                      <a:r>
                        <a:rPr lang="en-MY" sz="1400" dirty="0" err="1">
                          <a:effectLst/>
                          <a:latin typeface="Arial" panose="020B0604020202020204" pitchFamily="34" charset="0"/>
                          <a:ea typeface="Arial" panose="020B0604020202020204" pitchFamily="34" charset="0"/>
                        </a:rPr>
                        <a:t>regtech</a:t>
                      </a:r>
                      <a:r>
                        <a:rPr lang="en-MY" sz="1400" dirty="0">
                          <a:effectLst/>
                          <a:latin typeface="Arial" panose="020B0604020202020204" pitchFamily="34" charset="0"/>
                          <a:ea typeface="Arial" panose="020B0604020202020204" pitchFamily="34" charset="0"/>
                        </a:rPr>
                        <a:t>) adoption to streamline compliance reporting</a:t>
                      </a:r>
                    </a:p>
                    <a:p>
                      <a:pPr>
                        <a:spcAft>
                          <a:spcPts val="0"/>
                        </a:spcAft>
                      </a:pPr>
                      <a:r>
                        <a:rPr lang="en-MY" sz="1400" dirty="0">
                          <a:effectLst/>
                          <a:latin typeface="Arial" panose="020B0604020202020204" pitchFamily="34" charset="0"/>
                          <a:ea typeface="Arial" panose="020B0604020202020204" pitchFamily="34" charset="0"/>
                        </a:rPr>
                        <a:t>• Competitive differentiation through faster </a:t>
                      </a:r>
                      <a:r>
                        <a:rPr lang="en-MY" sz="1400" dirty="0" err="1">
                          <a:effectLst/>
                          <a:latin typeface="Arial" panose="020B0604020202020204" pitchFamily="34" charset="0"/>
                          <a:ea typeface="Arial" panose="020B0604020202020204" pitchFamily="34" charset="0"/>
                        </a:rPr>
                        <a:t>onboarding</a:t>
                      </a:r>
                      <a:r>
                        <a:rPr lang="en-MY" sz="1400" dirty="0">
                          <a:effectLst/>
                          <a:latin typeface="Arial" panose="020B0604020202020204" pitchFamily="34" charset="0"/>
                          <a:ea typeface="Arial" panose="020B0604020202020204" pitchFamily="34" charset="0"/>
                        </a:rPr>
                        <a:t> and loan processing</a:t>
                      </a:r>
                    </a:p>
                    <a:p>
                      <a:pPr>
                        <a:spcAft>
                          <a:spcPts val="0"/>
                        </a:spcAft>
                      </a:pPr>
                      <a:r>
                        <a:rPr lang="en-MY" sz="1400" dirty="0">
                          <a:effectLst/>
                          <a:latin typeface="Arial" panose="020B0604020202020204" pitchFamily="34" charset="0"/>
                          <a:ea typeface="Arial" panose="020B0604020202020204" pitchFamily="34" charset="0"/>
                        </a:rPr>
                        <a:t>• Data-driven decision-making via centralized analytics dashboards</a:t>
                      </a:r>
                    </a:p>
                  </a:txBody>
                  <a:tcPr marL="95250" marR="95250" marT="63500" marB="635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BF5FB"/>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 Third-party API dependencies creating SLA and integration risks</a:t>
                      </a:r>
                    </a:p>
                    <a:p>
                      <a:pPr>
                        <a:spcAft>
                          <a:spcPts val="0"/>
                        </a:spcAft>
                      </a:pPr>
                      <a:r>
                        <a:rPr lang="en-MY" sz="1400" dirty="0">
                          <a:effectLst/>
                          <a:latin typeface="Arial" panose="020B0604020202020204" pitchFamily="34" charset="0"/>
                          <a:ea typeface="Arial" panose="020B0604020202020204" pitchFamily="34" charset="0"/>
                        </a:rPr>
                        <a:t>• Fintech competition offering faster digital banking alternatives</a:t>
                      </a:r>
                    </a:p>
                    <a:p>
                      <a:pPr>
                        <a:spcAft>
                          <a:spcPts val="0"/>
                        </a:spcAft>
                      </a:pPr>
                      <a:r>
                        <a:rPr lang="en-MY" sz="1400" dirty="0">
                          <a:effectLst/>
                          <a:latin typeface="Arial" panose="020B0604020202020204" pitchFamily="34" charset="0"/>
                          <a:ea typeface="Arial" panose="020B0604020202020204" pitchFamily="34" charset="0"/>
                        </a:rPr>
                        <a:t>• Audit </a:t>
                      </a:r>
                      <a:r>
                        <a:rPr lang="en-MY" sz="1400" dirty="0" err="1">
                          <a:effectLst/>
                          <a:latin typeface="Arial" panose="020B0604020202020204" pitchFamily="34" charset="0"/>
                          <a:ea typeface="Arial" panose="020B0604020202020204" pitchFamily="34" charset="0"/>
                        </a:rPr>
                        <a:t>nonconformance</a:t>
                      </a:r>
                      <a:r>
                        <a:rPr lang="en-MY" sz="1400" dirty="0">
                          <a:effectLst/>
                          <a:latin typeface="Arial" panose="020B0604020202020204" pitchFamily="34" charset="0"/>
                          <a:ea typeface="Arial" panose="020B0604020202020204" pitchFamily="34" charset="0"/>
                        </a:rPr>
                        <a:t> risk during active system transition phases</a:t>
                      </a:r>
                    </a:p>
                    <a:p>
                      <a:pPr>
                        <a:spcAft>
                          <a:spcPts val="0"/>
                        </a:spcAft>
                      </a:pPr>
                      <a:r>
                        <a:rPr lang="en-MY" sz="1400" dirty="0">
                          <a:effectLst/>
                          <a:latin typeface="Arial" panose="020B0604020202020204" pitchFamily="34" charset="0"/>
                          <a:ea typeface="Arial" panose="020B0604020202020204" pitchFamily="34" charset="0"/>
                        </a:rPr>
                        <a:t>• Cybersecurity threats during cloud migration windows</a:t>
                      </a:r>
                    </a:p>
                    <a:p>
                      <a:pPr>
                        <a:spcAft>
                          <a:spcPts val="0"/>
                        </a:spcAft>
                      </a:pPr>
                      <a:r>
                        <a:rPr lang="en-MY" sz="1400" dirty="0">
                          <a:effectLst/>
                          <a:latin typeface="Arial" panose="020B0604020202020204" pitchFamily="34" charset="0"/>
                          <a:ea typeface="Arial" panose="020B0604020202020204" pitchFamily="34" charset="0"/>
                        </a:rPr>
                        <a:t>• Regulatory mandate changes that could invalidate compliance designs</a:t>
                      </a:r>
                    </a:p>
                  </a:txBody>
                  <a:tcPr marL="95250" marR="95250" marT="63500" marB="635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EF9E7"/>
                    </a:solidFill>
                  </a:tcPr>
                </a:tc>
                <a:extLst>
                  <a:ext uri="{0D108BD9-81ED-4DB2-BD59-A6C34878D82A}">
                    <a16:rowId xmlns:a16="http://schemas.microsoft.com/office/drawing/2014/main" val="651219317"/>
                  </a:ext>
                </a:extLst>
              </a:tr>
            </a:tbl>
          </a:graphicData>
        </a:graphic>
      </p:graphicFrame>
    </p:spTree>
    <p:extLst>
      <p:ext uri="{BB962C8B-B14F-4D97-AF65-F5344CB8AC3E}">
        <p14:creationId xmlns:p14="http://schemas.microsoft.com/office/powerpoint/2010/main" val="83450757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F39B8-7AB2-EB91-4E48-1A7499F585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01CAF43-CF6B-6F56-6FBD-F59F16C982A4}"/>
              </a:ext>
            </a:extLst>
          </p:cNvPr>
          <p:cNvSpPr>
            <a:spLocks noGrp="1"/>
          </p:cNvSpPr>
          <p:nvPr>
            <p:ph type="title"/>
          </p:nvPr>
        </p:nvSpPr>
        <p:spPr>
          <a:xfrm>
            <a:off x="572756" y="133943"/>
            <a:ext cx="9813446" cy="850726"/>
          </a:xfrm>
        </p:spPr>
        <p:txBody>
          <a:bodyPr>
            <a:noAutofit/>
          </a:bodyPr>
          <a:lstStyle/>
          <a:p>
            <a:r>
              <a:rPr lang="en-US" sz="3200" dirty="0"/>
              <a:t>Project Planning and Risk Analysis</a:t>
            </a:r>
          </a:p>
        </p:txBody>
      </p:sp>
      <p:sp>
        <p:nvSpPr>
          <p:cNvPr id="8" name="Content Placeholder 4">
            <a:extLst>
              <a:ext uri="{FF2B5EF4-FFF2-40B4-BE49-F238E27FC236}">
                <a16:creationId xmlns:a16="http://schemas.microsoft.com/office/drawing/2014/main" id="{60CB1FF5-FBC0-D6B7-0DAA-BD6FE1419F58}"/>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Risk </a:t>
            </a:r>
            <a:r>
              <a:rPr lang="en-US" sz="2400" b="1" dirty="0" smtClean="0"/>
              <a:t>Register</a:t>
            </a:r>
          </a:p>
          <a:p>
            <a:pPr marL="0" indent="0">
              <a:buFont typeface="Arial" panose="020B0604020202020204" pitchFamily="34" charset="0"/>
              <a:buNone/>
            </a:pPr>
            <a:endParaRPr lang="en-US" sz="2400" b="1" dirty="0"/>
          </a:p>
        </p:txBody>
      </p:sp>
      <p:graphicFrame>
        <p:nvGraphicFramePr>
          <p:cNvPr id="3" name="Table 2"/>
          <p:cNvGraphicFramePr>
            <a:graphicFrameLocks noGrp="1"/>
          </p:cNvGraphicFramePr>
          <p:nvPr>
            <p:extLst>
              <p:ext uri="{D42A27DB-BD31-4B8C-83A1-F6EECF244321}">
                <p14:modId xmlns:p14="http://schemas.microsoft.com/office/powerpoint/2010/main" val="4099585711"/>
              </p:ext>
            </p:extLst>
          </p:nvPr>
        </p:nvGraphicFramePr>
        <p:xfrm>
          <a:off x="838199" y="1838632"/>
          <a:ext cx="10515602" cy="4424518"/>
        </p:xfrm>
        <a:graphic>
          <a:graphicData uri="http://schemas.openxmlformats.org/drawingml/2006/table">
            <a:tbl>
              <a:tblPr/>
              <a:tblGrid>
                <a:gridCol w="395919">
                  <a:extLst>
                    <a:ext uri="{9D8B030D-6E8A-4147-A177-3AD203B41FA5}">
                      <a16:colId xmlns:a16="http://schemas.microsoft.com/office/drawing/2014/main" val="4026204422"/>
                    </a:ext>
                  </a:extLst>
                </a:gridCol>
                <a:gridCol w="1045225">
                  <a:extLst>
                    <a:ext uri="{9D8B030D-6E8A-4147-A177-3AD203B41FA5}">
                      <a16:colId xmlns:a16="http://schemas.microsoft.com/office/drawing/2014/main" val="4285267065"/>
                    </a:ext>
                  </a:extLst>
                </a:gridCol>
                <a:gridCol w="570123">
                  <a:extLst>
                    <a:ext uri="{9D8B030D-6E8A-4147-A177-3AD203B41FA5}">
                      <a16:colId xmlns:a16="http://schemas.microsoft.com/office/drawing/2014/main" val="2129571283"/>
                    </a:ext>
                  </a:extLst>
                </a:gridCol>
                <a:gridCol w="1306532">
                  <a:extLst>
                    <a:ext uri="{9D8B030D-6E8A-4147-A177-3AD203B41FA5}">
                      <a16:colId xmlns:a16="http://schemas.microsoft.com/office/drawing/2014/main" val="3176782315"/>
                    </a:ext>
                  </a:extLst>
                </a:gridCol>
                <a:gridCol w="1306532">
                  <a:extLst>
                    <a:ext uri="{9D8B030D-6E8A-4147-A177-3AD203B41FA5}">
                      <a16:colId xmlns:a16="http://schemas.microsoft.com/office/drawing/2014/main" val="302236046"/>
                    </a:ext>
                  </a:extLst>
                </a:gridCol>
                <a:gridCol w="1393634">
                  <a:extLst>
                    <a:ext uri="{9D8B030D-6E8A-4147-A177-3AD203B41FA5}">
                      <a16:colId xmlns:a16="http://schemas.microsoft.com/office/drawing/2014/main" val="222065383"/>
                    </a:ext>
                  </a:extLst>
                </a:gridCol>
                <a:gridCol w="570123">
                  <a:extLst>
                    <a:ext uri="{9D8B030D-6E8A-4147-A177-3AD203B41FA5}">
                      <a16:colId xmlns:a16="http://schemas.microsoft.com/office/drawing/2014/main" val="3684784825"/>
                    </a:ext>
                  </a:extLst>
                </a:gridCol>
                <a:gridCol w="522613">
                  <a:extLst>
                    <a:ext uri="{9D8B030D-6E8A-4147-A177-3AD203B41FA5}">
                      <a16:colId xmlns:a16="http://schemas.microsoft.com/office/drawing/2014/main" val="1005368211"/>
                    </a:ext>
                  </a:extLst>
                </a:gridCol>
                <a:gridCol w="570123">
                  <a:extLst>
                    <a:ext uri="{9D8B030D-6E8A-4147-A177-3AD203B41FA5}">
                      <a16:colId xmlns:a16="http://schemas.microsoft.com/office/drawing/2014/main" val="599190156"/>
                    </a:ext>
                  </a:extLst>
                </a:gridCol>
                <a:gridCol w="1306532">
                  <a:extLst>
                    <a:ext uri="{9D8B030D-6E8A-4147-A177-3AD203B41FA5}">
                      <a16:colId xmlns:a16="http://schemas.microsoft.com/office/drawing/2014/main" val="4268913069"/>
                    </a:ext>
                  </a:extLst>
                </a:gridCol>
                <a:gridCol w="1528246">
                  <a:extLst>
                    <a:ext uri="{9D8B030D-6E8A-4147-A177-3AD203B41FA5}">
                      <a16:colId xmlns:a16="http://schemas.microsoft.com/office/drawing/2014/main" val="1017297954"/>
                    </a:ext>
                  </a:extLst>
                </a:gridCol>
              </a:tblGrid>
              <a:tr h="504058">
                <a:tc>
                  <a:txBody>
                    <a:bodyPr/>
                    <a:lstStyle/>
                    <a:p>
                      <a:pPr algn="ctr" fontAlgn="ctr"/>
                      <a:r>
                        <a:rPr lang="en-MY" sz="800" b="1" i="0" u="none" strike="noStrike" dirty="0">
                          <a:solidFill>
                            <a:srgbClr val="FFFFFF"/>
                          </a:solidFill>
                          <a:effectLst/>
                          <a:latin typeface="Arial" panose="020B0604020202020204" pitchFamily="34" charset="0"/>
                        </a:rPr>
                        <a:t>Risk</a:t>
                      </a:r>
                      <a:br>
                        <a:rPr lang="en-MY" sz="800" b="1" i="0" u="none" strike="noStrike" dirty="0">
                          <a:solidFill>
                            <a:srgbClr val="FFFFFF"/>
                          </a:solidFill>
                          <a:effectLst/>
                          <a:latin typeface="Arial" panose="020B0604020202020204" pitchFamily="34" charset="0"/>
                        </a:rPr>
                      </a:br>
                      <a:r>
                        <a:rPr lang="en-MY" sz="800" b="1" i="0" u="none" strike="noStrike" dirty="0">
                          <a:solidFill>
                            <a:srgbClr val="FFFFFF"/>
                          </a:solidFill>
                          <a:effectLst/>
                          <a:latin typeface="Arial" panose="020B0604020202020204" pitchFamily="34" charset="0"/>
                        </a:rPr>
                        <a:t>ID</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dirty="0">
                          <a:solidFill>
                            <a:srgbClr val="FFFFFF"/>
                          </a:solidFill>
                          <a:effectLst/>
                          <a:latin typeface="Arial" panose="020B0604020202020204" pitchFamily="34" charset="0"/>
                        </a:rPr>
                        <a:t>Risk Title</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dirty="0">
                          <a:solidFill>
                            <a:srgbClr val="FFFFFF"/>
                          </a:solidFill>
                          <a:effectLst/>
                          <a:latin typeface="Arial" panose="020B0604020202020204" pitchFamily="34" charset="0"/>
                        </a:rPr>
                        <a:t>Category</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dirty="0">
                          <a:solidFill>
                            <a:srgbClr val="FFFFFF"/>
                          </a:solidFill>
                          <a:effectLst/>
                          <a:latin typeface="Arial" panose="020B0604020202020204" pitchFamily="34" charset="0"/>
                        </a:rPr>
                        <a:t>Cause</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Event</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Impact Description</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Probability</a:t>
                      </a:r>
                      <a:br>
                        <a:rPr lang="en-MY" sz="800" b="1" i="0" u="none" strike="noStrike">
                          <a:solidFill>
                            <a:srgbClr val="FFFFFF"/>
                          </a:solidFill>
                          <a:effectLst/>
                          <a:latin typeface="Arial" panose="020B0604020202020204" pitchFamily="34" charset="0"/>
                        </a:rPr>
                      </a:br>
                      <a:r>
                        <a:rPr lang="en-MY" sz="800" b="1" i="0" u="none" strike="noStrike">
                          <a:solidFill>
                            <a:srgbClr val="FFFFFF"/>
                          </a:solidFill>
                          <a:effectLst/>
                          <a:latin typeface="Arial" panose="020B0604020202020204" pitchFamily="34" charset="0"/>
                        </a:rPr>
                        <a:t>(1–5)</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Impact</a:t>
                      </a:r>
                      <a:br>
                        <a:rPr lang="en-MY" sz="800" b="1" i="0" u="none" strike="noStrike">
                          <a:solidFill>
                            <a:srgbClr val="FFFFFF"/>
                          </a:solidFill>
                          <a:effectLst/>
                          <a:latin typeface="Arial" panose="020B0604020202020204" pitchFamily="34" charset="0"/>
                        </a:rPr>
                      </a:br>
                      <a:r>
                        <a:rPr lang="en-MY" sz="800" b="1" i="0" u="none" strike="noStrike">
                          <a:solidFill>
                            <a:srgbClr val="FFFFFF"/>
                          </a:solidFill>
                          <a:effectLst/>
                          <a:latin typeface="Arial" panose="020B0604020202020204" pitchFamily="34" charset="0"/>
                        </a:rPr>
                        <a:t>(1–5)</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Risk Score</a:t>
                      </a:r>
                      <a:br>
                        <a:rPr lang="en-MY" sz="800" b="1" i="0" u="none" strike="noStrike">
                          <a:solidFill>
                            <a:srgbClr val="FFFFFF"/>
                          </a:solidFill>
                          <a:effectLst/>
                          <a:latin typeface="Arial" panose="020B0604020202020204" pitchFamily="34" charset="0"/>
                        </a:rPr>
                      </a:br>
                      <a:r>
                        <a:rPr lang="en-MY" sz="800" b="1" i="0" u="none" strike="noStrike">
                          <a:solidFill>
                            <a:srgbClr val="FFFFFF"/>
                          </a:solidFill>
                          <a:effectLst/>
                          <a:latin typeface="Arial" panose="020B0604020202020204" pitchFamily="34" charset="0"/>
                        </a:rPr>
                        <a:t>(P × I)</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Trigger / Early Warning Sign</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800" b="1" i="0" u="none" strike="noStrike">
                          <a:solidFill>
                            <a:srgbClr val="FFFFFF"/>
                          </a:solidFill>
                          <a:effectLst/>
                          <a:latin typeface="Arial" panose="020B0604020202020204" pitchFamily="34" charset="0"/>
                        </a:rPr>
                        <a:t>Response Strategy</a:t>
                      </a:r>
                    </a:p>
                  </a:txBody>
                  <a:tcPr marL="3959" marR="3959" marT="3959"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extLst>
                  <a:ext uri="{0D108BD9-81ED-4DB2-BD59-A6C34878D82A}">
                    <a16:rowId xmlns:a16="http://schemas.microsoft.com/office/drawing/2014/main" val="313556196"/>
                  </a:ext>
                </a:extLst>
              </a:tr>
              <a:tr h="980115">
                <a:tc>
                  <a:txBody>
                    <a:bodyPr/>
                    <a:lstStyle/>
                    <a:p>
                      <a:pPr algn="ctr" fontAlgn="t"/>
                      <a:r>
                        <a:rPr lang="en-MY" sz="800" b="0" i="0" u="none" strike="noStrike">
                          <a:solidFill>
                            <a:srgbClr val="000000"/>
                          </a:solidFill>
                          <a:effectLst/>
                          <a:latin typeface="Arial" panose="020B0604020202020204" pitchFamily="34" charset="0"/>
                        </a:rPr>
                        <a:t>R1</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MY" sz="800" b="0" i="0" u="none" strike="noStrike">
                          <a:solidFill>
                            <a:srgbClr val="000000"/>
                          </a:solidFill>
                          <a:effectLst/>
                          <a:latin typeface="Arial" panose="020B0604020202020204" pitchFamily="34" charset="0"/>
                        </a:rPr>
                        <a:t>KYC API SLA Violation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1" i="0" u="none" strike="noStrike">
                          <a:solidFill>
                            <a:srgbClr val="FFFFFF"/>
                          </a:solidFill>
                          <a:effectLst/>
                          <a:latin typeface="Arial" panose="020B0604020202020204" pitchFamily="34" charset="0"/>
                        </a:rPr>
                        <a:t>Threat</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980B9"/>
                    </a:solidFill>
                  </a:tcPr>
                </a:tc>
                <a:tc>
                  <a:txBody>
                    <a:bodyPr/>
                    <a:lstStyle/>
                    <a:p>
                      <a:pPr algn="l" fontAlgn="t"/>
                      <a:r>
                        <a:rPr lang="en-US" sz="800" b="0" i="0" u="none" strike="noStrike" dirty="0">
                          <a:solidFill>
                            <a:srgbClr val="000000"/>
                          </a:solidFill>
                          <a:effectLst/>
                          <a:latin typeface="Arial" panose="020B0604020202020204" pitchFamily="34" charset="0"/>
                        </a:rPr>
                        <a:t>Third-party provider latency or service downtime</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dirty="0">
                          <a:solidFill>
                            <a:srgbClr val="000000"/>
                          </a:solidFill>
                          <a:effectLst/>
                          <a:latin typeface="Arial" panose="020B0604020202020204" pitchFamily="34" charset="0"/>
                        </a:rPr>
                        <a:t>Delay in customer onboarding and account activation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dirty="0">
                          <a:solidFill>
                            <a:srgbClr val="000000"/>
                          </a:solidFill>
                          <a:effectLst/>
                          <a:latin typeface="Arial" panose="020B0604020202020204" pitchFamily="34" charset="0"/>
                        </a:rPr>
                        <a:t>Compliance risk, reputational damage, customer churn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dirty="0">
                          <a:solidFill>
                            <a:srgbClr val="000000"/>
                          </a:solidFill>
                          <a:effectLst/>
                          <a:latin typeface="Arial" panose="020B0604020202020204" pitchFamily="34" charset="0"/>
                        </a:rPr>
                        <a:t>4</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a:solidFill>
                            <a:srgbClr val="000000"/>
                          </a:solidFill>
                          <a:effectLst/>
                          <a:latin typeface="Arial" panose="020B0604020202020204" pitchFamily="34" charset="0"/>
                        </a:rPr>
                        <a:t>5</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900" b="1" i="0" u="none" strike="noStrike">
                          <a:solidFill>
                            <a:srgbClr val="FFFFFF"/>
                          </a:solidFill>
                          <a:effectLst/>
                          <a:latin typeface="Arial" panose="020B0604020202020204" pitchFamily="34" charset="0"/>
                        </a:rPr>
                        <a:t>20</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l" fontAlgn="t"/>
                      <a:r>
                        <a:rPr lang="en-US" sz="800" b="0" i="0" u="none" strike="noStrike">
                          <a:solidFill>
                            <a:srgbClr val="000000"/>
                          </a:solidFill>
                          <a:effectLst/>
                          <a:latin typeface="Arial" panose="020B0604020202020204" pitchFamily="34" charset="0"/>
                        </a:rPr>
                        <a:t>Missed onboarding logs or delayed provider API response beyond SLA threshold</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Implement provider SLA monitoring with automated escalation matrix; establish fallback identity verification provider</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extLst>
                  <a:ext uri="{0D108BD9-81ED-4DB2-BD59-A6C34878D82A}">
                    <a16:rowId xmlns:a16="http://schemas.microsoft.com/office/drawing/2014/main" val="3642196017"/>
                  </a:ext>
                </a:extLst>
              </a:tr>
              <a:tr h="980115">
                <a:tc>
                  <a:txBody>
                    <a:bodyPr/>
                    <a:lstStyle/>
                    <a:p>
                      <a:pPr algn="ctr" fontAlgn="t"/>
                      <a:r>
                        <a:rPr lang="en-MY" sz="800" b="0" i="0" u="none" strike="noStrike">
                          <a:solidFill>
                            <a:srgbClr val="000000"/>
                          </a:solidFill>
                          <a:effectLst/>
                          <a:latin typeface="Arial" panose="020B0604020202020204" pitchFamily="34" charset="0"/>
                        </a:rPr>
                        <a:t>R2</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MY" sz="800" b="0" i="0" u="none" strike="noStrike">
                          <a:solidFill>
                            <a:srgbClr val="000000"/>
                          </a:solidFill>
                          <a:effectLst/>
                          <a:latin typeface="Arial" panose="020B0604020202020204" pitchFamily="34" charset="0"/>
                        </a:rPr>
                        <a:t>Legacy System Integration Failure</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1" i="0" u="none" strike="noStrike">
                          <a:solidFill>
                            <a:srgbClr val="FFFFFF"/>
                          </a:solidFill>
                          <a:effectLst/>
                          <a:latin typeface="Arial" panose="020B0604020202020204" pitchFamily="34" charset="0"/>
                        </a:rPr>
                        <a:t>Threat</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980B9"/>
                    </a:solidFill>
                  </a:tcPr>
                </a:tc>
                <a:tc>
                  <a:txBody>
                    <a:bodyPr/>
                    <a:lstStyle/>
                    <a:p>
                      <a:pPr algn="l" fontAlgn="t"/>
                      <a:r>
                        <a:rPr lang="en-US" sz="800" b="0" i="0" u="none" strike="noStrike">
                          <a:solidFill>
                            <a:srgbClr val="000000"/>
                          </a:solidFill>
                          <a:effectLst/>
                          <a:latin typeface="Arial" panose="020B0604020202020204" pitchFamily="34" charset="0"/>
                        </a:rPr>
                        <a:t>Outdated APIs and schema mismatches between legacy and modern systems</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Transactional errors, data inconsistency, or data loss during migration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Project delay, rollback required, additional cost, potential compliance exposure</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dirty="0">
                          <a:solidFill>
                            <a:srgbClr val="000000"/>
                          </a:solidFill>
                          <a:effectLst/>
                          <a:latin typeface="Arial" panose="020B0604020202020204" pitchFamily="34" charset="0"/>
                        </a:rPr>
                        <a:t>4</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dirty="0">
                          <a:solidFill>
                            <a:srgbClr val="000000"/>
                          </a:solidFill>
                          <a:effectLst/>
                          <a:latin typeface="Arial" panose="020B0604020202020204" pitchFamily="34" charset="0"/>
                        </a:rPr>
                        <a:t>4</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900" b="1" i="0" u="none" strike="noStrike" dirty="0">
                          <a:solidFill>
                            <a:srgbClr val="FFFFFF"/>
                          </a:solidFill>
                          <a:effectLst/>
                          <a:latin typeface="Arial" panose="020B0604020202020204" pitchFamily="34" charset="0"/>
                        </a:rPr>
                        <a:t>16</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l" fontAlgn="t"/>
                      <a:r>
                        <a:rPr lang="en-US" sz="800" b="0" i="0" u="none" strike="noStrike">
                          <a:solidFill>
                            <a:srgbClr val="000000"/>
                          </a:solidFill>
                          <a:effectLst/>
                          <a:latin typeface="Arial" panose="020B0604020202020204" pitchFamily="34" charset="0"/>
                        </a:rPr>
                        <a:t>Failed data validation checks between legacy and modern system environments</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Conduct sandbox integration tests and version control audits; enforce phased cutover with parallel-run validation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extLst>
                  <a:ext uri="{0D108BD9-81ED-4DB2-BD59-A6C34878D82A}">
                    <a16:rowId xmlns:a16="http://schemas.microsoft.com/office/drawing/2014/main" val="3220546577"/>
                  </a:ext>
                </a:extLst>
              </a:tr>
              <a:tr h="980115">
                <a:tc>
                  <a:txBody>
                    <a:bodyPr/>
                    <a:lstStyle/>
                    <a:p>
                      <a:pPr algn="ctr" fontAlgn="t"/>
                      <a:r>
                        <a:rPr lang="en-MY" sz="800" b="0" i="0" u="none" strike="noStrike">
                          <a:solidFill>
                            <a:srgbClr val="000000"/>
                          </a:solidFill>
                          <a:effectLst/>
                          <a:latin typeface="Arial" panose="020B0604020202020204" pitchFamily="34" charset="0"/>
                        </a:rPr>
                        <a:t>R3</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MY" sz="800" b="0" i="0" u="none" strike="noStrike">
                          <a:solidFill>
                            <a:srgbClr val="000000"/>
                          </a:solidFill>
                          <a:effectLst/>
                          <a:latin typeface="Arial" panose="020B0604020202020204" pitchFamily="34" charset="0"/>
                        </a:rPr>
                        <a:t>CI/CD Pipeline Breakdown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1" i="0" u="none" strike="noStrike">
                          <a:solidFill>
                            <a:srgbClr val="FFFFFF"/>
                          </a:solidFill>
                          <a:effectLst/>
                          <a:latin typeface="Arial" panose="020B0604020202020204" pitchFamily="34" charset="0"/>
                        </a:rPr>
                        <a:t>Threat</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980B9"/>
                    </a:solidFill>
                  </a:tcPr>
                </a:tc>
                <a:tc>
                  <a:txBody>
                    <a:bodyPr/>
                    <a:lstStyle/>
                    <a:p>
                      <a:pPr algn="l" fontAlgn="t"/>
                      <a:r>
                        <a:rPr lang="en-US" sz="800" b="0" i="0" u="none" strike="noStrike">
                          <a:solidFill>
                            <a:srgbClr val="000000"/>
                          </a:solidFill>
                          <a:effectLst/>
                          <a:latin typeface="Arial" panose="020B0604020202020204" pitchFamily="34" charset="0"/>
                        </a:rPr>
                        <a:t>Inadequate rollback automation or pipeline misconfiguration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dirty="0">
                          <a:solidFill>
                            <a:srgbClr val="000000"/>
                          </a:solidFill>
                          <a:effectLst/>
                          <a:latin typeface="Arial" panose="020B0604020202020204" pitchFamily="34" charset="0"/>
                        </a:rPr>
                        <a:t>Deployment failure causing production outage or failed sprint releases</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System downtime, failed sprint releases, SLA breach on 99.9% uptime commitment</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a:solidFill>
                            <a:srgbClr val="000000"/>
                          </a:solidFill>
                          <a:effectLst/>
                          <a:latin typeface="Arial" panose="020B0604020202020204" pitchFamily="34" charset="0"/>
                        </a:rPr>
                        <a:t>3</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800" b="0" i="0" u="none" strike="noStrike">
                          <a:solidFill>
                            <a:srgbClr val="000000"/>
                          </a:solidFill>
                          <a:effectLst/>
                          <a:latin typeface="Arial" panose="020B0604020202020204" pitchFamily="34" charset="0"/>
                        </a:rPr>
                        <a:t>3</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ctr" fontAlgn="t"/>
                      <a:r>
                        <a:rPr lang="en-MY" sz="900" b="1" i="0" u="none" strike="noStrike" dirty="0">
                          <a:solidFill>
                            <a:srgbClr val="FFFFFF"/>
                          </a:solidFill>
                          <a:effectLst/>
                          <a:latin typeface="Arial" panose="020B0604020202020204" pitchFamily="34" charset="0"/>
                        </a:rPr>
                        <a:t>9</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l" fontAlgn="t"/>
                      <a:r>
                        <a:rPr lang="en-US" sz="800" b="0" i="0" u="none" strike="noStrike" dirty="0">
                          <a:solidFill>
                            <a:srgbClr val="000000"/>
                          </a:solidFill>
                          <a:effectLst/>
                          <a:latin typeface="Arial" panose="020B0604020202020204" pitchFamily="34" charset="0"/>
                        </a:rPr>
                        <a:t>Build errors, test failures, or unresponsive staging environments detected during CI/CD run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tc>
                  <a:txBody>
                    <a:bodyPr/>
                    <a:lstStyle/>
                    <a:p>
                      <a:pPr algn="l" fontAlgn="t"/>
                      <a:r>
                        <a:rPr lang="en-US" sz="800" b="0" i="0" u="none" strike="noStrike">
                          <a:solidFill>
                            <a:srgbClr val="000000"/>
                          </a:solidFill>
                          <a:effectLst/>
                          <a:latin typeface="Arial" panose="020B0604020202020204" pitchFamily="34" charset="0"/>
                        </a:rPr>
                        <a:t>Enhance automated rollback scripts; add pre-deployment quality gates and canary deployment validation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DEBD0"/>
                    </a:solidFill>
                  </a:tcPr>
                </a:tc>
                <a:extLst>
                  <a:ext uri="{0D108BD9-81ED-4DB2-BD59-A6C34878D82A}">
                    <a16:rowId xmlns:a16="http://schemas.microsoft.com/office/drawing/2014/main" val="2860940452"/>
                  </a:ext>
                </a:extLst>
              </a:tr>
              <a:tr h="980115">
                <a:tc>
                  <a:txBody>
                    <a:bodyPr/>
                    <a:lstStyle/>
                    <a:p>
                      <a:pPr algn="ctr" fontAlgn="t"/>
                      <a:r>
                        <a:rPr lang="en-MY" sz="800" b="0" i="0" u="none" strike="noStrike">
                          <a:solidFill>
                            <a:srgbClr val="000000"/>
                          </a:solidFill>
                          <a:effectLst/>
                          <a:latin typeface="Arial" panose="020B0604020202020204" pitchFamily="34" charset="0"/>
                        </a:rPr>
                        <a:t>R4</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l" fontAlgn="t"/>
                      <a:r>
                        <a:rPr lang="en-MY" sz="800" b="0" i="0" u="none" strike="noStrike">
                          <a:solidFill>
                            <a:srgbClr val="000000"/>
                          </a:solidFill>
                          <a:effectLst/>
                          <a:latin typeface="Arial" panose="020B0604020202020204" pitchFamily="34" charset="0"/>
                        </a:rPr>
                        <a:t>Positive Stakeholder Adoption</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ctr" fontAlgn="t"/>
                      <a:r>
                        <a:rPr lang="en-MY" sz="800" b="1" i="0" u="none" strike="noStrike">
                          <a:solidFill>
                            <a:srgbClr val="FFFFFF"/>
                          </a:solidFill>
                          <a:effectLst/>
                          <a:latin typeface="Arial" panose="020B0604020202020204" pitchFamily="34" charset="0"/>
                        </a:rPr>
                        <a:t>Opportunity</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BC9C"/>
                    </a:solidFill>
                  </a:tcPr>
                </a:tc>
                <a:tc>
                  <a:txBody>
                    <a:bodyPr/>
                    <a:lstStyle/>
                    <a:p>
                      <a:pPr algn="l" fontAlgn="t"/>
                      <a:r>
                        <a:rPr lang="en-US" sz="800" b="0" i="0" u="none" strike="noStrike">
                          <a:solidFill>
                            <a:srgbClr val="000000"/>
                          </a:solidFill>
                          <a:effectLst/>
                          <a:latin typeface="Arial" panose="020B0604020202020204" pitchFamily="34" charset="0"/>
                        </a:rPr>
                        <a:t>Intuitive UX workflows, dashboards, and effective change management</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l" fontAlgn="t"/>
                      <a:r>
                        <a:rPr lang="en-US" sz="800" b="0" i="0" u="none" strike="noStrike">
                          <a:solidFill>
                            <a:srgbClr val="000000"/>
                          </a:solidFill>
                          <a:effectLst/>
                          <a:latin typeface="Arial" panose="020B0604020202020204" pitchFamily="34" charset="0"/>
                        </a:rPr>
                        <a:t>Increased staff and customer engagement with the new digital platform</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l" fontAlgn="t"/>
                      <a:r>
                        <a:rPr lang="en-US" sz="800" b="0" i="0" u="none" strike="noStrike">
                          <a:solidFill>
                            <a:srgbClr val="000000"/>
                          </a:solidFill>
                          <a:effectLst/>
                          <a:latin typeface="Arial" panose="020B0604020202020204" pitchFamily="34" charset="0"/>
                        </a:rPr>
                        <a:t>Accelerated feedback loops, smoother rollout, higher NPS, reduced training cycles</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ctr" fontAlgn="t"/>
                      <a:r>
                        <a:rPr lang="en-MY" sz="800" b="0" i="0" u="none" strike="noStrike">
                          <a:solidFill>
                            <a:srgbClr val="000000"/>
                          </a:solidFill>
                          <a:effectLst/>
                          <a:latin typeface="Arial" panose="020B0604020202020204" pitchFamily="34" charset="0"/>
                        </a:rPr>
                        <a:t>2</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ctr" fontAlgn="t"/>
                      <a:r>
                        <a:rPr lang="en-MY" sz="800" b="0" i="0" u="none" strike="noStrike">
                          <a:solidFill>
                            <a:srgbClr val="000000"/>
                          </a:solidFill>
                          <a:effectLst/>
                          <a:latin typeface="Arial" panose="020B0604020202020204" pitchFamily="34" charset="0"/>
                        </a:rPr>
                        <a:t>4</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ctr" fontAlgn="t"/>
                      <a:r>
                        <a:rPr lang="en-MY" sz="900" b="1" i="0" u="none" strike="noStrike">
                          <a:solidFill>
                            <a:srgbClr val="FFFFFF"/>
                          </a:solidFill>
                          <a:effectLst/>
                          <a:latin typeface="Arial" panose="020B0604020202020204" pitchFamily="34" charset="0"/>
                        </a:rPr>
                        <a:t>8</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7AE60"/>
                    </a:solidFill>
                  </a:tcPr>
                </a:tc>
                <a:tc>
                  <a:txBody>
                    <a:bodyPr/>
                    <a:lstStyle/>
                    <a:p>
                      <a:pPr algn="l" fontAlgn="t"/>
                      <a:r>
                        <a:rPr lang="en-US" sz="800" b="0" i="0" u="none" strike="noStrike" dirty="0">
                          <a:solidFill>
                            <a:srgbClr val="000000"/>
                          </a:solidFill>
                          <a:effectLst/>
                          <a:latin typeface="Arial" panose="020B0604020202020204" pitchFamily="34" charset="0"/>
                        </a:rPr>
                        <a:t>Early user feedback praising UX design and positive adoption metrics from sandbox testing</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tc>
                  <a:txBody>
                    <a:bodyPr/>
                    <a:lstStyle/>
                    <a:p>
                      <a:pPr algn="l" fontAlgn="t"/>
                      <a:r>
                        <a:rPr lang="en-US" sz="800" b="0" i="0" u="none" strike="noStrike" dirty="0">
                          <a:solidFill>
                            <a:srgbClr val="000000"/>
                          </a:solidFill>
                          <a:effectLst/>
                          <a:latin typeface="Arial" panose="020B0604020202020204" pitchFamily="34" charset="0"/>
                        </a:rPr>
                        <a:t>Highlight success stories internally; promote adoption features through champions </a:t>
                      </a:r>
                      <a:r>
                        <a:rPr lang="en-US" sz="800" b="0" i="0" u="none" strike="noStrike" dirty="0" err="1">
                          <a:solidFill>
                            <a:srgbClr val="000000"/>
                          </a:solidFill>
                          <a:effectLst/>
                          <a:latin typeface="Arial" panose="020B0604020202020204" pitchFamily="34" charset="0"/>
                        </a:rPr>
                        <a:t>programme</a:t>
                      </a:r>
                      <a:r>
                        <a:rPr lang="en-US" sz="800" b="0" i="0" u="none" strike="noStrike" dirty="0">
                          <a:solidFill>
                            <a:srgbClr val="000000"/>
                          </a:solidFill>
                          <a:effectLst/>
                          <a:latin typeface="Arial" panose="020B0604020202020204" pitchFamily="34" charset="0"/>
                        </a:rPr>
                        <a:t> and recognition of early adopters</a:t>
                      </a:r>
                    </a:p>
                  </a:txBody>
                  <a:tcPr marL="3959" marR="3959" marT="3959" marB="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5F5E3"/>
                    </a:solidFill>
                  </a:tcPr>
                </a:tc>
                <a:extLst>
                  <a:ext uri="{0D108BD9-81ED-4DB2-BD59-A6C34878D82A}">
                    <a16:rowId xmlns:a16="http://schemas.microsoft.com/office/drawing/2014/main" val="2883726386"/>
                  </a:ext>
                </a:extLst>
              </a:tr>
            </a:tbl>
          </a:graphicData>
        </a:graphic>
      </p:graphicFrame>
    </p:spTree>
    <p:extLst>
      <p:ext uri="{BB962C8B-B14F-4D97-AF65-F5344CB8AC3E}">
        <p14:creationId xmlns:p14="http://schemas.microsoft.com/office/powerpoint/2010/main" val="18099813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095BE-F368-F1CC-0F28-131C3BFAF3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FEF843-8AD6-985A-8C10-FB184AF9749B}"/>
              </a:ext>
            </a:extLst>
          </p:cNvPr>
          <p:cNvSpPr>
            <a:spLocks noGrp="1"/>
          </p:cNvSpPr>
          <p:nvPr>
            <p:ph type="title"/>
          </p:nvPr>
        </p:nvSpPr>
        <p:spPr>
          <a:xfrm>
            <a:off x="572756" y="133943"/>
            <a:ext cx="9813446" cy="850726"/>
          </a:xfrm>
        </p:spPr>
        <p:txBody>
          <a:bodyPr>
            <a:noAutofit/>
          </a:bodyPr>
          <a:lstStyle/>
          <a:p>
            <a:r>
              <a:rPr lang="en-US" sz="3200" dirty="0"/>
              <a:t>Project Planning and Risk Analysis</a:t>
            </a:r>
          </a:p>
        </p:txBody>
      </p:sp>
      <p:sp>
        <p:nvSpPr>
          <p:cNvPr id="8" name="Content Placeholder 4">
            <a:extLst>
              <a:ext uri="{FF2B5EF4-FFF2-40B4-BE49-F238E27FC236}">
                <a16:creationId xmlns:a16="http://schemas.microsoft.com/office/drawing/2014/main" id="{5461BD33-D8F8-4077-88C1-4380676CC1BC}"/>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Risk </a:t>
            </a:r>
            <a:r>
              <a:rPr lang="en-US" sz="2400" b="1" dirty="0" smtClean="0"/>
              <a:t>Matrix</a:t>
            </a:r>
          </a:p>
          <a:p>
            <a:pPr marL="0" indent="0">
              <a:buFont typeface="Arial" panose="020B0604020202020204" pitchFamily="34" charset="0"/>
              <a:buNone/>
            </a:pPr>
            <a:endParaRPr lang="en-US" sz="2400" b="1" dirty="0"/>
          </a:p>
        </p:txBody>
      </p:sp>
      <p:graphicFrame>
        <p:nvGraphicFramePr>
          <p:cNvPr id="3" name="Table 2"/>
          <p:cNvGraphicFramePr>
            <a:graphicFrameLocks noGrp="1"/>
          </p:cNvGraphicFramePr>
          <p:nvPr>
            <p:extLst>
              <p:ext uri="{D42A27DB-BD31-4B8C-83A1-F6EECF244321}">
                <p14:modId xmlns:p14="http://schemas.microsoft.com/office/powerpoint/2010/main" val="1523156572"/>
              </p:ext>
            </p:extLst>
          </p:nvPr>
        </p:nvGraphicFramePr>
        <p:xfrm>
          <a:off x="668591" y="1799301"/>
          <a:ext cx="10658169" cy="4091118"/>
        </p:xfrm>
        <a:graphic>
          <a:graphicData uri="http://schemas.openxmlformats.org/drawingml/2006/table">
            <a:tbl>
              <a:tblPr/>
              <a:tblGrid>
                <a:gridCol w="1608780">
                  <a:extLst>
                    <a:ext uri="{9D8B030D-6E8A-4147-A177-3AD203B41FA5}">
                      <a16:colId xmlns:a16="http://schemas.microsoft.com/office/drawing/2014/main" val="1481109322"/>
                    </a:ext>
                  </a:extLst>
                </a:gridCol>
                <a:gridCol w="3016462">
                  <a:extLst>
                    <a:ext uri="{9D8B030D-6E8A-4147-A177-3AD203B41FA5}">
                      <a16:colId xmlns:a16="http://schemas.microsoft.com/office/drawing/2014/main" val="4253277210"/>
                    </a:ext>
                  </a:extLst>
                </a:gridCol>
                <a:gridCol w="1407683">
                  <a:extLst>
                    <a:ext uri="{9D8B030D-6E8A-4147-A177-3AD203B41FA5}">
                      <a16:colId xmlns:a16="http://schemas.microsoft.com/office/drawing/2014/main" val="3805532587"/>
                    </a:ext>
                  </a:extLst>
                </a:gridCol>
                <a:gridCol w="1407683">
                  <a:extLst>
                    <a:ext uri="{9D8B030D-6E8A-4147-A177-3AD203B41FA5}">
                      <a16:colId xmlns:a16="http://schemas.microsoft.com/office/drawing/2014/main" val="2812054057"/>
                    </a:ext>
                  </a:extLst>
                </a:gridCol>
                <a:gridCol w="1005488">
                  <a:extLst>
                    <a:ext uri="{9D8B030D-6E8A-4147-A177-3AD203B41FA5}">
                      <a16:colId xmlns:a16="http://schemas.microsoft.com/office/drawing/2014/main" val="2546215259"/>
                    </a:ext>
                  </a:extLst>
                </a:gridCol>
                <a:gridCol w="1005488">
                  <a:extLst>
                    <a:ext uri="{9D8B030D-6E8A-4147-A177-3AD203B41FA5}">
                      <a16:colId xmlns:a16="http://schemas.microsoft.com/office/drawing/2014/main" val="3091675229"/>
                    </a:ext>
                  </a:extLst>
                </a:gridCol>
                <a:gridCol w="1206585">
                  <a:extLst>
                    <a:ext uri="{9D8B030D-6E8A-4147-A177-3AD203B41FA5}">
                      <a16:colId xmlns:a16="http://schemas.microsoft.com/office/drawing/2014/main" val="4132944046"/>
                    </a:ext>
                  </a:extLst>
                </a:gridCol>
              </a:tblGrid>
              <a:tr h="330040">
                <a:tc gridSpan="7">
                  <a:txBody>
                    <a:bodyPr/>
                    <a:lstStyle/>
                    <a:p>
                      <a:pPr algn="ctr" fontAlgn="ctr"/>
                      <a:r>
                        <a:rPr lang="en-MY" sz="1300" b="1" i="0" u="none" strike="noStrike">
                          <a:solidFill>
                            <a:srgbClr val="FFFFFF"/>
                          </a:solidFill>
                          <a:effectLst/>
                          <a:latin typeface="Arial" panose="020B0604020202020204" pitchFamily="34" charset="0"/>
                        </a:rPr>
                        <a:t>THREAT MATRIX  (Probability × Impact)</a:t>
                      </a:r>
                    </a:p>
                  </a:txBody>
                  <a:tcPr marL="6350" marR="6350" marT="6350" marB="0" anchor="ctr">
                    <a:lnL>
                      <a:noFill/>
                    </a:lnL>
                    <a:lnR>
                      <a:noFill/>
                    </a:lnR>
                    <a:lnT>
                      <a:noFill/>
                    </a:lnT>
                    <a:lnB w="6350" cap="flat" cmpd="sng" algn="ctr">
                      <a:solidFill>
                        <a:srgbClr val="CCCCCC"/>
                      </a:solidFill>
                      <a:prstDash val="solid"/>
                      <a:round/>
                      <a:headEnd type="none" w="med" len="med"/>
                      <a:tailEnd type="none" w="med" len="med"/>
                    </a:lnB>
                    <a:solidFill>
                      <a:srgbClr val="C0392B"/>
                    </a:solidFill>
                  </a:tcPr>
                </a:tc>
                <a:tc hMerge="1">
                  <a:txBody>
                    <a:bodyPr/>
                    <a:lstStyle/>
                    <a:p>
                      <a:endParaRPr lang="en-MY"/>
                    </a:p>
                  </a:txBody>
                  <a:tcPr/>
                </a:tc>
                <a:tc hMerge="1">
                  <a:txBody>
                    <a:bodyPr/>
                    <a:lstStyle/>
                    <a:p>
                      <a:endParaRPr lang="en-MY"/>
                    </a:p>
                  </a:txBody>
                  <a:tcPr/>
                </a:tc>
                <a:tc hMerge="1">
                  <a:txBody>
                    <a:bodyPr/>
                    <a:lstStyle/>
                    <a:p>
                      <a:endParaRPr lang="en-MY"/>
                    </a:p>
                  </a:txBody>
                  <a:tcPr/>
                </a:tc>
                <a:tc hMerge="1">
                  <a:txBody>
                    <a:bodyPr/>
                    <a:lstStyle/>
                    <a:p>
                      <a:endParaRPr lang="en-MY"/>
                    </a:p>
                  </a:txBody>
                  <a:tcPr/>
                </a:tc>
                <a:tc hMerge="1">
                  <a:txBody>
                    <a:bodyPr/>
                    <a:lstStyle/>
                    <a:p>
                      <a:endParaRPr lang="en-MY"/>
                    </a:p>
                  </a:txBody>
                  <a:tcPr/>
                </a:tc>
                <a:tc hMerge="1">
                  <a:txBody>
                    <a:bodyPr/>
                    <a:lstStyle/>
                    <a:p>
                      <a:endParaRPr lang="en-MY"/>
                    </a:p>
                  </a:txBody>
                  <a:tcPr/>
                </a:tc>
                <a:extLst>
                  <a:ext uri="{0D108BD9-81ED-4DB2-BD59-A6C34878D82A}">
                    <a16:rowId xmlns:a16="http://schemas.microsoft.com/office/drawing/2014/main" val="755740691"/>
                  </a:ext>
                </a:extLst>
              </a:tr>
              <a:tr h="735713">
                <a:tc>
                  <a:txBody>
                    <a:bodyPr/>
                    <a:lstStyle/>
                    <a:p>
                      <a:pPr algn="ctr" fontAlgn="ctr"/>
                      <a:r>
                        <a:rPr lang="en-MY" sz="900" b="1" i="0" u="none" strike="noStrike">
                          <a:solidFill>
                            <a:srgbClr val="FFFFFF"/>
                          </a:solidFill>
                          <a:effectLst/>
                          <a:latin typeface="Arial" panose="020B0604020202020204" pitchFamily="34" charset="0"/>
                        </a:rPr>
                        <a:t>Probability ↓  /  Impact →</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1" i="0" u="none" strike="noStrike">
                          <a:solidFill>
                            <a:srgbClr val="FFFFFF"/>
                          </a:solidFill>
                          <a:effectLst/>
                          <a:latin typeface="Arial" panose="020B0604020202020204" pitchFamily="34" charset="0"/>
                        </a:rPr>
                        <a:t>Impact 1</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(Minor)</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1" i="0" u="none" strike="noStrike">
                          <a:solidFill>
                            <a:srgbClr val="FFFFFF"/>
                          </a:solidFill>
                          <a:effectLst/>
                          <a:latin typeface="Arial" panose="020B0604020202020204" pitchFamily="34" charset="0"/>
                        </a:rPr>
                        <a:t>Impact 2</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(Low)</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1" i="0" u="none" strike="noStrike">
                          <a:solidFill>
                            <a:srgbClr val="FFFFFF"/>
                          </a:solidFill>
                          <a:effectLst/>
                          <a:latin typeface="Arial" panose="020B0604020202020204" pitchFamily="34" charset="0"/>
                        </a:rPr>
                        <a:t>Impact 3</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(Moderate)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1" i="0" u="none" strike="noStrike">
                          <a:solidFill>
                            <a:srgbClr val="FFFFFF"/>
                          </a:solidFill>
                          <a:effectLst/>
                          <a:latin typeface="Arial" panose="020B0604020202020204" pitchFamily="34" charset="0"/>
                        </a:rPr>
                        <a:t>Impact 4</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(High)</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1" i="0" u="none" strike="noStrike">
                          <a:solidFill>
                            <a:srgbClr val="FFFFFF"/>
                          </a:solidFill>
                          <a:effectLst/>
                          <a:latin typeface="Arial" panose="020B0604020202020204" pitchFamily="34" charset="0"/>
                        </a:rPr>
                        <a:t>Impact 5</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(Critical)</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l" fontAlgn="b"/>
                      <a:endParaRPr lang="en-MY" sz="1100" b="0" i="0" u="none" strike="noStrike">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210695354"/>
                  </a:ext>
                </a:extLst>
              </a:tr>
              <a:tr h="605073">
                <a:tc>
                  <a:txBody>
                    <a:bodyPr/>
                    <a:lstStyle/>
                    <a:p>
                      <a:pPr algn="ctr" fontAlgn="ctr"/>
                      <a:r>
                        <a:rPr lang="en-MY" sz="900" b="1" i="0" u="none" strike="noStrike">
                          <a:solidFill>
                            <a:srgbClr val="FFFFFF"/>
                          </a:solidFill>
                          <a:effectLst/>
                          <a:latin typeface="Arial" panose="020B0604020202020204" pitchFamily="34" charset="0"/>
                        </a:rPr>
                        <a:t>Prob 5</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(Almost Certain)</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0" i="0" u="none" strike="noStrike">
                          <a:solidFill>
                            <a:srgbClr val="000000"/>
                          </a:solidFill>
                          <a:effectLst/>
                          <a:latin typeface="Arial" panose="020B0604020202020204" pitchFamily="34" charset="0"/>
                        </a:rPr>
                        <a:t>Score: 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FFFFFF"/>
                          </a:solidFill>
                          <a:effectLst/>
                          <a:latin typeface="Arial" panose="020B0604020202020204" pitchFamily="34" charset="0"/>
                        </a:rPr>
                        <a:t>Score: 10</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ctr" fontAlgn="ctr"/>
                      <a:r>
                        <a:rPr lang="en-MY" sz="900" b="0" i="0" u="none" strike="noStrike">
                          <a:solidFill>
                            <a:srgbClr val="FFFFFF"/>
                          </a:solidFill>
                          <a:effectLst/>
                          <a:latin typeface="Arial" panose="020B0604020202020204" pitchFamily="34" charset="0"/>
                        </a:rPr>
                        <a:t>Score: 15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ctr" fontAlgn="ctr"/>
                      <a:r>
                        <a:rPr lang="en-MY" sz="900" b="0" i="0" u="none" strike="noStrike">
                          <a:solidFill>
                            <a:srgbClr val="FFFFFF"/>
                          </a:solidFill>
                          <a:effectLst/>
                          <a:latin typeface="Arial" panose="020B0604020202020204" pitchFamily="34" charset="0"/>
                        </a:rPr>
                        <a:t>Score: 20</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ctr" fontAlgn="ctr"/>
                      <a:r>
                        <a:rPr lang="en-MY" sz="900" b="0" i="0" u="none" strike="noStrike">
                          <a:solidFill>
                            <a:srgbClr val="FFFFFF"/>
                          </a:solidFill>
                          <a:effectLst/>
                          <a:latin typeface="Arial" panose="020B0604020202020204" pitchFamily="34" charset="0"/>
                        </a:rPr>
                        <a:t>Score: 25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l" fontAlgn="b"/>
                      <a:endParaRPr lang="en-MY" sz="1100" b="0" i="0" u="none" strike="noStrike">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88768110"/>
                  </a:ext>
                </a:extLst>
              </a:tr>
              <a:tr h="605073">
                <a:tc>
                  <a:txBody>
                    <a:bodyPr/>
                    <a:lstStyle/>
                    <a:p>
                      <a:pPr algn="ctr" fontAlgn="ctr"/>
                      <a:r>
                        <a:rPr lang="en-MY" sz="900" b="1" i="0" u="none" strike="noStrike">
                          <a:solidFill>
                            <a:srgbClr val="FFFFFF"/>
                          </a:solidFill>
                          <a:effectLst/>
                          <a:latin typeface="Arial" panose="020B0604020202020204" pitchFamily="34" charset="0"/>
                        </a:rPr>
                        <a:t>Prob 4</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(Likely)</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0" i="0" u="none" strike="noStrike">
                          <a:solidFill>
                            <a:srgbClr val="000000"/>
                          </a:solidFill>
                          <a:effectLst/>
                          <a:latin typeface="Arial" panose="020B0604020202020204" pitchFamily="34" charset="0"/>
                        </a:rPr>
                        <a:t>Score: 4</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000000"/>
                          </a:solidFill>
                          <a:effectLst/>
                          <a:latin typeface="Arial" panose="020B0604020202020204" pitchFamily="34" charset="0"/>
                        </a:rPr>
                        <a:t>Score: 8</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FFFFFF"/>
                          </a:solidFill>
                          <a:effectLst/>
                          <a:latin typeface="Arial" panose="020B0604020202020204" pitchFamily="34" charset="0"/>
                        </a:rPr>
                        <a:t>Score: 12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ctr" fontAlgn="ctr"/>
                      <a:r>
                        <a:rPr lang="en-MY" sz="900" b="1" i="0" u="none" strike="noStrike">
                          <a:solidFill>
                            <a:srgbClr val="FFFFFF"/>
                          </a:solidFill>
                          <a:effectLst/>
                          <a:latin typeface="Arial" panose="020B0604020202020204" pitchFamily="34" charset="0"/>
                        </a:rPr>
                        <a:t>Score: 16</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R2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ctr" fontAlgn="ctr"/>
                      <a:r>
                        <a:rPr lang="en-MY" sz="900" b="1" i="0" u="none" strike="noStrike">
                          <a:solidFill>
                            <a:srgbClr val="FFFFFF"/>
                          </a:solidFill>
                          <a:effectLst/>
                          <a:latin typeface="Arial" panose="020B0604020202020204" pitchFamily="34" charset="0"/>
                        </a:rPr>
                        <a:t>Score: 20</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R1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l" fontAlgn="b"/>
                      <a:endParaRPr lang="en-MY" sz="1100" b="0" i="0" u="none" strike="noStrike">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743243566"/>
                  </a:ext>
                </a:extLst>
              </a:tr>
              <a:tr h="605073">
                <a:tc>
                  <a:txBody>
                    <a:bodyPr/>
                    <a:lstStyle/>
                    <a:p>
                      <a:pPr algn="ctr" fontAlgn="ctr"/>
                      <a:r>
                        <a:rPr lang="en-MY" sz="900" b="1" i="0" u="none" strike="noStrike">
                          <a:solidFill>
                            <a:srgbClr val="FFFFFF"/>
                          </a:solidFill>
                          <a:effectLst/>
                          <a:latin typeface="Arial" panose="020B0604020202020204" pitchFamily="34" charset="0"/>
                        </a:rPr>
                        <a:t>Prob 3</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(Possible)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0" i="0" u="none" strike="noStrike">
                          <a:solidFill>
                            <a:srgbClr val="000000"/>
                          </a:solidFill>
                          <a:effectLst/>
                          <a:latin typeface="Arial" panose="020B0604020202020204" pitchFamily="34" charset="0"/>
                        </a:rPr>
                        <a:t>Score: 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A9DFBF"/>
                    </a:solidFill>
                  </a:tcPr>
                </a:tc>
                <a:tc>
                  <a:txBody>
                    <a:bodyPr/>
                    <a:lstStyle/>
                    <a:p>
                      <a:pPr algn="ctr" fontAlgn="ctr"/>
                      <a:r>
                        <a:rPr lang="en-MY" sz="900" b="0" i="0" u="none" strike="noStrike">
                          <a:solidFill>
                            <a:srgbClr val="000000"/>
                          </a:solidFill>
                          <a:effectLst/>
                          <a:latin typeface="Arial" panose="020B0604020202020204" pitchFamily="34" charset="0"/>
                        </a:rPr>
                        <a:t>Score: 6</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1" i="0" u="none" strike="noStrike">
                          <a:solidFill>
                            <a:srgbClr val="FFFFFF"/>
                          </a:solidFill>
                          <a:effectLst/>
                          <a:latin typeface="Arial" panose="020B0604020202020204" pitchFamily="34" charset="0"/>
                        </a:rPr>
                        <a:t>Score: 9</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R3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ctr" fontAlgn="ctr"/>
                      <a:r>
                        <a:rPr lang="en-MY" sz="900" b="0" i="0" u="none" strike="noStrike">
                          <a:solidFill>
                            <a:srgbClr val="FFFFFF"/>
                          </a:solidFill>
                          <a:effectLst/>
                          <a:latin typeface="Arial" panose="020B0604020202020204" pitchFamily="34" charset="0"/>
                        </a:rPr>
                        <a:t>Score: 12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ctr" fontAlgn="ctr"/>
                      <a:r>
                        <a:rPr lang="en-MY" sz="900" b="0" i="0" u="none" strike="noStrike">
                          <a:solidFill>
                            <a:srgbClr val="FFFFFF"/>
                          </a:solidFill>
                          <a:effectLst/>
                          <a:latin typeface="Arial" panose="020B0604020202020204" pitchFamily="34" charset="0"/>
                        </a:rPr>
                        <a:t>Score: 15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0392B"/>
                    </a:solidFill>
                  </a:tcPr>
                </a:tc>
                <a:tc>
                  <a:txBody>
                    <a:bodyPr/>
                    <a:lstStyle/>
                    <a:p>
                      <a:pPr algn="l" fontAlgn="b"/>
                      <a:endParaRPr lang="en-MY" sz="1100" b="0" i="0" u="none" strike="noStrike">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960998804"/>
                  </a:ext>
                </a:extLst>
              </a:tr>
              <a:tr h="605073">
                <a:tc>
                  <a:txBody>
                    <a:bodyPr/>
                    <a:lstStyle/>
                    <a:p>
                      <a:pPr algn="ctr" fontAlgn="ctr"/>
                      <a:r>
                        <a:rPr lang="en-MY" sz="900" b="1" i="0" u="none" strike="noStrike">
                          <a:solidFill>
                            <a:srgbClr val="FFFFFF"/>
                          </a:solidFill>
                          <a:effectLst/>
                          <a:latin typeface="Arial" panose="020B0604020202020204" pitchFamily="34" charset="0"/>
                        </a:rPr>
                        <a:t>Prob 2</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(Unlikely)</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0" i="0" u="none" strike="noStrike">
                          <a:solidFill>
                            <a:srgbClr val="000000"/>
                          </a:solidFill>
                          <a:effectLst/>
                          <a:latin typeface="Arial" panose="020B0604020202020204" pitchFamily="34" charset="0"/>
                        </a:rPr>
                        <a:t>Score: 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A9DFBF"/>
                    </a:solidFill>
                  </a:tcPr>
                </a:tc>
                <a:tc>
                  <a:txBody>
                    <a:bodyPr/>
                    <a:lstStyle/>
                    <a:p>
                      <a:pPr algn="ctr" fontAlgn="ctr"/>
                      <a:r>
                        <a:rPr lang="en-MY" sz="900" b="0" i="0" u="none" strike="noStrike">
                          <a:solidFill>
                            <a:srgbClr val="000000"/>
                          </a:solidFill>
                          <a:effectLst/>
                          <a:latin typeface="Arial" panose="020B0604020202020204" pitchFamily="34" charset="0"/>
                        </a:rPr>
                        <a:t>Score: 4</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000000"/>
                          </a:solidFill>
                          <a:effectLst/>
                          <a:latin typeface="Arial" panose="020B0604020202020204" pitchFamily="34" charset="0"/>
                        </a:rPr>
                        <a:t>Score: 6</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000000"/>
                          </a:solidFill>
                          <a:effectLst/>
                          <a:latin typeface="Arial" panose="020B0604020202020204" pitchFamily="34" charset="0"/>
                        </a:rPr>
                        <a:t>Score: 8</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1" i="0" u="none" strike="noStrike">
                          <a:solidFill>
                            <a:srgbClr val="FFFFFF"/>
                          </a:solidFill>
                          <a:effectLst/>
                          <a:latin typeface="Arial" panose="020B0604020202020204" pitchFamily="34" charset="0"/>
                        </a:rPr>
                        <a:t>Score: 10</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R5, R6</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67E22"/>
                    </a:solidFill>
                  </a:tcPr>
                </a:tc>
                <a:tc>
                  <a:txBody>
                    <a:bodyPr/>
                    <a:lstStyle/>
                    <a:p>
                      <a:pPr algn="l" fontAlgn="b"/>
                      <a:endParaRPr lang="en-MY" sz="1100" b="0" i="0" u="none" strike="noStrike">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56090947"/>
                  </a:ext>
                </a:extLst>
              </a:tr>
              <a:tr h="605073">
                <a:tc>
                  <a:txBody>
                    <a:bodyPr/>
                    <a:lstStyle/>
                    <a:p>
                      <a:pPr algn="ctr" fontAlgn="ctr"/>
                      <a:r>
                        <a:rPr lang="en-MY" sz="900" b="1" i="0" u="none" strike="noStrike">
                          <a:solidFill>
                            <a:srgbClr val="FFFFFF"/>
                          </a:solidFill>
                          <a:effectLst/>
                          <a:latin typeface="Arial" panose="020B0604020202020204" pitchFamily="34" charset="0"/>
                        </a:rPr>
                        <a:t>Prob 1</a:t>
                      </a:r>
                      <a:br>
                        <a:rPr lang="en-MY" sz="900" b="1" i="0" u="none" strike="noStrike">
                          <a:solidFill>
                            <a:srgbClr val="FFFFFF"/>
                          </a:solidFill>
                          <a:effectLst/>
                          <a:latin typeface="Arial" panose="020B0604020202020204" pitchFamily="34" charset="0"/>
                        </a:rPr>
                      </a:br>
                      <a:r>
                        <a:rPr lang="en-MY" sz="900" b="1" i="0" u="none" strike="noStrike">
                          <a:solidFill>
                            <a:srgbClr val="FFFFFF"/>
                          </a:solidFill>
                          <a:effectLst/>
                          <a:latin typeface="Arial" panose="020B0604020202020204" pitchFamily="34" charset="0"/>
                        </a:rPr>
                        <a:t>(Rare)</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3864"/>
                    </a:solidFill>
                  </a:tcPr>
                </a:tc>
                <a:tc>
                  <a:txBody>
                    <a:bodyPr/>
                    <a:lstStyle/>
                    <a:p>
                      <a:pPr algn="ctr" fontAlgn="ctr"/>
                      <a:r>
                        <a:rPr lang="en-MY" sz="900" b="0" i="0" u="none" strike="noStrike">
                          <a:solidFill>
                            <a:srgbClr val="000000"/>
                          </a:solidFill>
                          <a:effectLst/>
                          <a:latin typeface="Arial" panose="020B0604020202020204" pitchFamily="34" charset="0"/>
                        </a:rPr>
                        <a:t>Score: 1</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A9DFBF"/>
                    </a:solidFill>
                  </a:tcPr>
                </a:tc>
                <a:tc>
                  <a:txBody>
                    <a:bodyPr/>
                    <a:lstStyle/>
                    <a:p>
                      <a:pPr algn="ctr" fontAlgn="ctr"/>
                      <a:r>
                        <a:rPr lang="en-MY" sz="900" b="0" i="0" u="none" strike="noStrike">
                          <a:solidFill>
                            <a:srgbClr val="000000"/>
                          </a:solidFill>
                          <a:effectLst/>
                          <a:latin typeface="Arial" panose="020B0604020202020204" pitchFamily="34" charset="0"/>
                        </a:rPr>
                        <a:t>Score: 2</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A9DFBF"/>
                    </a:solidFill>
                  </a:tcPr>
                </a:tc>
                <a:tc>
                  <a:txBody>
                    <a:bodyPr/>
                    <a:lstStyle/>
                    <a:p>
                      <a:pPr algn="ctr" fontAlgn="ctr"/>
                      <a:r>
                        <a:rPr lang="en-MY" sz="900" b="0" i="0" u="none" strike="noStrike">
                          <a:solidFill>
                            <a:srgbClr val="000000"/>
                          </a:solidFill>
                          <a:effectLst/>
                          <a:latin typeface="Arial" panose="020B0604020202020204" pitchFamily="34" charset="0"/>
                        </a:rPr>
                        <a:t>Score: 3</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A9DFBF"/>
                    </a:solidFill>
                  </a:tcPr>
                </a:tc>
                <a:tc>
                  <a:txBody>
                    <a:bodyPr/>
                    <a:lstStyle/>
                    <a:p>
                      <a:pPr algn="ctr" fontAlgn="ctr"/>
                      <a:r>
                        <a:rPr lang="en-MY" sz="900" b="0" i="0" u="none" strike="noStrike">
                          <a:solidFill>
                            <a:srgbClr val="000000"/>
                          </a:solidFill>
                          <a:effectLst/>
                          <a:latin typeface="Arial" panose="020B0604020202020204" pitchFamily="34" charset="0"/>
                        </a:rPr>
                        <a:t>Score: 4</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ctr" fontAlgn="ctr"/>
                      <a:r>
                        <a:rPr lang="en-MY" sz="900" b="0" i="0" u="none" strike="noStrike">
                          <a:solidFill>
                            <a:srgbClr val="000000"/>
                          </a:solidFill>
                          <a:effectLst/>
                          <a:latin typeface="Arial" panose="020B0604020202020204" pitchFamily="34" charset="0"/>
                        </a:rPr>
                        <a:t>Score: 5</a:t>
                      </a:r>
                    </a:p>
                  </a:txBody>
                  <a:tcPr marL="6350" marR="6350" marT="6350" marB="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1C40F"/>
                    </a:solidFill>
                  </a:tcPr>
                </a:tc>
                <a:tc>
                  <a:txBody>
                    <a:bodyPr/>
                    <a:lstStyle/>
                    <a:p>
                      <a:pPr algn="l" fontAlgn="b"/>
                      <a:endParaRPr lang="en-MY" sz="1100" b="0" i="0" u="none" strike="noStrike" dirty="0">
                        <a:solidFill>
                          <a:srgbClr val="000000"/>
                        </a:solidFill>
                        <a:effectLst/>
                        <a:latin typeface="Calibri" panose="020F0502020204030204" pitchFamily="34" charset="0"/>
                      </a:endParaRPr>
                    </a:p>
                  </a:txBody>
                  <a:tcPr marL="6350" marR="6350" marT="6350" marB="0" anchor="b">
                    <a:lnL w="6350" cap="flat" cmpd="sng" algn="ctr">
                      <a:solidFill>
                        <a:srgbClr val="CCCCCC"/>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527164404"/>
                  </a:ext>
                </a:extLst>
              </a:tr>
            </a:tbl>
          </a:graphicData>
        </a:graphic>
      </p:graphicFrame>
    </p:spTree>
    <p:extLst>
      <p:ext uri="{BB962C8B-B14F-4D97-AF65-F5344CB8AC3E}">
        <p14:creationId xmlns:p14="http://schemas.microsoft.com/office/powerpoint/2010/main" val="422360430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11DA2-75E9-7D39-6BD5-301FDF9B257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7F91FB2-1776-F084-C1ED-75B4378B16F2}"/>
              </a:ext>
            </a:extLst>
          </p:cNvPr>
          <p:cNvSpPr>
            <a:spLocks noGrp="1"/>
          </p:cNvSpPr>
          <p:nvPr>
            <p:ph type="title"/>
          </p:nvPr>
        </p:nvSpPr>
        <p:spPr>
          <a:xfrm>
            <a:off x="572756" y="133943"/>
            <a:ext cx="9813446" cy="850726"/>
          </a:xfrm>
        </p:spPr>
        <p:txBody>
          <a:bodyPr>
            <a:noAutofit/>
          </a:bodyPr>
          <a:lstStyle/>
          <a:p>
            <a:r>
              <a:rPr lang="en-US" sz="3200" dirty="0"/>
              <a:t>Process Modeling</a:t>
            </a:r>
          </a:p>
        </p:txBody>
      </p:sp>
      <p:sp>
        <p:nvSpPr>
          <p:cNvPr id="8" name="Content Placeholder 4">
            <a:extLst>
              <a:ext uri="{FF2B5EF4-FFF2-40B4-BE49-F238E27FC236}">
                <a16:creationId xmlns:a16="http://schemas.microsoft.com/office/drawing/2014/main" id="{272E9F1D-20A5-5EDA-6D2E-C59D716D80F2}"/>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Core banking process </a:t>
            </a:r>
            <a:r>
              <a:rPr lang="en-US" sz="2400" b="1" dirty="0" smtClean="0"/>
              <a:t>flowchart</a:t>
            </a:r>
          </a:p>
          <a:p>
            <a:pPr marL="0" indent="0">
              <a:buFont typeface="Arial" panose="020B0604020202020204" pitchFamily="34" charset="0"/>
              <a:buNone/>
            </a:pPr>
            <a:endParaRPr lang="en-US" sz="2400" b="1" dirty="0"/>
          </a:p>
        </p:txBody>
      </p:sp>
      <p:graphicFrame>
        <p:nvGraphicFramePr>
          <p:cNvPr id="3" name="Table 2"/>
          <p:cNvGraphicFramePr>
            <a:graphicFrameLocks noGrp="1"/>
          </p:cNvGraphicFramePr>
          <p:nvPr>
            <p:extLst>
              <p:ext uri="{D42A27DB-BD31-4B8C-83A1-F6EECF244321}">
                <p14:modId xmlns:p14="http://schemas.microsoft.com/office/powerpoint/2010/main" val="165408313"/>
              </p:ext>
            </p:extLst>
          </p:nvPr>
        </p:nvGraphicFramePr>
        <p:xfrm>
          <a:off x="678426" y="1718271"/>
          <a:ext cx="10953135" cy="4566047"/>
        </p:xfrm>
        <a:graphic>
          <a:graphicData uri="http://schemas.openxmlformats.org/drawingml/2006/table">
            <a:tbl>
              <a:tblPr/>
              <a:tblGrid>
                <a:gridCol w="10953135">
                  <a:extLst>
                    <a:ext uri="{9D8B030D-6E8A-4147-A177-3AD203B41FA5}">
                      <a16:colId xmlns:a16="http://schemas.microsoft.com/office/drawing/2014/main" val="2907166845"/>
                    </a:ext>
                  </a:extLst>
                </a:gridCol>
              </a:tblGrid>
              <a:tr h="171378">
                <a:tc>
                  <a:txBody>
                    <a:bodyPr/>
                    <a:lstStyle/>
                    <a:p>
                      <a:pPr algn="ctr">
                        <a:spcAft>
                          <a:spcPts val="0"/>
                        </a:spcAft>
                      </a:pPr>
                      <a:r>
                        <a:rPr lang="en-MY" sz="600" b="1">
                          <a:solidFill>
                            <a:srgbClr val="FFFFFF"/>
                          </a:solidFill>
                          <a:effectLst/>
                          <a:latin typeface="Arial" panose="020B0604020202020204" pitchFamily="34" charset="0"/>
                          <a:ea typeface="Arial" panose="020B0604020202020204" pitchFamily="34" charset="0"/>
                        </a:rPr>
                        <a:t>START: Customer Initiates Account Request</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F3864"/>
                    </a:solidFill>
                  </a:tcPr>
                </a:tc>
                <a:extLst>
                  <a:ext uri="{0D108BD9-81ED-4DB2-BD59-A6C34878D82A}">
                    <a16:rowId xmlns:a16="http://schemas.microsoft.com/office/drawing/2014/main" val="141163105"/>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1408629739"/>
                  </a:ext>
                </a:extLst>
              </a:tr>
              <a:tr h="267517">
                <a:tc>
                  <a:txBody>
                    <a:bodyPr/>
                    <a:lstStyle/>
                    <a:p>
                      <a:pPr algn="ctr">
                        <a:spcAft>
                          <a:spcPts val="300"/>
                        </a:spcAft>
                      </a:pPr>
                      <a:r>
                        <a:rPr lang="en-MY" sz="600" b="1" dirty="0">
                          <a:solidFill>
                            <a:srgbClr val="FFFFFF"/>
                          </a:solidFill>
                          <a:effectLst/>
                          <a:latin typeface="Arial" panose="020B0604020202020204" pitchFamily="34" charset="0"/>
                          <a:ea typeface="Arial" panose="020B0604020202020204" pitchFamily="34" charset="0"/>
                        </a:rPr>
                        <a:t>Customer Logs In or Registers on Portal</a:t>
                      </a:r>
                      <a:endParaRPr lang="en-MY" sz="600" dirty="0">
                        <a:effectLst/>
                        <a:latin typeface="Arial" panose="020B0604020202020204" pitchFamily="34" charset="0"/>
                        <a:ea typeface="Arial" panose="020B0604020202020204" pitchFamily="34" charset="0"/>
                      </a:endParaRPr>
                    </a:p>
                    <a:p>
                      <a:pPr algn="ctr">
                        <a:spcAft>
                          <a:spcPts val="0"/>
                        </a:spcAft>
                      </a:pPr>
                      <a:r>
                        <a:rPr lang="en-MY" sz="500" i="1" dirty="0">
                          <a:solidFill>
                            <a:srgbClr val="DDDDDD"/>
                          </a:solidFill>
                          <a:effectLst/>
                          <a:latin typeface="Arial" panose="020B0604020202020204" pitchFamily="34" charset="0"/>
                          <a:ea typeface="Arial" panose="020B0604020202020204" pitchFamily="34" charset="0"/>
                        </a:rPr>
                        <a:t>Web / Mobile App</a:t>
                      </a:r>
                      <a:endParaRPr lang="en-MY" sz="600" dirty="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A7A4A"/>
                    </a:solidFill>
                  </a:tcPr>
                </a:tc>
                <a:extLst>
                  <a:ext uri="{0D108BD9-81ED-4DB2-BD59-A6C34878D82A}">
                    <a16:rowId xmlns:a16="http://schemas.microsoft.com/office/drawing/2014/main" val="3930475718"/>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3530771794"/>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Select Account Type &amp; Preferred Branch</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Savings / Current / Business</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A7A4A"/>
                    </a:solidFill>
                  </a:tcPr>
                </a:tc>
                <a:extLst>
                  <a:ext uri="{0D108BD9-81ED-4DB2-BD59-A6C34878D82A}">
                    <a16:rowId xmlns:a16="http://schemas.microsoft.com/office/drawing/2014/main" val="1106131856"/>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2612878696"/>
                  </a:ext>
                </a:extLst>
              </a:tr>
              <a:tr h="171378">
                <a:tc>
                  <a:txBody>
                    <a:bodyPr/>
                    <a:lstStyle/>
                    <a:p>
                      <a:pPr algn="ctr">
                        <a:spcAft>
                          <a:spcPts val="0"/>
                        </a:spcAft>
                      </a:pPr>
                      <a:r>
                        <a:rPr lang="en-MY" sz="600" b="1">
                          <a:solidFill>
                            <a:srgbClr val="FFFFFF"/>
                          </a:solidFill>
                          <a:effectLst/>
                          <a:latin typeface="Arial" panose="020B0604020202020204" pitchFamily="34" charset="0"/>
                          <a:ea typeface="Arial" panose="020B0604020202020204" pitchFamily="34" charset="0"/>
                        </a:rPr>
                        <a:t>◆  ◆  Is the Customer an Existing User?</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B7950B"/>
                    </a:solidFill>
                  </a:tcPr>
                </a:tc>
                <a:extLst>
                  <a:ext uri="{0D108BD9-81ED-4DB2-BD59-A6C34878D82A}">
                    <a16:rowId xmlns:a16="http://schemas.microsoft.com/office/drawing/2014/main" val="1511465998"/>
                  </a:ext>
                </a:extLst>
              </a:tr>
              <a:tr h="83599">
                <a:tc>
                  <a:txBody>
                    <a:bodyPr/>
                    <a:lstStyle/>
                    <a:p>
                      <a:pPr algn="ctr">
                        <a:spcAft>
                          <a:spcPts val="0"/>
                        </a:spcAft>
                      </a:pPr>
                      <a:r>
                        <a:rPr lang="en-MY" sz="500" b="1" dirty="0">
                          <a:solidFill>
                            <a:srgbClr val="1A7A4A"/>
                          </a:solidFill>
                          <a:effectLst/>
                          <a:latin typeface="Arial" panose="020B0604020202020204" pitchFamily="34" charset="0"/>
                          <a:ea typeface="Arial" panose="020B0604020202020204" pitchFamily="34" charset="0"/>
                        </a:rPr>
                        <a:t>YES </a:t>
                      </a:r>
                      <a:r>
                        <a:rPr lang="en-MY" sz="500" dirty="0">
                          <a:solidFill>
                            <a:srgbClr val="777777"/>
                          </a:solidFill>
                          <a:effectLst/>
                          <a:latin typeface="Arial" panose="020B0604020202020204" pitchFamily="34" charset="0"/>
                          <a:ea typeface="Arial" panose="020B0604020202020204" pitchFamily="34" charset="0"/>
                        </a:rPr>
                        <a:t>▼</a:t>
                      </a:r>
                      <a:endParaRPr lang="en-MY" sz="600" dirty="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536999909"/>
                  </a:ext>
                </a:extLst>
              </a:tr>
              <a:tr h="267517">
                <a:tc>
                  <a:txBody>
                    <a:bodyPr/>
                    <a:lstStyle/>
                    <a:p>
                      <a:pPr algn="ctr">
                        <a:spcAft>
                          <a:spcPts val="300"/>
                        </a:spcAft>
                      </a:pPr>
                      <a:r>
                        <a:rPr lang="en-MY" sz="600" b="1" dirty="0">
                          <a:solidFill>
                            <a:srgbClr val="FFFFFF"/>
                          </a:solidFill>
                          <a:effectLst/>
                          <a:latin typeface="Arial" panose="020B0604020202020204" pitchFamily="34" charset="0"/>
                          <a:ea typeface="Arial" panose="020B0604020202020204" pitchFamily="34" charset="0"/>
                        </a:rPr>
                        <a:t>Upload KYC Documents</a:t>
                      </a:r>
                      <a:endParaRPr lang="en-MY" sz="600" dirty="0">
                        <a:effectLst/>
                        <a:latin typeface="Arial" panose="020B0604020202020204" pitchFamily="34" charset="0"/>
                        <a:ea typeface="Arial" panose="020B0604020202020204" pitchFamily="34" charset="0"/>
                      </a:endParaRPr>
                    </a:p>
                    <a:p>
                      <a:pPr algn="ctr">
                        <a:spcAft>
                          <a:spcPts val="0"/>
                        </a:spcAft>
                      </a:pPr>
                      <a:r>
                        <a:rPr lang="en-MY" sz="500" i="1" dirty="0">
                          <a:solidFill>
                            <a:srgbClr val="DDDDDD"/>
                          </a:solidFill>
                          <a:effectLst/>
                          <a:latin typeface="Arial" panose="020B0604020202020204" pitchFamily="34" charset="0"/>
                          <a:ea typeface="Arial" panose="020B0604020202020204" pitchFamily="34" charset="0"/>
                        </a:rPr>
                        <a:t>Passport / National ID / Proof of Address</a:t>
                      </a:r>
                      <a:endParaRPr lang="en-MY" sz="600" dirty="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A7A4A"/>
                    </a:solidFill>
                  </a:tcPr>
                </a:tc>
                <a:extLst>
                  <a:ext uri="{0D108BD9-81ED-4DB2-BD59-A6C34878D82A}">
                    <a16:rowId xmlns:a16="http://schemas.microsoft.com/office/drawing/2014/main" val="345752212"/>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3177385048"/>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System Validates Document Format (OCR)</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Automated Format Check</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2E75B6"/>
                    </a:solidFill>
                  </a:tcPr>
                </a:tc>
                <a:extLst>
                  <a:ext uri="{0D108BD9-81ED-4DB2-BD59-A6C34878D82A}">
                    <a16:rowId xmlns:a16="http://schemas.microsoft.com/office/drawing/2014/main" val="2649565573"/>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257519057"/>
                  </a:ext>
                </a:extLst>
              </a:tr>
              <a:tr h="171378">
                <a:tc>
                  <a:txBody>
                    <a:bodyPr/>
                    <a:lstStyle/>
                    <a:p>
                      <a:pPr algn="ctr">
                        <a:spcAft>
                          <a:spcPts val="0"/>
                        </a:spcAft>
                      </a:pPr>
                      <a:r>
                        <a:rPr lang="en-MY" sz="600" b="1">
                          <a:solidFill>
                            <a:srgbClr val="FFFFFF"/>
                          </a:solidFill>
                          <a:effectLst/>
                          <a:latin typeface="Arial" panose="020B0604020202020204" pitchFamily="34" charset="0"/>
                          <a:ea typeface="Arial" panose="020B0604020202020204" pitchFamily="34" charset="0"/>
                        </a:rPr>
                        <a:t>◆  ◆  Are Documents Valid &amp; Legible?</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B7950B"/>
                    </a:solidFill>
                  </a:tcPr>
                </a:tc>
                <a:extLst>
                  <a:ext uri="{0D108BD9-81ED-4DB2-BD59-A6C34878D82A}">
                    <a16:rowId xmlns:a16="http://schemas.microsoft.com/office/drawing/2014/main" val="3153904570"/>
                  </a:ext>
                </a:extLst>
              </a:tr>
              <a:tr h="83599">
                <a:tc>
                  <a:txBody>
                    <a:bodyPr/>
                    <a:lstStyle/>
                    <a:p>
                      <a:pPr algn="ctr">
                        <a:spcAft>
                          <a:spcPts val="0"/>
                        </a:spcAft>
                      </a:pPr>
                      <a:r>
                        <a:rPr lang="en-MY" sz="500" b="1">
                          <a:solidFill>
                            <a:srgbClr val="1A7A4A"/>
                          </a:solidFill>
                          <a:effectLst/>
                          <a:latin typeface="Arial" panose="020B0604020202020204" pitchFamily="34" charset="0"/>
                          <a:ea typeface="Arial" panose="020B0604020202020204" pitchFamily="34" charset="0"/>
                        </a:rPr>
                        <a:t>YES </a:t>
                      </a: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1160577542"/>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AML Screening &amp; Sanctions Watchlist Check</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Compliance Engine</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2E75B6"/>
                    </a:solidFill>
                  </a:tcPr>
                </a:tc>
                <a:extLst>
                  <a:ext uri="{0D108BD9-81ED-4DB2-BD59-A6C34878D82A}">
                    <a16:rowId xmlns:a16="http://schemas.microsoft.com/office/drawing/2014/main" val="300961726"/>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3552736105"/>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Credit Bureau API — Credit Score Check</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Third-Party API</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2E75B6"/>
                    </a:solidFill>
                  </a:tcPr>
                </a:tc>
                <a:extLst>
                  <a:ext uri="{0D108BD9-81ED-4DB2-BD59-A6C34878D82A}">
                    <a16:rowId xmlns:a16="http://schemas.microsoft.com/office/drawing/2014/main" val="1419666281"/>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145790641"/>
                  </a:ext>
                </a:extLst>
              </a:tr>
              <a:tr h="171378">
                <a:tc>
                  <a:txBody>
                    <a:bodyPr/>
                    <a:lstStyle/>
                    <a:p>
                      <a:pPr algn="ctr">
                        <a:spcAft>
                          <a:spcPts val="0"/>
                        </a:spcAft>
                      </a:pPr>
                      <a:r>
                        <a:rPr lang="en-MY" sz="600" b="1">
                          <a:solidFill>
                            <a:srgbClr val="FFFFFF"/>
                          </a:solidFill>
                          <a:effectLst/>
                          <a:latin typeface="Arial" panose="020B0604020202020204" pitchFamily="34" charset="0"/>
                          <a:ea typeface="Arial" panose="020B0604020202020204" pitchFamily="34" charset="0"/>
                        </a:rPr>
                        <a:t>◆  ◆  KYC Verified &amp; Credit Score Acceptable?</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B7950B"/>
                    </a:solidFill>
                  </a:tcPr>
                </a:tc>
                <a:extLst>
                  <a:ext uri="{0D108BD9-81ED-4DB2-BD59-A6C34878D82A}">
                    <a16:rowId xmlns:a16="http://schemas.microsoft.com/office/drawing/2014/main" val="2898129108"/>
                  </a:ext>
                </a:extLst>
              </a:tr>
              <a:tr h="83599">
                <a:tc>
                  <a:txBody>
                    <a:bodyPr/>
                    <a:lstStyle/>
                    <a:p>
                      <a:pPr algn="ctr">
                        <a:spcAft>
                          <a:spcPts val="0"/>
                        </a:spcAft>
                      </a:pPr>
                      <a:r>
                        <a:rPr lang="en-MY" sz="500" b="1">
                          <a:solidFill>
                            <a:srgbClr val="1A7A4A"/>
                          </a:solidFill>
                          <a:effectLst/>
                          <a:latin typeface="Arial" panose="020B0604020202020204" pitchFamily="34" charset="0"/>
                          <a:ea typeface="Arial" panose="020B0604020202020204" pitchFamily="34" charset="0"/>
                        </a:rPr>
                        <a:t>YES </a:t>
                      </a: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1580521543"/>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Create Customer Account</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Assign Account Number &amp; RBAC</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A7A4A"/>
                    </a:solidFill>
                  </a:tcPr>
                </a:tc>
                <a:extLst>
                  <a:ext uri="{0D108BD9-81ED-4DB2-BD59-A6C34878D82A}">
                    <a16:rowId xmlns:a16="http://schemas.microsoft.com/office/drawing/2014/main" val="487795141"/>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686853838"/>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Update Centralized Data Warehouse (Real-Time)</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Analytics &amp; Audit Log Triggered</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2E75B6"/>
                    </a:solidFill>
                  </a:tcPr>
                </a:tc>
                <a:extLst>
                  <a:ext uri="{0D108BD9-81ED-4DB2-BD59-A6C34878D82A}">
                    <a16:rowId xmlns:a16="http://schemas.microsoft.com/office/drawing/2014/main" val="2896660552"/>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2292403261"/>
                  </a:ext>
                </a:extLst>
              </a:tr>
              <a:tr h="267517">
                <a:tc>
                  <a:txBody>
                    <a:bodyPr/>
                    <a:lstStyle/>
                    <a:p>
                      <a:pPr algn="ctr">
                        <a:spcAft>
                          <a:spcPts val="300"/>
                        </a:spcAft>
                      </a:pPr>
                      <a:r>
                        <a:rPr lang="en-MY" sz="600" b="1">
                          <a:solidFill>
                            <a:srgbClr val="FFFFFF"/>
                          </a:solidFill>
                          <a:effectLst/>
                          <a:latin typeface="Arial" panose="020B0604020202020204" pitchFamily="34" charset="0"/>
                          <a:ea typeface="Arial" panose="020B0604020202020204" pitchFamily="34" charset="0"/>
                        </a:rPr>
                        <a:t>Send Confirmation: Email &amp; SMS Notification</a:t>
                      </a:r>
                      <a:endParaRPr lang="en-MY" sz="600">
                        <a:effectLst/>
                        <a:latin typeface="Arial" panose="020B0604020202020204" pitchFamily="34" charset="0"/>
                        <a:ea typeface="Arial" panose="020B0604020202020204" pitchFamily="34" charset="0"/>
                      </a:endParaRPr>
                    </a:p>
                    <a:p>
                      <a:pPr algn="ctr">
                        <a:spcAft>
                          <a:spcPts val="0"/>
                        </a:spcAft>
                      </a:pPr>
                      <a:r>
                        <a:rPr lang="en-MY" sz="500" i="1">
                          <a:solidFill>
                            <a:srgbClr val="DDDDDD"/>
                          </a:solidFill>
                          <a:effectLst/>
                          <a:latin typeface="Arial" panose="020B0604020202020204" pitchFamily="34" charset="0"/>
                          <a:ea typeface="Arial" panose="020B0604020202020204" pitchFamily="34" charset="0"/>
                        </a:rPr>
                        <a:t>Account Credentials &amp; Login Link</a:t>
                      </a:r>
                      <a:endParaRPr lang="en-MY" sz="60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A7A4A"/>
                    </a:solidFill>
                  </a:tcPr>
                </a:tc>
                <a:extLst>
                  <a:ext uri="{0D108BD9-81ED-4DB2-BD59-A6C34878D82A}">
                    <a16:rowId xmlns:a16="http://schemas.microsoft.com/office/drawing/2014/main" val="3376896741"/>
                  </a:ext>
                </a:extLst>
              </a:tr>
              <a:tr h="83599">
                <a:tc>
                  <a:txBody>
                    <a:bodyPr/>
                    <a:lstStyle/>
                    <a:p>
                      <a:pPr algn="ctr">
                        <a:spcAft>
                          <a:spcPts val="0"/>
                        </a:spcAft>
                      </a:pPr>
                      <a:r>
                        <a:rPr lang="en-MY" sz="500">
                          <a:solidFill>
                            <a:srgbClr val="777777"/>
                          </a:solidFill>
                          <a:effectLst/>
                          <a:latin typeface="Arial" panose="020B0604020202020204" pitchFamily="34" charset="0"/>
                          <a:ea typeface="Arial" panose="020B0604020202020204" pitchFamily="34" charset="0"/>
                        </a:rPr>
                        <a:t>▼</a:t>
                      </a:r>
                      <a:endParaRPr lang="en-MY" sz="600">
                        <a:effectLst/>
                        <a:latin typeface="Arial" panose="020B0604020202020204" pitchFamily="34" charset="0"/>
                        <a:ea typeface="Arial" panose="020B0604020202020204" pitchFamily="34" charset="0"/>
                      </a:endParaRPr>
                    </a:p>
                  </a:txBody>
                  <a:tcPr marL="0" marR="0" marT="0" marB="0">
                    <a:lnL>
                      <a:noFill/>
                    </a:lnL>
                    <a:lnR>
                      <a:noFill/>
                    </a:lnR>
                    <a:lnT w="12700" cap="flat" cmpd="sng" algn="ctr">
                      <a:solidFill>
                        <a:srgbClr val="CCCCCC"/>
                      </a:solidFill>
                      <a:prstDash val="solid"/>
                      <a:round/>
                      <a:headEnd type="none" w="med" len="med"/>
                      <a:tailEnd type="none" w="med" len="med"/>
                    </a:lnT>
                    <a:lnB>
                      <a:noFill/>
                    </a:lnB>
                  </a:tcPr>
                </a:tc>
                <a:extLst>
                  <a:ext uri="{0D108BD9-81ED-4DB2-BD59-A6C34878D82A}">
                    <a16:rowId xmlns:a16="http://schemas.microsoft.com/office/drawing/2014/main" val="1248507512"/>
                  </a:ext>
                </a:extLst>
              </a:tr>
              <a:tr h="171378">
                <a:tc>
                  <a:txBody>
                    <a:bodyPr/>
                    <a:lstStyle/>
                    <a:p>
                      <a:pPr algn="ctr">
                        <a:spcAft>
                          <a:spcPts val="0"/>
                        </a:spcAft>
                      </a:pPr>
                      <a:r>
                        <a:rPr lang="en-MY" sz="600" b="1" dirty="0">
                          <a:solidFill>
                            <a:srgbClr val="FFFFFF"/>
                          </a:solidFill>
                          <a:effectLst/>
                          <a:latin typeface="Arial" panose="020B0604020202020204" pitchFamily="34" charset="0"/>
                          <a:ea typeface="Arial" panose="020B0604020202020204" pitchFamily="34" charset="0"/>
                        </a:rPr>
                        <a:t>END: Account Active — </a:t>
                      </a:r>
                      <a:r>
                        <a:rPr lang="en-MY" sz="600" b="1" dirty="0" err="1">
                          <a:solidFill>
                            <a:srgbClr val="FFFFFF"/>
                          </a:solidFill>
                          <a:effectLst/>
                          <a:latin typeface="Arial" panose="020B0604020202020204" pitchFamily="34" charset="0"/>
                          <a:ea typeface="Arial" panose="020B0604020202020204" pitchFamily="34" charset="0"/>
                        </a:rPr>
                        <a:t>Onboarding</a:t>
                      </a:r>
                      <a:r>
                        <a:rPr lang="en-MY" sz="600" b="1" dirty="0">
                          <a:solidFill>
                            <a:srgbClr val="FFFFFF"/>
                          </a:solidFill>
                          <a:effectLst/>
                          <a:latin typeface="Arial" panose="020B0604020202020204" pitchFamily="34" charset="0"/>
                          <a:ea typeface="Arial" panose="020B0604020202020204" pitchFamily="34" charset="0"/>
                        </a:rPr>
                        <a:t> Complete</a:t>
                      </a:r>
                      <a:endParaRPr lang="en-MY" sz="600" dirty="0">
                        <a:effectLst/>
                        <a:latin typeface="Arial" panose="020B0604020202020204" pitchFamily="34" charset="0"/>
                        <a:ea typeface="Arial" panose="020B0604020202020204" pitchFamily="34" charset="0"/>
                      </a:endParaRPr>
                    </a:p>
                  </a:txBody>
                  <a:tcPr marL="55733" marR="55733" marT="41800" marB="41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a:noFill/>
                    </a:lnT>
                    <a:lnB w="12700" cap="flat" cmpd="sng" algn="ctr">
                      <a:solidFill>
                        <a:srgbClr val="CCCCCC"/>
                      </a:solidFill>
                      <a:prstDash val="solid"/>
                      <a:round/>
                      <a:headEnd type="none" w="med" len="med"/>
                      <a:tailEnd type="none" w="med" len="med"/>
                    </a:lnB>
                    <a:solidFill>
                      <a:srgbClr val="1F3864"/>
                    </a:solidFill>
                  </a:tcPr>
                </a:tc>
                <a:extLst>
                  <a:ext uri="{0D108BD9-81ED-4DB2-BD59-A6C34878D82A}">
                    <a16:rowId xmlns:a16="http://schemas.microsoft.com/office/drawing/2014/main" val="287701421"/>
                  </a:ext>
                </a:extLst>
              </a:tr>
            </a:tbl>
          </a:graphicData>
        </a:graphic>
      </p:graphicFrame>
    </p:spTree>
    <p:extLst>
      <p:ext uri="{BB962C8B-B14F-4D97-AF65-F5344CB8AC3E}">
        <p14:creationId xmlns:p14="http://schemas.microsoft.com/office/powerpoint/2010/main" val="1690680625"/>
      </p:ext>
    </p:extLst>
  </p:cSld>
  <p:clrMapOvr>
    <a:masterClrMapping/>
  </p:clrMapOvr>
  <p:timing>
    <p:tnLst>
      <p:par>
        <p:cTn id="1" dur="indefinite" restart="never" nodeType="tmRoot"/>
      </p:par>
    </p:tnLst>
  </p:timing>
  <p:extLst mod="1">
    <p:ext uri="{6950BFC3-D8DA-4A85-94F7-54DA5524770B}">
      <p188:commentRel xmlns:p188="http://schemas.microsoft.com/office/powerpoint/2018/8/main" xmlns=""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82485-25DF-4D9E-F3E9-B30F74C1432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69C2D8-3835-BF53-2997-CFD41CB525FC}"/>
              </a:ext>
            </a:extLst>
          </p:cNvPr>
          <p:cNvSpPr>
            <a:spLocks noGrp="1"/>
          </p:cNvSpPr>
          <p:nvPr>
            <p:ph type="title"/>
          </p:nvPr>
        </p:nvSpPr>
        <p:spPr>
          <a:xfrm>
            <a:off x="572756" y="133943"/>
            <a:ext cx="9813446" cy="850726"/>
          </a:xfrm>
        </p:spPr>
        <p:txBody>
          <a:bodyPr>
            <a:noAutofit/>
          </a:bodyPr>
          <a:lstStyle/>
          <a:p>
            <a:r>
              <a:rPr lang="en-US" sz="3200" dirty="0"/>
              <a:t>System Design</a:t>
            </a:r>
          </a:p>
        </p:txBody>
      </p:sp>
      <p:sp>
        <p:nvSpPr>
          <p:cNvPr id="8" name="Content Placeholder 4">
            <a:extLst>
              <a:ext uri="{FF2B5EF4-FFF2-40B4-BE49-F238E27FC236}">
                <a16:creationId xmlns:a16="http://schemas.microsoft.com/office/drawing/2014/main" id="{DB049CFC-0239-E617-90F7-4A261297D600}"/>
              </a:ext>
            </a:extLst>
          </p:cNvPr>
          <p:cNvSpPr txBox="1">
            <a:spLocks/>
          </p:cNvSpPr>
          <p:nvPr/>
        </p:nvSpPr>
        <p:spPr>
          <a:xfrm>
            <a:off x="573087" y="1216025"/>
            <a:ext cx="10659485" cy="4909472"/>
          </a:xfrm>
          <a:prstGeom prst="rect">
            <a:avLst/>
          </a:prstGeom>
        </p:spPr>
        <p:txBody>
          <a:bodyPr vert="horz" lIns="91440" tIns="45720" rIns="91440" bIns="45720" rtlCol="0" anchor="t">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900" b="1" dirty="0"/>
              <a:t>Data Flow Diagram (DFD), </a:t>
            </a:r>
            <a:r>
              <a:rPr lang="en-US" sz="2900" b="1" dirty="0">
                <a:solidFill>
                  <a:srgbClr val="111620"/>
                </a:solidFill>
              </a:rPr>
              <a:t>Use Case and Sequence diagrams</a:t>
            </a:r>
            <a:endParaRPr lang="en-US" sz="2900" b="1" dirty="0">
              <a:solidFill>
                <a:srgbClr val="111620"/>
              </a:solidFill>
              <a:cs typeface="Arial"/>
            </a:endParaRPr>
          </a:p>
          <a:p>
            <a:pPr marL="0" indent="0">
              <a:buNone/>
            </a:pPr>
            <a:r>
              <a:rPr lang="en-MY" dirty="0"/>
              <a:t>┌────────────────────────────────────────────────────────────────────────────────┐ │                          EXTERNAL DATA SOURCES (Blue)                          │ ├────────────────────────────────────────────────────────────────────────────────┤ │                                                                                │ │  ┌─────────────┐  ┌─────────────┐  ┌─────────────┐  ┌─────────────┐          │ │  │    CRM      │  │    Loan     │  │    Core     │  │ Transaction │          │ │  │   System    │  │ Management  │  │   Banking   │  │    Logs     │          │ │  └──────┬──────┘  └──────┬──────┘  └──────┬──────┘  └──────┬──────┘          │ │         │                │                │                │                  │ │         │ Customer Data  │ Loan Data      │ Account Data   │ </a:t>
            </a:r>
            <a:r>
              <a:rPr lang="en-MY" dirty="0" err="1"/>
              <a:t>Txn</a:t>
            </a:r>
            <a:r>
              <a:rPr lang="en-MY" dirty="0"/>
              <a:t> Data        │ │         │                │                │                │                  │ └─────────┼────────────────┼────────────────┼────────────────┼──────────────────┘           │                │                │                │           │                │                │                │           ▼                ▼                ▼                ▼ ┌────────────────────────────────────────────────────────────────────────────────┐ │                        ETL PIPELINE: EXTRACT (Green)                           │ ├────────────────────────────────────────────────────────────────────────────────┤ │                                                                                │ │  ┌────────────────────────────────────────────────────────────────────────┐   │ │  │  EXTRACT: Pull data from each source system                            │   │ │  │  • Incremental extraction using CDC (Change Data Capture)              │   │ │  │  • Encrypted in transit (TLS 1.3)                                      │   │ │  │  • Audit: Log ETL timestamp for each batch extraction                  │   │ │  └────────────────────────────────────────────────────────────────────────┘   │ └────────────────────────────────────────────────────┬───────────────────────────┘                                                      │                                                      ▼ ┌────────────────────────────────────────────────────────────────────────────────┐ │                    DATA VALIDATION CHECKPOINT (Diamond)                        │ ├────────────────────────────────────────────────────────────────────────────────┤ │  ◇  Validate data quality: check for nulls, duplicates, referential integrity │ │  ◇  Compliance Check: PII data identified and tagged (GDPR requirement)       │ │  ◇  Audit: Record validation results and error counts                         │ └────────────────────────────────────────────────────┬───────────────────────────┘                                                      │                                                      ▼ ┌────────────────────────────────────────────────────────────────────────────────┐ │ </a:t>
            </a:r>
            <a:endParaRPr lang="en-US" dirty="0"/>
          </a:p>
        </p:txBody>
      </p:sp>
    </p:spTree>
    <p:extLst>
      <p:ext uri="{BB962C8B-B14F-4D97-AF65-F5344CB8AC3E}">
        <p14:creationId xmlns:p14="http://schemas.microsoft.com/office/powerpoint/2010/main" val="218548248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F4029-BD49-0B12-677E-7CB7A292E6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23D89A-BBAA-408C-0CCD-31610E3D910C}"/>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Proof of Concept (PoC)</a:t>
            </a:r>
            <a:endParaRPr lang="en-US" dirty="0"/>
          </a:p>
        </p:txBody>
      </p:sp>
      <p:sp>
        <p:nvSpPr>
          <p:cNvPr id="8" name="Content Placeholder 4">
            <a:extLst>
              <a:ext uri="{FF2B5EF4-FFF2-40B4-BE49-F238E27FC236}">
                <a16:creationId xmlns:a16="http://schemas.microsoft.com/office/drawing/2014/main" id="{ADD21A90-2949-64C5-5B7F-3467C985E63C}"/>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rPr>
              <a:t>PoC objective and </a:t>
            </a:r>
            <a:r>
              <a:rPr lang="en-US" sz="2400" b="1" dirty="0" smtClean="0">
                <a:solidFill>
                  <a:srgbClr val="111620"/>
                </a:solidFill>
              </a:rPr>
              <a:t>scope</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599850918"/>
              </p:ext>
            </p:extLst>
          </p:nvPr>
        </p:nvGraphicFramePr>
        <p:xfrm>
          <a:off x="658761" y="1956594"/>
          <a:ext cx="10874478" cy="4363720"/>
        </p:xfrm>
        <a:graphic>
          <a:graphicData uri="http://schemas.openxmlformats.org/drawingml/2006/table">
            <a:tbl>
              <a:tblPr/>
              <a:tblGrid>
                <a:gridCol w="2788328">
                  <a:extLst>
                    <a:ext uri="{9D8B030D-6E8A-4147-A177-3AD203B41FA5}">
                      <a16:colId xmlns:a16="http://schemas.microsoft.com/office/drawing/2014/main" val="885797996"/>
                    </a:ext>
                  </a:extLst>
                </a:gridCol>
                <a:gridCol w="8086150">
                  <a:extLst>
                    <a:ext uri="{9D8B030D-6E8A-4147-A177-3AD203B41FA5}">
                      <a16:colId xmlns:a16="http://schemas.microsoft.com/office/drawing/2014/main" val="427494978"/>
                    </a:ext>
                  </a:extLst>
                </a:gridCol>
              </a:tblGrid>
              <a:tr h="0">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Section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Description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extLst>
                  <a:ext uri="{0D108BD9-81ED-4DB2-BD59-A6C34878D82A}">
                    <a16:rowId xmlns:a16="http://schemas.microsoft.com/office/drawing/2014/main" val="713576483"/>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PoC Objective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Validate microservice deployment feasibility by testing an event processing pipeline using Apache Kafka and data synchronization between PostgreSQL and IBM Cloud Object Storage.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700302787"/>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Scope (In)</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Containerized Spring Boot microservice deployment via Docker; Kafka topic creation and message publishing; PostgreSQL event_log table writes; REST API endpoint validation via Postman; Cloud console connectivity check.</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2689232392"/>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Scope (Out)</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Production-level data volumes; live PCI-DSS cardholder environments; full OAuth 2.0 implementation; multi-region failover testing; mobile app integration.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962475319"/>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Success Criteria</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API response latency &lt; 2 seconds; Kafka message delivery confirmed within 150ms; 100% message delivery (no loss); PostgreSQL writes confirmed; container boot time &lt; 60 seconds; all API endpoints return expected HTTP status codes.</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3440180298"/>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Selected Use Cases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1. Real-time fraud detection event flow 2. API integration with external audit bureau (Credit Bureau API) 3. Containerized microservice deployment (Auth, Loan, Onboarding) 4. Data synchronization between PostgreSQL and cloud object storage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925506748"/>
                  </a:ext>
                </a:extLst>
              </a:tr>
              <a:tr h="0">
                <a:tc>
                  <a:txBody>
                    <a:bodyPr/>
                    <a:lstStyle/>
                    <a:p>
                      <a:pPr>
                        <a:spcAft>
                          <a:spcPts val="0"/>
                        </a:spcAft>
                      </a:pPr>
                      <a:r>
                        <a:rPr lang="en-MY" sz="1400" b="1">
                          <a:effectLst/>
                          <a:latin typeface="Arial" panose="020B0604020202020204" pitchFamily="34" charset="0"/>
                          <a:ea typeface="Arial" panose="020B0604020202020204" pitchFamily="34" charset="0"/>
                        </a:rPr>
                        <a:t>Assumptions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Sandbox environment with sample datasets only; mock API keys used for third-party credit bureau integration; Docker Desktop available on local dev machines; IBM Cloud or AWS free-tier access provisioned; 100 events/sec simulated load (not production-scale).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300441271"/>
                  </a:ext>
                </a:extLst>
              </a:tr>
            </a:tbl>
          </a:graphicData>
        </a:graphic>
      </p:graphicFrame>
    </p:spTree>
    <p:extLst>
      <p:ext uri="{BB962C8B-B14F-4D97-AF65-F5344CB8AC3E}">
        <p14:creationId xmlns:p14="http://schemas.microsoft.com/office/powerpoint/2010/main" val="423896884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75E1-8117-CD39-C176-4A6FB1DF11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D2E4E7-A5E7-7D3E-7282-76C7FFF9F4F0}"/>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Proof of Concept (PoC)</a:t>
            </a:r>
            <a:endParaRPr lang="en-US" dirty="0"/>
          </a:p>
        </p:txBody>
      </p:sp>
      <p:sp>
        <p:nvSpPr>
          <p:cNvPr id="8" name="Content Placeholder 4">
            <a:extLst>
              <a:ext uri="{FF2B5EF4-FFF2-40B4-BE49-F238E27FC236}">
                <a16:creationId xmlns:a16="http://schemas.microsoft.com/office/drawing/2014/main" id="{099B7162-7D75-D20D-2B5C-099DFE9F376B}"/>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PoC setup and tools</a:t>
            </a:r>
            <a:endParaRPr lang="en-US" dirty="0"/>
          </a:p>
          <a:p>
            <a:pPr marL="0" indent="0">
              <a:buNone/>
            </a:pPr>
            <a:endParaRPr lang="en-US" sz="1800" dirty="0">
              <a:highlight>
                <a:srgbClr val="FFFF00"/>
              </a:highlight>
              <a:ea typeface="+mn-lt"/>
              <a:cs typeface="+mn-lt"/>
            </a:endParaRPr>
          </a:p>
        </p:txBody>
      </p:sp>
      <p:graphicFrame>
        <p:nvGraphicFramePr>
          <p:cNvPr id="3" name="Table 2"/>
          <p:cNvGraphicFramePr>
            <a:graphicFrameLocks noGrp="1"/>
          </p:cNvGraphicFramePr>
          <p:nvPr>
            <p:extLst>
              <p:ext uri="{D42A27DB-BD31-4B8C-83A1-F6EECF244321}">
                <p14:modId xmlns:p14="http://schemas.microsoft.com/office/powerpoint/2010/main" val="845397032"/>
              </p:ext>
            </p:extLst>
          </p:nvPr>
        </p:nvGraphicFramePr>
        <p:xfrm>
          <a:off x="698091" y="1799302"/>
          <a:ext cx="10609005" cy="4066017"/>
        </p:xfrm>
        <a:graphic>
          <a:graphicData uri="http://schemas.openxmlformats.org/drawingml/2006/table">
            <a:tbl>
              <a:tblPr/>
              <a:tblGrid>
                <a:gridCol w="2380226">
                  <a:extLst>
                    <a:ext uri="{9D8B030D-6E8A-4147-A177-3AD203B41FA5}">
                      <a16:colId xmlns:a16="http://schemas.microsoft.com/office/drawing/2014/main" val="250596397"/>
                    </a:ext>
                  </a:extLst>
                </a:gridCol>
                <a:gridCol w="2380226">
                  <a:extLst>
                    <a:ext uri="{9D8B030D-6E8A-4147-A177-3AD203B41FA5}">
                      <a16:colId xmlns:a16="http://schemas.microsoft.com/office/drawing/2014/main" val="3449712723"/>
                    </a:ext>
                  </a:extLst>
                </a:gridCol>
                <a:gridCol w="1768167">
                  <a:extLst>
                    <a:ext uri="{9D8B030D-6E8A-4147-A177-3AD203B41FA5}">
                      <a16:colId xmlns:a16="http://schemas.microsoft.com/office/drawing/2014/main" val="1892721735"/>
                    </a:ext>
                  </a:extLst>
                </a:gridCol>
                <a:gridCol w="2380226">
                  <a:extLst>
                    <a:ext uri="{9D8B030D-6E8A-4147-A177-3AD203B41FA5}">
                      <a16:colId xmlns:a16="http://schemas.microsoft.com/office/drawing/2014/main" val="3873317472"/>
                    </a:ext>
                  </a:extLst>
                </a:gridCol>
                <a:gridCol w="1700160">
                  <a:extLst>
                    <a:ext uri="{9D8B030D-6E8A-4147-A177-3AD203B41FA5}">
                      <a16:colId xmlns:a16="http://schemas.microsoft.com/office/drawing/2014/main" val="842844908"/>
                    </a:ext>
                  </a:extLst>
                </a:gridCol>
              </a:tblGrid>
              <a:tr h="319121">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Component</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Technology</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Version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Setup Method</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Notes</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extLst>
                  <a:ext uri="{0D108BD9-81ED-4DB2-BD59-A6C34878D82A}">
                    <a16:rowId xmlns:a16="http://schemas.microsoft.com/office/drawing/2014/main" val="1110536204"/>
                  </a:ext>
                </a:extLst>
              </a:tr>
              <a:tr h="464177">
                <a:tc>
                  <a:txBody>
                    <a:bodyPr/>
                    <a:lstStyle/>
                    <a:p>
                      <a:pPr>
                        <a:spcAft>
                          <a:spcPts val="0"/>
                        </a:spcAft>
                      </a:pPr>
                      <a:r>
                        <a:rPr lang="en-MY" sz="1400">
                          <a:effectLst/>
                          <a:latin typeface="Arial" panose="020B0604020202020204" pitchFamily="34" charset="0"/>
                          <a:ea typeface="Arial" panose="020B0604020202020204" pitchFamily="34" charset="0"/>
                        </a:rPr>
                        <a:t>Microservice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Spring Boot</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3.2.x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Containerized via Docker</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Runs on port 8080</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4024420605"/>
                  </a:ext>
                </a:extLst>
              </a:tr>
              <a:tr h="464177">
                <a:tc>
                  <a:txBody>
                    <a:bodyPr/>
                    <a:lstStyle/>
                    <a:p>
                      <a:pPr>
                        <a:spcAft>
                          <a:spcPts val="0"/>
                        </a:spcAft>
                      </a:pPr>
                      <a:r>
                        <a:rPr lang="en-MY" sz="1400">
                          <a:effectLst/>
                          <a:latin typeface="Arial" panose="020B0604020202020204" pitchFamily="34" charset="0"/>
                          <a:ea typeface="Arial" panose="020B0604020202020204" pitchFamily="34" charset="0"/>
                        </a:rPr>
                        <a:t>Event Broker</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Apache Kafka</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3.6.x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Docker Compose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Topic: fraud-events</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2112437422"/>
                  </a:ext>
                </a:extLst>
              </a:tr>
              <a:tr h="464177">
                <a:tc>
                  <a:txBody>
                    <a:bodyPr/>
                    <a:lstStyle/>
                    <a:p>
                      <a:pPr>
                        <a:spcAft>
                          <a:spcPts val="0"/>
                        </a:spcAft>
                      </a:pPr>
                      <a:r>
                        <a:rPr lang="en-MY" sz="1400">
                          <a:effectLst/>
                          <a:latin typeface="Arial" panose="020B0604020202020204" pitchFamily="34" charset="0"/>
                          <a:ea typeface="Arial" panose="020B0604020202020204" pitchFamily="34" charset="0"/>
                        </a:rPr>
                        <a:t>Database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PostgreSQL</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15.x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Docker container</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Table: event_log</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3888204005"/>
                  </a:ext>
                </a:extLst>
              </a:tr>
              <a:tr h="638243">
                <a:tc>
                  <a:txBody>
                    <a:bodyPr/>
                    <a:lstStyle/>
                    <a:p>
                      <a:pPr>
                        <a:spcAft>
                          <a:spcPts val="0"/>
                        </a:spcAft>
                      </a:pPr>
                      <a:r>
                        <a:rPr lang="en-MY" sz="1400">
                          <a:effectLst/>
                          <a:latin typeface="Arial" panose="020B0604020202020204" pitchFamily="34" charset="0"/>
                          <a:ea typeface="Arial" panose="020B0604020202020204" pitchFamily="34" charset="0"/>
                        </a:rPr>
                        <a:t>API Testing</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Postman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10.x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Local installation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REST endpoint validation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3987274699"/>
                  </a:ext>
                </a:extLst>
              </a:tr>
              <a:tr h="464177">
                <a:tc>
                  <a:txBody>
                    <a:bodyPr/>
                    <a:lstStyle/>
                    <a:p>
                      <a:pPr>
                        <a:spcAft>
                          <a:spcPts val="0"/>
                        </a:spcAft>
                      </a:pPr>
                      <a:r>
                        <a:rPr lang="en-MY" sz="1400">
                          <a:effectLst/>
                          <a:latin typeface="Arial" panose="020B0604020202020204" pitchFamily="34" charset="0"/>
                          <a:ea typeface="Arial" panose="020B0604020202020204" pitchFamily="34" charset="0"/>
                        </a:rPr>
                        <a:t>Container Runtime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Docker Desktop</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25.x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Local / IBM Cloud</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Kubernetes-ready images</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2826242094"/>
                  </a:ext>
                </a:extLst>
              </a:tr>
              <a:tr h="638243">
                <a:tc>
                  <a:txBody>
                    <a:bodyPr/>
                    <a:lstStyle/>
                    <a:p>
                      <a:pPr>
                        <a:spcAft>
                          <a:spcPts val="0"/>
                        </a:spcAft>
                      </a:pPr>
                      <a:r>
                        <a:rPr lang="en-MY" sz="1400">
                          <a:effectLst/>
                          <a:latin typeface="Arial" panose="020B0604020202020204" pitchFamily="34" charset="0"/>
                          <a:ea typeface="Arial" panose="020B0604020202020204" pitchFamily="34" charset="0"/>
                        </a:rPr>
                        <a:t>Cloud Console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IBM Cloud / AWS Free Tier</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N/A</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Browser-based provisioning</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Object storage &amp; registry</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2924868181"/>
                  </a:ext>
                </a:extLst>
              </a:tr>
              <a:tr h="464177">
                <a:tc>
                  <a:txBody>
                    <a:bodyPr/>
                    <a:lstStyle/>
                    <a:p>
                      <a:pPr>
                        <a:spcAft>
                          <a:spcPts val="0"/>
                        </a:spcAft>
                      </a:pPr>
                      <a:r>
                        <a:rPr lang="en-MY" sz="1400">
                          <a:effectLst/>
                          <a:latin typeface="Arial" panose="020B0604020202020204" pitchFamily="34" charset="0"/>
                          <a:ea typeface="Arial" panose="020B0604020202020204" pitchFamily="34" charset="0"/>
                        </a:rPr>
                        <a:t>Monitoring</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Kafka CLI</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3.6.x</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Command line tools</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Consumer lag tracking</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3656637675"/>
                  </a:ext>
                </a:extLst>
              </a:tr>
            </a:tbl>
          </a:graphicData>
        </a:graphic>
      </p:graphicFrame>
    </p:spTree>
    <p:extLst>
      <p:ext uri="{BB962C8B-B14F-4D97-AF65-F5344CB8AC3E}">
        <p14:creationId xmlns:p14="http://schemas.microsoft.com/office/powerpoint/2010/main" val="3803525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1F451-092D-2E62-4F4D-F68AA0E029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2E9EC90-59DB-18D1-CE16-46BF1BF71682}"/>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Proof of Concept (PoC)</a:t>
            </a:r>
            <a:endParaRPr lang="en-US" dirty="0"/>
          </a:p>
        </p:txBody>
      </p:sp>
      <p:sp>
        <p:nvSpPr>
          <p:cNvPr id="8" name="Content Placeholder 4">
            <a:extLst>
              <a:ext uri="{FF2B5EF4-FFF2-40B4-BE49-F238E27FC236}">
                <a16:creationId xmlns:a16="http://schemas.microsoft.com/office/drawing/2014/main" id="{FB3A29F4-6013-B47C-5654-F2A830BCA049}"/>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Limitations and </a:t>
            </a:r>
            <a:r>
              <a:rPr lang="en-US" sz="2400" b="1" dirty="0" smtClean="0">
                <a:solidFill>
                  <a:srgbClr val="111620"/>
                </a:solidFill>
                <a:ea typeface="+mn-lt"/>
                <a:cs typeface="+mn-lt"/>
              </a:rPr>
              <a:t>recommendations</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2073529908"/>
              </p:ext>
            </p:extLst>
          </p:nvPr>
        </p:nvGraphicFramePr>
        <p:xfrm>
          <a:off x="668596" y="1828799"/>
          <a:ext cx="10687662" cy="4203395"/>
        </p:xfrm>
        <a:graphic>
          <a:graphicData uri="http://schemas.openxmlformats.org/drawingml/2006/table">
            <a:tbl>
              <a:tblPr/>
              <a:tblGrid>
                <a:gridCol w="2055320">
                  <a:extLst>
                    <a:ext uri="{9D8B030D-6E8A-4147-A177-3AD203B41FA5}">
                      <a16:colId xmlns:a16="http://schemas.microsoft.com/office/drawing/2014/main" val="1266052244"/>
                    </a:ext>
                  </a:extLst>
                </a:gridCol>
                <a:gridCol w="3082980">
                  <a:extLst>
                    <a:ext uri="{9D8B030D-6E8A-4147-A177-3AD203B41FA5}">
                      <a16:colId xmlns:a16="http://schemas.microsoft.com/office/drawing/2014/main" val="1295352096"/>
                    </a:ext>
                  </a:extLst>
                </a:gridCol>
                <a:gridCol w="1781276">
                  <a:extLst>
                    <a:ext uri="{9D8B030D-6E8A-4147-A177-3AD203B41FA5}">
                      <a16:colId xmlns:a16="http://schemas.microsoft.com/office/drawing/2014/main" val="4010241988"/>
                    </a:ext>
                  </a:extLst>
                </a:gridCol>
                <a:gridCol w="3768086">
                  <a:extLst>
                    <a:ext uri="{9D8B030D-6E8A-4147-A177-3AD203B41FA5}">
                      <a16:colId xmlns:a16="http://schemas.microsoft.com/office/drawing/2014/main" val="808061059"/>
                    </a:ext>
                  </a:extLst>
                </a:gridCol>
              </a:tblGrid>
              <a:tr h="311624">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Category</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Finding</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Impact</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Recommendation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extLst>
                  <a:ext uri="{0D108BD9-81ED-4DB2-BD59-A6C34878D82A}">
                    <a16:rowId xmlns:a16="http://schemas.microsoft.com/office/drawing/2014/main" val="2519516284"/>
                  </a:ext>
                </a:extLst>
              </a:tr>
              <a:tr h="793225">
                <a:tc>
                  <a:txBody>
                    <a:bodyPr/>
                    <a:lstStyle/>
                    <a:p>
                      <a:pPr>
                        <a:spcAft>
                          <a:spcPts val="0"/>
                        </a:spcAft>
                      </a:pPr>
                      <a:r>
                        <a:rPr lang="en-MY" sz="1400">
                          <a:effectLst/>
                          <a:latin typeface="Arial" panose="020B0604020202020204" pitchFamily="34" charset="0"/>
                          <a:ea typeface="Arial" panose="020B0604020202020204" pitchFamily="34" charset="0"/>
                        </a:rPr>
                        <a:t>Performance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Kafka latency averaged 120ms against a 150ms threshold — within target range</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Meets goal</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Scale Kafka partitions from 1 to 3 before production load testing to maintain margin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2313111171"/>
                  </a:ext>
                </a:extLst>
              </a:tr>
              <a:tr h="623248">
                <a:tc>
                  <a:txBody>
                    <a:bodyPr/>
                    <a:lstStyle/>
                    <a:p>
                      <a:pPr>
                        <a:spcAft>
                          <a:spcPts val="0"/>
                        </a:spcAft>
                      </a:pPr>
                      <a:r>
                        <a:rPr lang="en-MY" sz="1400">
                          <a:effectLst/>
                          <a:latin typeface="Arial" panose="020B0604020202020204" pitchFamily="34" charset="0"/>
                          <a:ea typeface="Arial" panose="020B0604020202020204" pitchFamily="34" charset="0"/>
                        </a:rPr>
                        <a:t>Integration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Credit Bureau mock API responded correctly; real OAuth 2.0 not yet tested</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Good (partial)</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Add OAuth 2.0 bearer token flow before production; implement retry with exponential backoff</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1566264426"/>
                  </a:ext>
                </a:extLst>
              </a:tr>
              <a:tr h="793225">
                <a:tc>
                  <a:txBody>
                    <a:bodyPr/>
                    <a:lstStyle/>
                    <a:p>
                      <a:pPr>
                        <a:spcAft>
                          <a:spcPts val="0"/>
                        </a:spcAft>
                      </a:pPr>
                      <a:r>
                        <a:rPr lang="en-MY" sz="1400">
                          <a:effectLst/>
                          <a:latin typeface="Arial" panose="020B0604020202020204" pitchFamily="34" charset="0"/>
                          <a:ea typeface="Arial" panose="020B0604020202020204" pitchFamily="34" charset="0"/>
                        </a:rPr>
                        <a:t>Security</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Basic auth only used in sandbox; no TLS between services; RBAC not yet enforced</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Partial</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Implement mTLS for service-to-service communication; integrate Kubernetes RBAC before staging promotion</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2468291108"/>
                  </a:ext>
                </a:extLst>
              </a:tr>
              <a:tr h="623248">
                <a:tc>
                  <a:txBody>
                    <a:bodyPr/>
                    <a:lstStyle/>
                    <a:p>
                      <a:pPr>
                        <a:spcAft>
                          <a:spcPts val="0"/>
                        </a:spcAft>
                      </a:pPr>
                      <a:r>
                        <a:rPr lang="en-MY" sz="1400">
                          <a:effectLst/>
                          <a:latin typeface="Arial" panose="020B0604020202020204" pitchFamily="34" charset="0"/>
                          <a:ea typeface="Arial" panose="020B0604020202020204" pitchFamily="34" charset="0"/>
                        </a:rPr>
                        <a:t>Deployment</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Spring Boot containerized successfully via Docker; image size ~145MB</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Good</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effectLst/>
                          <a:latin typeface="Arial" panose="020B0604020202020204" pitchFamily="34" charset="0"/>
                          <a:ea typeface="Arial" panose="020B0604020202020204" pitchFamily="34" charset="0"/>
                        </a:rPr>
                        <a:t>Integrate CI/CD pipeline next; add automated vulnerability scanning (Trivy) before registry push</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1901350767"/>
                  </a:ext>
                </a:extLst>
              </a:tr>
              <a:tr h="793225">
                <a:tc>
                  <a:txBody>
                    <a:bodyPr/>
                    <a:lstStyle/>
                    <a:p>
                      <a:pPr>
                        <a:spcAft>
                          <a:spcPts val="0"/>
                        </a:spcAft>
                      </a:pPr>
                      <a:r>
                        <a:rPr lang="en-MY" sz="1400">
                          <a:effectLst/>
                          <a:latin typeface="Arial" panose="020B0604020202020204" pitchFamily="34" charset="0"/>
                          <a:ea typeface="Arial" panose="020B0604020202020204" pitchFamily="34" charset="0"/>
                        </a:rPr>
                        <a:t>Data Sync</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PostgreSQL write latency within acceptable range; cloud object storage sync not fully tested</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effectLst/>
                          <a:latin typeface="Arial" panose="020B0604020202020204" pitchFamily="34" charset="0"/>
                          <a:ea typeface="Arial" panose="020B0604020202020204" pitchFamily="34" charset="0"/>
                        </a:rPr>
                        <a:t>Partial</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dirty="0">
                          <a:effectLst/>
                          <a:latin typeface="Arial" panose="020B0604020202020204" pitchFamily="34" charset="0"/>
                          <a:ea typeface="Arial" panose="020B0604020202020204" pitchFamily="34" charset="0"/>
                        </a:rPr>
                        <a:t>Complete object storage sync testing in next </a:t>
                      </a:r>
                      <a:r>
                        <a:rPr lang="en-MY" sz="1400" dirty="0" err="1">
                          <a:effectLst/>
                          <a:latin typeface="Arial" panose="020B0604020202020204" pitchFamily="34" charset="0"/>
                          <a:ea typeface="Arial" panose="020B0604020202020204" pitchFamily="34" charset="0"/>
                        </a:rPr>
                        <a:t>PoC</a:t>
                      </a:r>
                      <a:r>
                        <a:rPr lang="en-MY" sz="1400" dirty="0">
                          <a:effectLst/>
                          <a:latin typeface="Arial" panose="020B0604020202020204" pitchFamily="34" charset="0"/>
                          <a:ea typeface="Arial" panose="020B0604020202020204" pitchFamily="34" charset="0"/>
                        </a:rPr>
                        <a:t> iteration with AWS S3 or IBM COS</a:t>
                      </a: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3170070191"/>
                  </a:ext>
                </a:extLst>
              </a:tr>
            </a:tbl>
          </a:graphicData>
        </a:graphic>
      </p:graphicFrame>
    </p:spTree>
    <p:extLst>
      <p:ext uri="{BB962C8B-B14F-4D97-AF65-F5344CB8AC3E}">
        <p14:creationId xmlns:p14="http://schemas.microsoft.com/office/powerpoint/2010/main" val="29338102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E8841-7F20-2527-7646-310BCB230E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D48B57-8B80-2913-BD20-CD738953F632}"/>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Database design</a:t>
            </a:r>
            <a:endParaRPr lang="en-US" dirty="0"/>
          </a:p>
        </p:txBody>
      </p:sp>
      <p:sp>
        <p:nvSpPr>
          <p:cNvPr id="8" name="Content Placeholder 4">
            <a:extLst>
              <a:ext uri="{FF2B5EF4-FFF2-40B4-BE49-F238E27FC236}">
                <a16:creationId xmlns:a16="http://schemas.microsoft.com/office/drawing/2014/main" id="{65495165-6991-8FF4-F704-6E297EAFFECE}"/>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cs typeface="Arial"/>
              </a:rPr>
              <a:t>Conceptual </a:t>
            </a:r>
            <a:r>
              <a:rPr lang="en-US" sz="2400" b="1" dirty="0" smtClean="0">
                <a:solidFill>
                  <a:srgbClr val="111620"/>
                </a:solidFill>
                <a:cs typeface="Arial"/>
              </a:rPr>
              <a:t>ERD</a:t>
            </a:r>
          </a:p>
          <a:p>
            <a:pPr marL="0" indent="0">
              <a:buNone/>
            </a:pPr>
            <a:endParaRPr lang="en-US" sz="2400" b="1" dirty="0">
              <a:solidFill>
                <a:srgbClr val="111620"/>
              </a:solidFill>
              <a:ea typeface="+mn-lt"/>
              <a:cs typeface="Arial"/>
            </a:endParaRPr>
          </a:p>
          <a:p>
            <a:pPr marL="0" indent="0">
              <a:buNone/>
            </a:pPr>
            <a:endParaRPr lang="en-US" dirty="0">
              <a:ea typeface="+mn-lt"/>
              <a:cs typeface="+mn-lt"/>
            </a:endParaRPr>
          </a:p>
        </p:txBody>
      </p:sp>
      <p:pic>
        <p:nvPicPr>
          <p:cNvPr id="2" name="Picture 1"/>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3696928" y="1216025"/>
            <a:ext cx="7653399" cy="5270812"/>
          </a:xfrm>
          <a:prstGeom prst="rect">
            <a:avLst/>
          </a:prstGeom>
        </p:spPr>
      </p:pic>
    </p:spTree>
    <p:extLst>
      <p:ext uri="{BB962C8B-B14F-4D97-AF65-F5344CB8AC3E}">
        <p14:creationId xmlns:p14="http://schemas.microsoft.com/office/powerpoint/2010/main" val="24722885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B9CFD-5AC8-6C5F-C720-AD284E83580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997CCC-4016-98BD-F149-695093E5D291}"/>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Database design</a:t>
            </a:r>
            <a:endParaRPr lang="en-US" dirty="0"/>
          </a:p>
        </p:txBody>
      </p:sp>
      <p:sp>
        <p:nvSpPr>
          <p:cNvPr id="8" name="Content Placeholder 4">
            <a:extLst>
              <a:ext uri="{FF2B5EF4-FFF2-40B4-BE49-F238E27FC236}">
                <a16:creationId xmlns:a16="http://schemas.microsoft.com/office/drawing/2014/main" id="{3BA6798E-F6F4-42FB-C8A3-C3DD88D25CD7}"/>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cs typeface="Arial"/>
              </a:rPr>
              <a:t>Logical </a:t>
            </a:r>
            <a:r>
              <a:rPr lang="en-US" sz="2400" b="1" dirty="0" smtClean="0">
                <a:solidFill>
                  <a:srgbClr val="111620"/>
                </a:solidFill>
                <a:cs typeface="Arial"/>
              </a:rPr>
              <a:t>ERD</a:t>
            </a:r>
          </a:p>
          <a:p>
            <a:pPr marL="0" indent="0">
              <a:buNone/>
            </a:pPr>
            <a:endParaRPr lang="en-US" dirty="0"/>
          </a:p>
        </p:txBody>
      </p:sp>
      <p:pic>
        <p:nvPicPr>
          <p:cNvPr id="2" name="Picture 1"/>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041058" y="728853"/>
            <a:ext cx="7279430" cy="5726024"/>
          </a:xfrm>
          <a:prstGeom prst="rect">
            <a:avLst/>
          </a:prstGeom>
        </p:spPr>
      </p:pic>
    </p:spTree>
    <p:extLst>
      <p:ext uri="{BB962C8B-B14F-4D97-AF65-F5344CB8AC3E}">
        <p14:creationId xmlns:p14="http://schemas.microsoft.com/office/powerpoint/2010/main" val="11624131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0722-35BB-3A4A-85C7-05438A6B32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1BB885-2C10-85E1-3929-393041B45B48}"/>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Database design</a:t>
            </a:r>
            <a:endParaRPr lang="en-US" dirty="0"/>
          </a:p>
        </p:txBody>
      </p:sp>
      <p:sp>
        <p:nvSpPr>
          <p:cNvPr id="8" name="Content Placeholder 4">
            <a:extLst>
              <a:ext uri="{FF2B5EF4-FFF2-40B4-BE49-F238E27FC236}">
                <a16:creationId xmlns:a16="http://schemas.microsoft.com/office/drawing/2014/main" id="{DC35AA0F-3124-1C72-A090-DBCC51D3CD5D}"/>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Data Dictionary </a:t>
            </a:r>
            <a:endParaRPr lang="en-US" sz="2400" b="1" dirty="0" smtClean="0">
              <a:solidFill>
                <a:srgbClr val="111620"/>
              </a:solidFill>
              <a:ea typeface="+mn-lt"/>
              <a:cs typeface="+mn-lt"/>
            </a:endParaRP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370773825"/>
              </p:ext>
            </p:extLst>
          </p:nvPr>
        </p:nvGraphicFramePr>
        <p:xfrm>
          <a:off x="648929" y="1769805"/>
          <a:ext cx="10776155" cy="4454013"/>
        </p:xfrm>
        <a:graphic>
          <a:graphicData uri="http://schemas.openxmlformats.org/drawingml/2006/table">
            <a:tbl>
              <a:tblPr/>
              <a:tblGrid>
                <a:gridCol w="2532856">
                  <a:extLst>
                    <a:ext uri="{9D8B030D-6E8A-4147-A177-3AD203B41FA5}">
                      <a16:colId xmlns:a16="http://schemas.microsoft.com/office/drawing/2014/main" val="1307788640"/>
                    </a:ext>
                  </a:extLst>
                </a:gridCol>
                <a:gridCol w="2072338">
                  <a:extLst>
                    <a:ext uri="{9D8B030D-6E8A-4147-A177-3AD203B41FA5}">
                      <a16:colId xmlns:a16="http://schemas.microsoft.com/office/drawing/2014/main" val="3817096636"/>
                    </a:ext>
                  </a:extLst>
                </a:gridCol>
                <a:gridCol w="3453896">
                  <a:extLst>
                    <a:ext uri="{9D8B030D-6E8A-4147-A177-3AD203B41FA5}">
                      <a16:colId xmlns:a16="http://schemas.microsoft.com/office/drawing/2014/main" val="3887971201"/>
                    </a:ext>
                  </a:extLst>
                </a:gridCol>
                <a:gridCol w="2717065">
                  <a:extLst>
                    <a:ext uri="{9D8B030D-6E8A-4147-A177-3AD203B41FA5}">
                      <a16:colId xmlns:a16="http://schemas.microsoft.com/office/drawing/2014/main" val="77743341"/>
                    </a:ext>
                  </a:extLst>
                </a:gridCol>
              </a:tblGrid>
              <a:tr h="466611">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Field</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Data Type</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Description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Constraints</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extLst>
                  <a:ext uri="{0D108BD9-81ED-4DB2-BD59-A6C34878D82A}">
                    <a16:rowId xmlns:a16="http://schemas.microsoft.com/office/drawing/2014/main" val="675241631"/>
                  </a:ext>
                </a:extLst>
              </a:tr>
              <a:tr h="678706">
                <a:tc>
                  <a:txBody>
                    <a:bodyPr/>
                    <a:lstStyle/>
                    <a:p>
                      <a:pPr>
                        <a:spcAft>
                          <a:spcPts val="0"/>
                        </a:spcAft>
                      </a:pPr>
                      <a:r>
                        <a:rPr lang="en-MY" sz="1400" b="1">
                          <a:solidFill>
                            <a:srgbClr val="000000"/>
                          </a:solidFill>
                          <a:effectLst/>
                          <a:latin typeface="Arial" panose="020B0604020202020204" pitchFamily="34" charset="0"/>
                          <a:ea typeface="Arial" panose="020B0604020202020204" pitchFamily="34" charset="0"/>
                        </a:rPr>
                        <a:t>customer_id</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UUID</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Unique customer identifier (PK)</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PRIMARY KEY, NOT NULL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804111028"/>
                  </a:ext>
                </a:extLst>
              </a:tr>
              <a:tr h="424192">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first_name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VARCHAR(50)</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Customer's legal first name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NOT NULL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3257012688"/>
                  </a:ext>
                </a:extLst>
              </a:tr>
              <a:tr h="424192">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last_name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VARCHAR(50)</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Customer's legal last name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NOT NULL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2964980768"/>
                  </a:ext>
                </a:extLst>
              </a:tr>
              <a:tr h="678706">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dob</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DATE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Date of birth for KYC verification</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NOT NULL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1738108515"/>
                  </a:ext>
                </a:extLst>
              </a:tr>
              <a:tr h="424192">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email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VARCHAR(100)</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Primary contact email address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UNIQUE, NOT NULL</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57847271"/>
                  </a:ext>
                </a:extLst>
              </a:tr>
              <a:tr h="933222">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kyc_status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VARCHAR(20)</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KYC verification state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CHECK IN ('PENDING','VERIFIED','REJECTED')</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373140716"/>
                  </a:ext>
                </a:extLst>
              </a:tr>
              <a:tr h="424192">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created_at</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TIMESTAMP</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Record creation timestamp</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dirty="0">
                          <a:solidFill>
                            <a:srgbClr val="000000"/>
                          </a:solidFill>
                          <a:effectLst/>
                          <a:latin typeface="Arial" panose="020B0604020202020204" pitchFamily="34" charset="0"/>
                          <a:ea typeface="Arial" panose="020B0604020202020204" pitchFamily="34" charset="0"/>
                        </a:rPr>
                        <a:t>DEFAULT NOW()</a:t>
                      </a:r>
                      <a:endParaRPr lang="en-MY" sz="14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860703633"/>
                  </a:ext>
                </a:extLst>
              </a:tr>
            </a:tbl>
          </a:graphicData>
        </a:graphic>
      </p:graphicFrame>
    </p:spTree>
    <p:extLst>
      <p:ext uri="{BB962C8B-B14F-4D97-AF65-F5344CB8AC3E}">
        <p14:creationId xmlns:p14="http://schemas.microsoft.com/office/powerpoint/2010/main" val="10119415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EDF75-0D3B-7AFC-3D71-97C545F5A4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83D5C0D-0702-B842-B05A-AB40E6729109}"/>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Database design</a:t>
            </a:r>
            <a:endParaRPr lang="en-US" dirty="0"/>
          </a:p>
        </p:txBody>
      </p:sp>
      <p:sp>
        <p:nvSpPr>
          <p:cNvPr id="8" name="Content Placeholder 4">
            <a:extLst>
              <a:ext uri="{FF2B5EF4-FFF2-40B4-BE49-F238E27FC236}">
                <a16:creationId xmlns:a16="http://schemas.microsoft.com/office/drawing/2014/main" id="{6EBF7F26-70E8-8F0A-9EEF-FF09EABBE3B4}"/>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Data Migration Strategy  </a:t>
            </a:r>
            <a:endParaRPr lang="en-US" sz="2400" b="1" dirty="0" smtClean="0">
              <a:solidFill>
                <a:srgbClr val="111620"/>
              </a:solidFill>
              <a:ea typeface="+mn-lt"/>
              <a:cs typeface="+mn-lt"/>
            </a:endParaRPr>
          </a:p>
          <a:p>
            <a:pPr marL="0" indent="0">
              <a:buNone/>
            </a:pPr>
            <a:endParaRPr lang="en-US" dirty="0">
              <a:cs typeface="Arial"/>
            </a:endParaRPr>
          </a:p>
        </p:txBody>
      </p:sp>
      <p:graphicFrame>
        <p:nvGraphicFramePr>
          <p:cNvPr id="3" name="Table 2"/>
          <p:cNvGraphicFramePr>
            <a:graphicFrameLocks noGrp="1"/>
          </p:cNvGraphicFramePr>
          <p:nvPr>
            <p:extLst>
              <p:ext uri="{D42A27DB-BD31-4B8C-83A1-F6EECF244321}">
                <p14:modId xmlns:p14="http://schemas.microsoft.com/office/powerpoint/2010/main" val="2906441564"/>
              </p:ext>
            </p:extLst>
          </p:nvPr>
        </p:nvGraphicFramePr>
        <p:xfrm>
          <a:off x="668594" y="1986115"/>
          <a:ext cx="10441858" cy="3965003"/>
        </p:xfrm>
        <a:graphic>
          <a:graphicData uri="http://schemas.openxmlformats.org/drawingml/2006/table">
            <a:tbl>
              <a:tblPr firstRow="1" firstCol="1" bandRow="1"/>
              <a:tblGrid>
                <a:gridCol w="10441858">
                  <a:extLst>
                    <a:ext uri="{9D8B030D-6E8A-4147-A177-3AD203B41FA5}">
                      <a16:colId xmlns:a16="http://schemas.microsoft.com/office/drawing/2014/main" val="2780768391"/>
                    </a:ext>
                  </a:extLst>
                </a:gridCol>
              </a:tblGrid>
              <a:tr h="3965003">
                <a:tc>
                  <a:txBody>
                    <a:bodyPr/>
                    <a:lstStyle/>
                    <a:p>
                      <a:pPr>
                        <a:spcAft>
                          <a:spcPts val="0"/>
                        </a:spcAft>
                      </a:pPr>
                      <a:r>
                        <a:rPr lang="en-MY" sz="3200" b="1" dirty="0">
                          <a:solidFill>
                            <a:srgbClr val="1F3864"/>
                          </a:solidFill>
                          <a:effectLst/>
                          <a:latin typeface="Arial" panose="020B0604020202020204" pitchFamily="34" charset="0"/>
                          <a:ea typeface="Arial" panose="020B0604020202020204" pitchFamily="34" charset="0"/>
                        </a:rPr>
                        <a:t>Migration Flow:</a:t>
                      </a:r>
                      <a:endParaRPr lang="en-MY" sz="3200" dirty="0">
                        <a:effectLst/>
                        <a:latin typeface="Arial" panose="020B0604020202020204" pitchFamily="34" charset="0"/>
                        <a:ea typeface="Arial" panose="020B0604020202020204" pitchFamily="34" charset="0"/>
                      </a:endParaRPr>
                    </a:p>
                    <a:p>
                      <a:pPr>
                        <a:spcBef>
                          <a:spcPts val="400"/>
                        </a:spcBef>
                        <a:spcAft>
                          <a:spcPts val="0"/>
                        </a:spcAft>
                      </a:pPr>
                      <a:r>
                        <a:rPr lang="en-MY" sz="3200" dirty="0">
                          <a:solidFill>
                            <a:srgbClr val="222222"/>
                          </a:solidFill>
                          <a:effectLst/>
                          <a:latin typeface="Arial" panose="020B0604020202020204" pitchFamily="34" charset="0"/>
                          <a:ea typeface="Arial" panose="020B0604020202020204" pitchFamily="34" charset="0"/>
                        </a:rPr>
                        <a:t>Legacy Source Systems  →  ETL Extract  →  Staging Area  →  Data Validation  →  Transform &amp; Cleanse  →  Load to EDW  →  Parallel Validation  →  Go/No-Go Gate  →  Production Cutover</a:t>
                      </a:r>
                      <a:endParaRPr lang="en-MY" sz="3200" dirty="0">
                        <a:effectLst/>
                        <a:latin typeface="Arial" panose="020B0604020202020204" pitchFamily="34" charset="0"/>
                        <a:ea typeface="Arial" panose="020B0604020202020204" pitchFamily="34" charset="0"/>
                      </a:endParaRPr>
                    </a:p>
                    <a:p>
                      <a:pPr>
                        <a:spcBef>
                          <a:spcPts val="300"/>
                        </a:spcBef>
                        <a:spcAft>
                          <a:spcPts val="0"/>
                        </a:spcAft>
                      </a:pPr>
                      <a:r>
                        <a:rPr lang="en-MY" sz="3200" i="1" dirty="0">
                          <a:solidFill>
                            <a:srgbClr val="8B0000"/>
                          </a:solidFill>
                          <a:effectLst/>
                          <a:latin typeface="Arial" panose="020B0604020202020204" pitchFamily="34" charset="0"/>
                          <a:ea typeface="Arial" panose="020B0604020202020204" pitchFamily="34" charset="0"/>
                        </a:rPr>
                        <a:t>Rollback available at every arrow. Legacy systems remain live until final cutover is signed off.</a:t>
                      </a:r>
                      <a:endParaRPr lang="en-MY" sz="3200" dirty="0">
                        <a:effectLst/>
                        <a:latin typeface="Arial" panose="020B0604020202020204" pitchFamily="34" charset="0"/>
                        <a:ea typeface="Arial" panose="020B0604020202020204" pitchFamily="34" charset="0"/>
                      </a:endParaRPr>
                    </a:p>
                  </a:txBody>
                  <a:tcPr marL="127000" marR="127000" marT="76200" marB="762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D5E8F0"/>
                    </a:solidFill>
                  </a:tcPr>
                </a:tc>
                <a:extLst>
                  <a:ext uri="{0D108BD9-81ED-4DB2-BD59-A6C34878D82A}">
                    <a16:rowId xmlns:a16="http://schemas.microsoft.com/office/drawing/2014/main" val="811706759"/>
                  </a:ext>
                </a:extLst>
              </a:tr>
            </a:tbl>
          </a:graphicData>
        </a:graphic>
      </p:graphicFrame>
    </p:spTree>
    <p:extLst>
      <p:ext uri="{BB962C8B-B14F-4D97-AF65-F5344CB8AC3E}">
        <p14:creationId xmlns:p14="http://schemas.microsoft.com/office/powerpoint/2010/main" val="3425723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36F2E-72F7-2E54-3008-4F663F9AEB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1571C3F-2C67-4AD9-4CE6-4A9BA1280CC6}"/>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Database design</a:t>
            </a:r>
            <a:endParaRPr lang="en-US" dirty="0"/>
          </a:p>
        </p:txBody>
      </p:sp>
      <p:sp>
        <p:nvSpPr>
          <p:cNvPr id="8" name="Content Placeholder 4">
            <a:extLst>
              <a:ext uri="{FF2B5EF4-FFF2-40B4-BE49-F238E27FC236}">
                <a16:creationId xmlns:a16="http://schemas.microsoft.com/office/drawing/2014/main" id="{136C01C3-A9C5-0652-D45B-B41050237728}"/>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Normalization and Key Table Details  </a:t>
            </a:r>
            <a:endParaRPr lang="en-US" sz="2400" b="1" dirty="0" smtClean="0">
              <a:solidFill>
                <a:srgbClr val="111620"/>
              </a:solidFill>
              <a:ea typeface="+mn-lt"/>
              <a:cs typeface="+mn-lt"/>
            </a:endParaRPr>
          </a:p>
          <a:p>
            <a:pPr marL="0" indent="0">
              <a:buNone/>
            </a:pPr>
            <a:endParaRPr lang="en-US" dirty="0">
              <a:cs typeface="Arial"/>
            </a:endParaRPr>
          </a:p>
        </p:txBody>
      </p:sp>
      <p:graphicFrame>
        <p:nvGraphicFramePr>
          <p:cNvPr id="3" name="Table 2"/>
          <p:cNvGraphicFramePr>
            <a:graphicFrameLocks noGrp="1"/>
          </p:cNvGraphicFramePr>
          <p:nvPr>
            <p:extLst>
              <p:ext uri="{D42A27DB-BD31-4B8C-83A1-F6EECF244321}">
                <p14:modId xmlns:p14="http://schemas.microsoft.com/office/powerpoint/2010/main" val="400067034"/>
              </p:ext>
            </p:extLst>
          </p:nvPr>
        </p:nvGraphicFramePr>
        <p:xfrm>
          <a:off x="648928" y="1818968"/>
          <a:ext cx="10583644" cy="4370073"/>
        </p:xfrm>
        <a:graphic>
          <a:graphicData uri="http://schemas.openxmlformats.org/drawingml/2006/table">
            <a:tbl>
              <a:tblPr/>
              <a:tblGrid>
                <a:gridCol w="2035316">
                  <a:extLst>
                    <a:ext uri="{9D8B030D-6E8A-4147-A177-3AD203B41FA5}">
                      <a16:colId xmlns:a16="http://schemas.microsoft.com/office/drawing/2014/main" val="2562335614"/>
                    </a:ext>
                  </a:extLst>
                </a:gridCol>
                <a:gridCol w="4274164">
                  <a:extLst>
                    <a:ext uri="{9D8B030D-6E8A-4147-A177-3AD203B41FA5}">
                      <a16:colId xmlns:a16="http://schemas.microsoft.com/office/drawing/2014/main" val="3930953270"/>
                    </a:ext>
                  </a:extLst>
                </a:gridCol>
                <a:gridCol w="4274164">
                  <a:extLst>
                    <a:ext uri="{9D8B030D-6E8A-4147-A177-3AD203B41FA5}">
                      <a16:colId xmlns:a16="http://schemas.microsoft.com/office/drawing/2014/main" val="2800840413"/>
                    </a:ext>
                  </a:extLst>
                </a:gridCol>
              </a:tblGrid>
              <a:tr h="335809">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Step</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Action Taken</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tc>
                  <a:txBody>
                    <a:bodyPr/>
                    <a:lstStyle/>
                    <a:p>
                      <a:pPr>
                        <a:spcAft>
                          <a:spcPts val="0"/>
                        </a:spcAft>
                      </a:pPr>
                      <a:r>
                        <a:rPr lang="en-MY" sz="1400" b="1">
                          <a:solidFill>
                            <a:srgbClr val="FFFFFF"/>
                          </a:solidFill>
                          <a:effectLst/>
                          <a:latin typeface="Arial" panose="020B0604020202020204" pitchFamily="34" charset="0"/>
                          <a:ea typeface="Arial" panose="020B0604020202020204" pitchFamily="34" charset="0"/>
                        </a:rPr>
                        <a:t>Example</a:t>
                      </a:r>
                      <a:endParaRPr lang="en-MY" sz="1400">
                        <a:effectLst/>
                        <a:latin typeface="Arial" panose="020B0604020202020204" pitchFamily="34" charset="0"/>
                        <a:ea typeface="Arial" panose="020B0604020202020204" pitchFamily="34" charset="0"/>
                      </a:endParaRPr>
                    </a:p>
                  </a:txBody>
                  <a:tcPr marL="76200" marR="76200" marT="63500" marB="63500" anchor="ctr">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1F3864"/>
                    </a:solidFill>
                  </a:tcPr>
                </a:tc>
                <a:extLst>
                  <a:ext uri="{0D108BD9-81ED-4DB2-BD59-A6C34878D82A}">
                    <a16:rowId xmlns:a16="http://schemas.microsoft.com/office/drawing/2014/main" val="3606585819"/>
                  </a:ext>
                </a:extLst>
              </a:tr>
              <a:tr h="1404294">
                <a:tc>
                  <a:txBody>
                    <a:bodyPr/>
                    <a:lstStyle/>
                    <a:p>
                      <a:pPr>
                        <a:spcAft>
                          <a:spcPts val="0"/>
                        </a:spcAft>
                      </a:pPr>
                      <a:r>
                        <a:rPr lang="en-MY" sz="1400" b="1">
                          <a:solidFill>
                            <a:srgbClr val="000000"/>
                          </a:solidFill>
                          <a:effectLst/>
                          <a:latin typeface="Arial" panose="020B0604020202020204" pitchFamily="34" charset="0"/>
                          <a:ea typeface="Arial" panose="020B0604020202020204" pitchFamily="34" charset="0"/>
                        </a:rPr>
                        <a:t>1NF</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Ensured all columns contain atomic (indivisible) values. Removed multi-valued fields — e.g., a customer's multiple phone numbers stored in a single column were split into a separate PhoneNumbers table. Ensured each table has a defined primary key.</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customer.phone split from a comma-separated list into separate rows with customer_id as FK. Every table assigned a UUID primary key.</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1657557656"/>
                  </a:ext>
                </a:extLst>
              </a:tr>
              <a:tr h="1221125">
                <a:tc>
                  <a:txBody>
                    <a:bodyPr/>
                    <a:lstStyle/>
                    <a:p>
                      <a:pPr>
                        <a:spcAft>
                          <a:spcPts val="0"/>
                        </a:spcAft>
                      </a:pPr>
                      <a:r>
                        <a:rPr lang="en-MY" sz="1400" b="1">
                          <a:solidFill>
                            <a:srgbClr val="000000"/>
                          </a:solidFill>
                          <a:effectLst/>
                          <a:latin typeface="Arial" panose="020B0604020202020204" pitchFamily="34" charset="0"/>
                          <a:ea typeface="Arial" panose="020B0604020202020204" pitchFamily="34" charset="0"/>
                        </a:rPr>
                        <a:t>2NF</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Eliminated partial dependencies. Ensured all non-key attributes depend on the full primary key, not just part of it. Applied to composite-key tables by separating attributes that depend on only one part of the composite key.</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In a hypothetical OrderItem table with (order_id, product_id) as PK, product_name depended only on product_id — moved to a Products table. In Transactions, account_type was moved to Accounts.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EAF2FB"/>
                    </a:solidFill>
                  </a:tcPr>
                </a:tc>
                <a:extLst>
                  <a:ext uri="{0D108BD9-81ED-4DB2-BD59-A6C34878D82A}">
                    <a16:rowId xmlns:a16="http://schemas.microsoft.com/office/drawing/2014/main" val="2755937287"/>
                  </a:ext>
                </a:extLst>
              </a:tr>
              <a:tr h="1404294">
                <a:tc>
                  <a:txBody>
                    <a:bodyPr/>
                    <a:lstStyle/>
                    <a:p>
                      <a:pPr>
                        <a:spcAft>
                          <a:spcPts val="0"/>
                        </a:spcAft>
                      </a:pPr>
                      <a:r>
                        <a:rPr lang="en-MY" sz="1400" b="1">
                          <a:solidFill>
                            <a:srgbClr val="000000"/>
                          </a:solidFill>
                          <a:effectLst/>
                          <a:latin typeface="Arial" panose="020B0604020202020204" pitchFamily="34" charset="0"/>
                          <a:ea typeface="Arial" panose="020B0604020202020204" pitchFamily="34" charset="0"/>
                        </a:rPr>
                        <a:t>3NF</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a:solidFill>
                            <a:srgbClr val="000000"/>
                          </a:solidFill>
                          <a:effectLst/>
                          <a:latin typeface="Arial" panose="020B0604020202020204" pitchFamily="34" charset="0"/>
                          <a:ea typeface="Arial" panose="020B0604020202020204" pitchFamily="34" charset="0"/>
                        </a:rPr>
                        <a:t>Removed transitive dependencies. Ensured non-key attributes depend only on the primary key, not on other non-key attributes. Extracted any derived or indirectly dependent data into separate reference tables.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tc>
                  <a:txBody>
                    <a:bodyPr/>
                    <a:lstStyle/>
                    <a:p>
                      <a:pPr>
                        <a:spcAft>
                          <a:spcPts val="0"/>
                        </a:spcAft>
                      </a:pPr>
                      <a:r>
                        <a:rPr lang="en-MY" sz="1400" dirty="0">
                          <a:solidFill>
                            <a:srgbClr val="000000"/>
                          </a:solidFill>
                          <a:effectLst/>
                          <a:latin typeface="Arial" panose="020B0604020202020204" pitchFamily="34" charset="0"/>
                          <a:ea typeface="Arial" panose="020B0604020202020204" pitchFamily="34" charset="0"/>
                        </a:rPr>
                        <a:t>In Customer, </a:t>
                      </a:r>
                      <a:r>
                        <a:rPr lang="en-MY" sz="1400" dirty="0" err="1">
                          <a:solidFill>
                            <a:srgbClr val="000000"/>
                          </a:solidFill>
                          <a:effectLst/>
                          <a:latin typeface="Arial" panose="020B0604020202020204" pitchFamily="34" charset="0"/>
                          <a:ea typeface="Arial" panose="020B0604020202020204" pitchFamily="34" charset="0"/>
                        </a:rPr>
                        <a:t>branch_city</a:t>
                      </a:r>
                      <a:r>
                        <a:rPr lang="en-MY" sz="1400" dirty="0">
                          <a:solidFill>
                            <a:srgbClr val="000000"/>
                          </a:solidFill>
                          <a:effectLst/>
                          <a:latin typeface="Arial" panose="020B0604020202020204" pitchFamily="34" charset="0"/>
                          <a:ea typeface="Arial" panose="020B0604020202020204" pitchFamily="34" charset="0"/>
                        </a:rPr>
                        <a:t> and </a:t>
                      </a:r>
                      <a:r>
                        <a:rPr lang="en-MY" sz="1400" dirty="0" err="1">
                          <a:solidFill>
                            <a:srgbClr val="000000"/>
                          </a:solidFill>
                          <a:effectLst/>
                          <a:latin typeface="Arial" panose="020B0604020202020204" pitchFamily="34" charset="0"/>
                          <a:ea typeface="Arial" panose="020B0604020202020204" pitchFamily="34" charset="0"/>
                        </a:rPr>
                        <a:t>branch_region</a:t>
                      </a:r>
                      <a:r>
                        <a:rPr lang="en-MY" sz="1400" dirty="0">
                          <a:solidFill>
                            <a:srgbClr val="000000"/>
                          </a:solidFill>
                          <a:effectLst/>
                          <a:latin typeface="Arial" panose="020B0604020202020204" pitchFamily="34" charset="0"/>
                          <a:ea typeface="Arial" panose="020B0604020202020204" pitchFamily="34" charset="0"/>
                        </a:rPr>
                        <a:t> transitively depended on </a:t>
                      </a:r>
                      <a:r>
                        <a:rPr lang="en-MY" sz="1400" dirty="0" err="1">
                          <a:solidFill>
                            <a:srgbClr val="000000"/>
                          </a:solidFill>
                          <a:effectLst/>
                          <a:latin typeface="Arial" panose="020B0604020202020204" pitchFamily="34" charset="0"/>
                          <a:ea typeface="Arial" panose="020B0604020202020204" pitchFamily="34" charset="0"/>
                        </a:rPr>
                        <a:t>branch_id</a:t>
                      </a:r>
                      <a:r>
                        <a:rPr lang="en-MY" sz="1400" dirty="0">
                          <a:solidFill>
                            <a:srgbClr val="000000"/>
                          </a:solidFill>
                          <a:effectLst/>
                          <a:latin typeface="Arial" panose="020B0604020202020204" pitchFamily="34" charset="0"/>
                          <a:ea typeface="Arial" panose="020B0604020202020204" pitchFamily="34" charset="0"/>
                        </a:rPr>
                        <a:t> — extracted to a dedicated Branch table. Credit Score data separated from Customer to its own table since it depends on bureau assessment, not just customer identity.</a:t>
                      </a:r>
                      <a:endParaRPr lang="en-MY" sz="14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AAAAAA"/>
                      </a:solidFill>
                      <a:prstDash val="solid"/>
                      <a:round/>
                      <a:headEnd type="none" w="med" len="med"/>
                      <a:tailEnd type="none" w="med" len="med"/>
                    </a:lnL>
                    <a:lnR w="12700" cap="flat" cmpd="sng" algn="ctr">
                      <a:solidFill>
                        <a:srgbClr val="AAAAAA"/>
                      </a:solidFill>
                      <a:prstDash val="solid"/>
                      <a:round/>
                      <a:headEnd type="none" w="med" len="med"/>
                      <a:tailEnd type="none" w="med" len="med"/>
                    </a:lnR>
                    <a:lnT w="12700" cap="flat" cmpd="sng" algn="ctr">
                      <a:solidFill>
                        <a:srgbClr val="AAAAAA"/>
                      </a:solidFill>
                      <a:prstDash val="solid"/>
                      <a:round/>
                      <a:headEnd type="none" w="med" len="med"/>
                      <a:tailEnd type="none" w="med" len="med"/>
                    </a:lnT>
                    <a:lnB w="12700" cap="flat" cmpd="sng" algn="ctr">
                      <a:solidFill>
                        <a:srgbClr val="AAAAAA"/>
                      </a:solidFill>
                      <a:prstDash val="solid"/>
                      <a:round/>
                      <a:headEnd type="none" w="med" len="med"/>
                      <a:tailEnd type="none" w="med" len="med"/>
                    </a:lnB>
                    <a:solidFill>
                      <a:srgbClr val="FFFFFF"/>
                    </a:solidFill>
                  </a:tcPr>
                </a:tc>
                <a:extLst>
                  <a:ext uri="{0D108BD9-81ED-4DB2-BD59-A6C34878D82A}">
                    <a16:rowId xmlns:a16="http://schemas.microsoft.com/office/drawing/2014/main" val="4252030816"/>
                  </a:ext>
                </a:extLst>
              </a:tr>
            </a:tbl>
          </a:graphicData>
        </a:graphic>
      </p:graphicFrame>
    </p:spTree>
    <p:extLst>
      <p:ext uri="{BB962C8B-B14F-4D97-AF65-F5344CB8AC3E}">
        <p14:creationId xmlns:p14="http://schemas.microsoft.com/office/powerpoint/2010/main" val="23697985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36E11-6F64-7A17-FE8D-FF8E17EF239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1F0203-3159-B3EA-3C91-8052123825C0}"/>
              </a:ext>
            </a:extLst>
          </p:cNvPr>
          <p:cNvSpPr>
            <a:spLocks noGrp="1"/>
          </p:cNvSpPr>
          <p:nvPr>
            <p:ph type="title"/>
          </p:nvPr>
        </p:nvSpPr>
        <p:spPr>
          <a:xfrm>
            <a:off x="572756" y="234585"/>
            <a:ext cx="9957220" cy="850726"/>
          </a:xfrm>
        </p:spPr>
        <p:txBody>
          <a:bodyPr>
            <a:noAutofit/>
          </a:bodyPr>
          <a:lstStyle/>
          <a:p>
            <a:r>
              <a:rPr lang="en-US" sz="3000" dirty="0">
                <a:solidFill>
                  <a:srgbClr val="00539A"/>
                </a:solidFill>
                <a:latin typeface="Arial Bold"/>
                <a:cs typeface="Arial Bold"/>
              </a:rPr>
              <a:t>Test planning and case design using TDD and BDD</a:t>
            </a:r>
          </a:p>
          <a:p>
            <a:endParaRPr lang="en-US" sz="3200" dirty="0">
              <a:cs typeface="Arial Bold"/>
            </a:endParaRPr>
          </a:p>
        </p:txBody>
      </p:sp>
      <p:sp>
        <p:nvSpPr>
          <p:cNvPr id="8" name="Content Placeholder 4">
            <a:extLst>
              <a:ext uri="{FF2B5EF4-FFF2-40B4-BE49-F238E27FC236}">
                <a16:creationId xmlns:a16="http://schemas.microsoft.com/office/drawing/2014/main" id="{5720B179-696D-9BCE-D135-4ECE0E4FD1FD}"/>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rPr>
              <a:t>Test </a:t>
            </a:r>
            <a:r>
              <a:rPr lang="en-US" sz="2400" b="1" dirty="0" smtClean="0">
                <a:solidFill>
                  <a:srgbClr val="111620"/>
                </a:solidFill>
              </a:rPr>
              <a:t>plan</a:t>
            </a:r>
          </a:p>
          <a:p>
            <a:r>
              <a:rPr lang="en-MY" sz="1400" b="1" dirty="0"/>
              <a:t>Testing Scope</a:t>
            </a:r>
            <a:endParaRPr lang="en-MY" sz="1400" dirty="0"/>
          </a:p>
          <a:p>
            <a:r>
              <a:rPr lang="en-MY" sz="1400" dirty="0"/>
              <a:t>The plan covers six core modules — Customer </a:t>
            </a:r>
            <a:r>
              <a:rPr lang="en-MY" sz="1400" dirty="0" err="1"/>
              <a:t>Onboarding</a:t>
            </a:r>
            <a:r>
              <a:rPr lang="en-MY" sz="1400" dirty="0"/>
              <a:t>, Account Creation, Loan Eligibility &amp; Servicing, Transaction Processing, Fraud Detection, and AML Monitoring. In scope are functional validation, </a:t>
            </a:r>
            <a:r>
              <a:rPr lang="en-MY" sz="1400" dirty="0" err="1"/>
              <a:t>microservice</a:t>
            </a:r>
            <a:r>
              <a:rPr lang="en-MY" sz="1400" dirty="0"/>
              <a:t> integration, API testing, security (MFA, RBAC, session timeout), compliance (KYC/AML/audit logs), and TDD/BDD coverage. Excluded are UI/UX exploratory testing, production load testing, and external non-banking systems.</a:t>
            </a:r>
          </a:p>
          <a:p>
            <a:r>
              <a:rPr lang="en-MY" sz="1400" b="1" dirty="0"/>
              <a:t>Testing Approach</a:t>
            </a:r>
            <a:endParaRPr lang="en-MY" sz="1400" dirty="0"/>
          </a:p>
          <a:p>
            <a:r>
              <a:rPr lang="en-MY" sz="1400" dirty="0"/>
              <a:t>Four test levels are used. Unit Tests (TDD) cover isolated modules like the KYC Validator, Loan Engine, and Fraud Rules Engine. Integration Tests validate the full API → </a:t>
            </a:r>
            <a:r>
              <a:rPr lang="en-MY" sz="1400" dirty="0" err="1"/>
              <a:t>Microservice</a:t>
            </a:r>
            <a:r>
              <a:rPr lang="en-MY" sz="1400" dirty="0"/>
              <a:t> → PostgreSQL → Kafka pipeline including error handling and retries. System Tests run end-to-end flows from </a:t>
            </a:r>
            <a:r>
              <a:rPr lang="en-MY" sz="1400" dirty="0" err="1"/>
              <a:t>onboarding</a:t>
            </a:r>
            <a:r>
              <a:rPr lang="en-MY" sz="1400" dirty="0"/>
              <a:t> through to AML monitoring. BDD Functional Scenarios capture real customer journeys written in Gherkin syntax.</a:t>
            </a:r>
          </a:p>
          <a:p>
            <a:r>
              <a:rPr lang="en-US" sz="1400" b="1" dirty="0"/>
              <a:t>Key Activities</a:t>
            </a:r>
            <a:endParaRPr lang="en-US" sz="1400" dirty="0"/>
          </a:p>
          <a:p>
            <a:r>
              <a:rPr lang="en-US" sz="1400" dirty="0"/>
              <a:t>The plan sequences six phases: Test Plan Review → RTM Finalization → TDD Unit Test Creation → Integration Test Execution → BDD Scenario Execution → Final Validation Checklist. Roles span the Systems Architect (architecture alignment), QA Engineer (test writing and execution), Developer (TDD), and Compliance Officer (KYC/AML sign-off).</a:t>
            </a:r>
          </a:p>
          <a:p>
            <a:r>
              <a:rPr lang="en-US" sz="1400" dirty="0"/>
              <a:t>The two most critical risk areas flagged are missing negative tests (high impact) and regulatory test gaps for KYC/AML (critical impact), both of which were confirmed as actual gaps during the Task 1 annotation.</a:t>
            </a:r>
          </a:p>
          <a:p>
            <a:pPr marL="0" indent="0">
              <a:buNone/>
            </a:pPr>
            <a:endParaRPr lang="en-US" sz="1200" b="1" dirty="0" smtClean="0">
              <a:solidFill>
                <a:srgbClr val="111620"/>
              </a:solidFill>
            </a:endParaRPr>
          </a:p>
        </p:txBody>
      </p:sp>
    </p:spTree>
    <p:extLst>
      <p:ext uri="{BB962C8B-B14F-4D97-AF65-F5344CB8AC3E}">
        <p14:creationId xmlns:p14="http://schemas.microsoft.com/office/powerpoint/2010/main" val="219519315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FBBB-CD7E-C048-0ADC-572CA35A73E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7B0AD9-5140-3E92-6AA8-463627B3EF56}"/>
              </a:ext>
            </a:extLst>
          </p:cNvPr>
          <p:cNvSpPr>
            <a:spLocks noGrp="1"/>
          </p:cNvSpPr>
          <p:nvPr>
            <p:ph type="title"/>
          </p:nvPr>
        </p:nvSpPr>
        <p:spPr>
          <a:xfrm>
            <a:off x="572756" y="234585"/>
            <a:ext cx="9957220" cy="850726"/>
          </a:xfrm>
        </p:spPr>
        <p:txBody>
          <a:bodyPr>
            <a:noAutofit/>
          </a:bodyPr>
          <a:lstStyle/>
          <a:p>
            <a:r>
              <a:rPr lang="en-US" sz="3000" dirty="0">
                <a:solidFill>
                  <a:srgbClr val="00539A"/>
                </a:solidFill>
                <a:latin typeface="Arial Bold"/>
                <a:cs typeface="Arial Bold"/>
              </a:rPr>
              <a:t>Test planning and case design using TDD and BDD</a:t>
            </a:r>
          </a:p>
          <a:p>
            <a:endParaRPr lang="en-US" sz="3200" dirty="0">
              <a:cs typeface="Arial Bold"/>
            </a:endParaRPr>
          </a:p>
        </p:txBody>
      </p:sp>
      <p:sp>
        <p:nvSpPr>
          <p:cNvPr id="8" name="Content Placeholder 4">
            <a:extLst>
              <a:ext uri="{FF2B5EF4-FFF2-40B4-BE49-F238E27FC236}">
                <a16:creationId xmlns:a16="http://schemas.microsoft.com/office/drawing/2014/main" id="{2500E4EA-AF72-6392-00FA-1C26E597DC41}"/>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rPr>
              <a:t>TDD and BDD test </a:t>
            </a:r>
            <a:r>
              <a:rPr lang="en-US" sz="2400" b="1" dirty="0" smtClean="0">
                <a:solidFill>
                  <a:srgbClr val="111620"/>
                </a:solidFill>
              </a:rPr>
              <a:t>cases</a:t>
            </a:r>
          </a:p>
          <a:p>
            <a:pPr marL="0" indent="0">
              <a:buNone/>
            </a:pPr>
            <a:endParaRPr lang="en-US" sz="2400" b="1" dirty="0">
              <a:ea typeface="+mn-lt"/>
              <a:cs typeface="+mn-lt"/>
            </a:endParaRPr>
          </a:p>
        </p:txBody>
      </p:sp>
      <p:graphicFrame>
        <p:nvGraphicFramePr>
          <p:cNvPr id="3" name="Table 2"/>
          <p:cNvGraphicFramePr>
            <a:graphicFrameLocks noGrp="1"/>
          </p:cNvGraphicFramePr>
          <p:nvPr>
            <p:extLst>
              <p:ext uri="{D42A27DB-BD31-4B8C-83A1-F6EECF244321}">
                <p14:modId xmlns:p14="http://schemas.microsoft.com/office/powerpoint/2010/main" val="1861178382"/>
              </p:ext>
            </p:extLst>
          </p:nvPr>
        </p:nvGraphicFramePr>
        <p:xfrm>
          <a:off x="683341" y="1866547"/>
          <a:ext cx="6400800" cy="452120"/>
        </p:xfrm>
        <a:graphic>
          <a:graphicData uri="http://schemas.openxmlformats.org/drawingml/2006/table">
            <a:tbl>
              <a:tblPr/>
              <a:tblGrid>
                <a:gridCol w="6400800">
                  <a:extLst>
                    <a:ext uri="{9D8B030D-6E8A-4147-A177-3AD203B41FA5}">
                      <a16:colId xmlns:a16="http://schemas.microsoft.com/office/drawing/2014/main" val="1504900646"/>
                    </a:ext>
                  </a:extLst>
                </a:gridCol>
              </a:tblGrid>
              <a:tr h="0">
                <a:tc>
                  <a:txBody>
                    <a:bodyPr/>
                    <a:lstStyle/>
                    <a:p>
                      <a:pPr>
                        <a:spcAft>
                          <a:spcPts val="500"/>
                        </a:spcAft>
                      </a:pPr>
                      <a:r>
                        <a:rPr lang="en-MY" sz="1800" b="1" dirty="0">
                          <a:solidFill>
                            <a:srgbClr val="FFFFFF"/>
                          </a:solidFill>
                          <a:effectLst/>
                          <a:latin typeface="Arial" panose="020B0604020202020204" pitchFamily="34" charset="0"/>
                          <a:ea typeface="Arial" panose="020B0604020202020204" pitchFamily="34" charset="0"/>
                        </a:rPr>
                        <a:t>TDD Test Case 1 — Loan Eligibility Engine</a:t>
                      </a:r>
                      <a:endParaRPr lang="en-MY" sz="1800" dirty="0">
                        <a:effectLst/>
                        <a:latin typeface="Arial" panose="020B0604020202020204" pitchFamily="34" charset="0"/>
                        <a:ea typeface="Arial" panose="020B0604020202020204" pitchFamily="34" charset="0"/>
                      </a:endParaRPr>
                    </a:p>
                  </a:txBody>
                  <a:tcPr marL="152400" marR="152400" marT="88900" marB="88900">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extLst>
                  <a:ext uri="{0D108BD9-81ED-4DB2-BD59-A6C34878D82A}">
                    <a16:rowId xmlns:a16="http://schemas.microsoft.com/office/drawing/2014/main" val="198484475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8585495"/>
              </p:ext>
            </p:extLst>
          </p:nvPr>
        </p:nvGraphicFramePr>
        <p:xfrm>
          <a:off x="683341" y="2318666"/>
          <a:ext cx="10800736" cy="4274750"/>
        </p:xfrm>
        <a:graphic>
          <a:graphicData uri="http://schemas.openxmlformats.org/drawingml/2006/table">
            <a:tbl>
              <a:tblPr/>
              <a:tblGrid>
                <a:gridCol w="2571603">
                  <a:extLst>
                    <a:ext uri="{9D8B030D-6E8A-4147-A177-3AD203B41FA5}">
                      <a16:colId xmlns:a16="http://schemas.microsoft.com/office/drawing/2014/main" val="51407208"/>
                    </a:ext>
                  </a:extLst>
                </a:gridCol>
                <a:gridCol w="8229133">
                  <a:extLst>
                    <a:ext uri="{9D8B030D-6E8A-4147-A177-3AD203B41FA5}">
                      <a16:colId xmlns:a16="http://schemas.microsoft.com/office/drawing/2014/main" val="3410020434"/>
                    </a:ext>
                  </a:extLst>
                </a:gridCol>
              </a:tblGrid>
              <a:tr h="227681">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Test Case ID</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a:solidFill>
                            <a:srgbClr val="111111"/>
                          </a:solidFill>
                          <a:effectLst/>
                          <a:latin typeface="Arial" panose="020B0604020202020204" pitchFamily="34" charset="0"/>
                          <a:ea typeface="Arial" panose="020B0604020202020204" pitchFamily="34" charset="0"/>
                        </a:rPr>
                        <a:t>TC-301</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1F2EB"/>
                    </a:solidFill>
                  </a:tcPr>
                </a:tc>
                <a:extLst>
                  <a:ext uri="{0D108BD9-81ED-4DB2-BD59-A6C34878D82A}">
                    <a16:rowId xmlns:a16="http://schemas.microsoft.com/office/drawing/2014/main" val="676998851"/>
                  </a:ext>
                </a:extLst>
              </a:tr>
              <a:tr h="227681">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Module</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a:solidFill>
                            <a:srgbClr val="111111"/>
                          </a:solidFill>
                          <a:effectLst/>
                          <a:latin typeface="Arial" panose="020B0604020202020204" pitchFamily="34" charset="0"/>
                          <a:ea typeface="Arial" panose="020B0604020202020204" pitchFamily="34" charset="0"/>
                        </a:rPr>
                        <a:t>Loan Eligibility Engine</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286660188"/>
                  </a:ext>
                </a:extLst>
              </a:tr>
              <a:tr h="495265">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Purpose</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a:solidFill>
                            <a:srgbClr val="111111"/>
                          </a:solidFill>
                          <a:effectLst/>
                          <a:latin typeface="Arial" panose="020B0604020202020204" pitchFamily="34" charset="0"/>
                          <a:ea typeface="Arial" panose="020B0604020202020204" pitchFamily="34" charset="0"/>
                        </a:rPr>
                        <a:t>Validate that an applicant with a monthly income of exactly ₹25,000 (minimum threshold) and a credit score of exactly 650 (minimum threshold) is correctly classified as 'Eligible' — boundary-value positive test.</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1F2EB"/>
                    </a:solidFill>
                  </a:tcPr>
                </a:tc>
                <a:extLst>
                  <a:ext uri="{0D108BD9-81ED-4DB2-BD59-A6C34878D82A}">
                    <a16:rowId xmlns:a16="http://schemas.microsoft.com/office/drawing/2014/main" val="1151976945"/>
                  </a:ext>
                </a:extLst>
              </a:tr>
              <a:tr h="495265">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Preconditions</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a:solidFill>
                            <a:srgbClr val="111111"/>
                          </a:solidFill>
                          <a:effectLst/>
                          <a:latin typeface="Arial" panose="020B0604020202020204" pitchFamily="34" charset="0"/>
                          <a:ea typeface="Arial" panose="020B0604020202020204" pitchFamily="34" charset="0"/>
                        </a:rPr>
                        <a:t>Loan Eligibility Engine microservice is running. Credit Bureau API stub returns credit score 650 for test applicant ID 'APP-BV-001'. Income verification service stub returns ₹25,000/month.</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842581214"/>
                  </a:ext>
                </a:extLst>
              </a:tr>
              <a:tr h="361473">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Inputs</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dirty="0">
                          <a:solidFill>
                            <a:srgbClr val="111111"/>
                          </a:solidFill>
                          <a:effectLst/>
                          <a:latin typeface="Arial" panose="020B0604020202020204" pitchFamily="34" charset="0"/>
                          <a:ea typeface="Arial" panose="020B0604020202020204" pitchFamily="34" charset="0"/>
                        </a:rPr>
                        <a:t>Applicant ID: APP-BV-001 Monthly Income: ₹25,000 Credit Score: 650 Loan Amount Requested: ₹2,00,000 Loan Tenure: 24 months</a:t>
                      </a:r>
                      <a:endParaRPr lang="en-MY" sz="14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1F2EB"/>
                    </a:solidFill>
                  </a:tcPr>
                </a:tc>
                <a:extLst>
                  <a:ext uri="{0D108BD9-81ED-4DB2-BD59-A6C34878D82A}">
                    <a16:rowId xmlns:a16="http://schemas.microsoft.com/office/drawing/2014/main" val="252767895"/>
                  </a:ext>
                </a:extLst>
              </a:tr>
              <a:tr h="1002265">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Execution Steps</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300"/>
                        </a:spcAft>
                      </a:pPr>
                      <a:r>
                        <a:rPr lang="en-MY" sz="1200">
                          <a:solidFill>
                            <a:srgbClr val="111111"/>
                          </a:solidFill>
                          <a:effectLst/>
                          <a:latin typeface="Arial" panose="020B0604020202020204" pitchFamily="34" charset="0"/>
                          <a:ea typeface="Arial" panose="020B0604020202020204" pitchFamily="34" charset="0"/>
                        </a:rPr>
                        <a:t>1.  POST /api/loans/eligibility with payload {applicantId: 'APP-BV-001', income: 25000, creditScore: 650, amount: 200000, tenure: 24}</a:t>
                      </a:r>
                      <a:endParaRPr lang="en-MY" sz="1400">
                        <a:effectLst/>
                        <a:latin typeface="Arial" panose="020B0604020202020204" pitchFamily="34" charset="0"/>
                        <a:ea typeface="Arial" panose="020B0604020202020204" pitchFamily="34" charset="0"/>
                      </a:endParaRPr>
                    </a:p>
                    <a:p>
                      <a:pPr>
                        <a:spcAft>
                          <a:spcPts val="300"/>
                        </a:spcAft>
                      </a:pPr>
                      <a:r>
                        <a:rPr lang="en-MY" sz="1200">
                          <a:solidFill>
                            <a:srgbClr val="111111"/>
                          </a:solidFill>
                          <a:effectLst/>
                          <a:latin typeface="Arial" panose="020B0604020202020204" pitchFamily="34" charset="0"/>
                          <a:ea typeface="Arial" panose="020B0604020202020204" pitchFamily="34" charset="0"/>
                        </a:rPr>
                        <a:t>2.  Assert HTTP 200 OK response.</a:t>
                      </a:r>
                      <a:endParaRPr lang="en-MY" sz="1400">
                        <a:effectLst/>
                        <a:latin typeface="Arial" panose="020B0604020202020204" pitchFamily="34" charset="0"/>
                        <a:ea typeface="Arial" panose="020B0604020202020204" pitchFamily="34" charset="0"/>
                      </a:endParaRPr>
                    </a:p>
                    <a:p>
                      <a:pPr>
                        <a:spcAft>
                          <a:spcPts val="300"/>
                        </a:spcAft>
                      </a:pPr>
                      <a:r>
                        <a:rPr lang="en-MY" sz="1200">
                          <a:solidFill>
                            <a:srgbClr val="111111"/>
                          </a:solidFill>
                          <a:effectLst/>
                          <a:latin typeface="Arial" panose="020B0604020202020204" pitchFamily="34" charset="0"/>
                          <a:ea typeface="Arial" panose="020B0604020202020204" pitchFamily="34" charset="0"/>
                        </a:rPr>
                        <a:t>3.  Assert response body contains { eligible: true, reason: 'Meets minimum income and credit score thresholds' }.</a:t>
                      </a:r>
                      <a:endParaRPr lang="en-MY" sz="1400">
                        <a:effectLst/>
                        <a:latin typeface="Arial" panose="020B0604020202020204" pitchFamily="34" charset="0"/>
                        <a:ea typeface="Arial" panose="020B0604020202020204" pitchFamily="34" charset="0"/>
                      </a:endParaRPr>
                    </a:p>
                    <a:p>
                      <a:pPr>
                        <a:spcAft>
                          <a:spcPts val="0"/>
                        </a:spcAft>
                      </a:pPr>
                      <a:r>
                        <a:rPr lang="en-MY" sz="1200">
                          <a:solidFill>
                            <a:srgbClr val="111111"/>
                          </a:solidFill>
                          <a:effectLst/>
                          <a:latin typeface="Arial" panose="020B0604020202020204" pitchFamily="34" charset="0"/>
                          <a:ea typeface="Arial" panose="020B0604020202020204" pitchFamily="34" charset="0"/>
                        </a:rPr>
                        <a:t>4.  Assert response time &lt; 300ms.</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135762286"/>
                  </a:ext>
                </a:extLst>
              </a:tr>
              <a:tr h="361473">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Expected Output</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a:solidFill>
                            <a:srgbClr val="111111"/>
                          </a:solidFill>
                          <a:effectLst/>
                          <a:latin typeface="Arial" panose="020B0604020202020204" pitchFamily="34" charset="0"/>
                          <a:ea typeface="Arial" panose="020B0604020202020204" pitchFamily="34" charset="0"/>
                        </a:rPr>
                        <a:t>HTTP 200 OK { eligible: true, loanRef: "LN-XXXX", reason: "Meets minimum income and credit score thresholds", emi: ₹9,167/month }</a:t>
                      </a:r>
                      <a:endParaRPr lang="en-MY" sz="14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1F2EB"/>
                    </a:solidFill>
                  </a:tcPr>
                </a:tc>
                <a:extLst>
                  <a:ext uri="{0D108BD9-81ED-4DB2-BD59-A6C34878D82A}">
                    <a16:rowId xmlns:a16="http://schemas.microsoft.com/office/drawing/2014/main" val="494918520"/>
                  </a:ext>
                </a:extLst>
              </a:tr>
              <a:tr h="495265">
                <a:tc>
                  <a:txBody>
                    <a:bodyPr/>
                    <a:lstStyle/>
                    <a:p>
                      <a:pPr>
                        <a:spcAft>
                          <a:spcPts val="500"/>
                        </a:spcAft>
                      </a:pPr>
                      <a:r>
                        <a:rPr lang="en-MY" sz="1200" b="1">
                          <a:solidFill>
                            <a:srgbClr val="FFFFFF"/>
                          </a:solidFill>
                          <a:effectLst/>
                          <a:latin typeface="Arial" panose="020B0604020202020204" pitchFamily="34" charset="0"/>
                          <a:ea typeface="Arial" panose="020B0604020202020204" pitchFamily="34" charset="0"/>
                        </a:rPr>
                        <a:t>Edge Cases</a:t>
                      </a:r>
                      <a:endParaRPr lang="en-MY" sz="1400">
                        <a:effectLst/>
                        <a:latin typeface="Arial" panose="020B0604020202020204" pitchFamily="34" charset="0"/>
                        <a:ea typeface="Arial" panose="020B0604020202020204" pitchFamily="34" charset="0"/>
                      </a:endParaRPr>
                    </a:p>
                  </a:txBody>
                  <a:tcPr marL="88900" marR="88900" marT="50800" marB="50800" anchor="ctr">
                    <a:lnL w="12700" cap="flat" cmpd="sng" algn="ctr">
                      <a:solidFill>
                        <a:srgbClr val="117A65"/>
                      </a:solidFill>
                      <a:prstDash val="solid"/>
                      <a:round/>
                      <a:headEnd type="none" w="med" len="med"/>
                      <a:tailEnd type="none" w="med" len="med"/>
                    </a:lnL>
                    <a:lnR w="12700" cap="flat" cmpd="sng" algn="ctr">
                      <a:solidFill>
                        <a:srgbClr val="117A65"/>
                      </a:solidFill>
                      <a:prstDash val="solid"/>
                      <a:round/>
                      <a:headEnd type="none" w="med" len="med"/>
                      <a:tailEnd type="none" w="med" len="med"/>
                    </a:lnR>
                    <a:lnT w="12700" cap="flat" cmpd="sng" algn="ctr">
                      <a:solidFill>
                        <a:srgbClr val="117A65"/>
                      </a:solidFill>
                      <a:prstDash val="solid"/>
                      <a:round/>
                      <a:headEnd type="none" w="med" len="med"/>
                      <a:tailEnd type="none" w="med" len="med"/>
                    </a:lnT>
                    <a:lnB w="12700" cap="flat" cmpd="sng" algn="ctr">
                      <a:solidFill>
                        <a:srgbClr val="117A65"/>
                      </a:solidFill>
                      <a:prstDash val="solid"/>
                      <a:round/>
                      <a:headEnd type="none" w="med" len="med"/>
                      <a:tailEnd type="none" w="med" len="med"/>
                    </a:lnB>
                    <a:solidFill>
                      <a:srgbClr val="117A65"/>
                    </a:solidFill>
                  </a:tcPr>
                </a:tc>
                <a:tc>
                  <a:txBody>
                    <a:bodyPr/>
                    <a:lstStyle/>
                    <a:p>
                      <a:pPr>
                        <a:spcAft>
                          <a:spcPts val="500"/>
                        </a:spcAft>
                      </a:pPr>
                      <a:r>
                        <a:rPr lang="en-MY" sz="1200" dirty="0">
                          <a:solidFill>
                            <a:srgbClr val="111111"/>
                          </a:solidFill>
                          <a:effectLst/>
                          <a:latin typeface="Arial" panose="020B0604020202020204" pitchFamily="34" charset="0"/>
                          <a:ea typeface="Arial" panose="020B0604020202020204" pitchFamily="34" charset="0"/>
                        </a:rPr>
                        <a:t>Income = ₹24,999 → Expected: Not Eligible (below threshold) Credit Score = 649 → Expected: Not Eligible Income = ₹25,000 + Credit Score = 649 → Expected: Not Eligible (both criteria must pass) Null applicant ID → Expected: HTTP 400 Bad Request</a:t>
                      </a:r>
                      <a:endParaRPr lang="en-MY" sz="14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117A65"/>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55082291"/>
                  </a:ext>
                </a:extLst>
              </a:tr>
            </a:tbl>
          </a:graphicData>
        </a:graphic>
      </p:graphicFrame>
    </p:spTree>
    <p:extLst>
      <p:ext uri="{BB962C8B-B14F-4D97-AF65-F5344CB8AC3E}">
        <p14:creationId xmlns:p14="http://schemas.microsoft.com/office/powerpoint/2010/main" val="260236858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A200-2DE5-4A75-B23B-D44A04478E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1A26662-7D55-8D74-DB1C-CE6350E9AE94}"/>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CI/CD workflow and monitoring plan</a:t>
            </a:r>
            <a:endParaRPr lang="en-US" sz="3200" dirty="0">
              <a:cs typeface="Arial Bold"/>
            </a:endParaRPr>
          </a:p>
        </p:txBody>
      </p:sp>
      <p:sp>
        <p:nvSpPr>
          <p:cNvPr id="8" name="Content Placeholder 4">
            <a:extLst>
              <a:ext uri="{FF2B5EF4-FFF2-40B4-BE49-F238E27FC236}">
                <a16:creationId xmlns:a16="http://schemas.microsoft.com/office/drawing/2014/main" id="{1FD1E875-4172-0570-4CDD-CDE5A56ADD52}"/>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CI </a:t>
            </a:r>
            <a:r>
              <a:rPr lang="en-US" sz="2400" b="1" dirty="0" smtClean="0">
                <a:solidFill>
                  <a:srgbClr val="111620"/>
                </a:solidFill>
                <a:ea typeface="+mn-lt"/>
                <a:cs typeface="+mn-lt"/>
              </a:rPr>
              <a:t>workflow</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922404754"/>
              </p:ext>
            </p:extLst>
          </p:nvPr>
        </p:nvGraphicFramePr>
        <p:xfrm>
          <a:off x="698089" y="1710815"/>
          <a:ext cx="10884311" cy="4175159"/>
        </p:xfrm>
        <a:graphic>
          <a:graphicData uri="http://schemas.openxmlformats.org/drawingml/2006/table">
            <a:tbl>
              <a:tblPr firstRow="1" firstCol="1" bandRow="1"/>
              <a:tblGrid>
                <a:gridCol w="4420448">
                  <a:extLst>
                    <a:ext uri="{9D8B030D-6E8A-4147-A177-3AD203B41FA5}">
                      <a16:colId xmlns:a16="http://schemas.microsoft.com/office/drawing/2014/main" val="811226053"/>
                    </a:ext>
                  </a:extLst>
                </a:gridCol>
                <a:gridCol w="3336187">
                  <a:extLst>
                    <a:ext uri="{9D8B030D-6E8A-4147-A177-3AD203B41FA5}">
                      <a16:colId xmlns:a16="http://schemas.microsoft.com/office/drawing/2014/main" val="145443149"/>
                    </a:ext>
                  </a:extLst>
                </a:gridCol>
                <a:gridCol w="3127676">
                  <a:extLst>
                    <a:ext uri="{9D8B030D-6E8A-4147-A177-3AD203B41FA5}">
                      <a16:colId xmlns:a16="http://schemas.microsoft.com/office/drawing/2014/main" val="3051432963"/>
                    </a:ext>
                  </a:extLst>
                </a:gridCol>
              </a:tblGrid>
              <a:tr h="309480">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CI/CD Stage</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lgn="ctr">
                        <a:spcAft>
                          <a:spcPts val="500"/>
                        </a:spcAft>
                      </a:pPr>
                      <a:r>
                        <a:rPr lang="en-MY" sz="1000" b="1">
                          <a:solidFill>
                            <a:srgbClr val="FFFFFF"/>
                          </a:solidFill>
                          <a:effectLst/>
                          <a:latin typeface="Arial" panose="020B0604020202020204" pitchFamily="34" charset="0"/>
                          <a:ea typeface="Arial" panose="020B0604020202020204" pitchFamily="34" charset="0"/>
                        </a:rPr>
                        <a:t>Responsible Role</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Key Control Point</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extLst>
                  <a:ext uri="{0D108BD9-81ED-4DB2-BD59-A6C34878D82A}">
                    <a16:rowId xmlns:a16="http://schemas.microsoft.com/office/drawing/2014/main" val="1799534012"/>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1. Code Commit — Source &amp; secret scanning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Developer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6E4F0"/>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Pre-commit secret scan blocks credentials in code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200070096"/>
                  </a:ext>
                </a:extLst>
              </a:tr>
              <a:tr h="41639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2. Build Stage — Compile, unit test, package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DevOps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BF5FB"/>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Build fails if unit test coverage &lt; 80%</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255391527"/>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3. Security Gate — SAST, dependency, image scan</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DevSecOps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6E4F0"/>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Critical CVEs block pipeline progression</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889618185"/>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4. Automated Testing — Integration, API, regression</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QA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BF5FB"/>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All 3 test suites must pass with zero failures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3936127326"/>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5. Staging Deployment — Deploy + synthetic tests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DevOps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6E4F0"/>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Synthetic test suite validates staging health</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276898934"/>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6. Approval Gate — Arch, QA, change-management</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Architect / Release Mgr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BF5FB"/>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Manual 3-way sign-off required before production</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3343783079"/>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7. Production Deployment — Blue-green / canary</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DevOps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6E4F0"/>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Traffic shifted 10% → 50% → 100% over 30 minutes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856606892"/>
                  </a:ext>
                </a:extLst>
              </a:tr>
              <a:tr h="43327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8. Rollback Strategy — Triggers, re-route, auto-revert</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DevOps Engineer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BF5FB"/>
                    </a:solidFill>
                  </a:tcPr>
                </a:tc>
                <a:tc>
                  <a:txBody>
                    <a:bodyPr/>
                    <a:lstStyle/>
                    <a:p>
                      <a:pPr>
                        <a:spcAft>
                          <a:spcPts val="500"/>
                        </a:spcAft>
                      </a:pPr>
                      <a:r>
                        <a:rPr lang="en-MY" sz="900" i="1">
                          <a:solidFill>
                            <a:srgbClr val="555555"/>
                          </a:solidFill>
                          <a:effectLst/>
                          <a:latin typeface="Arial" panose="020B0604020202020204" pitchFamily="34" charset="0"/>
                          <a:ea typeface="Arial" panose="020B0604020202020204" pitchFamily="34" charset="0"/>
                        </a:rPr>
                        <a:t>Automated revert if error rate exceeds 1%</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3908134193"/>
                  </a:ext>
                </a:extLst>
              </a:tr>
              <a:tr h="41639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9. Audit &amp; Compliance Logging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a:solidFill>
                            <a:srgbClr val="111111"/>
                          </a:solidFill>
                          <a:effectLst/>
                          <a:latin typeface="Arial" panose="020B0604020202020204" pitchFamily="34" charset="0"/>
                          <a:ea typeface="Arial" panose="020B0604020202020204" pitchFamily="34" charset="0"/>
                        </a:rPr>
                        <a:t>Compliance Officer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6E4F0"/>
                    </a:solidFill>
                  </a:tcPr>
                </a:tc>
                <a:tc>
                  <a:txBody>
                    <a:bodyPr/>
                    <a:lstStyle/>
                    <a:p>
                      <a:pPr>
                        <a:spcAft>
                          <a:spcPts val="500"/>
                        </a:spcAft>
                      </a:pPr>
                      <a:r>
                        <a:rPr lang="en-MY" sz="900" i="1" dirty="0">
                          <a:solidFill>
                            <a:srgbClr val="555555"/>
                          </a:solidFill>
                          <a:effectLst/>
                          <a:latin typeface="Arial" panose="020B0604020202020204" pitchFamily="34" charset="0"/>
                          <a:ea typeface="Arial" panose="020B0604020202020204" pitchFamily="34" charset="0"/>
                        </a:rPr>
                        <a:t>All events retained per PCI-DSS &amp; FFIEC requirements</a:t>
                      </a:r>
                      <a:endParaRPr lang="en-MY" sz="10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42325113"/>
                  </a:ext>
                </a:extLst>
              </a:tr>
            </a:tbl>
          </a:graphicData>
        </a:graphic>
      </p:graphicFrame>
    </p:spTree>
    <p:extLst>
      <p:ext uri="{BB962C8B-B14F-4D97-AF65-F5344CB8AC3E}">
        <p14:creationId xmlns:p14="http://schemas.microsoft.com/office/powerpoint/2010/main" val="145408827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755F1-02E3-1E4B-7867-5E835F8594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B14C28B-256F-4AEF-FF1C-70C9EF3567AC}"/>
              </a:ext>
            </a:extLst>
          </p:cNvPr>
          <p:cNvSpPr>
            <a:spLocks noGrp="1"/>
          </p:cNvSpPr>
          <p:nvPr>
            <p:ph type="title"/>
          </p:nvPr>
        </p:nvSpPr>
        <p:spPr>
          <a:xfrm>
            <a:off x="572756" y="133943"/>
            <a:ext cx="9813446" cy="850726"/>
          </a:xfrm>
        </p:spPr>
        <p:txBody>
          <a:bodyPr>
            <a:noAutofit/>
          </a:bodyPr>
          <a:lstStyle/>
          <a:p>
            <a:r>
              <a:rPr lang="en-US" sz="3200" dirty="0">
                <a:ea typeface="+mj-lt"/>
                <a:cs typeface="+mj-lt"/>
              </a:rPr>
              <a:t>CI/CD workflow and monitoring plan</a:t>
            </a:r>
            <a:endParaRPr lang="en-US" dirty="0"/>
          </a:p>
        </p:txBody>
      </p:sp>
      <p:sp>
        <p:nvSpPr>
          <p:cNvPr id="8" name="Content Placeholder 4">
            <a:extLst>
              <a:ext uri="{FF2B5EF4-FFF2-40B4-BE49-F238E27FC236}">
                <a16:creationId xmlns:a16="http://schemas.microsoft.com/office/drawing/2014/main" id="{33CC5425-C181-DDA7-CA9E-A4AF53248B80}"/>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CD pipeline </a:t>
            </a:r>
            <a:r>
              <a:rPr lang="en-US" sz="2400" b="1" dirty="0" smtClean="0">
                <a:solidFill>
                  <a:srgbClr val="111620"/>
                </a:solidFill>
                <a:ea typeface="+mn-lt"/>
                <a:cs typeface="+mn-lt"/>
              </a:rPr>
              <a:t>diagram</a:t>
            </a:r>
          </a:p>
          <a:p>
            <a:pPr marL="0" indent="0">
              <a:buNone/>
            </a:pPr>
            <a:endParaRPr lang="en-US" sz="2400" b="1" dirty="0">
              <a:solidFill>
                <a:srgbClr val="111620"/>
              </a:solidFill>
              <a:ea typeface="+mn-lt"/>
              <a:cs typeface="+mn-lt"/>
            </a:endParaRPr>
          </a:p>
          <a:p>
            <a:pPr marL="0" indent="0">
              <a:buNone/>
            </a:pPr>
            <a:endParaRPr lang="en-US" dirty="0"/>
          </a:p>
        </p:txBody>
      </p:sp>
      <p:pic>
        <p:nvPicPr>
          <p:cNvPr id="2" name="Picture 1"/>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3786758" y="904567"/>
            <a:ext cx="8129939" cy="5336799"/>
          </a:xfrm>
          <a:prstGeom prst="rect">
            <a:avLst/>
          </a:prstGeom>
        </p:spPr>
      </p:pic>
    </p:spTree>
    <p:extLst>
      <p:ext uri="{BB962C8B-B14F-4D97-AF65-F5344CB8AC3E}">
        <p14:creationId xmlns:p14="http://schemas.microsoft.com/office/powerpoint/2010/main" val="206807162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3C2BE-DA74-ED08-E165-309E21F2C1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21EE23E-8BD0-EF64-913E-088148C3C136}"/>
              </a:ext>
            </a:extLst>
          </p:cNvPr>
          <p:cNvSpPr>
            <a:spLocks noGrp="1"/>
          </p:cNvSpPr>
          <p:nvPr>
            <p:ph type="title"/>
          </p:nvPr>
        </p:nvSpPr>
        <p:spPr>
          <a:xfrm>
            <a:off x="572756" y="133943"/>
            <a:ext cx="9813446" cy="850726"/>
          </a:xfrm>
        </p:spPr>
        <p:txBody>
          <a:bodyPr>
            <a:noAutofit/>
          </a:bodyPr>
          <a:lstStyle/>
          <a:p>
            <a:r>
              <a:rPr lang="en-US" sz="3200" dirty="0">
                <a:ea typeface="+mj-lt"/>
                <a:cs typeface="+mj-lt"/>
              </a:rPr>
              <a:t>CI/CD workflow and monitoring plan</a:t>
            </a:r>
            <a:endParaRPr lang="en-US" dirty="0"/>
          </a:p>
        </p:txBody>
      </p:sp>
      <p:sp>
        <p:nvSpPr>
          <p:cNvPr id="8" name="Content Placeholder 4">
            <a:extLst>
              <a:ext uri="{FF2B5EF4-FFF2-40B4-BE49-F238E27FC236}">
                <a16:creationId xmlns:a16="http://schemas.microsoft.com/office/drawing/2014/main" id="{1B9E111D-549D-1D24-DF81-DF9C8D92E8DE}"/>
              </a:ext>
            </a:extLst>
          </p:cNvPr>
          <p:cNvSpPr txBox="1">
            <a:spLocks/>
          </p:cNvSpPr>
          <p:nvPr/>
        </p:nvSpPr>
        <p:spPr>
          <a:xfrm>
            <a:off x="573087" y="1216025"/>
            <a:ext cx="10659485" cy="4503738"/>
          </a:xfrm>
          <a:prstGeom prst="rect">
            <a:avLst/>
          </a:prstGeom>
          <a:no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Configuration guides for database, API gateway, CI/CD </a:t>
            </a:r>
            <a:r>
              <a:rPr lang="en-US" sz="2400" b="1" dirty="0" smtClean="0">
                <a:solidFill>
                  <a:srgbClr val="111620"/>
                </a:solidFill>
                <a:ea typeface="+mn-lt"/>
                <a:cs typeface="+mn-lt"/>
              </a:rPr>
              <a:t>components</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2650977097"/>
              </p:ext>
            </p:extLst>
          </p:nvPr>
        </p:nvGraphicFramePr>
        <p:xfrm>
          <a:off x="707923" y="1700979"/>
          <a:ext cx="10609006" cy="3903055"/>
        </p:xfrm>
        <a:graphic>
          <a:graphicData uri="http://schemas.openxmlformats.org/drawingml/2006/table">
            <a:tbl>
              <a:tblPr firstRow="1" firstCol="1" bandRow="1"/>
              <a:tblGrid>
                <a:gridCol w="2642089">
                  <a:extLst>
                    <a:ext uri="{9D8B030D-6E8A-4147-A177-3AD203B41FA5}">
                      <a16:colId xmlns:a16="http://schemas.microsoft.com/office/drawing/2014/main" val="2167508326"/>
                    </a:ext>
                  </a:extLst>
                </a:gridCol>
                <a:gridCol w="7966917">
                  <a:extLst>
                    <a:ext uri="{9D8B030D-6E8A-4147-A177-3AD203B41FA5}">
                      <a16:colId xmlns:a16="http://schemas.microsoft.com/office/drawing/2014/main" val="1021150294"/>
                    </a:ext>
                  </a:extLst>
                </a:gridCol>
              </a:tblGrid>
              <a:tr h="340203">
                <a:tc>
                  <a:txBody>
                    <a:bodyPr/>
                    <a:lstStyle/>
                    <a:p>
                      <a:pPr algn="ctr">
                        <a:spcAft>
                          <a:spcPts val="500"/>
                        </a:spcAft>
                      </a:pPr>
                      <a:r>
                        <a:rPr lang="en-MY" sz="1000" b="1">
                          <a:solidFill>
                            <a:srgbClr val="FFFFFF"/>
                          </a:solidFill>
                          <a:effectLst/>
                          <a:latin typeface="Arial" panose="020B0604020202020204" pitchFamily="34" charset="0"/>
                          <a:ea typeface="Arial" panose="020B0604020202020204" pitchFamily="34" charset="0"/>
                        </a:rPr>
                        <a:t>Component</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Configuration Detail</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extLst>
                  <a:ext uri="{0D108BD9-81ED-4DB2-BD59-A6C34878D82A}">
                    <a16:rowId xmlns:a16="http://schemas.microsoft.com/office/drawing/2014/main" val="3236646372"/>
                  </a:ext>
                </a:extLst>
              </a:tr>
              <a:tr h="652571">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Source Control (Git)</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DAE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Branch protection on main: require 2 PR approvals + passing CI checks. Signed commits enforced via GPG keys. Pre-commit hooks: detect-secrets, gitleaks for credential scanning.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19251036"/>
                  </a:ext>
                </a:extLst>
              </a:tr>
              <a:tr h="652571">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Build Agent Config</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Use ephemeral Docker-in-Docker (DinD) agents. Agent image: jenkins/inbound-agent:jdk17. CPU: 2 cores, RAM: 4GB per agent. Auto-scale agents using Kubernetes Pod Template; destroy after each job.</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78810262"/>
                  </a:ext>
                </a:extLst>
              </a:tr>
              <a:tr h="476284">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Secret Management</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DAE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No secrets in Jenkinsfile or GitHub Actions YAML. Inject at runtime via HashiCorp Vault plugin (Jenkins) or GitHub Actions Secrets. Rotate all CI/CD secrets every 30 days.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05873018"/>
                  </a:ext>
                </a:extLst>
              </a:tr>
              <a:tr h="652571">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SAST Configuration</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Run SonarQube with Quality Gate: 0 Critical bugs, 0 Critical vulnerabilities, Coverage ≥ 80%. Use Trivy for container image scanning with CRITICAL severity threshold blocking promotion.</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70242535"/>
                  </a:ext>
                </a:extLst>
              </a:tr>
              <a:tr h="476284">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Artifact Registry</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DAE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Push signed images to IBM Container Registry with image digest pinning. Tag format: {service}:{git-commit-sha}. Retain last 10 versions. Auto-delete images older than 90 days.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925289213"/>
                  </a:ext>
                </a:extLst>
              </a:tr>
              <a:tr h="652571">
                <a:tc>
                  <a:txBody>
                    <a:bodyPr/>
                    <a:lstStyle/>
                    <a:p>
                      <a:pPr>
                        <a:spcAft>
                          <a:spcPts val="500"/>
                        </a:spcAft>
                      </a:pPr>
                      <a:r>
                        <a:rPr lang="en-MY" sz="950" b="1">
                          <a:solidFill>
                            <a:srgbClr val="6C3483"/>
                          </a:solidFill>
                          <a:effectLst/>
                          <a:latin typeface="Arial" panose="020B0604020202020204" pitchFamily="34" charset="0"/>
                          <a:ea typeface="Arial" panose="020B0604020202020204" pitchFamily="34" charset="0"/>
                        </a:rPr>
                        <a:t>Deployment Config</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dirty="0">
                          <a:solidFill>
                            <a:srgbClr val="111111"/>
                          </a:solidFill>
                          <a:effectLst/>
                          <a:latin typeface="Arial" panose="020B0604020202020204" pitchFamily="34" charset="0"/>
                          <a:ea typeface="Arial" panose="020B0604020202020204" pitchFamily="34" charset="0"/>
                        </a:rPr>
                        <a:t>Use Helm charts for Kubernetes deployments. Values per environment: values-</a:t>
                      </a:r>
                      <a:r>
                        <a:rPr lang="en-MY" sz="950" dirty="0" err="1">
                          <a:solidFill>
                            <a:srgbClr val="111111"/>
                          </a:solidFill>
                          <a:effectLst/>
                          <a:latin typeface="Arial" panose="020B0604020202020204" pitchFamily="34" charset="0"/>
                          <a:ea typeface="Arial" panose="020B0604020202020204" pitchFamily="34" charset="0"/>
                        </a:rPr>
                        <a:t>staging.yaml</a:t>
                      </a:r>
                      <a:r>
                        <a:rPr lang="en-MY" sz="950" dirty="0">
                          <a:solidFill>
                            <a:srgbClr val="111111"/>
                          </a:solidFill>
                          <a:effectLst/>
                          <a:latin typeface="Arial" panose="020B0604020202020204" pitchFamily="34" charset="0"/>
                          <a:ea typeface="Arial" panose="020B0604020202020204" pitchFamily="34" charset="0"/>
                        </a:rPr>
                        <a:t>, values-</a:t>
                      </a:r>
                      <a:r>
                        <a:rPr lang="en-MY" sz="950" dirty="0" err="1">
                          <a:solidFill>
                            <a:srgbClr val="111111"/>
                          </a:solidFill>
                          <a:effectLst/>
                          <a:latin typeface="Arial" panose="020B0604020202020204" pitchFamily="34" charset="0"/>
                          <a:ea typeface="Arial" panose="020B0604020202020204" pitchFamily="34" charset="0"/>
                        </a:rPr>
                        <a:t>prod.yaml</a:t>
                      </a:r>
                      <a:r>
                        <a:rPr lang="en-MY" sz="950" dirty="0">
                          <a:solidFill>
                            <a:srgbClr val="111111"/>
                          </a:solidFill>
                          <a:effectLst/>
                          <a:latin typeface="Arial" panose="020B0604020202020204" pitchFamily="34" charset="0"/>
                          <a:ea typeface="Arial" panose="020B0604020202020204" pitchFamily="34" charset="0"/>
                        </a:rPr>
                        <a:t>. Deployment strategy: </a:t>
                      </a:r>
                      <a:r>
                        <a:rPr lang="en-MY" sz="950" dirty="0" err="1">
                          <a:solidFill>
                            <a:srgbClr val="111111"/>
                          </a:solidFill>
                          <a:effectLst/>
                          <a:latin typeface="Arial" panose="020B0604020202020204" pitchFamily="34" charset="0"/>
                          <a:ea typeface="Arial" panose="020B0604020202020204" pitchFamily="34" charset="0"/>
                        </a:rPr>
                        <a:t>RollingUpdate</a:t>
                      </a:r>
                      <a:r>
                        <a:rPr lang="en-MY" sz="950" dirty="0">
                          <a:solidFill>
                            <a:srgbClr val="111111"/>
                          </a:solidFill>
                          <a:effectLst/>
                          <a:latin typeface="Arial" panose="020B0604020202020204" pitchFamily="34" charset="0"/>
                          <a:ea typeface="Arial" panose="020B0604020202020204" pitchFamily="34" charset="0"/>
                        </a:rPr>
                        <a:t> with </a:t>
                      </a:r>
                      <a:r>
                        <a:rPr lang="en-MY" sz="950" dirty="0" err="1">
                          <a:solidFill>
                            <a:srgbClr val="111111"/>
                          </a:solidFill>
                          <a:effectLst/>
                          <a:latin typeface="Arial" panose="020B0604020202020204" pitchFamily="34" charset="0"/>
                          <a:ea typeface="Arial" panose="020B0604020202020204" pitchFamily="34" charset="0"/>
                        </a:rPr>
                        <a:t>maxSurge</a:t>
                      </a:r>
                      <a:r>
                        <a:rPr lang="en-MY" sz="950" dirty="0">
                          <a:solidFill>
                            <a:srgbClr val="111111"/>
                          </a:solidFill>
                          <a:effectLst/>
                          <a:latin typeface="Arial" panose="020B0604020202020204" pitchFamily="34" charset="0"/>
                          <a:ea typeface="Arial" panose="020B0604020202020204" pitchFamily="34" charset="0"/>
                        </a:rPr>
                        <a:t>=1, </a:t>
                      </a:r>
                      <a:r>
                        <a:rPr lang="en-MY" sz="950" dirty="0" err="1">
                          <a:solidFill>
                            <a:srgbClr val="111111"/>
                          </a:solidFill>
                          <a:effectLst/>
                          <a:latin typeface="Arial" panose="020B0604020202020204" pitchFamily="34" charset="0"/>
                          <a:ea typeface="Arial" panose="020B0604020202020204" pitchFamily="34" charset="0"/>
                        </a:rPr>
                        <a:t>maxUnavailable</a:t>
                      </a:r>
                      <a:r>
                        <a:rPr lang="en-MY" sz="950" dirty="0">
                          <a:solidFill>
                            <a:srgbClr val="111111"/>
                          </a:solidFill>
                          <a:effectLst/>
                          <a:latin typeface="Arial" panose="020B0604020202020204" pitchFamily="34" charset="0"/>
                          <a:ea typeface="Arial" panose="020B0604020202020204" pitchFamily="34" charset="0"/>
                        </a:rPr>
                        <a:t>=0 for zero-downtime.</a:t>
                      </a:r>
                      <a:endParaRPr lang="en-MY" sz="10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3844285657"/>
                  </a:ext>
                </a:extLst>
              </a:tr>
            </a:tbl>
          </a:graphicData>
        </a:graphic>
      </p:graphicFrame>
    </p:spTree>
    <p:extLst>
      <p:ext uri="{BB962C8B-B14F-4D97-AF65-F5344CB8AC3E}">
        <p14:creationId xmlns:p14="http://schemas.microsoft.com/office/powerpoint/2010/main" val="101360932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DD35-B3FA-B5AA-F986-ECCEDB57E9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873621-74FF-2EB6-8184-8F40645F6A55}"/>
              </a:ext>
            </a:extLst>
          </p:cNvPr>
          <p:cNvSpPr>
            <a:spLocks noGrp="1"/>
          </p:cNvSpPr>
          <p:nvPr>
            <p:ph type="title"/>
          </p:nvPr>
        </p:nvSpPr>
        <p:spPr>
          <a:xfrm>
            <a:off x="572756" y="133943"/>
            <a:ext cx="9813446" cy="850726"/>
          </a:xfrm>
        </p:spPr>
        <p:txBody>
          <a:bodyPr>
            <a:noAutofit/>
          </a:bodyPr>
          <a:lstStyle/>
          <a:p>
            <a:r>
              <a:rPr lang="en-US" sz="3200" dirty="0">
                <a:ea typeface="+mj-lt"/>
                <a:cs typeface="+mj-lt"/>
              </a:rPr>
              <a:t>CI/CD workflow and monitoring plan</a:t>
            </a:r>
            <a:endParaRPr lang="en-US" dirty="0"/>
          </a:p>
        </p:txBody>
      </p:sp>
      <p:sp>
        <p:nvSpPr>
          <p:cNvPr id="8" name="Content Placeholder 4">
            <a:extLst>
              <a:ext uri="{FF2B5EF4-FFF2-40B4-BE49-F238E27FC236}">
                <a16:creationId xmlns:a16="http://schemas.microsoft.com/office/drawing/2014/main" id="{7FE39946-25C6-A79A-6335-765303B9FD71}"/>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Backup and disaster recovery </a:t>
            </a:r>
            <a:r>
              <a:rPr lang="en-US" sz="2400" b="1" dirty="0" smtClean="0">
                <a:solidFill>
                  <a:srgbClr val="111620"/>
                </a:solidFill>
                <a:ea typeface="+mn-lt"/>
                <a:cs typeface="+mn-lt"/>
              </a:rPr>
              <a:t>plan</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282156340"/>
              </p:ext>
            </p:extLst>
          </p:nvPr>
        </p:nvGraphicFramePr>
        <p:xfrm>
          <a:off x="688258" y="1901984"/>
          <a:ext cx="10726994" cy="4341497"/>
        </p:xfrm>
        <a:graphic>
          <a:graphicData uri="http://schemas.openxmlformats.org/drawingml/2006/table">
            <a:tbl>
              <a:tblPr firstRow="1" firstCol="1" bandRow="1"/>
              <a:tblGrid>
                <a:gridCol w="2260477">
                  <a:extLst>
                    <a:ext uri="{9D8B030D-6E8A-4147-A177-3AD203B41FA5}">
                      <a16:colId xmlns:a16="http://schemas.microsoft.com/office/drawing/2014/main" val="3215682653"/>
                    </a:ext>
                  </a:extLst>
                </a:gridCol>
                <a:gridCol w="2671474">
                  <a:extLst>
                    <a:ext uri="{9D8B030D-6E8A-4147-A177-3AD203B41FA5}">
                      <a16:colId xmlns:a16="http://schemas.microsoft.com/office/drawing/2014/main" val="836067716"/>
                    </a:ext>
                  </a:extLst>
                </a:gridCol>
                <a:gridCol w="2671474">
                  <a:extLst>
                    <a:ext uri="{9D8B030D-6E8A-4147-A177-3AD203B41FA5}">
                      <a16:colId xmlns:a16="http://schemas.microsoft.com/office/drawing/2014/main" val="1187691139"/>
                    </a:ext>
                  </a:extLst>
                </a:gridCol>
                <a:gridCol w="3123569">
                  <a:extLst>
                    <a:ext uri="{9D8B030D-6E8A-4147-A177-3AD203B41FA5}">
                      <a16:colId xmlns:a16="http://schemas.microsoft.com/office/drawing/2014/main" val="1404960409"/>
                    </a:ext>
                  </a:extLst>
                </a:gridCol>
              </a:tblGrid>
              <a:tr h="399971">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Service / Component</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lgn="ctr">
                        <a:spcAft>
                          <a:spcPts val="500"/>
                        </a:spcAft>
                      </a:pPr>
                      <a:r>
                        <a:rPr lang="en-MY" sz="1000" b="1">
                          <a:solidFill>
                            <a:srgbClr val="FFFFFF"/>
                          </a:solidFill>
                          <a:effectLst/>
                          <a:latin typeface="Arial" panose="020B0604020202020204" pitchFamily="34" charset="0"/>
                          <a:ea typeface="Arial" panose="020B0604020202020204" pitchFamily="34" charset="0"/>
                        </a:rPr>
                        <a:t>Tier</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lgn="ctr">
                        <a:spcAft>
                          <a:spcPts val="500"/>
                        </a:spcAft>
                      </a:pPr>
                      <a:r>
                        <a:rPr lang="en-MY" sz="1000" b="1">
                          <a:solidFill>
                            <a:srgbClr val="FFFFFF"/>
                          </a:solidFill>
                          <a:effectLst/>
                          <a:latin typeface="Arial" panose="020B0604020202020204" pitchFamily="34" charset="0"/>
                          <a:ea typeface="Arial" panose="020B0604020202020204" pitchFamily="34" charset="0"/>
                        </a:rPr>
                        <a:t>RTO Target</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lgn="ctr">
                        <a:spcAft>
                          <a:spcPts val="500"/>
                        </a:spcAft>
                      </a:pPr>
                      <a:r>
                        <a:rPr lang="en-MY" sz="1000" b="1">
                          <a:solidFill>
                            <a:srgbClr val="FFFFFF"/>
                          </a:solidFill>
                          <a:effectLst/>
                          <a:latin typeface="Arial" panose="020B0604020202020204" pitchFamily="34" charset="0"/>
                          <a:ea typeface="Arial" panose="020B0604020202020204" pitchFamily="34" charset="0"/>
                        </a:rPr>
                        <a:t>RPO Target</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extLst>
                  <a:ext uri="{0D108BD9-81ED-4DB2-BD59-A6C34878D82A}">
                    <a16:rowId xmlns:a16="http://schemas.microsoft.com/office/drawing/2014/main" val="200024069"/>
                  </a:ext>
                </a:extLst>
              </a:tr>
              <a:tr h="559959">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Customer Onboarding Service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1 hour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766825421"/>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Loan Eligibility &amp; Servicing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1 hour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2699035664"/>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Transaction Processing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30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348278248"/>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Fraud Detection Engine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30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3209720697"/>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Authentication Service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15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900311004"/>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PostgreSQL Primary DB</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1 hour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 minute (WAL streaming)</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41183742"/>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Kafka Event Bus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00" b="1">
                          <a:solidFill>
                            <a:srgbClr val="C0392B"/>
                          </a:solidFill>
                          <a:effectLst/>
                          <a:latin typeface="Arial" panose="020B0604020202020204" pitchFamily="34" charset="0"/>
                          <a:ea typeface="Arial" panose="020B0604020202020204" pitchFamily="34" charset="0"/>
                        </a:rPr>
                        <a:t>Tier 1 — Critical</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ADBD8"/>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ADBD8"/>
                      </a:solidFill>
                      <a:prstDash val="solid"/>
                      <a:round/>
                      <a:headEnd type="none" w="med" len="med"/>
                      <a:tailEnd type="none" w="med" len="med"/>
                    </a:lnB>
                    <a:solidFill>
                      <a:srgbClr val="FADBD8"/>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2 hours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ADBD8"/>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15 minutes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119611600"/>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AML Monitoring Service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00" b="1">
                          <a:solidFill>
                            <a:srgbClr val="CA6F1E"/>
                          </a:solidFill>
                          <a:effectLst/>
                          <a:latin typeface="Arial" panose="020B0604020202020204" pitchFamily="34" charset="0"/>
                          <a:ea typeface="Arial" panose="020B0604020202020204" pitchFamily="34" charset="0"/>
                        </a:rPr>
                        <a:t>Tier 2 — Important</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DEBD0"/>
                      </a:solidFill>
                      <a:prstDash val="solid"/>
                      <a:round/>
                      <a:headEnd type="none" w="med" len="med"/>
                      <a:tailEnd type="none" w="med" len="med"/>
                    </a:lnR>
                    <a:lnT w="12700" cap="flat" cmpd="sng" algn="ctr">
                      <a:solidFill>
                        <a:srgbClr val="FADBD8"/>
                      </a:solidFill>
                      <a:prstDash val="solid"/>
                      <a:round/>
                      <a:headEnd type="none" w="med" len="med"/>
                      <a:tailEnd type="none" w="med" len="med"/>
                    </a:lnT>
                    <a:lnB w="12700" cap="flat" cmpd="sng" algn="ctr">
                      <a:solidFill>
                        <a:srgbClr val="FDEBD0"/>
                      </a:solidFill>
                      <a:prstDash val="solid"/>
                      <a:round/>
                      <a:headEnd type="none" w="med" len="med"/>
                      <a:tailEnd type="none" w="med" len="med"/>
                    </a:lnB>
                    <a:solidFill>
                      <a:srgbClr val="FDEBD0"/>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4 hours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DEBD0"/>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 hour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4009600653"/>
                  </a:ext>
                </a:extLst>
              </a:tr>
              <a:tr h="352701">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Compliance Reporting DB</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00" b="1">
                          <a:solidFill>
                            <a:srgbClr val="CA6F1E"/>
                          </a:solidFill>
                          <a:effectLst/>
                          <a:latin typeface="Arial" panose="020B0604020202020204" pitchFamily="34" charset="0"/>
                          <a:ea typeface="Arial" panose="020B0604020202020204" pitchFamily="34" charset="0"/>
                        </a:rPr>
                        <a:t>Tier 2 — Important</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FDEBD0"/>
                      </a:solidFill>
                      <a:prstDash val="solid"/>
                      <a:round/>
                      <a:headEnd type="none" w="med" len="med"/>
                      <a:tailEnd type="none" w="med" len="med"/>
                    </a:lnR>
                    <a:lnT w="12700" cap="flat" cmpd="sng" algn="ctr">
                      <a:solidFill>
                        <a:srgbClr val="FDEBD0"/>
                      </a:solidFill>
                      <a:prstDash val="solid"/>
                      <a:round/>
                      <a:headEnd type="none" w="med" len="med"/>
                      <a:tailEnd type="none" w="med" len="med"/>
                    </a:lnT>
                    <a:lnB w="12700" cap="flat" cmpd="sng" algn="ctr">
                      <a:solidFill>
                        <a:srgbClr val="FDEBD0"/>
                      </a:solidFill>
                      <a:prstDash val="solid"/>
                      <a:round/>
                      <a:headEnd type="none" w="med" len="med"/>
                      <a:tailEnd type="none" w="med" len="med"/>
                    </a:lnB>
                    <a:solidFill>
                      <a:srgbClr val="FDEBD0"/>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4 hours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FDEBD0"/>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a:spcAft>
                          <a:spcPts val="500"/>
                        </a:spcAft>
                      </a:pPr>
                      <a:r>
                        <a:rPr lang="en-MY" sz="950" b="1">
                          <a:solidFill>
                            <a:srgbClr val="1E8449"/>
                          </a:solidFill>
                          <a:effectLst/>
                          <a:latin typeface="Arial" panose="020B0604020202020204" pitchFamily="34" charset="0"/>
                          <a:ea typeface="Arial" panose="020B0604020202020204" pitchFamily="34" charset="0"/>
                        </a:rPr>
                        <a:t>&lt; 1 hour</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361992086"/>
                  </a:ext>
                </a:extLst>
              </a:tr>
              <a:tr h="559959">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Analytics / Tableau Dashboards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00" b="1">
                          <a:solidFill>
                            <a:srgbClr val="2E75B6"/>
                          </a:solidFill>
                          <a:effectLst/>
                          <a:latin typeface="Arial" panose="020B0604020202020204" pitchFamily="34" charset="0"/>
                          <a:ea typeface="Arial" panose="020B0604020202020204" pitchFamily="34" charset="0"/>
                        </a:rPr>
                        <a:t>Tier 3 — Standard</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D6E4F0"/>
                      </a:solidFill>
                      <a:prstDash val="solid"/>
                      <a:round/>
                      <a:headEnd type="none" w="med" len="med"/>
                      <a:tailEnd type="none" w="med" len="med"/>
                    </a:lnR>
                    <a:lnT w="12700" cap="flat" cmpd="sng" algn="ctr">
                      <a:solidFill>
                        <a:srgbClr val="FDEBD0"/>
                      </a:solidFill>
                      <a:prstDash val="solid"/>
                      <a:round/>
                      <a:headEnd type="none" w="med" len="med"/>
                      <a:tailEnd type="none" w="med" len="med"/>
                    </a:lnT>
                    <a:lnB w="12700" cap="flat" cmpd="sng" algn="ctr">
                      <a:solidFill>
                        <a:srgbClr val="D6E4F0"/>
                      </a:solidFill>
                      <a:prstDash val="solid"/>
                      <a:round/>
                      <a:headEnd type="none" w="med" len="med"/>
                      <a:tailEnd type="none" w="med" len="med"/>
                    </a:lnB>
                    <a:solidFill>
                      <a:srgbClr val="D6E4F0"/>
                    </a:solidFill>
                  </a:tcPr>
                </a:tc>
                <a:tc>
                  <a:txBody>
                    <a:bodyPr/>
                    <a:lstStyle/>
                    <a:p>
                      <a:pPr algn="ctr">
                        <a:spcAft>
                          <a:spcPts val="500"/>
                        </a:spcAft>
                      </a:pPr>
                      <a:r>
                        <a:rPr lang="en-MY" sz="950" b="1">
                          <a:solidFill>
                            <a:srgbClr val="117A65"/>
                          </a:solidFill>
                          <a:effectLst/>
                          <a:latin typeface="Arial" panose="020B0604020202020204" pitchFamily="34" charset="0"/>
                          <a:ea typeface="Arial" panose="020B0604020202020204" pitchFamily="34" charset="0"/>
                        </a:rPr>
                        <a:t>&lt; 8 hours</a:t>
                      </a:r>
                      <a:endParaRPr lang="en-MY" sz="100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D6E4F0"/>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lgn="ctr">
                        <a:spcAft>
                          <a:spcPts val="500"/>
                        </a:spcAft>
                      </a:pPr>
                      <a:r>
                        <a:rPr lang="en-MY" sz="950" b="1" dirty="0">
                          <a:solidFill>
                            <a:srgbClr val="1E8449"/>
                          </a:solidFill>
                          <a:effectLst/>
                          <a:latin typeface="Arial" panose="020B0604020202020204" pitchFamily="34" charset="0"/>
                          <a:ea typeface="Arial" panose="020B0604020202020204" pitchFamily="34" charset="0"/>
                        </a:rPr>
                        <a:t>&lt; 4 hours</a:t>
                      </a:r>
                      <a:endParaRPr lang="en-MY" sz="1000" dirty="0">
                        <a:effectLst/>
                        <a:latin typeface="Arial" panose="020B0604020202020204" pitchFamily="34" charset="0"/>
                        <a:ea typeface="Arial" panose="020B0604020202020204" pitchFamily="34" charset="0"/>
                      </a:endParaRPr>
                    </a:p>
                  </a:txBody>
                  <a:tcPr marL="76200" marR="76200" marT="50800" marB="50800" anchor="ct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2822985140"/>
                  </a:ext>
                </a:extLst>
              </a:tr>
            </a:tbl>
          </a:graphicData>
        </a:graphic>
      </p:graphicFrame>
    </p:spTree>
    <p:extLst>
      <p:ext uri="{BB962C8B-B14F-4D97-AF65-F5344CB8AC3E}">
        <p14:creationId xmlns:p14="http://schemas.microsoft.com/office/powerpoint/2010/main" val="34434208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C2872-D84D-9BF6-D89F-D405502BB1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18BCBC-A381-19B9-0A86-57945A71A104}"/>
              </a:ext>
            </a:extLst>
          </p:cNvPr>
          <p:cNvSpPr>
            <a:spLocks noGrp="1"/>
          </p:cNvSpPr>
          <p:nvPr>
            <p:ph type="title"/>
          </p:nvPr>
        </p:nvSpPr>
        <p:spPr>
          <a:xfrm>
            <a:off x="572756" y="133943"/>
            <a:ext cx="9813446" cy="850726"/>
          </a:xfrm>
        </p:spPr>
        <p:txBody>
          <a:bodyPr>
            <a:noAutofit/>
          </a:bodyPr>
          <a:lstStyle/>
          <a:p>
            <a:r>
              <a:rPr lang="en-US" sz="3200" dirty="0">
                <a:ea typeface="+mj-lt"/>
                <a:cs typeface="+mj-lt"/>
              </a:rPr>
              <a:t>CI/CD workflow and monitoring plan</a:t>
            </a:r>
            <a:endParaRPr lang="en-US" dirty="0"/>
          </a:p>
        </p:txBody>
      </p:sp>
      <p:sp>
        <p:nvSpPr>
          <p:cNvPr id="8" name="Content Placeholder 4">
            <a:extLst>
              <a:ext uri="{FF2B5EF4-FFF2-40B4-BE49-F238E27FC236}">
                <a16:creationId xmlns:a16="http://schemas.microsoft.com/office/drawing/2014/main" id="{42E4F986-C161-BD4B-A458-C9E3622E4A87}"/>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Monitoring </a:t>
            </a:r>
            <a:r>
              <a:rPr lang="en-US" sz="2400" b="1" dirty="0" smtClean="0">
                <a:solidFill>
                  <a:srgbClr val="111620"/>
                </a:solidFill>
                <a:ea typeface="+mn-lt"/>
                <a:cs typeface="+mn-lt"/>
              </a:rPr>
              <a:t>framework</a:t>
            </a:r>
          </a:p>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866507104"/>
              </p:ext>
            </p:extLst>
          </p:nvPr>
        </p:nvGraphicFramePr>
        <p:xfrm>
          <a:off x="688257" y="1789469"/>
          <a:ext cx="10707329" cy="4444181"/>
        </p:xfrm>
        <a:graphic>
          <a:graphicData uri="http://schemas.openxmlformats.org/drawingml/2006/table">
            <a:tbl>
              <a:tblPr firstRow="1" firstCol="1" bandRow="1"/>
              <a:tblGrid>
                <a:gridCol w="2461455">
                  <a:extLst>
                    <a:ext uri="{9D8B030D-6E8A-4147-A177-3AD203B41FA5}">
                      <a16:colId xmlns:a16="http://schemas.microsoft.com/office/drawing/2014/main" val="1647549187"/>
                    </a:ext>
                  </a:extLst>
                </a:gridCol>
                <a:gridCol w="3733207">
                  <a:extLst>
                    <a:ext uri="{9D8B030D-6E8A-4147-A177-3AD203B41FA5}">
                      <a16:colId xmlns:a16="http://schemas.microsoft.com/office/drawing/2014/main" val="1616175693"/>
                    </a:ext>
                  </a:extLst>
                </a:gridCol>
                <a:gridCol w="4512667">
                  <a:extLst>
                    <a:ext uri="{9D8B030D-6E8A-4147-A177-3AD203B41FA5}">
                      <a16:colId xmlns:a16="http://schemas.microsoft.com/office/drawing/2014/main" val="374800986"/>
                    </a:ext>
                  </a:extLst>
                </a:gridCol>
              </a:tblGrid>
              <a:tr h="448084">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KPI</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Definition</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tc>
                  <a:txBody>
                    <a:bodyPr/>
                    <a:lstStyle/>
                    <a:p>
                      <a:pPr>
                        <a:spcAft>
                          <a:spcPts val="500"/>
                        </a:spcAft>
                      </a:pPr>
                      <a:r>
                        <a:rPr lang="en-MY" sz="1000" b="1">
                          <a:solidFill>
                            <a:srgbClr val="FFFFFF"/>
                          </a:solidFill>
                          <a:effectLst/>
                          <a:latin typeface="Arial" panose="020B0604020202020204" pitchFamily="34" charset="0"/>
                          <a:ea typeface="Arial" panose="020B0604020202020204" pitchFamily="34" charset="0"/>
                        </a:rPr>
                        <a:t>Target / Baseline</a:t>
                      </a:r>
                      <a:endParaRPr lang="en-MY" sz="1000">
                        <a:effectLst/>
                        <a:latin typeface="Arial" panose="020B0604020202020204" pitchFamily="34" charset="0"/>
                        <a:ea typeface="Arial" panose="020B0604020202020204" pitchFamily="34" charset="0"/>
                      </a:endParaRPr>
                    </a:p>
                  </a:txBody>
                  <a:tcPr marL="76200" marR="76200" marT="63500" marB="63500">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1F3864"/>
                    </a:solidFill>
                  </a:tcPr>
                </a:tc>
                <a:extLst>
                  <a:ext uri="{0D108BD9-81ED-4DB2-BD59-A6C34878D82A}">
                    <a16:rowId xmlns:a16="http://schemas.microsoft.com/office/drawing/2014/main" val="3094200757"/>
                  </a:ext>
                </a:extLst>
              </a:tr>
              <a:tr h="627318">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API Response Latency</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P95 response time for all public API endpoints measured at API Gateway</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E8449"/>
                          </a:solidFill>
                          <a:effectLst/>
                          <a:latin typeface="Arial" panose="020B0604020202020204" pitchFamily="34" charset="0"/>
                          <a:ea typeface="Arial" panose="020B0604020202020204" pitchFamily="34" charset="0"/>
                        </a:rPr>
                        <a:t>&lt; 200ms P95; &lt; 500ms P99; alert if &gt; 300ms sustained for 2 minutes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5F5E3"/>
                    </a:solidFill>
                  </a:tcPr>
                </a:tc>
                <a:extLst>
                  <a:ext uri="{0D108BD9-81ED-4DB2-BD59-A6C34878D82A}">
                    <a16:rowId xmlns:a16="http://schemas.microsoft.com/office/drawing/2014/main" val="3242249074"/>
                  </a:ext>
                </a:extLst>
              </a:tr>
              <a:tr h="627318">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Service Availability (%)</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Uptime of each microservice container measured per 30-day rolling window</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a:solidFill>
                            <a:srgbClr val="1E8449"/>
                          </a:solidFill>
                          <a:effectLst/>
                          <a:latin typeface="Arial" panose="020B0604020202020204" pitchFamily="34" charset="0"/>
                          <a:ea typeface="Arial" panose="020B0604020202020204" pitchFamily="34" charset="0"/>
                        </a:rPr>
                        <a:t>≥ 99.9% SLA; alert if availability drops below 99.5%</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8F0"/>
                    </a:solidFill>
                  </a:tcPr>
                </a:tc>
                <a:extLst>
                  <a:ext uri="{0D108BD9-81ED-4DB2-BD59-A6C34878D82A}">
                    <a16:rowId xmlns:a16="http://schemas.microsoft.com/office/drawing/2014/main" val="3001721853"/>
                  </a:ext>
                </a:extLst>
              </a:tr>
              <a:tr h="859507">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Transaction Throughput (TPS)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Transactions processed per second across the payment and loan microservices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E8449"/>
                          </a:solidFill>
                          <a:effectLst/>
                          <a:latin typeface="Arial" panose="020B0604020202020204" pitchFamily="34" charset="0"/>
                          <a:ea typeface="Arial" panose="020B0604020202020204" pitchFamily="34" charset="0"/>
                        </a:rPr>
                        <a:t>&gt; 1,000 TPS baseline; alert if &lt; 800 TPS during business hours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5F5E3"/>
                    </a:solidFill>
                  </a:tcPr>
                </a:tc>
                <a:extLst>
                  <a:ext uri="{0D108BD9-81ED-4DB2-BD59-A6C34878D82A}">
                    <a16:rowId xmlns:a16="http://schemas.microsoft.com/office/drawing/2014/main" val="3856688937"/>
                  </a:ext>
                </a:extLst>
              </a:tr>
              <a:tr h="627318">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Error Rate (%)</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Ratio of 5xx HTTP responses to total requests over 5-minute sliding window</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dirty="0">
                          <a:solidFill>
                            <a:srgbClr val="1E8449"/>
                          </a:solidFill>
                          <a:effectLst/>
                          <a:latin typeface="Arial" panose="020B0604020202020204" pitchFamily="34" charset="0"/>
                          <a:ea typeface="Arial" panose="020B0604020202020204" pitchFamily="34" charset="0"/>
                        </a:rPr>
                        <a:t>&lt; 0.1%; alert at &gt; 0.5%; critical at &gt; 1%</a:t>
                      </a:r>
                      <a:endParaRPr lang="en-MY" sz="10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8F0"/>
                    </a:solidFill>
                  </a:tcPr>
                </a:tc>
                <a:extLst>
                  <a:ext uri="{0D108BD9-81ED-4DB2-BD59-A6C34878D82A}">
                    <a16:rowId xmlns:a16="http://schemas.microsoft.com/office/drawing/2014/main" val="2876662814"/>
                  </a:ext>
                </a:extLst>
              </a:tr>
              <a:tr h="627318">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Fraud Rule Engine Time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Time taken by fraud detection service to evaluate and return a risk score</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spcAft>
                          <a:spcPts val="500"/>
                        </a:spcAft>
                      </a:pPr>
                      <a:r>
                        <a:rPr lang="en-MY" sz="950">
                          <a:solidFill>
                            <a:srgbClr val="1E8449"/>
                          </a:solidFill>
                          <a:effectLst/>
                          <a:latin typeface="Arial" panose="020B0604020202020204" pitchFamily="34" charset="0"/>
                          <a:ea typeface="Arial" panose="020B0604020202020204" pitchFamily="34" charset="0"/>
                        </a:rPr>
                        <a:t>&lt; 150ms per transaction; alert if &gt; 200ms; critical if &gt; 500ms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D5F5E3"/>
                    </a:solidFill>
                  </a:tcPr>
                </a:tc>
                <a:extLst>
                  <a:ext uri="{0D108BD9-81ED-4DB2-BD59-A6C34878D82A}">
                    <a16:rowId xmlns:a16="http://schemas.microsoft.com/office/drawing/2014/main" val="3517699049"/>
                  </a:ext>
                </a:extLst>
              </a:tr>
              <a:tr h="627318">
                <a:tc>
                  <a:txBody>
                    <a:bodyPr/>
                    <a:lstStyle/>
                    <a:p>
                      <a:pPr>
                        <a:spcAft>
                          <a:spcPts val="500"/>
                        </a:spcAft>
                      </a:pPr>
                      <a:r>
                        <a:rPr lang="en-MY" sz="950" b="1">
                          <a:solidFill>
                            <a:srgbClr val="1F3864"/>
                          </a:solidFill>
                          <a:effectLst/>
                          <a:latin typeface="Arial" panose="020B0604020202020204" pitchFamily="34" charset="0"/>
                          <a:ea typeface="Arial" panose="020B0604020202020204" pitchFamily="34" charset="0"/>
                        </a:rPr>
                        <a:t>Database Replication Lag</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a:solidFill>
                            <a:srgbClr val="111111"/>
                          </a:solidFill>
                          <a:effectLst/>
                          <a:latin typeface="Arial" panose="020B0604020202020204" pitchFamily="34" charset="0"/>
                          <a:ea typeface="Arial" panose="020B0604020202020204" pitchFamily="34" charset="0"/>
                        </a:rPr>
                        <a:t>Seconds behind primary for PostgreSQL read replicas used by reporting services</a:t>
                      </a:r>
                      <a:endParaRPr lang="en-MY" sz="100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2F2F2"/>
                    </a:solidFill>
                  </a:tcPr>
                </a:tc>
                <a:tc>
                  <a:txBody>
                    <a:bodyPr/>
                    <a:lstStyle/>
                    <a:p>
                      <a:pPr>
                        <a:spcAft>
                          <a:spcPts val="500"/>
                        </a:spcAft>
                      </a:pPr>
                      <a:r>
                        <a:rPr lang="en-MY" sz="950" dirty="0">
                          <a:solidFill>
                            <a:srgbClr val="1E8449"/>
                          </a:solidFill>
                          <a:effectLst/>
                          <a:latin typeface="Arial" panose="020B0604020202020204" pitchFamily="34" charset="0"/>
                          <a:ea typeface="Arial" panose="020B0604020202020204" pitchFamily="34" charset="0"/>
                        </a:rPr>
                        <a:t>&lt; 1 second; alert at &gt; 5 seconds; critical at &gt; 30 seconds</a:t>
                      </a:r>
                      <a:endParaRPr lang="en-MY" sz="1000" dirty="0">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8F0"/>
                    </a:solidFill>
                  </a:tcPr>
                </a:tc>
                <a:extLst>
                  <a:ext uri="{0D108BD9-81ED-4DB2-BD59-A6C34878D82A}">
                    <a16:rowId xmlns:a16="http://schemas.microsoft.com/office/drawing/2014/main" val="48049469"/>
                  </a:ext>
                </a:extLst>
              </a:tr>
            </a:tbl>
          </a:graphicData>
        </a:graphic>
      </p:graphicFrame>
    </p:spTree>
    <p:extLst>
      <p:ext uri="{BB962C8B-B14F-4D97-AF65-F5344CB8AC3E}">
        <p14:creationId xmlns:p14="http://schemas.microsoft.com/office/powerpoint/2010/main" val="17629164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D3B93-F35E-7579-5718-CA1A37A4AA7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F2C6B8-4B4F-AD82-3B53-C626C60B429A}"/>
              </a:ext>
            </a:extLst>
          </p:cNvPr>
          <p:cNvSpPr>
            <a:spLocks noGrp="1"/>
          </p:cNvSpPr>
          <p:nvPr>
            <p:ph type="title"/>
          </p:nvPr>
        </p:nvSpPr>
        <p:spPr>
          <a:xfrm>
            <a:off x="572756" y="133943"/>
            <a:ext cx="9813446" cy="850726"/>
          </a:xfrm>
        </p:spPr>
        <p:txBody>
          <a:bodyPr>
            <a:noAutofit/>
          </a:bodyPr>
          <a:lstStyle/>
          <a:p>
            <a:r>
              <a:rPr lang="en-US" sz="3200" dirty="0">
                <a:ea typeface="+mj-lt"/>
                <a:cs typeface="+mj-lt"/>
              </a:rPr>
              <a:t>CI/CD workflow and monitoring plan</a:t>
            </a:r>
            <a:endParaRPr lang="en-US" dirty="0"/>
          </a:p>
        </p:txBody>
      </p:sp>
      <p:sp>
        <p:nvSpPr>
          <p:cNvPr id="8" name="Content Placeholder 4">
            <a:extLst>
              <a:ext uri="{FF2B5EF4-FFF2-40B4-BE49-F238E27FC236}">
                <a16:creationId xmlns:a16="http://schemas.microsoft.com/office/drawing/2014/main" id="{2EE0C3C8-2842-DBD7-6B43-E760E003E237}"/>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solidFill>
                  <a:srgbClr val="111620"/>
                </a:solidFill>
                <a:ea typeface="+mn-lt"/>
                <a:cs typeface="+mn-lt"/>
              </a:rPr>
              <a:t>Cloud </a:t>
            </a:r>
            <a:r>
              <a:rPr lang="en-US" sz="2400" b="1" dirty="0" smtClean="0">
                <a:solidFill>
                  <a:srgbClr val="111620"/>
                </a:solidFill>
                <a:ea typeface="+mn-lt"/>
                <a:cs typeface="+mn-lt"/>
              </a:rPr>
              <a:t>components (Unclear question)</a:t>
            </a:r>
            <a:endParaRPr lang="en-US" dirty="0"/>
          </a:p>
          <a:p>
            <a:pPr marL="0" indent="0">
              <a:buNone/>
            </a:pPr>
            <a:endParaRPr lang="en-US" sz="1800" dirty="0">
              <a:highlight>
                <a:srgbClr val="FFFF00"/>
              </a:highlight>
              <a:cs typeface="Arial"/>
            </a:endParaRPr>
          </a:p>
        </p:txBody>
      </p:sp>
    </p:spTree>
    <p:extLst>
      <p:ext uri="{BB962C8B-B14F-4D97-AF65-F5344CB8AC3E}">
        <p14:creationId xmlns:p14="http://schemas.microsoft.com/office/powerpoint/2010/main" val="126678616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121CC5-F122-52A3-03A7-4C0CBFE2B73B}"/>
              </a:ext>
            </a:extLst>
          </p:cNvPr>
          <p:cNvSpPr>
            <a:spLocks noGrp="1"/>
          </p:cNvSpPr>
          <p:nvPr>
            <p:ph type="title"/>
          </p:nvPr>
        </p:nvSpPr>
        <p:spPr>
          <a:xfrm>
            <a:off x="1032831" y="2996183"/>
            <a:ext cx="8488117" cy="850726"/>
          </a:xfrm>
        </p:spPr>
        <p:txBody>
          <a:bodyPr/>
          <a:lstStyle/>
          <a:p>
            <a:r>
              <a:rPr lang="en-IN" dirty="0"/>
              <a:t>Findings and Recommendations</a:t>
            </a:r>
          </a:p>
        </p:txBody>
      </p:sp>
    </p:spTree>
    <p:extLst>
      <p:ext uri="{BB962C8B-B14F-4D97-AF65-F5344CB8AC3E}">
        <p14:creationId xmlns:p14="http://schemas.microsoft.com/office/powerpoint/2010/main" val="255574745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D1E4C-AE37-A76B-3C2C-1A8B247E8A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027EF3-E175-97A4-E55A-3F99214BCB8F}"/>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Key findings</a:t>
            </a:r>
            <a:endParaRPr lang="en-US" dirty="0"/>
          </a:p>
        </p:txBody>
      </p:sp>
      <p:sp>
        <p:nvSpPr>
          <p:cNvPr id="8" name="Content Placeholder 4">
            <a:extLst>
              <a:ext uri="{FF2B5EF4-FFF2-40B4-BE49-F238E27FC236}">
                <a16:creationId xmlns:a16="http://schemas.microsoft.com/office/drawing/2014/main" id="{B7F8757F-14D2-A91B-246F-1E4177D4C520}"/>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419073221"/>
              </p:ext>
            </p:extLst>
          </p:nvPr>
        </p:nvGraphicFramePr>
        <p:xfrm>
          <a:off x="677197" y="1375835"/>
          <a:ext cx="10334932" cy="1328036"/>
        </p:xfrm>
        <a:graphic>
          <a:graphicData uri="http://schemas.openxmlformats.org/drawingml/2006/table">
            <a:tbl>
              <a:tblPr/>
              <a:tblGrid>
                <a:gridCol w="554364">
                  <a:extLst>
                    <a:ext uri="{9D8B030D-6E8A-4147-A177-3AD203B41FA5}">
                      <a16:colId xmlns:a16="http://schemas.microsoft.com/office/drawing/2014/main" val="1623123709"/>
                    </a:ext>
                  </a:extLst>
                </a:gridCol>
                <a:gridCol w="2573834">
                  <a:extLst>
                    <a:ext uri="{9D8B030D-6E8A-4147-A177-3AD203B41FA5}">
                      <a16:colId xmlns:a16="http://schemas.microsoft.com/office/drawing/2014/main" val="2422922873"/>
                    </a:ext>
                  </a:extLst>
                </a:gridCol>
                <a:gridCol w="7206734">
                  <a:extLst>
                    <a:ext uri="{9D8B030D-6E8A-4147-A177-3AD203B41FA5}">
                      <a16:colId xmlns:a16="http://schemas.microsoft.com/office/drawing/2014/main" val="2011701126"/>
                    </a:ext>
                  </a:extLst>
                </a:gridCol>
              </a:tblGrid>
              <a:tr h="1328036">
                <a:tc>
                  <a:txBody>
                    <a:bodyPr/>
                    <a:lstStyle/>
                    <a:p>
                      <a:pPr algn="ctr">
                        <a:spcAft>
                          <a:spcPts val="400"/>
                        </a:spcAft>
                      </a:pPr>
                      <a:r>
                        <a:rPr lang="en-MY" sz="1600" b="1">
                          <a:solidFill>
                            <a:srgbClr val="FFFFFF"/>
                          </a:solidFill>
                          <a:effectLst/>
                          <a:latin typeface="Calibri" panose="020F0502020204030204" pitchFamily="34" charset="0"/>
                          <a:ea typeface="Calibri" panose="020F0502020204030204" pitchFamily="34" charset="0"/>
                        </a:rPr>
                        <a:t>1</a:t>
                      </a:r>
                      <a:endParaRPr lang="en-MY" sz="1100">
                        <a:effectLst/>
                        <a:latin typeface="Calibri" panose="020F0502020204030204" pitchFamily="34" charset="0"/>
                        <a:ea typeface="Calibri" panose="020F0502020204030204" pitchFamily="34" charset="0"/>
                      </a:endParaRPr>
                    </a:p>
                  </a:txBody>
                  <a:tcPr marL="0" marR="0" marT="101600" marB="101600" anchor="ctr">
                    <a:lnL w="12700" cap="flat" cmpd="sng" algn="ctr">
                      <a:solidFill>
                        <a:srgbClr val="1F4E79"/>
                      </a:solidFill>
                      <a:prstDash val="solid"/>
                      <a:round/>
                      <a:headEnd type="none" w="med" len="med"/>
                      <a:tailEnd type="none" w="med" len="med"/>
                    </a:lnL>
                    <a:lnR w="12700" cap="flat" cmpd="sng" algn="ctr">
                      <a:solidFill>
                        <a:srgbClr val="1F4E79"/>
                      </a:solidFill>
                      <a:prstDash val="solid"/>
                      <a:round/>
                      <a:headEnd type="none" w="med" len="med"/>
                      <a:tailEnd type="none" w="med" len="med"/>
                    </a:lnR>
                    <a:lnT w="12700" cap="flat" cmpd="sng" algn="ctr">
                      <a:solidFill>
                        <a:srgbClr val="1F4E79"/>
                      </a:solidFill>
                      <a:prstDash val="solid"/>
                      <a:round/>
                      <a:headEnd type="none" w="med" len="med"/>
                      <a:tailEnd type="none" w="med" len="med"/>
                    </a:lnT>
                    <a:lnB w="12700" cap="flat" cmpd="sng" algn="ctr">
                      <a:solidFill>
                        <a:srgbClr val="1F4E79"/>
                      </a:solidFill>
                      <a:prstDash val="solid"/>
                      <a:round/>
                      <a:headEnd type="none" w="med" len="med"/>
                      <a:tailEnd type="none" w="med" len="med"/>
                    </a:lnB>
                    <a:solidFill>
                      <a:srgbClr val="1F4E79"/>
                    </a:solidFill>
                  </a:tcPr>
                </a:tc>
                <a:tc>
                  <a:txBody>
                    <a:bodyPr/>
                    <a:lstStyle/>
                    <a:p>
                      <a:pPr algn="ctr">
                        <a:spcAft>
                          <a:spcPts val="100"/>
                        </a:spcAft>
                      </a:pPr>
                      <a:r>
                        <a:rPr lang="en-MY" sz="1800" b="1">
                          <a:solidFill>
                            <a:srgbClr val="1E7145"/>
                          </a:solidFill>
                          <a:effectLst/>
                          <a:latin typeface="Calibri" panose="020F0502020204030204" pitchFamily="34" charset="0"/>
                          <a:ea typeface="Calibri" panose="020F0502020204030204" pitchFamily="34" charset="0"/>
                        </a:rPr>
                        <a:t>86%</a:t>
                      </a:r>
                      <a:endParaRPr lang="en-MY" sz="1100">
                        <a:effectLst/>
                        <a:latin typeface="Calibri" panose="020F0502020204030204" pitchFamily="34" charset="0"/>
                        <a:ea typeface="Calibri" panose="020F0502020204030204" pitchFamily="34" charset="0"/>
                      </a:endParaRPr>
                    </a:p>
                    <a:p>
                      <a:pPr algn="ctr">
                        <a:spcAft>
                          <a:spcPts val="0"/>
                        </a:spcAft>
                      </a:pPr>
                      <a:r>
                        <a:rPr lang="en-MY" sz="800" i="1">
                          <a:solidFill>
                            <a:srgbClr val="595959"/>
                          </a:solidFill>
                          <a:effectLst/>
                          <a:latin typeface="Calibri" panose="020F0502020204030204" pitchFamily="34" charset="0"/>
                          <a:ea typeface="Calibri" panose="020F0502020204030204" pitchFamily="34" charset="0"/>
                        </a:rPr>
                        <a:t>key metric</a:t>
                      </a:r>
                      <a:endParaRPr lang="en-MY" sz="1100">
                        <a:effectLst/>
                        <a:latin typeface="Calibri" panose="020F0502020204030204" pitchFamily="34" charset="0"/>
                        <a:ea typeface="Calibri" panose="020F0502020204030204" pitchFamily="34" charset="0"/>
                      </a:endParaRPr>
                    </a:p>
                  </a:txBody>
                  <a:tcPr marL="76200" marR="76200" marT="76200" marB="76200" anchor="ctr">
                    <a:lnL w="12700" cap="flat" cmpd="sng" algn="ctr">
                      <a:solidFill>
                        <a:srgbClr val="1F4E79"/>
                      </a:solidFill>
                      <a:prstDash val="solid"/>
                      <a:round/>
                      <a:headEnd type="none" w="med" len="med"/>
                      <a:tailEnd type="none" w="med" len="med"/>
                    </a:lnL>
                    <a:lnR w="12700" cap="flat" cmpd="sng" algn="ctr">
                      <a:solidFill>
                        <a:srgbClr val="E2EFDA"/>
                      </a:solidFill>
                      <a:prstDash val="solid"/>
                      <a:round/>
                      <a:headEnd type="none" w="med" len="med"/>
                      <a:tailEnd type="none" w="med" len="med"/>
                    </a:lnR>
                    <a:lnT w="12700" cap="flat" cmpd="sng" algn="ctr">
                      <a:solidFill>
                        <a:srgbClr val="E2EFDA"/>
                      </a:solidFill>
                      <a:prstDash val="solid"/>
                      <a:round/>
                      <a:headEnd type="none" w="med" len="med"/>
                      <a:tailEnd type="none" w="med" len="med"/>
                    </a:lnT>
                    <a:lnB w="12700" cap="flat" cmpd="sng" algn="ctr">
                      <a:solidFill>
                        <a:srgbClr val="E2EFDA"/>
                      </a:solidFill>
                      <a:prstDash val="solid"/>
                      <a:round/>
                      <a:headEnd type="none" w="med" len="med"/>
                      <a:tailEnd type="none" w="med" len="med"/>
                    </a:lnB>
                    <a:solidFill>
                      <a:srgbClr val="E2EFDA"/>
                    </a:solidFill>
                  </a:tcPr>
                </a:tc>
                <a:tc>
                  <a:txBody>
                    <a:bodyPr/>
                    <a:lstStyle/>
                    <a:p>
                      <a:pPr>
                        <a:spcAft>
                          <a:spcPts val="300"/>
                        </a:spcAft>
                      </a:pPr>
                      <a:r>
                        <a:rPr lang="en-MY" sz="1100" b="1" dirty="0">
                          <a:solidFill>
                            <a:srgbClr val="1F4E79"/>
                          </a:solidFill>
                          <a:effectLst/>
                          <a:latin typeface="Calibri" panose="020F0502020204030204" pitchFamily="34" charset="0"/>
                          <a:ea typeface="Calibri" panose="020F0502020204030204" pitchFamily="34" charset="0"/>
                        </a:rPr>
                        <a:t>6 of 7 </a:t>
                      </a:r>
                      <a:r>
                        <a:rPr lang="en-MY" sz="1100" b="1" dirty="0" err="1">
                          <a:solidFill>
                            <a:srgbClr val="1F4E79"/>
                          </a:solidFill>
                          <a:effectLst/>
                          <a:latin typeface="Calibri" panose="020F0502020204030204" pitchFamily="34" charset="0"/>
                          <a:ea typeface="Calibri" panose="020F0502020204030204" pitchFamily="34" charset="0"/>
                        </a:rPr>
                        <a:t>PoC</a:t>
                      </a:r>
                      <a:r>
                        <a:rPr lang="en-MY" sz="1100" b="1" dirty="0">
                          <a:solidFill>
                            <a:srgbClr val="1F4E79"/>
                          </a:solidFill>
                          <a:effectLst/>
                          <a:latin typeface="Calibri" panose="020F0502020204030204" pitchFamily="34" charset="0"/>
                          <a:ea typeface="Calibri" panose="020F0502020204030204" pitchFamily="34" charset="0"/>
                        </a:rPr>
                        <a:t> success criteria fully met — Conditional Go approved</a:t>
                      </a:r>
                      <a:endParaRPr lang="en-MY" sz="1100" dirty="0">
                        <a:effectLst/>
                        <a:latin typeface="Calibri" panose="020F0502020204030204" pitchFamily="34" charset="0"/>
                        <a:ea typeface="Calibri" panose="020F0502020204030204" pitchFamily="34" charset="0"/>
                      </a:endParaRPr>
                    </a:p>
                    <a:p>
                      <a:pPr>
                        <a:spcAft>
                          <a:spcPts val="0"/>
                        </a:spcAft>
                      </a:pPr>
                      <a:r>
                        <a:rPr lang="en-MY" sz="950" dirty="0">
                          <a:solidFill>
                            <a:srgbClr val="595959"/>
                          </a:solidFill>
                          <a:effectLst/>
                          <a:latin typeface="Calibri" panose="020F0502020204030204" pitchFamily="34" charset="0"/>
                          <a:ea typeface="Calibri" panose="020F0502020204030204" pitchFamily="34" charset="0"/>
                        </a:rPr>
                        <a:t>The Proof of Concept confirmed that the core </a:t>
                      </a:r>
                      <a:r>
                        <a:rPr lang="en-MY" sz="950" dirty="0" err="1">
                          <a:solidFill>
                            <a:srgbClr val="595959"/>
                          </a:solidFill>
                          <a:effectLst/>
                          <a:latin typeface="Calibri" panose="020F0502020204030204" pitchFamily="34" charset="0"/>
                          <a:ea typeface="Calibri" panose="020F0502020204030204" pitchFamily="34" charset="0"/>
                        </a:rPr>
                        <a:t>microservice</a:t>
                      </a:r>
                      <a:r>
                        <a:rPr lang="en-MY" sz="950" dirty="0">
                          <a:solidFill>
                            <a:srgbClr val="595959"/>
                          </a:solidFill>
                          <a:effectLst/>
                          <a:latin typeface="Calibri" panose="020F0502020204030204" pitchFamily="34" charset="0"/>
                          <a:ea typeface="Calibri" panose="020F0502020204030204" pitchFamily="34" charset="0"/>
                        </a:rPr>
                        <a:t> architecture, Kafka event pipeline, and PostgreSQL integration are all viable for production. Only one criterion — cloud object storage synchronisation — was partially tested and deferred. A Conditional Go decision was issued, with three prerequisite actions required before staging promotion.</a:t>
                      </a:r>
                      <a:endParaRPr lang="en-MY" sz="1100" dirty="0">
                        <a:effectLst/>
                        <a:latin typeface="Calibri" panose="020F0502020204030204" pitchFamily="34" charset="0"/>
                        <a:ea typeface="Calibri" panose="020F0502020204030204" pitchFamily="34" charset="0"/>
                      </a:endParaRPr>
                    </a:p>
                  </a:txBody>
                  <a:tcPr marL="127000" marR="101600" marT="76200" marB="76200" anchor="ctr">
                    <a:lnL w="12700" cap="flat" cmpd="sng" algn="ctr">
                      <a:solidFill>
                        <a:srgbClr val="E2EFDA"/>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82275517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243247703"/>
              </p:ext>
            </p:extLst>
          </p:nvPr>
        </p:nvGraphicFramePr>
        <p:xfrm>
          <a:off x="677197" y="3047319"/>
          <a:ext cx="10334932" cy="1396862"/>
        </p:xfrm>
        <a:graphic>
          <a:graphicData uri="http://schemas.openxmlformats.org/drawingml/2006/table">
            <a:tbl>
              <a:tblPr/>
              <a:tblGrid>
                <a:gridCol w="554364">
                  <a:extLst>
                    <a:ext uri="{9D8B030D-6E8A-4147-A177-3AD203B41FA5}">
                      <a16:colId xmlns:a16="http://schemas.microsoft.com/office/drawing/2014/main" val="18135493"/>
                    </a:ext>
                  </a:extLst>
                </a:gridCol>
                <a:gridCol w="2573834">
                  <a:extLst>
                    <a:ext uri="{9D8B030D-6E8A-4147-A177-3AD203B41FA5}">
                      <a16:colId xmlns:a16="http://schemas.microsoft.com/office/drawing/2014/main" val="3843532421"/>
                    </a:ext>
                  </a:extLst>
                </a:gridCol>
                <a:gridCol w="7206734">
                  <a:extLst>
                    <a:ext uri="{9D8B030D-6E8A-4147-A177-3AD203B41FA5}">
                      <a16:colId xmlns:a16="http://schemas.microsoft.com/office/drawing/2014/main" val="3214737301"/>
                    </a:ext>
                  </a:extLst>
                </a:gridCol>
              </a:tblGrid>
              <a:tr h="1396862">
                <a:tc>
                  <a:txBody>
                    <a:bodyPr/>
                    <a:lstStyle/>
                    <a:p>
                      <a:pPr algn="ctr">
                        <a:spcAft>
                          <a:spcPts val="400"/>
                        </a:spcAft>
                      </a:pPr>
                      <a:r>
                        <a:rPr lang="en-MY" sz="1600" b="1">
                          <a:solidFill>
                            <a:srgbClr val="FFFFFF"/>
                          </a:solidFill>
                          <a:effectLst/>
                          <a:latin typeface="Calibri" panose="020F0502020204030204" pitchFamily="34" charset="0"/>
                          <a:ea typeface="Calibri" panose="020F0502020204030204" pitchFamily="34" charset="0"/>
                        </a:rPr>
                        <a:t>2</a:t>
                      </a:r>
                      <a:endParaRPr lang="en-MY" sz="1100">
                        <a:effectLst/>
                        <a:latin typeface="Calibri" panose="020F0502020204030204" pitchFamily="34" charset="0"/>
                        <a:ea typeface="Calibri" panose="020F0502020204030204" pitchFamily="34" charset="0"/>
                      </a:endParaRPr>
                    </a:p>
                  </a:txBody>
                  <a:tcPr marL="0" marR="0" marT="101600" marB="101600" anchor="ctr">
                    <a:lnL w="12700" cap="flat" cmpd="sng" algn="ctr">
                      <a:solidFill>
                        <a:srgbClr val="1F4E79"/>
                      </a:solidFill>
                      <a:prstDash val="solid"/>
                      <a:round/>
                      <a:headEnd type="none" w="med" len="med"/>
                      <a:tailEnd type="none" w="med" len="med"/>
                    </a:lnL>
                    <a:lnR w="12700" cap="flat" cmpd="sng" algn="ctr">
                      <a:solidFill>
                        <a:srgbClr val="1F4E79"/>
                      </a:solidFill>
                      <a:prstDash val="solid"/>
                      <a:round/>
                      <a:headEnd type="none" w="med" len="med"/>
                      <a:tailEnd type="none" w="med" len="med"/>
                    </a:lnR>
                    <a:lnT w="12700" cap="flat" cmpd="sng" algn="ctr">
                      <a:solidFill>
                        <a:srgbClr val="1F4E79"/>
                      </a:solidFill>
                      <a:prstDash val="solid"/>
                      <a:round/>
                      <a:headEnd type="none" w="med" len="med"/>
                      <a:tailEnd type="none" w="med" len="med"/>
                    </a:lnT>
                    <a:lnB w="12700" cap="flat" cmpd="sng" algn="ctr">
                      <a:solidFill>
                        <a:srgbClr val="1F4E79"/>
                      </a:solidFill>
                      <a:prstDash val="solid"/>
                      <a:round/>
                      <a:headEnd type="none" w="med" len="med"/>
                      <a:tailEnd type="none" w="med" len="med"/>
                    </a:lnB>
                    <a:solidFill>
                      <a:srgbClr val="1F4E79"/>
                    </a:solidFill>
                  </a:tcPr>
                </a:tc>
                <a:tc>
                  <a:txBody>
                    <a:bodyPr/>
                    <a:lstStyle/>
                    <a:p>
                      <a:pPr algn="ctr">
                        <a:spcAft>
                          <a:spcPts val="100"/>
                        </a:spcAft>
                      </a:pPr>
                      <a:r>
                        <a:rPr lang="en-MY" sz="1800" b="1">
                          <a:solidFill>
                            <a:srgbClr val="C55A11"/>
                          </a:solidFill>
                          <a:effectLst/>
                          <a:latin typeface="Calibri" panose="020F0502020204030204" pitchFamily="34" charset="0"/>
                          <a:ea typeface="Calibri" panose="020F0502020204030204" pitchFamily="34" charset="0"/>
                        </a:rPr>
                        <a:t>2 Gaps</a:t>
                      </a:r>
                      <a:endParaRPr lang="en-MY" sz="1100">
                        <a:effectLst/>
                        <a:latin typeface="Calibri" panose="020F0502020204030204" pitchFamily="34" charset="0"/>
                        <a:ea typeface="Calibri" panose="020F0502020204030204" pitchFamily="34" charset="0"/>
                      </a:endParaRPr>
                    </a:p>
                    <a:p>
                      <a:pPr algn="ctr">
                        <a:spcAft>
                          <a:spcPts val="0"/>
                        </a:spcAft>
                      </a:pPr>
                      <a:r>
                        <a:rPr lang="en-MY" sz="800" i="1">
                          <a:solidFill>
                            <a:srgbClr val="595959"/>
                          </a:solidFill>
                          <a:effectLst/>
                          <a:latin typeface="Calibri" panose="020F0502020204030204" pitchFamily="34" charset="0"/>
                          <a:ea typeface="Calibri" panose="020F0502020204030204" pitchFamily="34" charset="0"/>
                        </a:rPr>
                        <a:t>key metric</a:t>
                      </a:r>
                      <a:endParaRPr lang="en-MY" sz="1100">
                        <a:effectLst/>
                        <a:latin typeface="Calibri" panose="020F0502020204030204" pitchFamily="34" charset="0"/>
                        <a:ea typeface="Calibri" panose="020F0502020204030204" pitchFamily="34" charset="0"/>
                      </a:endParaRPr>
                    </a:p>
                  </a:txBody>
                  <a:tcPr marL="76200" marR="76200" marT="76200" marB="76200" anchor="ctr">
                    <a:lnL w="12700" cap="flat" cmpd="sng" algn="ctr">
                      <a:solidFill>
                        <a:srgbClr val="1F4E79"/>
                      </a:solidFill>
                      <a:prstDash val="solid"/>
                      <a:round/>
                      <a:headEnd type="none" w="med" len="med"/>
                      <a:tailEnd type="none" w="med" len="med"/>
                    </a:lnL>
                    <a:lnR w="12700" cap="flat" cmpd="sng" algn="ctr">
                      <a:solidFill>
                        <a:srgbClr val="FCE4D6"/>
                      </a:solidFill>
                      <a:prstDash val="solid"/>
                      <a:round/>
                      <a:headEnd type="none" w="med" len="med"/>
                      <a:tailEnd type="none" w="med" len="med"/>
                    </a:lnR>
                    <a:lnT w="12700" cap="flat" cmpd="sng" algn="ctr">
                      <a:solidFill>
                        <a:srgbClr val="FCE4D6"/>
                      </a:solidFill>
                      <a:prstDash val="solid"/>
                      <a:round/>
                      <a:headEnd type="none" w="med" len="med"/>
                      <a:tailEnd type="none" w="med" len="med"/>
                    </a:lnT>
                    <a:lnB w="12700" cap="flat" cmpd="sng" algn="ctr">
                      <a:solidFill>
                        <a:srgbClr val="FCE4D6"/>
                      </a:solidFill>
                      <a:prstDash val="solid"/>
                      <a:round/>
                      <a:headEnd type="none" w="med" len="med"/>
                      <a:tailEnd type="none" w="med" len="med"/>
                    </a:lnB>
                    <a:solidFill>
                      <a:srgbClr val="FCE4D6"/>
                    </a:solidFill>
                  </a:tcPr>
                </a:tc>
                <a:tc>
                  <a:txBody>
                    <a:bodyPr/>
                    <a:lstStyle/>
                    <a:p>
                      <a:pPr>
                        <a:spcAft>
                          <a:spcPts val="300"/>
                        </a:spcAft>
                      </a:pPr>
                      <a:r>
                        <a:rPr lang="en-MY" sz="1100" b="1" dirty="0">
                          <a:solidFill>
                            <a:srgbClr val="1F4E79"/>
                          </a:solidFill>
                          <a:effectLst/>
                          <a:latin typeface="Calibri" panose="020F0502020204030204" pitchFamily="34" charset="0"/>
                          <a:ea typeface="Calibri" panose="020F0502020204030204" pitchFamily="34" charset="0"/>
                        </a:rPr>
                        <a:t>2 of 7 RTM requirements had zero test coverage — critical gaps confirmed</a:t>
                      </a:r>
                      <a:endParaRPr lang="en-MY" sz="1100" dirty="0">
                        <a:effectLst/>
                        <a:latin typeface="Calibri" panose="020F0502020204030204" pitchFamily="34" charset="0"/>
                        <a:ea typeface="Calibri" panose="020F0502020204030204" pitchFamily="34" charset="0"/>
                      </a:endParaRPr>
                    </a:p>
                    <a:p>
                      <a:pPr>
                        <a:spcAft>
                          <a:spcPts val="0"/>
                        </a:spcAft>
                      </a:pPr>
                      <a:r>
                        <a:rPr lang="en-MY" sz="950" dirty="0">
                          <a:solidFill>
                            <a:srgbClr val="595959"/>
                          </a:solidFill>
                          <a:effectLst/>
                          <a:latin typeface="Calibri" panose="020F0502020204030204" pitchFamily="34" charset="0"/>
                          <a:ea typeface="Calibri" panose="020F0502020204030204" pitchFamily="34" charset="0"/>
                        </a:rPr>
                        <a:t>The Requirements Traceability Matrix review revealed that RQ-04 (fraud detection boundary at ₹1,00,000 threshold) and RQ-05 (Kafka consumer validation with 500ms SLA) had no test cases at all. Eight test plan issues were annotated, including missing MFA failure tests and absent AML escalation scenarios, demonstrating that the original test plan significantly underestimated negative and edge-case coverage needs.</a:t>
                      </a:r>
                      <a:endParaRPr lang="en-MY" sz="1100" dirty="0">
                        <a:effectLst/>
                        <a:latin typeface="Calibri" panose="020F0502020204030204" pitchFamily="34" charset="0"/>
                        <a:ea typeface="Calibri" panose="020F0502020204030204" pitchFamily="34" charset="0"/>
                      </a:endParaRPr>
                    </a:p>
                  </a:txBody>
                  <a:tcPr marL="127000" marR="101600" marT="76200" marB="76200" anchor="ctr">
                    <a:lnL w="12700" cap="flat" cmpd="sng" algn="ctr">
                      <a:solidFill>
                        <a:srgbClr val="FCE4D6"/>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475508514"/>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420735273"/>
              </p:ext>
            </p:extLst>
          </p:nvPr>
        </p:nvGraphicFramePr>
        <p:xfrm>
          <a:off x="677197" y="4641807"/>
          <a:ext cx="10334932" cy="1650838"/>
        </p:xfrm>
        <a:graphic>
          <a:graphicData uri="http://schemas.openxmlformats.org/drawingml/2006/table">
            <a:tbl>
              <a:tblPr/>
              <a:tblGrid>
                <a:gridCol w="554364">
                  <a:extLst>
                    <a:ext uri="{9D8B030D-6E8A-4147-A177-3AD203B41FA5}">
                      <a16:colId xmlns:a16="http://schemas.microsoft.com/office/drawing/2014/main" val="3921666470"/>
                    </a:ext>
                  </a:extLst>
                </a:gridCol>
                <a:gridCol w="2573834">
                  <a:extLst>
                    <a:ext uri="{9D8B030D-6E8A-4147-A177-3AD203B41FA5}">
                      <a16:colId xmlns:a16="http://schemas.microsoft.com/office/drawing/2014/main" val="1171453997"/>
                    </a:ext>
                  </a:extLst>
                </a:gridCol>
                <a:gridCol w="7206734">
                  <a:extLst>
                    <a:ext uri="{9D8B030D-6E8A-4147-A177-3AD203B41FA5}">
                      <a16:colId xmlns:a16="http://schemas.microsoft.com/office/drawing/2014/main" val="3712815344"/>
                    </a:ext>
                  </a:extLst>
                </a:gridCol>
              </a:tblGrid>
              <a:tr h="1650838">
                <a:tc>
                  <a:txBody>
                    <a:bodyPr/>
                    <a:lstStyle/>
                    <a:p>
                      <a:pPr algn="ctr">
                        <a:spcAft>
                          <a:spcPts val="400"/>
                        </a:spcAft>
                      </a:pPr>
                      <a:r>
                        <a:rPr lang="en-MY" sz="1600" b="1">
                          <a:solidFill>
                            <a:srgbClr val="FFFFFF"/>
                          </a:solidFill>
                          <a:effectLst/>
                          <a:latin typeface="Calibri" panose="020F0502020204030204" pitchFamily="34" charset="0"/>
                          <a:ea typeface="Calibri" panose="020F0502020204030204" pitchFamily="34" charset="0"/>
                        </a:rPr>
                        <a:t>3</a:t>
                      </a:r>
                      <a:endParaRPr lang="en-MY" sz="1100">
                        <a:effectLst/>
                        <a:latin typeface="Calibri" panose="020F0502020204030204" pitchFamily="34" charset="0"/>
                        <a:ea typeface="Calibri" panose="020F0502020204030204" pitchFamily="34" charset="0"/>
                      </a:endParaRPr>
                    </a:p>
                  </a:txBody>
                  <a:tcPr marL="0" marR="0" marT="101600" marB="101600" anchor="ctr">
                    <a:lnL w="12700" cap="flat" cmpd="sng" algn="ctr">
                      <a:solidFill>
                        <a:srgbClr val="1F4E79"/>
                      </a:solidFill>
                      <a:prstDash val="solid"/>
                      <a:round/>
                      <a:headEnd type="none" w="med" len="med"/>
                      <a:tailEnd type="none" w="med" len="med"/>
                    </a:lnL>
                    <a:lnR w="12700" cap="flat" cmpd="sng" algn="ctr">
                      <a:solidFill>
                        <a:srgbClr val="1F4E79"/>
                      </a:solidFill>
                      <a:prstDash val="solid"/>
                      <a:round/>
                      <a:headEnd type="none" w="med" len="med"/>
                      <a:tailEnd type="none" w="med" len="med"/>
                    </a:lnR>
                    <a:lnT w="12700" cap="flat" cmpd="sng" algn="ctr">
                      <a:solidFill>
                        <a:srgbClr val="1F4E79"/>
                      </a:solidFill>
                      <a:prstDash val="solid"/>
                      <a:round/>
                      <a:headEnd type="none" w="med" len="med"/>
                      <a:tailEnd type="none" w="med" len="med"/>
                    </a:lnT>
                    <a:lnB w="12700" cap="flat" cmpd="sng" algn="ctr">
                      <a:solidFill>
                        <a:srgbClr val="1F4E79"/>
                      </a:solidFill>
                      <a:prstDash val="solid"/>
                      <a:round/>
                      <a:headEnd type="none" w="med" len="med"/>
                      <a:tailEnd type="none" w="med" len="med"/>
                    </a:lnB>
                    <a:solidFill>
                      <a:srgbClr val="1F4E79"/>
                    </a:solidFill>
                  </a:tcPr>
                </a:tc>
                <a:tc>
                  <a:txBody>
                    <a:bodyPr/>
                    <a:lstStyle/>
                    <a:p>
                      <a:pPr algn="ctr">
                        <a:spcAft>
                          <a:spcPts val="100"/>
                        </a:spcAft>
                      </a:pPr>
                      <a:r>
                        <a:rPr lang="en-MY" sz="1800" b="1">
                          <a:solidFill>
                            <a:srgbClr val="2E75B6"/>
                          </a:solidFill>
                          <a:effectLst/>
                          <a:latin typeface="Calibri" panose="020F0502020204030204" pitchFamily="34" charset="0"/>
                          <a:ea typeface="Calibri" panose="020F0502020204030204" pitchFamily="34" charset="0"/>
                        </a:rPr>
                        <a:t>99.9%</a:t>
                      </a:r>
                      <a:endParaRPr lang="en-MY" sz="1100">
                        <a:effectLst/>
                        <a:latin typeface="Calibri" panose="020F0502020204030204" pitchFamily="34" charset="0"/>
                        <a:ea typeface="Calibri" panose="020F0502020204030204" pitchFamily="34" charset="0"/>
                      </a:endParaRPr>
                    </a:p>
                    <a:p>
                      <a:pPr algn="ctr">
                        <a:spcAft>
                          <a:spcPts val="0"/>
                        </a:spcAft>
                      </a:pPr>
                      <a:r>
                        <a:rPr lang="en-MY" sz="800" i="1">
                          <a:solidFill>
                            <a:srgbClr val="595959"/>
                          </a:solidFill>
                          <a:effectLst/>
                          <a:latin typeface="Calibri" panose="020F0502020204030204" pitchFamily="34" charset="0"/>
                          <a:ea typeface="Calibri" panose="020F0502020204030204" pitchFamily="34" charset="0"/>
                        </a:rPr>
                        <a:t>key metric</a:t>
                      </a:r>
                      <a:endParaRPr lang="en-MY" sz="1100">
                        <a:effectLst/>
                        <a:latin typeface="Calibri" panose="020F0502020204030204" pitchFamily="34" charset="0"/>
                        <a:ea typeface="Calibri" panose="020F0502020204030204" pitchFamily="34" charset="0"/>
                      </a:endParaRPr>
                    </a:p>
                  </a:txBody>
                  <a:tcPr marL="76200" marR="76200" marT="76200" marB="76200" anchor="ctr">
                    <a:lnL w="12700" cap="flat" cmpd="sng" algn="ctr">
                      <a:solidFill>
                        <a:srgbClr val="1F4E79"/>
                      </a:solidFill>
                      <a:prstDash val="solid"/>
                      <a:round/>
                      <a:headEnd type="none" w="med" len="med"/>
                      <a:tailEnd type="none" w="med" len="med"/>
                    </a:lnL>
                    <a:lnR w="12700" cap="flat" cmpd="sng" algn="ctr">
                      <a:solidFill>
                        <a:srgbClr val="D6E4F7"/>
                      </a:solidFill>
                      <a:prstDash val="solid"/>
                      <a:round/>
                      <a:headEnd type="none" w="med" len="med"/>
                      <a:tailEnd type="none" w="med" len="med"/>
                    </a:lnR>
                    <a:lnT w="12700" cap="flat" cmpd="sng" algn="ctr">
                      <a:solidFill>
                        <a:srgbClr val="D6E4F7"/>
                      </a:solidFill>
                      <a:prstDash val="solid"/>
                      <a:round/>
                      <a:headEnd type="none" w="med" len="med"/>
                      <a:tailEnd type="none" w="med" len="med"/>
                    </a:lnT>
                    <a:lnB w="12700" cap="flat" cmpd="sng" algn="ctr">
                      <a:solidFill>
                        <a:srgbClr val="D6E4F7"/>
                      </a:solidFill>
                      <a:prstDash val="solid"/>
                      <a:round/>
                      <a:headEnd type="none" w="med" len="med"/>
                      <a:tailEnd type="none" w="med" len="med"/>
                    </a:lnB>
                    <a:solidFill>
                      <a:srgbClr val="D6E4F7"/>
                    </a:solidFill>
                  </a:tcPr>
                </a:tc>
                <a:tc>
                  <a:txBody>
                    <a:bodyPr/>
                    <a:lstStyle/>
                    <a:p>
                      <a:pPr>
                        <a:spcAft>
                          <a:spcPts val="300"/>
                        </a:spcAft>
                      </a:pPr>
                      <a:r>
                        <a:rPr lang="en-MY" sz="1100" b="1" dirty="0">
                          <a:solidFill>
                            <a:srgbClr val="1F4E79"/>
                          </a:solidFill>
                          <a:effectLst/>
                          <a:latin typeface="Calibri" panose="020F0502020204030204" pitchFamily="34" charset="0"/>
                          <a:ea typeface="Calibri" panose="020F0502020204030204" pitchFamily="34" charset="0"/>
                        </a:rPr>
                        <a:t>9-stage </a:t>
                      </a:r>
                      <a:r>
                        <a:rPr lang="en-MY" sz="1100" b="1" dirty="0" err="1">
                          <a:solidFill>
                            <a:srgbClr val="1F4E79"/>
                          </a:solidFill>
                          <a:effectLst/>
                          <a:latin typeface="Calibri" panose="020F0502020204030204" pitchFamily="34" charset="0"/>
                          <a:ea typeface="Calibri" panose="020F0502020204030204" pitchFamily="34" charset="0"/>
                        </a:rPr>
                        <a:t>DevSecOps</a:t>
                      </a:r>
                      <a:r>
                        <a:rPr lang="en-MY" sz="1100" b="1" dirty="0">
                          <a:solidFill>
                            <a:srgbClr val="1F4E79"/>
                          </a:solidFill>
                          <a:effectLst/>
                          <a:latin typeface="Calibri" panose="020F0502020204030204" pitchFamily="34" charset="0"/>
                          <a:ea typeface="Calibri" panose="020F0502020204030204" pitchFamily="34" charset="0"/>
                        </a:rPr>
                        <a:t> CI/CD pipeline with RTO &lt; 1 hr and RPO &lt; 15 min established</a:t>
                      </a:r>
                      <a:endParaRPr lang="en-MY" sz="1100" dirty="0">
                        <a:effectLst/>
                        <a:latin typeface="Calibri" panose="020F0502020204030204" pitchFamily="34" charset="0"/>
                        <a:ea typeface="Calibri" panose="020F0502020204030204" pitchFamily="34" charset="0"/>
                      </a:endParaRPr>
                    </a:p>
                    <a:p>
                      <a:pPr>
                        <a:spcAft>
                          <a:spcPts val="0"/>
                        </a:spcAft>
                      </a:pPr>
                      <a:r>
                        <a:rPr lang="en-MY" sz="950" dirty="0">
                          <a:solidFill>
                            <a:srgbClr val="595959"/>
                          </a:solidFill>
                          <a:effectLst/>
                          <a:latin typeface="Calibri" panose="020F0502020204030204" pitchFamily="34" charset="0"/>
                          <a:ea typeface="Calibri" panose="020F0502020204030204" pitchFamily="34" charset="0"/>
                        </a:rPr>
                        <a:t>A full 9-stage CI/CD pipeline (code commit → build → SAST security gate → automated testing → staging → approval gate → blue-green production deploy → rollback → audit logging) was designed and validated. Six KPIs were defined with alert thresholds, a 4-level escalation path, and a Tier-1 RTO target of under 1 hour and RPO of under 15 minutes for all critical banking services — meeting the 99.9% uptime SLA.</a:t>
                      </a:r>
                      <a:endParaRPr lang="en-MY" sz="1100" dirty="0">
                        <a:effectLst/>
                        <a:latin typeface="Calibri" panose="020F0502020204030204" pitchFamily="34" charset="0"/>
                        <a:ea typeface="Calibri" panose="020F0502020204030204" pitchFamily="34" charset="0"/>
                      </a:endParaRPr>
                    </a:p>
                  </a:txBody>
                  <a:tcPr marL="127000" marR="101600" marT="76200" marB="76200" anchor="ctr">
                    <a:lnL w="12700" cap="flat" cmpd="sng" algn="ctr">
                      <a:solidFill>
                        <a:srgbClr val="D6E4F7"/>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109332675"/>
                  </a:ext>
                </a:extLst>
              </a:tr>
            </a:tbl>
          </a:graphicData>
        </a:graphic>
      </p:graphicFrame>
    </p:spTree>
    <p:extLst>
      <p:ext uri="{BB962C8B-B14F-4D97-AF65-F5344CB8AC3E}">
        <p14:creationId xmlns:p14="http://schemas.microsoft.com/office/powerpoint/2010/main" val="159482201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38F89-841A-060A-2862-041FEC6864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1E832A-5D3E-611B-6EEA-48C31A729DB9}"/>
              </a:ext>
            </a:extLst>
          </p:cNvPr>
          <p:cNvSpPr>
            <a:spLocks noGrp="1"/>
          </p:cNvSpPr>
          <p:nvPr>
            <p:ph type="title"/>
          </p:nvPr>
        </p:nvSpPr>
        <p:spPr>
          <a:xfrm>
            <a:off x="572756" y="133943"/>
            <a:ext cx="9813446" cy="850726"/>
          </a:xfrm>
        </p:spPr>
        <p:txBody>
          <a:bodyPr>
            <a:noAutofit/>
          </a:bodyPr>
          <a:lstStyle/>
          <a:p>
            <a:r>
              <a:rPr lang="en-US" sz="3200" dirty="0">
                <a:solidFill>
                  <a:srgbClr val="00539A"/>
                </a:solidFill>
                <a:latin typeface="Arial Bold"/>
                <a:cs typeface="Arial Bold"/>
              </a:rPr>
              <a:t>Key recommendations</a:t>
            </a:r>
            <a:endParaRPr lang="en-US" dirty="0"/>
          </a:p>
        </p:txBody>
      </p:sp>
      <p:sp>
        <p:nvSpPr>
          <p:cNvPr id="8" name="Content Placeholder 4">
            <a:extLst>
              <a:ext uri="{FF2B5EF4-FFF2-40B4-BE49-F238E27FC236}">
                <a16:creationId xmlns:a16="http://schemas.microsoft.com/office/drawing/2014/main" id="{E91DBB7E-8308-CDF9-F42F-CB5B33C06C63}"/>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graphicFrame>
        <p:nvGraphicFramePr>
          <p:cNvPr id="6" name="Object 5"/>
          <p:cNvGraphicFramePr>
            <a:graphicFrameLocks noChangeAspect="1"/>
          </p:cNvGraphicFramePr>
          <p:nvPr>
            <p:extLst>
              <p:ext uri="{D42A27DB-BD31-4B8C-83A1-F6EECF244321}">
                <p14:modId xmlns:p14="http://schemas.microsoft.com/office/powerpoint/2010/main" val="2212893345"/>
              </p:ext>
            </p:extLst>
          </p:nvPr>
        </p:nvGraphicFramePr>
        <p:xfrm>
          <a:off x="677197" y="2476859"/>
          <a:ext cx="7798209" cy="1214437"/>
        </p:xfrm>
        <a:graphic>
          <a:graphicData uri="http://schemas.openxmlformats.org/presentationml/2006/ole">
            <mc:AlternateContent xmlns:mc="http://schemas.openxmlformats.org/markup-compatibility/2006">
              <mc:Choice xmlns:v="urn:schemas-microsoft-com:vml" Requires="v">
                <p:oleObj spid="_x0000_s8205" name="Document" r:id="rId3" imgW="6187974" imgH="1214448" progId="Word.Document.12">
                  <p:embed/>
                </p:oleObj>
              </mc:Choice>
              <mc:Fallback>
                <p:oleObj name="Document" r:id="rId3" imgW="6187974" imgH="1214448" progId="Word.Document.12">
                  <p:embed/>
                  <p:pic>
                    <p:nvPicPr>
                      <p:cNvPr id="0" name=""/>
                      <p:cNvPicPr/>
                      <p:nvPr/>
                    </p:nvPicPr>
                    <p:blipFill>
                      <a:blip r:embed="rId4"/>
                      <a:stretch>
                        <a:fillRect/>
                      </a:stretch>
                    </p:blipFill>
                    <p:spPr>
                      <a:xfrm>
                        <a:off x="677197" y="2476859"/>
                        <a:ext cx="7798209" cy="1214437"/>
                      </a:xfrm>
                      <a:prstGeom prst="rect">
                        <a:avLst/>
                      </a:prstGeom>
                    </p:spPr>
                  </p:pic>
                </p:oleObj>
              </mc:Fallback>
            </mc:AlternateContent>
          </a:graphicData>
        </a:graphic>
      </p:graphicFrame>
      <p:graphicFrame>
        <p:nvGraphicFramePr>
          <p:cNvPr id="9" name="Object 8"/>
          <p:cNvGraphicFramePr>
            <a:graphicFrameLocks noChangeAspect="1"/>
          </p:cNvGraphicFramePr>
          <p:nvPr>
            <p:extLst>
              <p:ext uri="{D42A27DB-BD31-4B8C-83A1-F6EECF244321}">
                <p14:modId xmlns:p14="http://schemas.microsoft.com/office/powerpoint/2010/main" val="2978101274"/>
              </p:ext>
            </p:extLst>
          </p:nvPr>
        </p:nvGraphicFramePr>
        <p:xfrm>
          <a:off x="677197" y="1146744"/>
          <a:ext cx="7798209" cy="1214437"/>
        </p:xfrm>
        <a:graphic>
          <a:graphicData uri="http://schemas.openxmlformats.org/presentationml/2006/ole">
            <mc:AlternateContent xmlns:mc="http://schemas.openxmlformats.org/markup-compatibility/2006">
              <mc:Choice xmlns:v="urn:schemas-microsoft-com:vml" Requires="v">
                <p:oleObj spid="_x0000_s8206" name="Document" r:id="rId5" imgW="6187974" imgH="1214448" progId="Word.Document.12">
                  <p:embed/>
                </p:oleObj>
              </mc:Choice>
              <mc:Fallback>
                <p:oleObj name="Document" r:id="rId5" imgW="6187974" imgH="1214448" progId="Word.Document.12">
                  <p:embed/>
                  <p:pic>
                    <p:nvPicPr>
                      <p:cNvPr id="0" name=""/>
                      <p:cNvPicPr/>
                      <p:nvPr/>
                    </p:nvPicPr>
                    <p:blipFill>
                      <a:blip r:embed="rId6"/>
                      <a:stretch>
                        <a:fillRect/>
                      </a:stretch>
                    </p:blipFill>
                    <p:spPr>
                      <a:xfrm>
                        <a:off x="677197" y="1146744"/>
                        <a:ext cx="7798209" cy="1214437"/>
                      </a:xfrm>
                      <a:prstGeom prst="rect">
                        <a:avLst/>
                      </a:prstGeom>
                    </p:spPr>
                  </p:pic>
                </p:oleObj>
              </mc:Fallback>
            </mc:AlternateContent>
          </a:graphicData>
        </a:graphic>
      </p:graphicFrame>
      <p:graphicFrame>
        <p:nvGraphicFramePr>
          <p:cNvPr id="11" name="Object 10"/>
          <p:cNvGraphicFramePr>
            <a:graphicFrameLocks noChangeAspect="1"/>
          </p:cNvGraphicFramePr>
          <p:nvPr>
            <p:extLst>
              <p:ext uri="{D42A27DB-BD31-4B8C-83A1-F6EECF244321}">
                <p14:modId xmlns:p14="http://schemas.microsoft.com/office/powerpoint/2010/main" val="2857280042"/>
              </p:ext>
            </p:extLst>
          </p:nvPr>
        </p:nvGraphicFramePr>
        <p:xfrm>
          <a:off x="677197" y="3760577"/>
          <a:ext cx="7798209" cy="1344613"/>
        </p:xfrm>
        <a:graphic>
          <a:graphicData uri="http://schemas.openxmlformats.org/presentationml/2006/ole">
            <mc:AlternateContent xmlns:mc="http://schemas.openxmlformats.org/markup-compatibility/2006">
              <mc:Choice xmlns:v="urn:schemas-microsoft-com:vml" Requires="v">
                <p:oleObj spid="_x0000_s8207" name="Document" r:id="rId7" imgW="6187974" imgH="1345108" progId="Word.Document.12">
                  <p:embed/>
                </p:oleObj>
              </mc:Choice>
              <mc:Fallback>
                <p:oleObj name="Document" r:id="rId7" imgW="6187974" imgH="1345108" progId="Word.Document.12">
                  <p:embed/>
                  <p:pic>
                    <p:nvPicPr>
                      <p:cNvPr id="0" name=""/>
                      <p:cNvPicPr/>
                      <p:nvPr/>
                    </p:nvPicPr>
                    <p:blipFill>
                      <a:blip r:embed="rId8"/>
                      <a:stretch>
                        <a:fillRect/>
                      </a:stretch>
                    </p:blipFill>
                    <p:spPr>
                      <a:xfrm>
                        <a:off x="677197" y="3760577"/>
                        <a:ext cx="7798209" cy="1344613"/>
                      </a:xfrm>
                      <a:prstGeom prst="rect">
                        <a:avLst/>
                      </a:prstGeom>
                    </p:spPr>
                  </p:pic>
                </p:oleObj>
              </mc:Fallback>
            </mc:AlternateContent>
          </a:graphicData>
        </a:graphic>
      </p:graphicFrame>
      <p:graphicFrame>
        <p:nvGraphicFramePr>
          <p:cNvPr id="13" name="Object 12"/>
          <p:cNvGraphicFramePr>
            <a:graphicFrameLocks noChangeAspect="1"/>
          </p:cNvGraphicFramePr>
          <p:nvPr>
            <p:extLst>
              <p:ext uri="{D42A27DB-BD31-4B8C-83A1-F6EECF244321}">
                <p14:modId xmlns:p14="http://schemas.microsoft.com/office/powerpoint/2010/main" val="1548055677"/>
              </p:ext>
            </p:extLst>
          </p:nvPr>
        </p:nvGraphicFramePr>
        <p:xfrm>
          <a:off x="677197" y="5147185"/>
          <a:ext cx="7798209" cy="1214437"/>
        </p:xfrm>
        <a:graphic>
          <a:graphicData uri="http://schemas.openxmlformats.org/presentationml/2006/ole">
            <mc:AlternateContent xmlns:mc="http://schemas.openxmlformats.org/markup-compatibility/2006">
              <mc:Choice xmlns:v="urn:schemas-microsoft-com:vml" Requires="v">
                <p:oleObj spid="_x0000_s8208" name="Document" r:id="rId9" imgW="6187974" imgH="1214448" progId="Word.Document.12">
                  <p:embed/>
                </p:oleObj>
              </mc:Choice>
              <mc:Fallback>
                <p:oleObj name="Document" r:id="rId9" imgW="6187974" imgH="1214448" progId="Word.Document.12">
                  <p:embed/>
                  <p:pic>
                    <p:nvPicPr>
                      <p:cNvPr id="0" name=""/>
                      <p:cNvPicPr/>
                      <p:nvPr/>
                    </p:nvPicPr>
                    <p:blipFill>
                      <a:blip r:embed="rId10"/>
                      <a:stretch>
                        <a:fillRect/>
                      </a:stretch>
                    </p:blipFill>
                    <p:spPr>
                      <a:xfrm>
                        <a:off x="677197" y="5147185"/>
                        <a:ext cx="7798209" cy="1214437"/>
                      </a:xfrm>
                      <a:prstGeom prst="rect">
                        <a:avLst/>
                      </a:prstGeom>
                    </p:spPr>
                  </p:pic>
                </p:oleObj>
              </mc:Fallback>
            </mc:AlternateContent>
          </a:graphicData>
        </a:graphic>
      </p:graphicFrame>
    </p:spTree>
    <p:extLst>
      <p:ext uri="{BB962C8B-B14F-4D97-AF65-F5344CB8AC3E}">
        <p14:creationId xmlns:p14="http://schemas.microsoft.com/office/powerpoint/2010/main" val="411069260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3184B-B96D-AB63-8189-989217693D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F60873F-EEDF-5FEA-8347-0D9FD92A9648}"/>
              </a:ext>
            </a:extLst>
          </p:cNvPr>
          <p:cNvSpPr>
            <a:spLocks noGrp="1"/>
          </p:cNvSpPr>
          <p:nvPr>
            <p:ph type="title"/>
          </p:nvPr>
        </p:nvSpPr>
        <p:spPr>
          <a:xfrm>
            <a:off x="572756" y="133943"/>
            <a:ext cx="9813446" cy="850726"/>
          </a:xfrm>
        </p:spPr>
        <p:txBody>
          <a:bodyPr>
            <a:noAutofit/>
          </a:bodyPr>
          <a:lstStyle/>
          <a:p>
            <a:r>
              <a:rPr lang="en-US" sz="3200" dirty="0"/>
              <a:t>Conclusion</a:t>
            </a:r>
          </a:p>
        </p:txBody>
      </p:sp>
      <p:sp>
        <p:nvSpPr>
          <p:cNvPr id="8" name="Content Placeholder 4">
            <a:extLst>
              <a:ext uri="{FF2B5EF4-FFF2-40B4-BE49-F238E27FC236}">
                <a16:creationId xmlns:a16="http://schemas.microsoft.com/office/drawing/2014/main" id="{F58C856C-E871-1D81-9531-41D62F571353}"/>
              </a:ext>
            </a:extLst>
          </p:cNvPr>
          <p:cNvSpPr txBox="1">
            <a:spLocks/>
          </p:cNvSpPr>
          <p:nvPr/>
        </p:nvSpPr>
        <p:spPr>
          <a:xfrm>
            <a:off x="573087" y="1216025"/>
            <a:ext cx="10659485" cy="450373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000" dirty="0">
              <a:cs typeface="Arial"/>
            </a:endParaRPr>
          </a:p>
        </p:txBody>
      </p:sp>
      <p:graphicFrame>
        <p:nvGraphicFramePr>
          <p:cNvPr id="3" name="Table 2"/>
          <p:cNvGraphicFramePr>
            <a:graphicFrameLocks noGrp="1"/>
          </p:cNvGraphicFramePr>
          <p:nvPr>
            <p:extLst>
              <p:ext uri="{D42A27DB-BD31-4B8C-83A1-F6EECF244321}">
                <p14:modId xmlns:p14="http://schemas.microsoft.com/office/powerpoint/2010/main" val="1204779362"/>
              </p:ext>
            </p:extLst>
          </p:nvPr>
        </p:nvGraphicFramePr>
        <p:xfrm>
          <a:off x="696861" y="1216025"/>
          <a:ext cx="6629400" cy="792480"/>
        </p:xfrm>
        <a:graphic>
          <a:graphicData uri="http://schemas.openxmlformats.org/drawingml/2006/table">
            <a:tbl>
              <a:tblPr/>
              <a:tblGrid>
                <a:gridCol w="355600">
                  <a:extLst>
                    <a:ext uri="{9D8B030D-6E8A-4147-A177-3AD203B41FA5}">
                      <a16:colId xmlns:a16="http://schemas.microsoft.com/office/drawing/2014/main" val="2947787990"/>
                    </a:ext>
                  </a:extLst>
                </a:gridCol>
                <a:gridCol w="6273800">
                  <a:extLst>
                    <a:ext uri="{9D8B030D-6E8A-4147-A177-3AD203B41FA5}">
                      <a16:colId xmlns:a16="http://schemas.microsoft.com/office/drawing/2014/main" val="40495871"/>
                    </a:ext>
                  </a:extLst>
                </a:gridCol>
              </a:tblGrid>
              <a:tr h="0">
                <a:tc>
                  <a:txBody>
                    <a:bodyPr/>
                    <a:lstStyle/>
                    <a:p>
                      <a:pPr algn="ctr">
                        <a:spcAft>
                          <a:spcPts val="400"/>
                        </a:spcAft>
                      </a:pPr>
                      <a:r>
                        <a:rPr lang="en-MY" sz="1200" b="1">
                          <a:solidFill>
                            <a:srgbClr val="FFFFFF"/>
                          </a:solidFill>
                          <a:effectLst/>
                          <a:latin typeface="Calibri" panose="020F0502020204030204" pitchFamily="34" charset="0"/>
                          <a:ea typeface="Calibri" panose="020F0502020204030204" pitchFamily="34" charset="0"/>
                        </a:rPr>
                        <a:t>1</a:t>
                      </a:r>
                      <a:endParaRPr lang="en-MY" sz="1100">
                        <a:effectLst/>
                        <a:latin typeface="Calibri" panose="020F0502020204030204" pitchFamily="34" charset="0"/>
                        <a:ea typeface="Calibri" panose="020F0502020204030204" pitchFamily="34" charset="0"/>
                      </a:endParaRPr>
                    </a:p>
                  </a:txBody>
                  <a:tcPr marL="0" marR="0" marT="76200" marB="76200" anchor="ctr">
                    <a:lnL w="12700" cap="flat" cmpd="sng" algn="ctr">
                      <a:solidFill>
                        <a:srgbClr val="2E75B6"/>
                      </a:solidFill>
                      <a:prstDash val="solid"/>
                      <a:round/>
                      <a:headEnd type="none" w="med" len="med"/>
                      <a:tailEnd type="none" w="med" len="med"/>
                    </a:lnL>
                    <a:lnR w="12700" cap="flat" cmpd="sng" algn="ctr">
                      <a:solidFill>
                        <a:srgbClr val="2E75B6"/>
                      </a:solidFill>
                      <a:prstDash val="solid"/>
                      <a:round/>
                      <a:headEnd type="none" w="med" len="med"/>
                      <a:tailEnd type="none" w="med" len="med"/>
                    </a:lnR>
                    <a:lnT w="12700" cap="flat" cmpd="sng" algn="ctr">
                      <a:solidFill>
                        <a:srgbClr val="2E75B6"/>
                      </a:solidFill>
                      <a:prstDash val="solid"/>
                      <a:round/>
                      <a:headEnd type="none" w="med" len="med"/>
                      <a:tailEnd type="none" w="med" len="med"/>
                    </a:lnT>
                    <a:lnB w="12700" cap="flat" cmpd="sng" algn="ctr">
                      <a:solidFill>
                        <a:srgbClr val="2E75B6"/>
                      </a:solidFill>
                      <a:prstDash val="solid"/>
                      <a:round/>
                      <a:headEnd type="none" w="med" len="med"/>
                      <a:tailEnd type="none" w="med" len="med"/>
                    </a:lnB>
                    <a:solidFill>
                      <a:srgbClr val="2E75B6"/>
                    </a:solidFill>
                  </a:tcPr>
                </a:tc>
                <a:tc>
                  <a:txBody>
                    <a:bodyPr/>
                    <a:lstStyle/>
                    <a:p>
                      <a:pPr>
                        <a:spcAft>
                          <a:spcPts val="0"/>
                        </a:spcAft>
                      </a:pPr>
                      <a:r>
                        <a:rPr lang="en-MY" sz="1050" dirty="0">
                          <a:solidFill>
                            <a:srgbClr val="404040"/>
                          </a:solidFill>
                          <a:effectLst/>
                          <a:latin typeface="Calibri" panose="020F0502020204030204" pitchFamily="34" charset="0"/>
                          <a:ea typeface="Calibri" panose="020F0502020204030204" pitchFamily="34" charset="0"/>
                        </a:rPr>
                        <a:t>The Proof of Concept validated that a cloud-native </a:t>
                      </a:r>
                      <a:r>
                        <a:rPr lang="en-MY" sz="1050" dirty="0" err="1">
                          <a:solidFill>
                            <a:srgbClr val="404040"/>
                          </a:solidFill>
                          <a:effectLst/>
                          <a:latin typeface="Calibri" panose="020F0502020204030204" pitchFamily="34" charset="0"/>
                          <a:ea typeface="Calibri" panose="020F0502020204030204" pitchFamily="34" charset="0"/>
                        </a:rPr>
                        <a:t>microservices</a:t>
                      </a:r>
                      <a:r>
                        <a:rPr lang="en-MY" sz="1050" dirty="0">
                          <a:solidFill>
                            <a:srgbClr val="404040"/>
                          </a:solidFill>
                          <a:effectLst/>
                          <a:latin typeface="Calibri" panose="020F0502020204030204" pitchFamily="34" charset="0"/>
                          <a:ea typeface="Calibri" panose="020F0502020204030204" pitchFamily="34" charset="0"/>
                        </a:rPr>
                        <a:t> architecture — built on containerised services, Kafka event streaming, and PostgreSQL — is technically viable for ABC Bank's Core Digital Transformation. With 86% of success criteria fully met, the project is cleared for conditional progression to the integration testing and staging phases.</a:t>
                      </a:r>
                      <a:endParaRPr lang="en-MY" sz="1100" dirty="0">
                        <a:effectLst/>
                        <a:latin typeface="Calibri" panose="020F0502020204030204" pitchFamily="34" charset="0"/>
                        <a:ea typeface="Calibri" panose="020F0502020204030204" pitchFamily="34" charset="0"/>
                      </a:endParaRPr>
                    </a:p>
                  </a:txBody>
                  <a:tcPr marL="127000" marR="101600" marT="76200" marB="76200">
                    <a:lnL w="12700" cap="flat" cmpd="sng" algn="ctr">
                      <a:solidFill>
                        <a:srgbClr val="2E75B6"/>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95964719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509467450"/>
              </p:ext>
            </p:extLst>
          </p:nvPr>
        </p:nvGraphicFramePr>
        <p:xfrm>
          <a:off x="696861" y="2444058"/>
          <a:ext cx="6629400" cy="792480"/>
        </p:xfrm>
        <a:graphic>
          <a:graphicData uri="http://schemas.openxmlformats.org/drawingml/2006/table">
            <a:tbl>
              <a:tblPr/>
              <a:tblGrid>
                <a:gridCol w="355600">
                  <a:extLst>
                    <a:ext uri="{9D8B030D-6E8A-4147-A177-3AD203B41FA5}">
                      <a16:colId xmlns:a16="http://schemas.microsoft.com/office/drawing/2014/main" val="4063498292"/>
                    </a:ext>
                  </a:extLst>
                </a:gridCol>
                <a:gridCol w="6273800">
                  <a:extLst>
                    <a:ext uri="{9D8B030D-6E8A-4147-A177-3AD203B41FA5}">
                      <a16:colId xmlns:a16="http://schemas.microsoft.com/office/drawing/2014/main" val="1291473897"/>
                    </a:ext>
                  </a:extLst>
                </a:gridCol>
              </a:tblGrid>
              <a:tr h="0">
                <a:tc>
                  <a:txBody>
                    <a:bodyPr/>
                    <a:lstStyle/>
                    <a:p>
                      <a:pPr algn="ctr">
                        <a:spcAft>
                          <a:spcPts val="400"/>
                        </a:spcAft>
                      </a:pPr>
                      <a:r>
                        <a:rPr lang="en-MY" sz="1200" b="1">
                          <a:solidFill>
                            <a:srgbClr val="FFFFFF"/>
                          </a:solidFill>
                          <a:effectLst/>
                          <a:latin typeface="Calibri" panose="020F0502020204030204" pitchFamily="34" charset="0"/>
                          <a:ea typeface="Calibri" panose="020F0502020204030204" pitchFamily="34" charset="0"/>
                        </a:rPr>
                        <a:t>2</a:t>
                      </a:r>
                      <a:endParaRPr lang="en-MY" sz="1100">
                        <a:effectLst/>
                        <a:latin typeface="Calibri" panose="020F0502020204030204" pitchFamily="34" charset="0"/>
                        <a:ea typeface="Calibri" panose="020F0502020204030204" pitchFamily="34" charset="0"/>
                      </a:endParaRPr>
                    </a:p>
                  </a:txBody>
                  <a:tcPr marL="0" marR="0" marT="76200" marB="76200" anchor="ctr">
                    <a:lnL w="12700" cap="flat" cmpd="sng" algn="ctr">
                      <a:solidFill>
                        <a:srgbClr val="2E75B6"/>
                      </a:solidFill>
                      <a:prstDash val="solid"/>
                      <a:round/>
                      <a:headEnd type="none" w="med" len="med"/>
                      <a:tailEnd type="none" w="med" len="med"/>
                    </a:lnL>
                    <a:lnR w="12700" cap="flat" cmpd="sng" algn="ctr">
                      <a:solidFill>
                        <a:srgbClr val="2E75B6"/>
                      </a:solidFill>
                      <a:prstDash val="solid"/>
                      <a:round/>
                      <a:headEnd type="none" w="med" len="med"/>
                      <a:tailEnd type="none" w="med" len="med"/>
                    </a:lnR>
                    <a:lnT w="12700" cap="flat" cmpd="sng" algn="ctr">
                      <a:solidFill>
                        <a:srgbClr val="2E75B6"/>
                      </a:solidFill>
                      <a:prstDash val="solid"/>
                      <a:round/>
                      <a:headEnd type="none" w="med" len="med"/>
                      <a:tailEnd type="none" w="med" len="med"/>
                    </a:lnT>
                    <a:lnB w="12700" cap="flat" cmpd="sng" algn="ctr">
                      <a:solidFill>
                        <a:srgbClr val="2E75B6"/>
                      </a:solidFill>
                      <a:prstDash val="solid"/>
                      <a:round/>
                      <a:headEnd type="none" w="med" len="med"/>
                      <a:tailEnd type="none" w="med" len="med"/>
                    </a:lnB>
                    <a:solidFill>
                      <a:srgbClr val="2E75B6"/>
                    </a:solidFill>
                  </a:tcPr>
                </a:tc>
                <a:tc>
                  <a:txBody>
                    <a:bodyPr/>
                    <a:lstStyle/>
                    <a:p>
                      <a:pPr>
                        <a:spcAft>
                          <a:spcPts val="0"/>
                        </a:spcAft>
                      </a:pPr>
                      <a:r>
                        <a:rPr lang="en-MY" sz="1050" dirty="0">
                          <a:solidFill>
                            <a:srgbClr val="404040"/>
                          </a:solidFill>
                          <a:effectLst/>
                          <a:latin typeface="Calibri" panose="020F0502020204030204" pitchFamily="34" charset="0"/>
                          <a:ea typeface="Calibri" panose="020F0502020204030204" pitchFamily="34" charset="0"/>
                        </a:rPr>
                        <a:t>Test quality is the most immediate risk: the RTM review uncovered 8 test plan issues including 2 complete coverage gaps (fraud threshold and Kafka consumer), missing MFA failure tests, and absent AML escalation scenarios. Closing these gaps before staging promotion is non-negotiable for regulatory compliance under PCI-DSS and FFIEC.</a:t>
                      </a:r>
                      <a:endParaRPr lang="en-MY" sz="1100" dirty="0">
                        <a:effectLst/>
                        <a:latin typeface="Calibri" panose="020F0502020204030204" pitchFamily="34" charset="0"/>
                        <a:ea typeface="Calibri" panose="020F0502020204030204" pitchFamily="34" charset="0"/>
                      </a:endParaRPr>
                    </a:p>
                  </a:txBody>
                  <a:tcPr marL="127000" marR="101600" marT="76200" marB="76200">
                    <a:lnL w="12700" cap="flat" cmpd="sng" algn="ctr">
                      <a:solidFill>
                        <a:srgbClr val="2E75B6"/>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773517926"/>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348396738"/>
              </p:ext>
            </p:extLst>
          </p:nvPr>
        </p:nvGraphicFramePr>
        <p:xfrm>
          <a:off x="696861" y="3672091"/>
          <a:ext cx="6629400" cy="792480"/>
        </p:xfrm>
        <a:graphic>
          <a:graphicData uri="http://schemas.openxmlformats.org/drawingml/2006/table">
            <a:tbl>
              <a:tblPr/>
              <a:tblGrid>
                <a:gridCol w="355600">
                  <a:extLst>
                    <a:ext uri="{9D8B030D-6E8A-4147-A177-3AD203B41FA5}">
                      <a16:colId xmlns:a16="http://schemas.microsoft.com/office/drawing/2014/main" val="1302307376"/>
                    </a:ext>
                  </a:extLst>
                </a:gridCol>
                <a:gridCol w="6273800">
                  <a:extLst>
                    <a:ext uri="{9D8B030D-6E8A-4147-A177-3AD203B41FA5}">
                      <a16:colId xmlns:a16="http://schemas.microsoft.com/office/drawing/2014/main" val="2508090179"/>
                    </a:ext>
                  </a:extLst>
                </a:gridCol>
              </a:tblGrid>
              <a:tr h="0">
                <a:tc>
                  <a:txBody>
                    <a:bodyPr/>
                    <a:lstStyle/>
                    <a:p>
                      <a:pPr algn="ctr">
                        <a:spcAft>
                          <a:spcPts val="400"/>
                        </a:spcAft>
                      </a:pPr>
                      <a:r>
                        <a:rPr lang="en-MY" sz="1200" b="1">
                          <a:solidFill>
                            <a:srgbClr val="FFFFFF"/>
                          </a:solidFill>
                          <a:effectLst/>
                          <a:latin typeface="Calibri" panose="020F0502020204030204" pitchFamily="34" charset="0"/>
                          <a:ea typeface="Calibri" panose="020F0502020204030204" pitchFamily="34" charset="0"/>
                        </a:rPr>
                        <a:t>3</a:t>
                      </a:r>
                      <a:endParaRPr lang="en-MY" sz="1100">
                        <a:effectLst/>
                        <a:latin typeface="Calibri" panose="020F0502020204030204" pitchFamily="34" charset="0"/>
                        <a:ea typeface="Calibri" panose="020F0502020204030204" pitchFamily="34" charset="0"/>
                      </a:endParaRPr>
                    </a:p>
                  </a:txBody>
                  <a:tcPr marL="0" marR="0" marT="76200" marB="76200" anchor="ctr">
                    <a:lnL w="12700" cap="flat" cmpd="sng" algn="ctr">
                      <a:solidFill>
                        <a:srgbClr val="2E75B6"/>
                      </a:solidFill>
                      <a:prstDash val="solid"/>
                      <a:round/>
                      <a:headEnd type="none" w="med" len="med"/>
                      <a:tailEnd type="none" w="med" len="med"/>
                    </a:lnL>
                    <a:lnR w="12700" cap="flat" cmpd="sng" algn="ctr">
                      <a:solidFill>
                        <a:srgbClr val="2E75B6"/>
                      </a:solidFill>
                      <a:prstDash val="solid"/>
                      <a:round/>
                      <a:headEnd type="none" w="med" len="med"/>
                      <a:tailEnd type="none" w="med" len="med"/>
                    </a:lnR>
                    <a:lnT w="12700" cap="flat" cmpd="sng" algn="ctr">
                      <a:solidFill>
                        <a:srgbClr val="2E75B6"/>
                      </a:solidFill>
                      <a:prstDash val="solid"/>
                      <a:round/>
                      <a:headEnd type="none" w="med" len="med"/>
                      <a:tailEnd type="none" w="med" len="med"/>
                    </a:lnT>
                    <a:lnB w="12700" cap="flat" cmpd="sng" algn="ctr">
                      <a:solidFill>
                        <a:srgbClr val="2E75B6"/>
                      </a:solidFill>
                      <a:prstDash val="solid"/>
                      <a:round/>
                      <a:headEnd type="none" w="med" len="med"/>
                      <a:tailEnd type="none" w="med" len="med"/>
                    </a:lnB>
                    <a:solidFill>
                      <a:srgbClr val="2E75B6"/>
                    </a:solidFill>
                  </a:tcPr>
                </a:tc>
                <a:tc>
                  <a:txBody>
                    <a:bodyPr/>
                    <a:lstStyle/>
                    <a:p>
                      <a:pPr>
                        <a:spcAft>
                          <a:spcPts val="0"/>
                        </a:spcAft>
                      </a:pPr>
                      <a:r>
                        <a:rPr lang="en-MY" sz="1050" dirty="0">
                          <a:solidFill>
                            <a:srgbClr val="404040"/>
                          </a:solidFill>
                          <a:effectLst/>
                          <a:latin typeface="Calibri" panose="020F0502020204030204" pitchFamily="34" charset="0"/>
                          <a:ea typeface="Calibri" panose="020F0502020204030204" pitchFamily="34" charset="0"/>
                        </a:rPr>
                        <a:t>The 9-stage </a:t>
                      </a:r>
                      <a:r>
                        <a:rPr lang="en-MY" sz="1050" dirty="0" err="1">
                          <a:solidFill>
                            <a:srgbClr val="404040"/>
                          </a:solidFill>
                          <a:effectLst/>
                          <a:latin typeface="Calibri" panose="020F0502020204030204" pitchFamily="34" charset="0"/>
                          <a:ea typeface="Calibri" panose="020F0502020204030204" pitchFamily="34" charset="0"/>
                        </a:rPr>
                        <a:t>DevSecOps</a:t>
                      </a:r>
                      <a:r>
                        <a:rPr lang="en-MY" sz="1050" dirty="0">
                          <a:solidFill>
                            <a:srgbClr val="404040"/>
                          </a:solidFill>
                          <a:effectLst/>
                          <a:latin typeface="Calibri" panose="020F0502020204030204" pitchFamily="34" charset="0"/>
                          <a:ea typeface="Calibri" panose="020F0502020204030204" pitchFamily="34" charset="0"/>
                        </a:rPr>
                        <a:t> CI/CD pipeline and monitoring strategy provide a production-ready delivery framework, with defined KPIs (API latency &lt; 200ms P95, availability ≥ 99.9%, error rate &lt; 0.1%), a 4-level escalation path, and Tier-1 RTO/RPO targets. With </a:t>
                      </a:r>
                      <a:r>
                        <a:rPr lang="en-MY" sz="1050" dirty="0" err="1">
                          <a:solidFill>
                            <a:srgbClr val="404040"/>
                          </a:solidFill>
                          <a:effectLst/>
                          <a:latin typeface="Calibri" panose="020F0502020204030204" pitchFamily="34" charset="0"/>
                          <a:ea typeface="Calibri" panose="020F0502020204030204" pitchFamily="34" charset="0"/>
                        </a:rPr>
                        <a:t>mTLS</a:t>
                      </a:r>
                      <a:r>
                        <a:rPr lang="en-MY" sz="1050" dirty="0">
                          <a:solidFill>
                            <a:srgbClr val="404040"/>
                          </a:solidFill>
                          <a:effectLst/>
                          <a:latin typeface="Calibri" panose="020F0502020204030204" pitchFamily="34" charset="0"/>
                          <a:ea typeface="Calibri" panose="020F0502020204030204" pitchFamily="34" charset="0"/>
                        </a:rPr>
                        <a:t>, OAuth 2.0, and cloud object storage testing completed, the architecture will fully satisfy the project's security, compliance, and resilience success criteria.</a:t>
                      </a:r>
                      <a:endParaRPr lang="en-MY" sz="1100" dirty="0">
                        <a:effectLst/>
                        <a:latin typeface="Calibri" panose="020F0502020204030204" pitchFamily="34" charset="0"/>
                        <a:ea typeface="Calibri" panose="020F0502020204030204" pitchFamily="34" charset="0"/>
                      </a:endParaRPr>
                    </a:p>
                  </a:txBody>
                  <a:tcPr marL="127000" marR="101600" marT="76200" marB="76200">
                    <a:lnL w="12700" cap="flat" cmpd="sng" algn="ctr">
                      <a:solidFill>
                        <a:srgbClr val="2E75B6"/>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653029589"/>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3636883932"/>
              </p:ext>
            </p:extLst>
          </p:nvPr>
        </p:nvGraphicFramePr>
        <p:xfrm>
          <a:off x="696861" y="4824254"/>
          <a:ext cx="6629400" cy="792480"/>
        </p:xfrm>
        <a:graphic>
          <a:graphicData uri="http://schemas.openxmlformats.org/drawingml/2006/table">
            <a:tbl>
              <a:tblPr/>
              <a:tblGrid>
                <a:gridCol w="355600">
                  <a:extLst>
                    <a:ext uri="{9D8B030D-6E8A-4147-A177-3AD203B41FA5}">
                      <a16:colId xmlns:a16="http://schemas.microsoft.com/office/drawing/2014/main" val="1932117531"/>
                    </a:ext>
                  </a:extLst>
                </a:gridCol>
                <a:gridCol w="6273800">
                  <a:extLst>
                    <a:ext uri="{9D8B030D-6E8A-4147-A177-3AD203B41FA5}">
                      <a16:colId xmlns:a16="http://schemas.microsoft.com/office/drawing/2014/main" val="3167858977"/>
                    </a:ext>
                  </a:extLst>
                </a:gridCol>
              </a:tblGrid>
              <a:tr h="0">
                <a:tc>
                  <a:txBody>
                    <a:bodyPr/>
                    <a:lstStyle/>
                    <a:p>
                      <a:pPr algn="ctr">
                        <a:spcAft>
                          <a:spcPts val="400"/>
                        </a:spcAft>
                      </a:pPr>
                      <a:r>
                        <a:rPr lang="en-MY" sz="1200" b="1">
                          <a:solidFill>
                            <a:srgbClr val="FFFFFF"/>
                          </a:solidFill>
                          <a:effectLst/>
                          <a:latin typeface="Calibri" panose="020F0502020204030204" pitchFamily="34" charset="0"/>
                          <a:ea typeface="Calibri" panose="020F0502020204030204" pitchFamily="34" charset="0"/>
                        </a:rPr>
                        <a:t>4</a:t>
                      </a:r>
                      <a:endParaRPr lang="en-MY" sz="1100">
                        <a:effectLst/>
                        <a:latin typeface="Calibri" panose="020F0502020204030204" pitchFamily="34" charset="0"/>
                        <a:ea typeface="Calibri" panose="020F0502020204030204" pitchFamily="34" charset="0"/>
                      </a:endParaRPr>
                    </a:p>
                  </a:txBody>
                  <a:tcPr marL="0" marR="0" marT="76200" marB="76200" anchor="ctr">
                    <a:lnL w="12700" cap="flat" cmpd="sng" algn="ctr">
                      <a:solidFill>
                        <a:srgbClr val="2E75B6"/>
                      </a:solidFill>
                      <a:prstDash val="solid"/>
                      <a:round/>
                      <a:headEnd type="none" w="med" len="med"/>
                      <a:tailEnd type="none" w="med" len="med"/>
                    </a:lnL>
                    <a:lnR w="12700" cap="flat" cmpd="sng" algn="ctr">
                      <a:solidFill>
                        <a:srgbClr val="2E75B6"/>
                      </a:solidFill>
                      <a:prstDash val="solid"/>
                      <a:round/>
                      <a:headEnd type="none" w="med" len="med"/>
                      <a:tailEnd type="none" w="med" len="med"/>
                    </a:lnR>
                    <a:lnT w="12700" cap="flat" cmpd="sng" algn="ctr">
                      <a:solidFill>
                        <a:srgbClr val="2E75B6"/>
                      </a:solidFill>
                      <a:prstDash val="solid"/>
                      <a:round/>
                      <a:headEnd type="none" w="med" len="med"/>
                      <a:tailEnd type="none" w="med" len="med"/>
                    </a:lnT>
                    <a:lnB w="12700" cap="flat" cmpd="sng" algn="ctr">
                      <a:solidFill>
                        <a:srgbClr val="2E75B6"/>
                      </a:solidFill>
                      <a:prstDash val="solid"/>
                      <a:round/>
                      <a:headEnd type="none" w="med" len="med"/>
                      <a:tailEnd type="none" w="med" len="med"/>
                    </a:lnB>
                    <a:solidFill>
                      <a:srgbClr val="2E75B6"/>
                    </a:solidFill>
                  </a:tcPr>
                </a:tc>
                <a:tc>
                  <a:txBody>
                    <a:bodyPr/>
                    <a:lstStyle/>
                    <a:p>
                      <a:pPr>
                        <a:spcAft>
                          <a:spcPts val="0"/>
                        </a:spcAft>
                      </a:pPr>
                      <a:r>
                        <a:rPr lang="en-MY" sz="1050" dirty="0">
                          <a:solidFill>
                            <a:srgbClr val="404040"/>
                          </a:solidFill>
                          <a:effectLst/>
                          <a:latin typeface="Calibri" panose="020F0502020204030204" pitchFamily="34" charset="0"/>
                          <a:ea typeface="Calibri" panose="020F0502020204030204" pitchFamily="34" charset="0"/>
                        </a:rPr>
                        <a:t>The transformation positions ABC Bank to achieve competitive differentiation through real-time </a:t>
                      </a:r>
                      <a:r>
                        <a:rPr lang="en-MY" sz="1050" dirty="0" err="1">
                          <a:solidFill>
                            <a:srgbClr val="404040"/>
                          </a:solidFill>
                          <a:effectLst/>
                          <a:latin typeface="Calibri" panose="020F0502020204030204" pitchFamily="34" charset="0"/>
                          <a:ea typeface="Calibri" panose="020F0502020204030204" pitchFamily="34" charset="0"/>
                        </a:rPr>
                        <a:t>onboarding</a:t>
                      </a:r>
                      <a:r>
                        <a:rPr lang="en-MY" sz="1050" dirty="0">
                          <a:solidFill>
                            <a:srgbClr val="404040"/>
                          </a:solidFill>
                          <a:effectLst/>
                          <a:latin typeface="Calibri" panose="020F0502020204030204" pitchFamily="34" charset="0"/>
                          <a:ea typeface="Calibri" panose="020F0502020204030204" pitchFamily="34" charset="0"/>
                        </a:rPr>
                        <a:t> (target: &lt; 5 minutes), AI-assisted fraud detection (alert within 30 seconds), and a unified data warehouse enabling analytics-driven decision-making — directly addressing the strategic objectives set out in the Project Charter and BRD.</a:t>
                      </a:r>
                      <a:endParaRPr lang="en-MY" sz="1100" dirty="0">
                        <a:effectLst/>
                        <a:latin typeface="Calibri" panose="020F0502020204030204" pitchFamily="34" charset="0"/>
                        <a:ea typeface="Calibri" panose="020F0502020204030204" pitchFamily="34" charset="0"/>
                      </a:endParaRPr>
                    </a:p>
                  </a:txBody>
                  <a:tcPr marL="127000" marR="101600" marT="76200" marB="76200">
                    <a:lnL w="12700" cap="flat" cmpd="sng" algn="ctr">
                      <a:solidFill>
                        <a:srgbClr val="2E75B6"/>
                      </a:solidFill>
                      <a:prstDash val="solid"/>
                      <a:round/>
                      <a:headEnd type="none" w="med" len="med"/>
                      <a:tailEnd type="none" w="med" len="med"/>
                    </a:lnL>
                    <a:lnR>
                      <a:noFill/>
                    </a:lnR>
                    <a:lnT>
                      <a:noFill/>
                    </a:lnT>
                    <a:lnB>
                      <a:noFill/>
                    </a:lnB>
                    <a:solidFill>
                      <a:srgbClr val="F7FAFF"/>
                    </a:solidFill>
                  </a:tcPr>
                </a:tc>
                <a:extLst>
                  <a:ext uri="{0D108BD9-81ED-4DB2-BD59-A6C34878D82A}">
                    <a16:rowId xmlns:a16="http://schemas.microsoft.com/office/drawing/2014/main" val="3934335803"/>
                  </a:ext>
                </a:extLst>
              </a:tr>
            </a:tbl>
          </a:graphicData>
        </a:graphic>
      </p:graphicFrame>
    </p:spTree>
    <p:extLst>
      <p:ext uri="{BB962C8B-B14F-4D97-AF65-F5344CB8AC3E}">
        <p14:creationId xmlns:p14="http://schemas.microsoft.com/office/powerpoint/2010/main" val="260740480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EAEC7-EBC8-986E-26E8-53DFFA2DFC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1B0814-4448-D6CB-E142-6E930B0C5040}"/>
              </a:ext>
            </a:extLst>
          </p:cNvPr>
          <p:cNvSpPr>
            <a:spLocks noGrp="1"/>
          </p:cNvSpPr>
          <p:nvPr>
            <p:ph type="title"/>
          </p:nvPr>
        </p:nvSpPr>
        <p:spPr>
          <a:xfrm>
            <a:off x="572756" y="133943"/>
            <a:ext cx="9813446" cy="850726"/>
          </a:xfrm>
        </p:spPr>
        <p:txBody>
          <a:bodyPr>
            <a:noAutofit/>
          </a:bodyPr>
          <a:lstStyle/>
          <a:p>
            <a:r>
              <a:rPr lang="en-US" sz="3200" dirty="0"/>
              <a:t>Appendix</a:t>
            </a:r>
          </a:p>
        </p:txBody>
      </p:sp>
      <p:sp>
        <p:nvSpPr>
          <p:cNvPr id="8" name="Content Placeholder 4">
            <a:extLst>
              <a:ext uri="{FF2B5EF4-FFF2-40B4-BE49-F238E27FC236}">
                <a16:creationId xmlns:a16="http://schemas.microsoft.com/office/drawing/2014/main" id="{63448522-74BF-A288-EB52-149299CDAF3A}"/>
              </a:ext>
            </a:extLst>
          </p:cNvPr>
          <p:cNvSpPr txBox="1">
            <a:spLocks/>
          </p:cNvSpPr>
          <p:nvPr/>
        </p:nvSpPr>
        <p:spPr>
          <a:xfrm>
            <a:off x="573087" y="1216024"/>
            <a:ext cx="10659485" cy="5641975"/>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800" dirty="0">
                <a:highlight>
                  <a:srgbClr val="FFFF00"/>
                </a:highlight>
                <a:cs typeface="Arial"/>
              </a:rPr>
              <a:t>1 Develop a project </a:t>
            </a:r>
            <a:r>
              <a:rPr lang="en-US" sz="800" dirty="0" smtClean="0">
                <a:highlight>
                  <a:srgbClr val="FFFF00"/>
                </a:highlight>
                <a:cs typeface="Arial"/>
              </a:rPr>
              <a:t>charter2 </a:t>
            </a:r>
            <a:r>
              <a:rPr lang="en-US" sz="800" dirty="0">
                <a:highlight>
                  <a:srgbClr val="FFFF00"/>
                </a:highlight>
                <a:cs typeface="Arial"/>
              </a:rPr>
              <a:t>Develop a stakeholder register</a:t>
            </a:r>
          </a:p>
          <a:p>
            <a:pPr marL="0" indent="0">
              <a:buNone/>
            </a:pPr>
            <a:r>
              <a:rPr lang="en-US" sz="800" dirty="0">
                <a:highlight>
                  <a:srgbClr val="FFFF00"/>
                </a:highlight>
                <a:cs typeface="Arial"/>
              </a:rPr>
              <a:t>3 Develop a stakeholder engagement plan (PMI scale)</a:t>
            </a:r>
          </a:p>
          <a:p>
            <a:pPr marL="0" indent="0">
              <a:buNone/>
            </a:pPr>
            <a:r>
              <a:rPr lang="en-US" sz="800" dirty="0">
                <a:highlight>
                  <a:srgbClr val="FFFF00"/>
                </a:highlight>
                <a:cs typeface="Arial"/>
              </a:rPr>
              <a:t>4 Draft a Business Requirements Document (BRD)</a:t>
            </a:r>
          </a:p>
          <a:p>
            <a:pPr marL="0" indent="0">
              <a:buNone/>
            </a:pPr>
            <a:r>
              <a:rPr lang="en-US" sz="800" dirty="0">
                <a:highlight>
                  <a:srgbClr val="FFFF00"/>
                </a:highlight>
                <a:cs typeface="Arial"/>
              </a:rPr>
              <a:t>5 Elicit requirements via interviews/workshops</a:t>
            </a:r>
          </a:p>
          <a:p>
            <a:pPr marL="0" indent="0">
              <a:buNone/>
            </a:pPr>
            <a:r>
              <a:rPr lang="en-US" sz="800" dirty="0">
                <a:highlight>
                  <a:srgbClr val="FFFF00"/>
                </a:highlight>
                <a:cs typeface="Arial"/>
              </a:rPr>
              <a:t>6 Create a use case diagram and detailed flow descriptions</a:t>
            </a:r>
          </a:p>
          <a:p>
            <a:pPr marL="0" indent="0">
              <a:buNone/>
            </a:pPr>
            <a:r>
              <a:rPr lang="en-US" sz="800" dirty="0">
                <a:highlight>
                  <a:srgbClr val="FFFF00"/>
                </a:highlight>
                <a:cs typeface="Arial"/>
              </a:rPr>
              <a:t>7 Build requirements traceability matrix (RTM)</a:t>
            </a:r>
          </a:p>
          <a:p>
            <a:pPr marL="0" indent="0">
              <a:buNone/>
            </a:pPr>
            <a:r>
              <a:rPr lang="en-US" sz="800" dirty="0">
                <a:highlight>
                  <a:srgbClr val="FFFF00"/>
                </a:highlight>
                <a:cs typeface="Arial"/>
              </a:rPr>
              <a:t>8 Build a work breakdown structure (WBS) and network diagram</a:t>
            </a:r>
          </a:p>
          <a:p>
            <a:pPr marL="0" indent="0">
              <a:buNone/>
            </a:pPr>
            <a:r>
              <a:rPr lang="en-US" sz="800" dirty="0">
                <a:highlight>
                  <a:srgbClr val="FFFF00"/>
                </a:highlight>
                <a:cs typeface="Arial"/>
              </a:rPr>
              <a:t>9 Perform SWOT analysis</a:t>
            </a:r>
          </a:p>
          <a:p>
            <a:pPr marL="0" indent="0">
              <a:buNone/>
            </a:pPr>
            <a:r>
              <a:rPr lang="en-US" sz="800" dirty="0">
                <a:highlight>
                  <a:srgbClr val="FFFF00"/>
                </a:highlight>
                <a:cs typeface="Arial"/>
              </a:rPr>
              <a:t>10 Develop a Risk Register</a:t>
            </a:r>
          </a:p>
          <a:p>
            <a:pPr marL="0" indent="0">
              <a:buNone/>
            </a:pPr>
            <a:r>
              <a:rPr lang="en-US" sz="800" dirty="0">
                <a:highlight>
                  <a:srgbClr val="FFFF00"/>
                </a:highlight>
                <a:cs typeface="Arial"/>
              </a:rPr>
              <a:t>11 Create Process Models and Visualization</a:t>
            </a:r>
          </a:p>
          <a:p>
            <a:pPr marL="0" indent="0">
              <a:buNone/>
            </a:pPr>
            <a:r>
              <a:rPr lang="en-US" sz="800" dirty="0">
                <a:highlight>
                  <a:srgbClr val="FFFF00"/>
                </a:highlight>
                <a:cs typeface="Arial"/>
              </a:rPr>
              <a:t>12 Design initial container topology</a:t>
            </a:r>
          </a:p>
          <a:p>
            <a:pPr marL="0" indent="0">
              <a:buNone/>
            </a:pPr>
            <a:r>
              <a:rPr lang="en-US" sz="800" dirty="0">
                <a:highlight>
                  <a:srgbClr val="FFFF00"/>
                </a:highlight>
                <a:cs typeface="Arial"/>
              </a:rPr>
              <a:t>13 Build </a:t>
            </a:r>
            <a:r>
              <a:rPr lang="en-US" sz="800" dirty="0" err="1">
                <a:highlight>
                  <a:srgbClr val="FFFF00"/>
                </a:highlight>
                <a:cs typeface="Arial"/>
              </a:rPr>
              <a:t>Dockerfiles</a:t>
            </a:r>
            <a:r>
              <a:rPr lang="en-US" sz="800" dirty="0">
                <a:highlight>
                  <a:srgbClr val="FFFF00"/>
                </a:highlight>
                <a:cs typeface="Arial"/>
              </a:rPr>
              <a:t> for three </a:t>
            </a:r>
            <a:r>
              <a:rPr lang="en-US" sz="800" dirty="0" err="1">
                <a:highlight>
                  <a:srgbClr val="FFFF00"/>
                </a:highlight>
                <a:cs typeface="Arial"/>
              </a:rPr>
              <a:t>microservices</a:t>
            </a:r>
            <a:endParaRPr lang="en-US" sz="800" dirty="0">
              <a:highlight>
                <a:srgbClr val="FFFF00"/>
              </a:highlight>
              <a:cs typeface="Arial"/>
            </a:endParaRPr>
          </a:p>
          <a:p>
            <a:pPr marL="0" indent="0">
              <a:buNone/>
            </a:pPr>
            <a:r>
              <a:rPr lang="en-US" sz="800" dirty="0">
                <a:highlight>
                  <a:srgbClr val="FFFF00"/>
                </a:highlight>
                <a:cs typeface="Arial"/>
              </a:rPr>
              <a:t>14 Push Docker images to IBM Cloud Container Registry (ICR)</a:t>
            </a:r>
          </a:p>
          <a:p>
            <a:pPr marL="0" indent="0">
              <a:buNone/>
            </a:pPr>
            <a:r>
              <a:rPr lang="en-US" sz="800" dirty="0">
                <a:highlight>
                  <a:srgbClr val="FFFF00"/>
                </a:highlight>
                <a:cs typeface="Arial"/>
              </a:rPr>
              <a:t>15 Data Flowchart for the Consolidation of Data Infrastructure</a:t>
            </a:r>
          </a:p>
          <a:p>
            <a:pPr marL="0" indent="0">
              <a:buNone/>
            </a:pPr>
            <a:r>
              <a:rPr lang="en-US" sz="800" dirty="0">
                <a:highlight>
                  <a:srgbClr val="FFFF00"/>
                </a:highlight>
                <a:cs typeface="Arial"/>
              </a:rPr>
              <a:t>16 Design EDA Blueprint</a:t>
            </a:r>
          </a:p>
          <a:p>
            <a:pPr marL="0" indent="0">
              <a:buNone/>
            </a:pPr>
            <a:r>
              <a:rPr lang="en-US" sz="800" dirty="0">
                <a:highlight>
                  <a:srgbClr val="FFFF00"/>
                </a:highlight>
                <a:cs typeface="Arial"/>
              </a:rPr>
              <a:t>17 Preparing Capacity Planning </a:t>
            </a:r>
          </a:p>
          <a:p>
            <a:pPr marL="0" indent="0">
              <a:buNone/>
            </a:pPr>
            <a:r>
              <a:rPr lang="en-US" sz="800" dirty="0">
                <a:highlight>
                  <a:srgbClr val="FFFF00"/>
                </a:highlight>
                <a:cs typeface="Arial"/>
              </a:rPr>
              <a:t>18 Creating an Infrastructure Inventory</a:t>
            </a:r>
          </a:p>
          <a:p>
            <a:pPr marL="0" indent="0">
              <a:buNone/>
            </a:pPr>
            <a:r>
              <a:rPr lang="en-US" sz="800" dirty="0">
                <a:highlight>
                  <a:srgbClr val="FFFF00"/>
                </a:highlight>
                <a:cs typeface="Arial"/>
              </a:rPr>
              <a:t>19 Create System Models, Use Cases, and Sequence Diagrams</a:t>
            </a:r>
          </a:p>
          <a:p>
            <a:pPr marL="0" indent="0">
              <a:buNone/>
            </a:pPr>
            <a:r>
              <a:rPr lang="en-US" sz="800" dirty="0">
                <a:highlight>
                  <a:srgbClr val="FFFF00"/>
                </a:highlight>
                <a:cs typeface="Arial"/>
              </a:rPr>
              <a:t>20 Technology Stack Recommendations</a:t>
            </a:r>
          </a:p>
          <a:p>
            <a:pPr marL="0" indent="0">
              <a:buNone/>
            </a:pPr>
            <a:r>
              <a:rPr lang="en-US" sz="800" dirty="0">
                <a:highlight>
                  <a:srgbClr val="FFFF00"/>
                </a:highlight>
                <a:cs typeface="Arial"/>
              </a:rPr>
              <a:t>21 Developing Proof of Concept (</a:t>
            </a:r>
            <a:r>
              <a:rPr lang="en-US" sz="800" dirty="0" err="1">
                <a:highlight>
                  <a:srgbClr val="FFFF00"/>
                </a:highlight>
                <a:cs typeface="Arial"/>
              </a:rPr>
              <a:t>PoC</a:t>
            </a:r>
            <a:r>
              <a:rPr lang="en-US" sz="800" dirty="0">
                <a:highlight>
                  <a:srgbClr val="FFFF00"/>
                </a:highlight>
                <a:cs typeface="Arial"/>
              </a:rPr>
              <a:t>) Reports</a:t>
            </a:r>
          </a:p>
          <a:p>
            <a:pPr marL="0" indent="0">
              <a:buNone/>
            </a:pPr>
            <a:r>
              <a:rPr lang="en-US" sz="800" dirty="0">
                <a:highlight>
                  <a:srgbClr val="FFFF00"/>
                </a:highlight>
                <a:cs typeface="Arial"/>
              </a:rPr>
              <a:t>22 Reviewing Test Plans and Creating TDD/BDD Test Cases</a:t>
            </a:r>
          </a:p>
          <a:p>
            <a:pPr marL="0" indent="0">
              <a:buNone/>
            </a:pPr>
            <a:r>
              <a:rPr lang="en-US" sz="800" dirty="0">
                <a:highlight>
                  <a:srgbClr val="FFFF00"/>
                </a:highlight>
                <a:cs typeface="Arial"/>
              </a:rPr>
              <a:t>23 Create a CI/CD Pipeline and Monitoring Strategy</a:t>
            </a:r>
          </a:p>
          <a:p>
            <a:pPr marL="0" indent="0">
              <a:buNone/>
            </a:pPr>
            <a:r>
              <a:rPr lang="en-US" sz="800" dirty="0">
                <a:highlight>
                  <a:srgbClr val="FFFF00"/>
                </a:highlight>
                <a:cs typeface="Arial"/>
              </a:rPr>
              <a:t>24 Designing Backup and Recovery Plans</a:t>
            </a:r>
          </a:p>
          <a:p>
            <a:pPr marL="0" indent="0">
              <a:buNone/>
            </a:pPr>
            <a:r>
              <a:rPr lang="en-US" sz="800" dirty="0">
                <a:highlight>
                  <a:srgbClr val="FFFF00"/>
                </a:highlight>
                <a:cs typeface="Arial"/>
              </a:rPr>
              <a:t>25 Documenting Configuration for Solution Components</a:t>
            </a:r>
          </a:p>
          <a:p>
            <a:pPr marL="0" indent="0">
              <a:buNone/>
            </a:pPr>
            <a:r>
              <a:rPr lang="en-US" sz="800" dirty="0">
                <a:highlight>
                  <a:srgbClr val="FFFF00"/>
                </a:highlight>
                <a:cs typeface="Arial"/>
              </a:rPr>
              <a:t>26 Documenting APIs and Data Flows</a:t>
            </a:r>
          </a:p>
        </p:txBody>
      </p:sp>
    </p:spTree>
    <p:extLst>
      <p:ext uri="{BB962C8B-B14F-4D97-AF65-F5344CB8AC3E}">
        <p14:creationId xmlns:p14="http://schemas.microsoft.com/office/powerpoint/2010/main" val="4262656106"/>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Custom 2">
      <a:dk1>
        <a:srgbClr val="00539A"/>
      </a:dk1>
      <a:lt1>
        <a:srgbClr val="FFFFFF"/>
      </a:lt1>
      <a:dk2>
        <a:srgbClr val="0F62FE"/>
      </a:dk2>
      <a:lt2>
        <a:srgbClr val="F2F4F8"/>
      </a:lt2>
      <a:accent1>
        <a:srgbClr val="00539A"/>
      </a:accent1>
      <a:accent2>
        <a:srgbClr val="8A3FFC"/>
      </a:accent2>
      <a:accent3>
        <a:srgbClr val="D02670"/>
      </a:accent3>
      <a:accent4>
        <a:srgbClr val="198038"/>
      </a:accent4>
      <a:accent5>
        <a:srgbClr val="A02B93"/>
      </a:accent5>
      <a:accent6>
        <a:srgbClr val="4EA72E"/>
      </a:accent6>
      <a:hlink>
        <a:srgbClr val="467886"/>
      </a:hlink>
      <a:folHlink>
        <a:srgbClr val="96607D"/>
      </a:folHlink>
    </a:clrScheme>
    <a:fontScheme name="Custom 6">
      <a:majorFont>
        <a:latin typeface="Arial Bold"/>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320</TotalTime>
  <Words>5990</Words>
  <Application>Microsoft Office PowerPoint</Application>
  <PresentationFormat>Widescreen</PresentationFormat>
  <Paragraphs>895</Paragraphs>
  <Slides>39</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39</vt:i4>
      </vt:variant>
    </vt:vector>
  </HeadingPairs>
  <TitlesOfParts>
    <vt:vector size="45" baseType="lpstr">
      <vt:lpstr>Aptos</vt:lpstr>
      <vt:lpstr>Arial</vt:lpstr>
      <vt:lpstr>Arial Bold</vt:lpstr>
      <vt:lpstr>Calibri</vt:lpstr>
      <vt:lpstr>Office Theme</vt:lpstr>
      <vt:lpstr>Microsoft Word Document</vt:lpstr>
      <vt:lpstr>Modernizing Digital Banking Operations at a Retail Bank</vt:lpstr>
      <vt:lpstr>Executive Summary</vt:lpstr>
      <vt:lpstr>Introduction</vt:lpstr>
      <vt:lpstr>Objectives</vt:lpstr>
      <vt:lpstr>Artifacts</vt:lpstr>
      <vt:lpstr>Project Initiation and Stakeholder Engagement</vt:lpstr>
      <vt:lpstr>Project Initiation and Stakeholder Engagement</vt:lpstr>
      <vt:lpstr>Project Initiation and Stakeholder Engagement</vt:lpstr>
      <vt:lpstr>Requirements Gathering</vt:lpstr>
      <vt:lpstr>Requirements Gathering</vt:lpstr>
      <vt:lpstr>Requirements Gathering</vt:lpstr>
      <vt:lpstr>Project Planning and Risk Analysis</vt:lpstr>
      <vt:lpstr>Project Planning and Risk Analysis</vt:lpstr>
      <vt:lpstr>Project Planning and Risk Analysis</vt:lpstr>
      <vt:lpstr>Project Planning and Risk Analysis</vt:lpstr>
      <vt:lpstr>Project Planning and Risk Analysis</vt:lpstr>
      <vt:lpstr>Process Modeling</vt:lpstr>
      <vt:lpstr>System Design</vt:lpstr>
      <vt:lpstr>Proof of Concept (PoC)</vt:lpstr>
      <vt:lpstr>Proof of Concept (PoC)</vt:lpstr>
      <vt:lpstr>Proof of Concept (PoC)</vt:lpstr>
      <vt:lpstr>Database design</vt:lpstr>
      <vt:lpstr>Database design</vt:lpstr>
      <vt:lpstr>Database design</vt:lpstr>
      <vt:lpstr>Database design</vt:lpstr>
      <vt:lpstr>Database design</vt:lpstr>
      <vt:lpstr>Test planning and case design using TDD and BDD </vt:lpstr>
      <vt:lpstr>Test planning and case design using TDD and BDD </vt:lpstr>
      <vt:lpstr>CI/CD workflow and monitoring plan</vt:lpstr>
      <vt:lpstr>CI/CD workflow and monitoring plan</vt:lpstr>
      <vt:lpstr>CI/CD workflow and monitoring plan</vt:lpstr>
      <vt:lpstr>CI/CD workflow and monitoring plan</vt:lpstr>
      <vt:lpstr>CI/CD workflow and monitoring plan</vt:lpstr>
      <vt:lpstr>CI/CD workflow and monitoring plan</vt:lpstr>
      <vt:lpstr>Findings and Recommendations</vt:lpstr>
      <vt:lpstr>Key findings</vt:lpstr>
      <vt:lpstr>Key recommendations</vt:lpstr>
      <vt:lpstr>Conclusion</vt:lpstr>
      <vt:lpstr>Appendix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This Template</dc:title>
  <dc:creator>Vaishali Rani</dc:creator>
  <cp:lastModifiedBy>Dennis</cp:lastModifiedBy>
  <cp:revision>728</cp:revision>
  <dcterms:created xsi:type="dcterms:W3CDTF">2025-08-12T09:00:23Z</dcterms:created>
  <dcterms:modified xsi:type="dcterms:W3CDTF">2026-02-18T13:15:56Z</dcterms:modified>
</cp:coreProperties>
</file>