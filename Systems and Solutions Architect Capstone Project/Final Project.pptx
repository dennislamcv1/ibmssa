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comments/modernComment_183_64C5BD31.xml" ContentType="application/vnd.ms-powerpoint.comments+xml"/>
  <Override PartName="/ppt/authors.xml" ContentType="application/vnd.ms-powerpoint.author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3"/>
  </p:notesMasterIdLst>
  <p:sldIdLst>
    <p:sldId id="257" r:id="rId2"/>
    <p:sldId id="258" r:id="rId3"/>
    <p:sldId id="259" r:id="rId4"/>
    <p:sldId id="368" r:id="rId5"/>
    <p:sldId id="369" r:id="rId6"/>
    <p:sldId id="370" r:id="rId7"/>
    <p:sldId id="303" r:id="rId8"/>
    <p:sldId id="343" r:id="rId9"/>
    <p:sldId id="372" r:id="rId10"/>
    <p:sldId id="373" r:id="rId11"/>
    <p:sldId id="374" r:id="rId12"/>
    <p:sldId id="375" r:id="rId13"/>
    <p:sldId id="376" r:id="rId14"/>
    <p:sldId id="377" r:id="rId15"/>
    <p:sldId id="407" r:id="rId16"/>
    <p:sldId id="378" r:id="rId17"/>
    <p:sldId id="379" r:id="rId18"/>
    <p:sldId id="380" r:id="rId19"/>
    <p:sldId id="387" r:id="rId20"/>
    <p:sldId id="390" r:id="rId21"/>
    <p:sldId id="391" r:id="rId22"/>
    <p:sldId id="420" r:id="rId23"/>
    <p:sldId id="421" r:id="rId24"/>
    <p:sldId id="393" r:id="rId25"/>
    <p:sldId id="422" r:id="rId26"/>
    <p:sldId id="423" r:id="rId27"/>
    <p:sldId id="424" r:id="rId28"/>
    <p:sldId id="425" r:id="rId29"/>
    <p:sldId id="394" r:id="rId30"/>
    <p:sldId id="426" r:id="rId31"/>
    <p:sldId id="411" r:id="rId32"/>
    <p:sldId id="427" r:id="rId33"/>
    <p:sldId id="428" r:id="rId34"/>
    <p:sldId id="429" r:id="rId35"/>
    <p:sldId id="430" r:id="rId36"/>
    <p:sldId id="431" r:id="rId37"/>
    <p:sldId id="402" r:id="rId38"/>
    <p:sldId id="409" r:id="rId39"/>
    <p:sldId id="410" r:id="rId40"/>
    <p:sldId id="405" r:id="rId41"/>
    <p:sldId id="406"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A79EE2B-559B-DC2B-4C15-287514012CD8}" name="Vijay Gupta" initials="VG" userId="S::vijayg@skillup.tech::ae923e97-9288-45af-aa7f-91e714269c80" providerId="AD"/>
  <p188:author id="{E43AE3D5-86DE-71E4-AD78-F0C764A70C96}" name="PRAVEEN THAPLIYAL" initials="PT" userId="8aD9aY3AfM3zttAgeD+ifzCDEfV2eJC1xVKAc9dKGVQ=" providerId="Non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A1E28"/>
    <a:srgbClr val="00539A"/>
    <a:srgbClr val="491D8B"/>
    <a:srgbClr val="9F1853"/>
    <a:srgbClr val="001D6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9C9438C-018C-4128-B5DD-FEB867E916A6}" v="423" dt="2026-01-14T00:50:38.33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showGuides="1">
      <p:cViewPr varScale="1">
        <p:scale>
          <a:sx n="65" d="100"/>
          <a:sy n="65" d="100"/>
        </p:scale>
        <p:origin x="724" y="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50" Type="http://schemas.microsoft.com/office/2018/10/relationships/authors" Target="author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jy John" userId="fNKV7hVHPOcypogTpQcMovdyCqGYnK36TpifI0txQVU=" providerId="None" clId="Web-{E9C9438C-018C-4128-B5DD-FEB867E916A6}"/>
    <pc:docChg chg="addSld delSld modSld sldOrd">
      <pc:chgData name="Jojy John" userId="fNKV7hVHPOcypogTpQcMovdyCqGYnK36TpifI0txQVU=" providerId="None" clId="Web-{E9C9438C-018C-4128-B5DD-FEB867E916A6}" dt="2026-01-14T00:50:36.618" v="362" actId="20577"/>
      <pc:docMkLst>
        <pc:docMk/>
      </pc:docMkLst>
      <pc:sldChg chg="modSp">
        <pc:chgData name="Jojy John" userId="fNKV7hVHPOcypogTpQcMovdyCqGYnK36TpifI0txQVU=" providerId="None" clId="Web-{E9C9438C-018C-4128-B5DD-FEB867E916A6}" dt="2026-01-13T07:57:43.818" v="77" actId="20577"/>
        <pc:sldMkLst>
          <pc:docMk/>
          <pc:sldMk cId="2185482482" sldId="390"/>
        </pc:sldMkLst>
        <pc:spChg chg="mod">
          <ac:chgData name="Jojy John" userId="fNKV7hVHPOcypogTpQcMovdyCqGYnK36TpifI0txQVU=" providerId="None" clId="Web-{E9C9438C-018C-4128-B5DD-FEB867E916A6}" dt="2026-01-13T07:57:43.818" v="77" actId="20577"/>
          <ac:spMkLst>
            <pc:docMk/>
            <pc:sldMk cId="2185482482" sldId="390"/>
            <ac:spMk id="8" creationId="{DB049CFC-0239-E617-90F7-4A261297D600}"/>
          </ac:spMkLst>
        </pc:spChg>
      </pc:sldChg>
      <pc:sldChg chg="modSp">
        <pc:chgData name="Jojy John" userId="fNKV7hVHPOcypogTpQcMovdyCqGYnK36TpifI0txQVU=" providerId="None" clId="Web-{E9C9438C-018C-4128-B5DD-FEB867E916A6}" dt="2026-01-14T00:32:18.902" v="306" actId="20577"/>
        <pc:sldMkLst>
          <pc:docMk/>
          <pc:sldMk cId="4238968842" sldId="391"/>
        </pc:sldMkLst>
        <pc:spChg chg="mod">
          <ac:chgData name="Jojy John" userId="fNKV7hVHPOcypogTpQcMovdyCqGYnK36TpifI0txQVU=" providerId="None" clId="Web-{E9C9438C-018C-4128-B5DD-FEB867E916A6}" dt="2026-01-13T07:57:55.870" v="80" actId="20577"/>
          <ac:spMkLst>
            <pc:docMk/>
            <pc:sldMk cId="4238968842" sldId="391"/>
            <ac:spMk id="4" creationId="{BD23D89A-BBAA-408C-0CCD-31610E3D910C}"/>
          </ac:spMkLst>
        </pc:spChg>
        <pc:spChg chg="mod">
          <ac:chgData name="Jojy John" userId="fNKV7hVHPOcypogTpQcMovdyCqGYnK36TpifI0txQVU=" providerId="None" clId="Web-{E9C9438C-018C-4128-B5DD-FEB867E916A6}" dt="2026-01-14T00:32:18.902" v="306" actId="20577"/>
          <ac:spMkLst>
            <pc:docMk/>
            <pc:sldMk cId="4238968842" sldId="391"/>
            <ac:spMk id="8" creationId="{ADD21A90-2949-64C5-5B7F-3467C985E63C}"/>
          </ac:spMkLst>
        </pc:spChg>
      </pc:sldChg>
      <pc:sldChg chg="modSp">
        <pc:chgData name="Jojy John" userId="fNKV7hVHPOcypogTpQcMovdyCqGYnK36TpifI0txQVU=" providerId="None" clId="Web-{E9C9438C-018C-4128-B5DD-FEB867E916A6}" dt="2026-01-14T00:50:36.618" v="362" actId="20577"/>
        <pc:sldMkLst>
          <pc:docMk/>
          <pc:sldMk cId="2472288591" sldId="393"/>
        </pc:sldMkLst>
        <pc:spChg chg="mod">
          <ac:chgData name="Jojy John" userId="fNKV7hVHPOcypogTpQcMovdyCqGYnK36TpifI0txQVU=" providerId="None" clId="Web-{E9C9438C-018C-4128-B5DD-FEB867E916A6}" dt="2026-01-13T07:59:13.387" v="88" actId="20577"/>
          <ac:spMkLst>
            <pc:docMk/>
            <pc:sldMk cId="2472288591" sldId="393"/>
            <ac:spMk id="4" creationId="{07D48B57-8B80-2913-BD20-CD738953F632}"/>
          </ac:spMkLst>
        </pc:spChg>
        <pc:spChg chg="mod">
          <ac:chgData name="Jojy John" userId="fNKV7hVHPOcypogTpQcMovdyCqGYnK36TpifI0txQVU=" providerId="None" clId="Web-{E9C9438C-018C-4128-B5DD-FEB867E916A6}" dt="2026-01-14T00:50:36.618" v="362" actId="20577"/>
          <ac:spMkLst>
            <pc:docMk/>
            <pc:sldMk cId="2472288591" sldId="393"/>
            <ac:spMk id="8" creationId="{65495165-6991-8FF4-F704-6E297EAFFECE}"/>
          </ac:spMkLst>
        </pc:spChg>
      </pc:sldChg>
      <pc:sldChg chg="modSp">
        <pc:chgData name="Jojy John" userId="fNKV7hVHPOcypogTpQcMovdyCqGYnK36TpifI0txQVU=" providerId="None" clId="Web-{E9C9438C-018C-4128-B5DD-FEB867E916A6}" dt="2026-01-14T00:39:08.461" v="317" actId="20577"/>
        <pc:sldMkLst>
          <pc:docMk/>
          <pc:sldMk cId="2195193157" sldId="394"/>
        </pc:sldMkLst>
        <pc:spChg chg="mod">
          <ac:chgData name="Jojy John" userId="fNKV7hVHPOcypogTpQcMovdyCqGYnK36TpifI0txQVU=" providerId="None" clId="Web-{E9C9438C-018C-4128-B5DD-FEB867E916A6}" dt="2026-01-14T00:39:08.461" v="317" actId="20577"/>
          <ac:spMkLst>
            <pc:docMk/>
            <pc:sldMk cId="2195193157" sldId="394"/>
            <ac:spMk id="4" creationId="{DA1F0203-3159-B3EA-3C91-8052123825C0}"/>
          </ac:spMkLst>
        </pc:spChg>
        <pc:spChg chg="mod">
          <ac:chgData name="Jojy John" userId="fNKV7hVHPOcypogTpQcMovdyCqGYnK36TpifI0txQVU=" providerId="None" clId="Web-{E9C9438C-018C-4128-B5DD-FEB867E916A6}" dt="2026-01-13T17:15:49.978" v="301" actId="20577"/>
          <ac:spMkLst>
            <pc:docMk/>
            <pc:sldMk cId="2195193157" sldId="394"/>
            <ac:spMk id="8" creationId="{5720B179-696D-9BCE-D135-4ECE0E4FD1FD}"/>
          </ac:spMkLst>
        </pc:spChg>
      </pc:sldChg>
      <pc:sldChg chg="del">
        <pc:chgData name="Jojy John" userId="fNKV7hVHPOcypogTpQcMovdyCqGYnK36TpifI0txQVU=" providerId="None" clId="Web-{E9C9438C-018C-4128-B5DD-FEB867E916A6}" dt="2026-01-14T00:43:18.603" v="349"/>
        <pc:sldMkLst>
          <pc:docMk/>
          <pc:sldMk cId="2338594038" sldId="395"/>
        </pc:sldMkLst>
      </pc:sldChg>
      <pc:sldChg chg="del">
        <pc:chgData name="Jojy John" userId="fNKV7hVHPOcypogTpQcMovdyCqGYnK36TpifI0txQVU=" providerId="None" clId="Web-{E9C9438C-018C-4128-B5DD-FEB867E916A6}" dt="2026-01-14T00:43:17.493" v="348"/>
        <pc:sldMkLst>
          <pc:docMk/>
          <pc:sldMk cId="1318145206" sldId="396"/>
        </pc:sldMkLst>
      </pc:sldChg>
      <pc:sldChg chg="del">
        <pc:chgData name="Jojy John" userId="fNKV7hVHPOcypogTpQcMovdyCqGYnK36TpifI0txQVU=" providerId="None" clId="Web-{E9C9438C-018C-4128-B5DD-FEB867E916A6}" dt="2026-01-14T00:43:16.493" v="347"/>
        <pc:sldMkLst>
          <pc:docMk/>
          <pc:sldMk cId="970132721" sldId="397"/>
        </pc:sldMkLst>
      </pc:sldChg>
      <pc:sldChg chg="del">
        <pc:chgData name="Jojy John" userId="fNKV7hVHPOcypogTpQcMovdyCqGYnK36TpifI0txQVU=" providerId="None" clId="Web-{E9C9438C-018C-4128-B5DD-FEB867E916A6}" dt="2026-01-14T00:43:11.134" v="344"/>
        <pc:sldMkLst>
          <pc:docMk/>
          <pc:sldMk cId="2132424631" sldId="398"/>
        </pc:sldMkLst>
      </pc:sldChg>
      <pc:sldChg chg="del">
        <pc:chgData name="Jojy John" userId="fNKV7hVHPOcypogTpQcMovdyCqGYnK36TpifI0txQVU=" providerId="None" clId="Web-{E9C9438C-018C-4128-B5DD-FEB867E916A6}" dt="2026-01-14T00:43:07.134" v="343"/>
        <pc:sldMkLst>
          <pc:docMk/>
          <pc:sldMk cId="3013663133" sldId="399"/>
        </pc:sldMkLst>
      </pc:sldChg>
      <pc:sldChg chg="del">
        <pc:chgData name="Jojy John" userId="fNKV7hVHPOcypogTpQcMovdyCqGYnK36TpifI0txQVU=" providerId="None" clId="Web-{E9C9438C-018C-4128-B5DD-FEB867E916A6}" dt="2026-01-14T00:43:05.134" v="342"/>
        <pc:sldMkLst>
          <pc:docMk/>
          <pc:sldMk cId="1631569173" sldId="400"/>
        </pc:sldMkLst>
      </pc:sldChg>
      <pc:sldChg chg="ord">
        <pc:chgData name="Jojy John" userId="fNKV7hVHPOcypogTpQcMovdyCqGYnK36TpifI0txQVU=" providerId="None" clId="Web-{E9C9438C-018C-4128-B5DD-FEB867E916A6}" dt="2026-01-13T17:14:03.541" v="300"/>
        <pc:sldMkLst>
          <pc:docMk/>
          <pc:sldMk cId="2555747456" sldId="402"/>
        </pc:sldMkLst>
      </pc:sldChg>
      <pc:sldChg chg="del">
        <pc:chgData name="Jojy John" userId="fNKV7hVHPOcypogTpQcMovdyCqGYnK36TpifI0txQVU=" providerId="None" clId="Web-{E9C9438C-018C-4128-B5DD-FEB867E916A6}" dt="2026-01-14T00:43:02.321" v="340"/>
        <pc:sldMkLst>
          <pc:docMk/>
          <pc:sldMk cId="2821731014" sldId="403"/>
        </pc:sldMkLst>
      </pc:sldChg>
      <pc:sldChg chg="del">
        <pc:chgData name="Jojy John" userId="fNKV7hVHPOcypogTpQcMovdyCqGYnK36TpifI0txQVU=" providerId="None" clId="Web-{E9C9438C-018C-4128-B5DD-FEB867E916A6}" dt="2026-01-14T00:42:58.806" v="339"/>
        <pc:sldMkLst>
          <pc:docMk/>
          <pc:sldMk cId="1923470524" sldId="404"/>
        </pc:sldMkLst>
      </pc:sldChg>
      <pc:sldChg chg="modSp add del ord modCm">
        <pc:chgData name="Jojy John" userId="fNKV7hVHPOcypogTpQcMovdyCqGYnK36TpifI0txQVU=" providerId="None" clId="Web-{E9C9438C-018C-4128-B5DD-FEB867E916A6}" dt="2026-01-14T00:43:53.524" v="357"/>
        <pc:sldMkLst>
          <pc:docMk/>
          <pc:sldMk cId="2607404804" sldId="405"/>
        </pc:sldMkLst>
        <pc:spChg chg="mod">
          <ac:chgData name="Jojy John" userId="fNKV7hVHPOcypogTpQcMovdyCqGYnK36TpifI0txQVU=" providerId="None" clId="Web-{E9C9438C-018C-4128-B5DD-FEB867E916A6}" dt="2026-01-14T00:41:21.025" v="328" actId="20577"/>
          <ac:spMkLst>
            <pc:docMk/>
            <pc:sldMk cId="2607404804" sldId="405"/>
            <ac:spMk id="8" creationId="{F58C856C-E871-1D81-9531-41D62F571353}"/>
          </ac:spMkLst>
        </pc:spChg>
        <pc:extLst>
          <p:ext xmlns:p="http://schemas.openxmlformats.org/presentationml/2006/main" uri="{D6D511B9-2390-475A-947B-AFAB55BFBCF1}">
            <pc226:cmChg xmlns:pc226="http://schemas.microsoft.com/office/powerpoint/2022/06/main/command" chg="mod">
              <pc226:chgData name="Jojy John" userId="fNKV7hVHPOcypogTpQcMovdyCqGYnK36TpifI0txQVU=" providerId="None" clId="Web-{E9C9438C-018C-4128-B5DD-FEB867E916A6}" dt="2026-01-14T00:41:21.025" v="328" actId="20577"/>
              <pc2:cmMkLst xmlns:pc2="http://schemas.microsoft.com/office/powerpoint/2019/9/main/command">
                <pc:docMk/>
                <pc:sldMk cId="2607404804" sldId="405"/>
                <pc2:cmMk id="{5FEC417D-6109-465F-A174-9BECE40515B2}"/>
              </pc2:cmMkLst>
            </pc226:cmChg>
          </p:ext>
        </pc:extLst>
      </pc:sldChg>
      <pc:sldChg chg="del">
        <pc:chgData name="Jojy John" userId="fNKV7hVHPOcypogTpQcMovdyCqGYnK36TpifI0txQVU=" providerId="None" clId="Web-{E9C9438C-018C-4128-B5DD-FEB867E916A6}" dt="2026-01-14T00:43:04.071" v="341"/>
        <pc:sldMkLst>
          <pc:docMk/>
          <pc:sldMk cId="3607627578" sldId="408"/>
        </pc:sldMkLst>
      </pc:sldChg>
      <pc:sldChg chg="modSp">
        <pc:chgData name="Jojy John" userId="fNKV7hVHPOcypogTpQcMovdyCqGYnK36TpifI0txQVU=" providerId="None" clId="Web-{E9C9438C-018C-4128-B5DD-FEB867E916A6}" dt="2026-01-14T00:42:44.384" v="338" actId="20577"/>
        <pc:sldMkLst>
          <pc:docMk/>
          <pc:sldMk cId="1594822019" sldId="409"/>
        </pc:sldMkLst>
        <pc:spChg chg="mod">
          <ac:chgData name="Jojy John" userId="fNKV7hVHPOcypogTpQcMovdyCqGYnK36TpifI0txQVU=" providerId="None" clId="Web-{E9C9438C-018C-4128-B5DD-FEB867E916A6}" dt="2026-01-13T17:06:06.717" v="290" actId="20577"/>
          <ac:spMkLst>
            <pc:docMk/>
            <pc:sldMk cId="1594822019" sldId="409"/>
            <ac:spMk id="4" creationId="{FB027EF3-E175-97A4-E55A-3F99214BCB8F}"/>
          </ac:spMkLst>
        </pc:spChg>
        <pc:spChg chg="mod">
          <ac:chgData name="Jojy John" userId="fNKV7hVHPOcypogTpQcMovdyCqGYnK36TpifI0txQVU=" providerId="None" clId="Web-{E9C9438C-018C-4128-B5DD-FEB867E916A6}" dt="2026-01-14T00:42:44.384" v="338" actId="20577"/>
          <ac:spMkLst>
            <pc:docMk/>
            <pc:sldMk cId="1594822019" sldId="409"/>
            <ac:spMk id="8" creationId="{B7F8757F-14D2-A91B-246F-1E4177D4C520}"/>
          </ac:spMkLst>
        </pc:spChg>
      </pc:sldChg>
      <pc:sldChg chg="modSp add del">
        <pc:chgData name="Jojy John" userId="fNKV7hVHPOcypogTpQcMovdyCqGYnK36TpifI0txQVU=" providerId="None" clId="Web-{E9C9438C-018C-4128-B5DD-FEB867E916A6}" dt="2026-01-14T00:43:39.134" v="356"/>
        <pc:sldMkLst>
          <pc:docMk/>
          <pc:sldMk cId="4110692607" sldId="410"/>
        </pc:sldMkLst>
        <pc:spChg chg="mod">
          <ac:chgData name="Jojy John" userId="fNKV7hVHPOcypogTpQcMovdyCqGYnK36TpifI0txQVU=" providerId="None" clId="Web-{E9C9438C-018C-4128-B5DD-FEB867E916A6}" dt="2026-01-13T17:07:06.435" v="297" actId="20577"/>
          <ac:spMkLst>
            <pc:docMk/>
            <pc:sldMk cId="4110692607" sldId="410"/>
            <ac:spMk id="4" creationId="{BC1E832A-5D3E-611B-6EEA-48C31A729DB9}"/>
          </ac:spMkLst>
        </pc:spChg>
        <pc:spChg chg="mod">
          <ac:chgData name="Jojy John" userId="fNKV7hVHPOcypogTpQcMovdyCqGYnK36TpifI0txQVU=" providerId="None" clId="Web-{E9C9438C-018C-4128-B5DD-FEB867E916A6}" dt="2026-01-14T00:42:20.103" v="334" actId="20577"/>
          <ac:spMkLst>
            <pc:docMk/>
            <pc:sldMk cId="4110692607" sldId="410"/>
            <ac:spMk id="8" creationId="{E91DBB7E-8308-CDF9-F42F-CB5B33C06C63}"/>
          </ac:spMkLst>
        </pc:spChg>
      </pc:sldChg>
      <pc:sldChg chg="modSp">
        <pc:chgData name="Jojy John" userId="fNKV7hVHPOcypogTpQcMovdyCqGYnK36TpifI0txQVU=" providerId="None" clId="Web-{E9C9438C-018C-4128-B5DD-FEB867E916A6}" dt="2026-01-13T17:02:49.373" v="275" actId="20577"/>
        <pc:sldMkLst>
          <pc:docMk/>
          <pc:sldMk cId="1454088270" sldId="411"/>
        </pc:sldMkLst>
        <pc:spChg chg="mod">
          <ac:chgData name="Jojy John" userId="fNKV7hVHPOcypogTpQcMovdyCqGYnK36TpifI0txQVU=" providerId="None" clId="Web-{E9C9438C-018C-4128-B5DD-FEB867E916A6}" dt="2026-01-13T16:53:06.175" v="240" actId="20577"/>
          <ac:spMkLst>
            <pc:docMk/>
            <pc:sldMk cId="1454088270" sldId="411"/>
            <ac:spMk id="4" creationId="{51A26662-7D55-8D74-DB1C-CE6350E9AE94}"/>
          </ac:spMkLst>
        </pc:spChg>
        <pc:spChg chg="mod">
          <ac:chgData name="Jojy John" userId="fNKV7hVHPOcypogTpQcMovdyCqGYnK36TpifI0txQVU=" providerId="None" clId="Web-{E9C9438C-018C-4128-B5DD-FEB867E916A6}" dt="2026-01-13T17:02:49.373" v="275" actId="20577"/>
          <ac:spMkLst>
            <pc:docMk/>
            <pc:sldMk cId="1454088270" sldId="411"/>
            <ac:spMk id="8" creationId="{1FD1E875-4172-0570-4CDD-CDE5A56ADD52}"/>
          </ac:spMkLst>
        </pc:spChg>
      </pc:sldChg>
      <pc:sldChg chg="del">
        <pc:chgData name="Jojy John" userId="fNKV7hVHPOcypogTpQcMovdyCqGYnK36TpifI0txQVU=" providerId="None" clId="Web-{E9C9438C-018C-4128-B5DD-FEB867E916A6}" dt="2026-01-14T00:43:23.103" v="353"/>
        <pc:sldMkLst>
          <pc:docMk/>
          <pc:sldMk cId="627445149" sldId="412"/>
        </pc:sldMkLst>
      </pc:sldChg>
      <pc:sldChg chg="del">
        <pc:chgData name="Jojy John" userId="fNKV7hVHPOcypogTpQcMovdyCqGYnK36TpifI0txQVU=" providerId="None" clId="Web-{E9C9438C-018C-4128-B5DD-FEB867E916A6}" dt="2026-01-14T00:43:15.259" v="346"/>
        <pc:sldMkLst>
          <pc:docMk/>
          <pc:sldMk cId="1106089016" sldId="414"/>
        </pc:sldMkLst>
      </pc:sldChg>
      <pc:sldChg chg="del">
        <pc:chgData name="Jojy John" userId="fNKV7hVHPOcypogTpQcMovdyCqGYnK36TpifI0txQVU=" providerId="None" clId="Web-{E9C9438C-018C-4128-B5DD-FEB867E916A6}" dt="2026-01-14T00:43:22.118" v="352"/>
        <pc:sldMkLst>
          <pc:docMk/>
          <pc:sldMk cId="2211447290" sldId="415"/>
        </pc:sldMkLst>
      </pc:sldChg>
      <pc:sldChg chg="del">
        <pc:chgData name="Jojy John" userId="fNKV7hVHPOcypogTpQcMovdyCqGYnK36TpifI0txQVU=" providerId="None" clId="Web-{E9C9438C-018C-4128-B5DD-FEB867E916A6}" dt="2026-01-14T00:43:21.071" v="351"/>
        <pc:sldMkLst>
          <pc:docMk/>
          <pc:sldMk cId="3653763197" sldId="416"/>
        </pc:sldMkLst>
      </pc:sldChg>
      <pc:sldChg chg="del">
        <pc:chgData name="Jojy John" userId="fNKV7hVHPOcypogTpQcMovdyCqGYnK36TpifI0txQVU=" providerId="None" clId="Web-{E9C9438C-018C-4128-B5DD-FEB867E916A6}" dt="2026-01-14T00:43:19.743" v="350"/>
        <pc:sldMkLst>
          <pc:docMk/>
          <pc:sldMk cId="2899722180" sldId="417"/>
        </pc:sldMkLst>
      </pc:sldChg>
      <pc:sldChg chg="del">
        <pc:chgData name="Jojy John" userId="fNKV7hVHPOcypogTpQcMovdyCqGYnK36TpifI0txQVU=" providerId="None" clId="Web-{E9C9438C-018C-4128-B5DD-FEB867E916A6}" dt="2026-01-14T00:43:13.587" v="345"/>
        <pc:sldMkLst>
          <pc:docMk/>
          <pc:sldMk cId="929604826" sldId="418"/>
        </pc:sldMkLst>
      </pc:sldChg>
      <pc:sldChg chg="modSp add del replId">
        <pc:chgData name="Jojy John" userId="fNKV7hVHPOcypogTpQcMovdyCqGYnK36TpifI0txQVU=" providerId="None" clId="Web-{E9C9438C-018C-4128-B5DD-FEB867E916A6}" dt="2026-01-14T00:32:22.402" v="307"/>
        <pc:sldMkLst>
          <pc:docMk/>
          <pc:sldMk cId="319928139" sldId="419"/>
        </pc:sldMkLst>
        <pc:spChg chg="mod">
          <ac:chgData name="Jojy John" userId="fNKV7hVHPOcypogTpQcMovdyCqGYnK36TpifI0txQVU=" providerId="None" clId="Web-{E9C9438C-018C-4128-B5DD-FEB867E916A6}" dt="2026-01-13T16:03:45.805" v="144" actId="20577"/>
          <ac:spMkLst>
            <pc:docMk/>
            <pc:sldMk cId="319928139" sldId="419"/>
            <ac:spMk id="8" creationId="{DA85134A-63DE-8FB6-A899-7A6076A0111F}"/>
          </ac:spMkLst>
        </pc:spChg>
      </pc:sldChg>
      <pc:sldChg chg="modSp add replId">
        <pc:chgData name="Jojy John" userId="fNKV7hVHPOcypogTpQcMovdyCqGYnK36TpifI0txQVU=" providerId="None" clId="Web-{E9C9438C-018C-4128-B5DD-FEB867E916A6}" dt="2026-01-13T16:04:26.227" v="156" actId="20577"/>
        <pc:sldMkLst>
          <pc:docMk/>
          <pc:sldMk cId="3803525537" sldId="420"/>
        </pc:sldMkLst>
        <pc:spChg chg="mod">
          <ac:chgData name="Jojy John" userId="fNKV7hVHPOcypogTpQcMovdyCqGYnK36TpifI0txQVU=" providerId="None" clId="Web-{E9C9438C-018C-4128-B5DD-FEB867E916A6}" dt="2026-01-13T16:04:26.227" v="156" actId="20577"/>
          <ac:spMkLst>
            <pc:docMk/>
            <pc:sldMk cId="3803525537" sldId="420"/>
            <ac:spMk id="8" creationId="{099B7162-7D75-D20D-2B5C-099DFE9F376B}"/>
          </ac:spMkLst>
        </pc:spChg>
      </pc:sldChg>
      <pc:sldChg chg="modSp add replId">
        <pc:chgData name="Jojy John" userId="fNKV7hVHPOcypogTpQcMovdyCqGYnK36TpifI0txQVU=" providerId="None" clId="Web-{E9C9438C-018C-4128-B5DD-FEB867E916A6}" dt="2026-01-14T00:32:41.620" v="308" actId="20577"/>
        <pc:sldMkLst>
          <pc:docMk/>
          <pc:sldMk cId="2933810248" sldId="421"/>
        </pc:sldMkLst>
        <pc:spChg chg="mod">
          <ac:chgData name="Jojy John" userId="fNKV7hVHPOcypogTpQcMovdyCqGYnK36TpifI0txQVU=" providerId="None" clId="Web-{E9C9438C-018C-4128-B5DD-FEB867E916A6}" dt="2026-01-14T00:32:41.620" v="308" actId="20577"/>
          <ac:spMkLst>
            <pc:docMk/>
            <pc:sldMk cId="2933810248" sldId="421"/>
            <ac:spMk id="8" creationId="{FB3A29F4-6013-B47C-5654-F2A830BCA049}"/>
          </ac:spMkLst>
        </pc:spChg>
      </pc:sldChg>
      <pc:sldChg chg="modSp add replId">
        <pc:chgData name="Jojy John" userId="fNKV7hVHPOcypogTpQcMovdyCqGYnK36TpifI0txQVU=" providerId="None" clId="Web-{E9C9438C-018C-4128-B5DD-FEB867E916A6}" dt="2026-01-14T00:33:17.136" v="310" actId="20577"/>
        <pc:sldMkLst>
          <pc:docMk/>
          <pc:sldMk cId="1162413134" sldId="422"/>
        </pc:sldMkLst>
        <pc:spChg chg="mod">
          <ac:chgData name="Jojy John" userId="fNKV7hVHPOcypogTpQcMovdyCqGYnK36TpifI0txQVU=" providerId="None" clId="Web-{E9C9438C-018C-4128-B5DD-FEB867E916A6}" dt="2026-01-14T00:33:17.136" v="310" actId="20577"/>
          <ac:spMkLst>
            <pc:docMk/>
            <pc:sldMk cId="1162413134" sldId="422"/>
            <ac:spMk id="8" creationId="{3BA6798E-F6F4-42FB-C8A3-C3DD88D25CD7}"/>
          </ac:spMkLst>
        </pc:spChg>
      </pc:sldChg>
      <pc:sldChg chg="modSp add replId">
        <pc:chgData name="Jojy John" userId="fNKV7hVHPOcypogTpQcMovdyCqGYnK36TpifI0txQVU=" providerId="None" clId="Web-{E9C9438C-018C-4128-B5DD-FEB867E916A6}" dt="2026-01-14T00:33:39.245" v="313" actId="20577"/>
        <pc:sldMkLst>
          <pc:docMk/>
          <pc:sldMk cId="1011941594" sldId="423"/>
        </pc:sldMkLst>
        <pc:spChg chg="mod">
          <ac:chgData name="Jojy John" userId="fNKV7hVHPOcypogTpQcMovdyCqGYnK36TpifI0txQVU=" providerId="None" clId="Web-{E9C9438C-018C-4128-B5DD-FEB867E916A6}" dt="2026-01-14T00:33:39.245" v="313" actId="20577"/>
          <ac:spMkLst>
            <pc:docMk/>
            <pc:sldMk cId="1011941594" sldId="423"/>
            <ac:spMk id="8" creationId="{DC35AA0F-3124-1C72-A090-DBCC51D3CD5D}"/>
          </ac:spMkLst>
        </pc:spChg>
      </pc:sldChg>
      <pc:sldChg chg="modSp add replId">
        <pc:chgData name="Jojy John" userId="fNKV7hVHPOcypogTpQcMovdyCqGYnK36TpifI0txQVU=" providerId="None" clId="Web-{E9C9438C-018C-4128-B5DD-FEB867E916A6}" dt="2026-01-14T00:33:48.432" v="314" actId="20577"/>
        <pc:sldMkLst>
          <pc:docMk/>
          <pc:sldMk cId="3425723334" sldId="424"/>
        </pc:sldMkLst>
        <pc:spChg chg="mod">
          <ac:chgData name="Jojy John" userId="fNKV7hVHPOcypogTpQcMovdyCqGYnK36TpifI0txQVU=" providerId="None" clId="Web-{E9C9438C-018C-4128-B5DD-FEB867E916A6}" dt="2026-01-14T00:33:48.432" v="314" actId="20577"/>
          <ac:spMkLst>
            <pc:docMk/>
            <pc:sldMk cId="3425723334" sldId="424"/>
            <ac:spMk id="8" creationId="{6EBF7F26-70E8-8F0A-9EEF-FF09EABBE3B4}"/>
          </ac:spMkLst>
        </pc:spChg>
      </pc:sldChg>
      <pc:sldChg chg="modSp add replId">
        <pc:chgData name="Jojy John" userId="fNKV7hVHPOcypogTpQcMovdyCqGYnK36TpifI0txQVU=" providerId="None" clId="Web-{E9C9438C-018C-4128-B5DD-FEB867E916A6}" dt="2026-01-14T00:33:57.182" v="315" actId="20577"/>
        <pc:sldMkLst>
          <pc:docMk/>
          <pc:sldMk cId="2369798534" sldId="425"/>
        </pc:sldMkLst>
        <pc:spChg chg="mod">
          <ac:chgData name="Jojy John" userId="fNKV7hVHPOcypogTpQcMovdyCqGYnK36TpifI0txQVU=" providerId="None" clId="Web-{E9C9438C-018C-4128-B5DD-FEB867E916A6}" dt="2026-01-14T00:33:57.182" v="315" actId="20577"/>
          <ac:spMkLst>
            <pc:docMk/>
            <pc:sldMk cId="2369798534" sldId="425"/>
            <ac:spMk id="8" creationId="{136C01C3-A9C5-0652-D45B-B41050237728}"/>
          </ac:spMkLst>
        </pc:spChg>
      </pc:sldChg>
      <pc:sldChg chg="modSp add replId">
        <pc:chgData name="Jojy John" userId="fNKV7hVHPOcypogTpQcMovdyCqGYnK36TpifI0txQVU=" providerId="None" clId="Web-{E9C9438C-018C-4128-B5DD-FEB867E916A6}" dt="2026-01-14T00:38:57.977" v="316" actId="20577"/>
        <pc:sldMkLst>
          <pc:docMk/>
          <pc:sldMk cId="2602368583" sldId="426"/>
        </pc:sldMkLst>
        <pc:spChg chg="mod">
          <ac:chgData name="Jojy John" userId="fNKV7hVHPOcypogTpQcMovdyCqGYnK36TpifI0txQVU=" providerId="None" clId="Web-{E9C9438C-018C-4128-B5DD-FEB867E916A6}" dt="2026-01-14T00:38:57.977" v="316" actId="20577"/>
          <ac:spMkLst>
            <pc:docMk/>
            <pc:sldMk cId="2602368583" sldId="426"/>
            <ac:spMk id="4" creationId="{757B0AD9-5140-3E92-6AA8-463627B3EF56}"/>
          </ac:spMkLst>
        </pc:spChg>
        <pc:spChg chg="mod">
          <ac:chgData name="Jojy John" userId="fNKV7hVHPOcypogTpQcMovdyCqGYnK36TpifI0txQVU=" providerId="None" clId="Web-{E9C9438C-018C-4128-B5DD-FEB867E916A6}" dt="2026-01-13T17:15:58.665" v="302" actId="20577"/>
          <ac:spMkLst>
            <pc:docMk/>
            <pc:sldMk cId="2602368583" sldId="426"/>
            <ac:spMk id="8" creationId="{2500E4EA-AF72-6392-00FA-1C26E597DC41}"/>
          </ac:spMkLst>
        </pc:spChg>
      </pc:sldChg>
      <pc:sldChg chg="modSp add replId">
        <pc:chgData name="Jojy John" userId="fNKV7hVHPOcypogTpQcMovdyCqGYnK36TpifI0txQVU=" providerId="None" clId="Web-{E9C9438C-018C-4128-B5DD-FEB867E916A6}" dt="2026-01-14T00:39:45.195" v="318" actId="20577"/>
        <pc:sldMkLst>
          <pc:docMk/>
          <pc:sldMk cId="2068071627" sldId="427"/>
        </pc:sldMkLst>
        <pc:spChg chg="mod">
          <ac:chgData name="Jojy John" userId="fNKV7hVHPOcypogTpQcMovdyCqGYnK36TpifI0txQVU=" providerId="None" clId="Web-{E9C9438C-018C-4128-B5DD-FEB867E916A6}" dt="2026-01-13T16:53:12.207" v="243" actId="20577"/>
          <ac:spMkLst>
            <pc:docMk/>
            <pc:sldMk cId="2068071627" sldId="427"/>
            <ac:spMk id="4" creationId="{1B14C28B-256F-4AEF-FF1C-70C9EF3567AC}"/>
          </ac:spMkLst>
        </pc:spChg>
        <pc:spChg chg="mod">
          <ac:chgData name="Jojy John" userId="fNKV7hVHPOcypogTpQcMovdyCqGYnK36TpifI0txQVU=" providerId="None" clId="Web-{E9C9438C-018C-4128-B5DD-FEB867E916A6}" dt="2026-01-14T00:39:45.195" v="318" actId="20577"/>
          <ac:spMkLst>
            <pc:docMk/>
            <pc:sldMk cId="2068071627" sldId="427"/>
            <ac:spMk id="8" creationId="{33CC5425-C181-DDA7-CA9E-A4AF53248B80}"/>
          </ac:spMkLst>
        </pc:spChg>
      </pc:sldChg>
      <pc:sldChg chg="modSp add replId">
        <pc:chgData name="Jojy John" userId="fNKV7hVHPOcypogTpQcMovdyCqGYnK36TpifI0txQVU=" providerId="None" clId="Web-{E9C9438C-018C-4128-B5DD-FEB867E916A6}" dt="2026-01-14T00:39:54.523" v="319" actId="20577"/>
        <pc:sldMkLst>
          <pc:docMk/>
          <pc:sldMk cId="1013609324" sldId="428"/>
        </pc:sldMkLst>
        <pc:spChg chg="mod">
          <ac:chgData name="Jojy John" userId="fNKV7hVHPOcypogTpQcMovdyCqGYnK36TpifI0txQVU=" providerId="None" clId="Web-{E9C9438C-018C-4128-B5DD-FEB867E916A6}" dt="2026-01-13T16:53:17.175" v="246" actId="20577"/>
          <ac:spMkLst>
            <pc:docMk/>
            <pc:sldMk cId="1013609324" sldId="428"/>
            <ac:spMk id="4" creationId="{121EE23E-8BD0-EF64-913E-088148C3C136}"/>
          </ac:spMkLst>
        </pc:spChg>
        <pc:spChg chg="mod">
          <ac:chgData name="Jojy John" userId="fNKV7hVHPOcypogTpQcMovdyCqGYnK36TpifI0txQVU=" providerId="None" clId="Web-{E9C9438C-018C-4128-B5DD-FEB867E916A6}" dt="2026-01-14T00:39:54.523" v="319" actId="20577"/>
          <ac:spMkLst>
            <pc:docMk/>
            <pc:sldMk cId="1013609324" sldId="428"/>
            <ac:spMk id="8" creationId="{1B9E111D-549D-1D24-DF81-DF9C8D92E8DE}"/>
          </ac:spMkLst>
        </pc:spChg>
      </pc:sldChg>
      <pc:sldChg chg="modSp add replId">
        <pc:chgData name="Jojy John" userId="fNKV7hVHPOcypogTpQcMovdyCqGYnK36TpifI0txQVU=" providerId="None" clId="Web-{E9C9438C-018C-4128-B5DD-FEB867E916A6}" dt="2026-01-13T17:04:05.295" v="283" actId="20577"/>
        <pc:sldMkLst>
          <pc:docMk/>
          <pc:sldMk cId="344342084" sldId="429"/>
        </pc:sldMkLst>
        <pc:spChg chg="mod">
          <ac:chgData name="Jojy John" userId="fNKV7hVHPOcypogTpQcMovdyCqGYnK36TpifI0txQVU=" providerId="None" clId="Web-{E9C9438C-018C-4128-B5DD-FEB867E916A6}" dt="2026-01-13T16:53:24.675" v="249" actId="20577"/>
          <ac:spMkLst>
            <pc:docMk/>
            <pc:sldMk cId="344342084" sldId="429"/>
            <ac:spMk id="4" creationId="{52873621-74FF-2EB6-8184-8F40645F6A55}"/>
          </ac:spMkLst>
        </pc:spChg>
        <pc:spChg chg="mod">
          <ac:chgData name="Jojy John" userId="fNKV7hVHPOcypogTpQcMovdyCqGYnK36TpifI0txQVU=" providerId="None" clId="Web-{E9C9438C-018C-4128-B5DD-FEB867E916A6}" dt="2026-01-13T17:04:05.295" v="283" actId="20577"/>
          <ac:spMkLst>
            <pc:docMk/>
            <pc:sldMk cId="344342084" sldId="429"/>
            <ac:spMk id="8" creationId="{7FE39946-25C6-A79A-6335-765303B9FD71}"/>
          </ac:spMkLst>
        </pc:spChg>
      </pc:sldChg>
      <pc:sldChg chg="modSp add replId">
        <pc:chgData name="Jojy John" userId="fNKV7hVHPOcypogTpQcMovdyCqGYnK36TpifI0txQVU=" providerId="None" clId="Web-{E9C9438C-018C-4128-B5DD-FEB867E916A6}" dt="2026-01-14T00:40:08.914" v="320" actId="20577"/>
        <pc:sldMkLst>
          <pc:docMk/>
          <pc:sldMk cId="1762916455" sldId="430"/>
        </pc:sldMkLst>
        <pc:spChg chg="mod">
          <ac:chgData name="Jojy John" userId="fNKV7hVHPOcypogTpQcMovdyCqGYnK36TpifI0txQVU=" providerId="None" clId="Web-{E9C9438C-018C-4128-B5DD-FEB867E916A6}" dt="2026-01-13T16:53:31.659" v="252" actId="20577"/>
          <ac:spMkLst>
            <pc:docMk/>
            <pc:sldMk cId="1762916455" sldId="430"/>
            <ac:spMk id="4" creationId="{B418BCBC-A381-19B9-0A86-57945A71A104}"/>
          </ac:spMkLst>
        </pc:spChg>
        <pc:spChg chg="mod">
          <ac:chgData name="Jojy John" userId="fNKV7hVHPOcypogTpQcMovdyCqGYnK36TpifI0txQVU=" providerId="None" clId="Web-{E9C9438C-018C-4128-B5DD-FEB867E916A6}" dt="2026-01-14T00:40:08.914" v="320" actId="20577"/>
          <ac:spMkLst>
            <pc:docMk/>
            <pc:sldMk cId="1762916455" sldId="430"/>
            <ac:spMk id="8" creationId="{42E4F986-C161-BD4B-A458-C9E3622E4A87}"/>
          </ac:spMkLst>
        </pc:spChg>
      </pc:sldChg>
      <pc:sldChg chg="modSp add replId">
        <pc:chgData name="Jojy John" userId="fNKV7hVHPOcypogTpQcMovdyCqGYnK36TpifI0txQVU=" providerId="None" clId="Web-{E9C9438C-018C-4128-B5DD-FEB867E916A6}" dt="2026-01-14T00:40:17.289" v="321" actId="20577"/>
        <pc:sldMkLst>
          <pc:docMk/>
          <pc:sldMk cId="1266786165" sldId="431"/>
        </pc:sldMkLst>
        <pc:spChg chg="mod">
          <ac:chgData name="Jojy John" userId="fNKV7hVHPOcypogTpQcMovdyCqGYnK36TpifI0txQVU=" providerId="None" clId="Web-{E9C9438C-018C-4128-B5DD-FEB867E916A6}" dt="2026-01-14T00:40:17.289" v="321" actId="20577"/>
          <ac:spMkLst>
            <pc:docMk/>
            <pc:sldMk cId="1266786165" sldId="431"/>
            <ac:spMk id="8" creationId="{2EE0C3C8-2842-DBD7-6B43-E760E003E237}"/>
          </ac:spMkLst>
        </pc:spChg>
      </pc:sldChg>
    </pc:docChg>
  </pc:docChgLst>
</pc:chgInfo>
</file>

<file path=ppt/comments/modernComment_183_64C5BD31.xml><?xml version="1.0" encoding="utf-8"?>
<p188:cmLst xmlns:a="http://schemas.openxmlformats.org/drawingml/2006/main" xmlns:r="http://schemas.openxmlformats.org/officeDocument/2006/relationships" xmlns:p188="http://schemas.microsoft.com/office/powerpoint/2018/8/main">
  <p188:cm id="{BAD2BC6B-3A8A-4393-9CD5-DC893FCBF063}" authorId="{E43AE3D5-86DE-71E4-AD78-F0C764A70C96}" created="2025-12-09T08:45:16.617">
    <ac:txMkLst xmlns:ac="http://schemas.microsoft.com/office/drawing/2013/main/command">
      <pc:docMk xmlns:pc="http://schemas.microsoft.com/office/powerpoint/2013/main/command"/>
      <pc:sldMk xmlns:pc="http://schemas.microsoft.com/office/powerpoint/2013/main/command" cId="1690680625" sldId="387"/>
      <ac:spMk id="8" creationId="{272E9F1D-20A5-5EDA-6D2E-C59D716D80F2}"/>
      <ac:txMk cp="80" len="39">
        <ac:context len="155" hash="346014331"/>
      </ac:txMk>
    </ac:txMkLst>
    <p188:pos x="9474679" y="776377"/>
    <p188:txBody>
      <a:bodyPr/>
      <a:lstStyle/>
      <a:p>
        <a:r>
          <a:rPr lang="en-US"/>
          <a:t>@ID: Check the lab name for the spelling of "Modeling"</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53E7DFC-5F54-412C-A0CF-699F8379DFE2}" type="datetimeFigureOut">
              <a:rPr lang="en-IN" smtClean="0"/>
              <a:t>18-02-2026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89104E2-9D76-4F87-84A7-A6A1F581541A}" type="slidenum">
              <a:rPr lang="en-IN" smtClean="0"/>
              <a:t>‹#›</a:t>
            </a:fld>
            <a:endParaRPr lang="en-IN"/>
          </a:p>
        </p:txBody>
      </p:sp>
    </p:spTree>
    <p:extLst>
      <p:ext uri="{BB962C8B-B14F-4D97-AF65-F5344CB8AC3E}">
        <p14:creationId xmlns:p14="http://schemas.microsoft.com/office/powerpoint/2010/main" val="7428828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650913-F22E-32F2-A12A-E2F82FD8CF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8E48B5-1F68-2998-8156-0E0EFEA965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C32594-40C0-0B38-40A0-A3E28D1B91B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8BF0CFB-FBDF-B865-57CD-14D52238F065}"/>
              </a:ext>
            </a:extLst>
          </p:cNvPr>
          <p:cNvSpPr>
            <a:spLocks noGrp="1"/>
          </p:cNvSpPr>
          <p:nvPr>
            <p:ph type="sldNum" sz="quarter" idx="5"/>
          </p:nvPr>
        </p:nvSpPr>
        <p:spPr/>
        <p:txBody>
          <a:bodyPr/>
          <a:lstStyle/>
          <a:p>
            <a:fld id="{CEDC7F85-B619-534F-A66A-9B8DC36C34F8}" type="slidenum">
              <a:rPr lang="en-US" smtClean="0"/>
              <a:t>7</a:t>
            </a:fld>
            <a:endParaRPr lang="en-US"/>
          </a:p>
        </p:txBody>
      </p:sp>
    </p:spTree>
    <p:extLst>
      <p:ext uri="{BB962C8B-B14F-4D97-AF65-F5344CB8AC3E}">
        <p14:creationId xmlns:p14="http://schemas.microsoft.com/office/powerpoint/2010/main" val="258372655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AutoShape 3">
            <a:extLst>
              <a:ext uri="{FF2B5EF4-FFF2-40B4-BE49-F238E27FC236}">
                <a16:creationId xmlns:a16="http://schemas.microsoft.com/office/drawing/2014/main" id="{CFDFC640-4632-7DFE-F85D-B774A8BEBEBB}"/>
              </a:ext>
            </a:extLst>
          </p:cNvPr>
          <p:cNvSpPr/>
          <p:nvPr userDrawn="1"/>
        </p:nvSpPr>
        <p:spPr>
          <a:xfrm>
            <a:off x="6105824" y="660400"/>
            <a:ext cx="5409981" cy="0"/>
          </a:xfrm>
          <a:prstGeom prst="line">
            <a:avLst/>
          </a:prstGeom>
          <a:ln w="76200" cap="flat">
            <a:solidFill>
              <a:srgbClr val="00539A"/>
            </a:solidFill>
            <a:prstDash val="solid"/>
            <a:headEnd type="none" w="sm" len="sm"/>
            <a:tailEnd type="none" w="sm" len="sm"/>
          </a:ln>
        </p:spPr>
        <p:txBody>
          <a:bodyPr/>
          <a:lstStyle/>
          <a:p>
            <a:endParaRPr lang="en-IN" sz="800"/>
          </a:p>
        </p:txBody>
      </p:sp>
      <p:sp>
        <p:nvSpPr>
          <p:cNvPr id="8" name="AutoShape 4">
            <a:extLst>
              <a:ext uri="{FF2B5EF4-FFF2-40B4-BE49-F238E27FC236}">
                <a16:creationId xmlns:a16="http://schemas.microsoft.com/office/drawing/2014/main" id="{E067CCC8-EFFB-6CB9-7599-48E82C41834F}"/>
              </a:ext>
            </a:extLst>
          </p:cNvPr>
          <p:cNvSpPr/>
          <p:nvPr userDrawn="1"/>
        </p:nvSpPr>
        <p:spPr>
          <a:xfrm>
            <a:off x="695843" y="6197600"/>
            <a:ext cx="5409981" cy="0"/>
          </a:xfrm>
          <a:prstGeom prst="line">
            <a:avLst/>
          </a:prstGeom>
          <a:ln w="76200" cap="flat">
            <a:solidFill>
              <a:srgbClr val="00539A"/>
            </a:solidFill>
            <a:prstDash val="solid"/>
            <a:headEnd type="none" w="sm" len="sm"/>
            <a:tailEnd type="none" w="sm" len="sm"/>
          </a:ln>
        </p:spPr>
        <p:txBody>
          <a:bodyPr/>
          <a:lstStyle/>
          <a:p>
            <a:endParaRPr lang="en-IN" sz="800"/>
          </a:p>
        </p:txBody>
      </p:sp>
      <p:sp>
        <p:nvSpPr>
          <p:cNvPr id="9" name="Freeform 5">
            <a:extLst>
              <a:ext uri="{FF2B5EF4-FFF2-40B4-BE49-F238E27FC236}">
                <a16:creationId xmlns:a16="http://schemas.microsoft.com/office/drawing/2014/main" id="{1425AE85-A86D-CAAA-58ED-BFADA2230253}"/>
              </a:ext>
            </a:extLst>
          </p:cNvPr>
          <p:cNvSpPr/>
          <p:nvPr userDrawn="1"/>
        </p:nvSpPr>
        <p:spPr>
          <a:xfrm>
            <a:off x="6412471" y="6024995"/>
            <a:ext cx="1979236" cy="294411"/>
          </a:xfrm>
          <a:custGeom>
            <a:avLst/>
            <a:gdLst/>
            <a:ahLst/>
            <a:cxnLst/>
            <a:rect l="l" t="t" r="r" b="b"/>
            <a:pathLst>
              <a:path w="2968854" h="441617">
                <a:moveTo>
                  <a:pt x="0" y="0"/>
                </a:moveTo>
                <a:lnTo>
                  <a:pt x="2968854" y="0"/>
                </a:lnTo>
                <a:lnTo>
                  <a:pt x="2968854" y="441616"/>
                </a:lnTo>
                <a:lnTo>
                  <a:pt x="0" y="441616"/>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txBody>
          <a:bodyPr/>
          <a:lstStyle/>
          <a:p>
            <a:endParaRPr lang="en-IN" sz="800"/>
          </a:p>
        </p:txBody>
      </p:sp>
      <p:sp>
        <p:nvSpPr>
          <p:cNvPr id="10" name="Freeform 9">
            <a:extLst>
              <a:ext uri="{FF2B5EF4-FFF2-40B4-BE49-F238E27FC236}">
                <a16:creationId xmlns:a16="http://schemas.microsoft.com/office/drawing/2014/main" id="{40085673-280C-2F0C-B3B4-E97949BB6221}"/>
              </a:ext>
            </a:extLst>
          </p:cNvPr>
          <p:cNvSpPr/>
          <p:nvPr userDrawn="1"/>
        </p:nvSpPr>
        <p:spPr>
          <a:xfrm>
            <a:off x="3764495" y="538595"/>
            <a:ext cx="1979236" cy="294411"/>
          </a:xfrm>
          <a:custGeom>
            <a:avLst/>
            <a:gdLst/>
            <a:ahLst/>
            <a:cxnLst/>
            <a:rect l="l" t="t" r="r" b="b"/>
            <a:pathLst>
              <a:path w="2968854" h="441617">
                <a:moveTo>
                  <a:pt x="0" y="0"/>
                </a:moveTo>
                <a:lnTo>
                  <a:pt x="2968854" y="0"/>
                </a:lnTo>
                <a:lnTo>
                  <a:pt x="2968854" y="441616"/>
                </a:lnTo>
                <a:lnTo>
                  <a:pt x="0" y="441616"/>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txBody>
          <a:bodyPr/>
          <a:lstStyle/>
          <a:p>
            <a:endParaRPr lang="en-IN" sz="800"/>
          </a:p>
        </p:txBody>
      </p:sp>
      <p:sp>
        <p:nvSpPr>
          <p:cNvPr id="11" name="Title Placeholder 1">
            <a:extLst>
              <a:ext uri="{FF2B5EF4-FFF2-40B4-BE49-F238E27FC236}">
                <a16:creationId xmlns:a16="http://schemas.microsoft.com/office/drawing/2014/main" id="{3E1066EB-9DBA-1A4B-F899-1780283326F8}"/>
              </a:ext>
            </a:extLst>
          </p:cNvPr>
          <p:cNvSpPr>
            <a:spLocks noGrp="1"/>
          </p:cNvSpPr>
          <p:nvPr>
            <p:ph type="title"/>
          </p:nvPr>
        </p:nvSpPr>
        <p:spPr>
          <a:xfrm>
            <a:off x="838200" y="2103437"/>
            <a:ext cx="10515600" cy="1325563"/>
          </a:xfrm>
          <a:prstGeom prst="rect">
            <a:avLst/>
          </a:prstGeom>
        </p:spPr>
        <p:txBody>
          <a:bodyPr vert="horz" lIns="91440" tIns="45720" rIns="91440" bIns="45720" rtlCol="0" anchor="ctr">
            <a:normAutofit/>
          </a:bodyPr>
          <a:lstStyle>
            <a:lvl1pPr algn="ctr">
              <a:defRPr sz="4000"/>
            </a:lvl1pPr>
          </a:lstStyle>
          <a:p>
            <a:r>
              <a:rPr lang="en-US" dirty="0"/>
              <a:t>Click to edit Master title style</a:t>
            </a:r>
            <a:endParaRPr lang="en-IN" dirty="0"/>
          </a:p>
        </p:txBody>
      </p:sp>
      <p:sp>
        <p:nvSpPr>
          <p:cNvPr id="12" name="Text Placeholder 2">
            <a:extLst>
              <a:ext uri="{FF2B5EF4-FFF2-40B4-BE49-F238E27FC236}">
                <a16:creationId xmlns:a16="http://schemas.microsoft.com/office/drawing/2014/main" id="{396EF56F-370E-954F-3816-54A9CD8AAB27}"/>
              </a:ext>
            </a:extLst>
          </p:cNvPr>
          <p:cNvSpPr>
            <a:spLocks noGrp="1"/>
          </p:cNvSpPr>
          <p:nvPr>
            <p:ph idx="1" hasCustomPrompt="1"/>
          </p:nvPr>
        </p:nvSpPr>
        <p:spPr>
          <a:xfrm>
            <a:off x="838200" y="3563937"/>
            <a:ext cx="10515600" cy="779409"/>
          </a:xfrm>
          <a:prstGeom prst="rect">
            <a:avLst/>
          </a:prstGeom>
        </p:spPr>
        <p:txBody>
          <a:bodyPr vert="horz" lIns="91440" tIns="45720" rIns="91440" bIns="45720" rtlCol="0">
            <a:normAutofit/>
          </a:bodyPr>
          <a:lstStyle>
            <a:lvl1pPr marL="0" indent="0" algn="ctr">
              <a:buNone/>
              <a:defRPr sz="2400"/>
            </a:lvl1pPr>
            <a:lvl2pPr algn="ctr">
              <a:defRPr/>
            </a:lvl2pPr>
            <a:lvl3pPr algn="ctr">
              <a:defRPr/>
            </a:lvl3pPr>
            <a:lvl4pPr algn="ctr">
              <a:defRPr/>
            </a:lvl4pPr>
            <a:lvl5pPr algn="ctr">
              <a:defRPr/>
            </a:lvl5pPr>
          </a:lstStyle>
          <a:p>
            <a:pPr lvl="0"/>
            <a:r>
              <a:rPr lang="en-US" dirty="0"/>
              <a:t>Click to edit Master text styles</a:t>
            </a:r>
          </a:p>
        </p:txBody>
      </p:sp>
    </p:spTree>
    <p:extLst>
      <p:ext uri="{BB962C8B-B14F-4D97-AF65-F5344CB8AC3E}">
        <p14:creationId xmlns:p14="http://schemas.microsoft.com/office/powerpoint/2010/main" val="237737743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665ED8-9FED-60BB-A889-9C4737E2086A}"/>
              </a:ext>
            </a:extLst>
          </p:cNvPr>
          <p:cNvSpPr>
            <a:spLocks noGrp="1"/>
          </p:cNvSpPr>
          <p:nvPr>
            <p:ph type="title"/>
          </p:nvPr>
        </p:nvSpPr>
        <p:spPr>
          <a:xfrm>
            <a:off x="572756" y="133943"/>
            <a:ext cx="9813446" cy="850726"/>
          </a:xfrm>
        </p:spPr>
        <p:txBody>
          <a:bodyPr>
            <a:normAutofit/>
          </a:bodyPr>
          <a:lstStyle>
            <a:lvl1pPr>
              <a:defRPr sz="3600"/>
            </a:lvl1pPr>
          </a:lstStyle>
          <a:p>
            <a:r>
              <a:rPr lang="en-US" dirty="0"/>
              <a:t>Click to edit Master title style</a:t>
            </a:r>
            <a:endParaRPr lang="en-IN" dirty="0"/>
          </a:p>
        </p:txBody>
      </p:sp>
      <p:sp>
        <p:nvSpPr>
          <p:cNvPr id="7" name="Freeform 13">
            <a:extLst>
              <a:ext uri="{FF2B5EF4-FFF2-40B4-BE49-F238E27FC236}">
                <a16:creationId xmlns:a16="http://schemas.microsoft.com/office/drawing/2014/main" id="{5B70AD12-A226-75A8-1A4F-055B55ABCFF0}"/>
              </a:ext>
            </a:extLst>
          </p:cNvPr>
          <p:cNvSpPr/>
          <p:nvPr userDrawn="1"/>
        </p:nvSpPr>
        <p:spPr>
          <a:xfrm>
            <a:off x="10386202" y="476006"/>
            <a:ext cx="1119998" cy="166600"/>
          </a:xfrm>
          <a:custGeom>
            <a:avLst/>
            <a:gdLst/>
            <a:ahLst/>
            <a:cxnLst/>
            <a:rect l="l" t="t" r="r" b="b"/>
            <a:pathLst>
              <a:path w="1679997" h="249900">
                <a:moveTo>
                  <a:pt x="0" y="0"/>
                </a:moveTo>
                <a:lnTo>
                  <a:pt x="1679997" y="0"/>
                </a:lnTo>
                <a:lnTo>
                  <a:pt x="1679997" y="249900"/>
                </a:lnTo>
                <a:lnTo>
                  <a:pt x="0" y="249900"/>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txBody>
          <a:bodyPr/>
          <a:lstStyle/>
          <a:p>
            <a:endParaRPr lang="en-IN" sz="800"/>
          </a:p>
        </p:txBody>
      </p:sp>
      <p:sp>
        <p:nvSpPr>
          <p:cNvPr id="8" name="Freeform 14">
            <a:extLst>
              <a:ext uri="{FF2B5EF4-FFF2-40B4-BE49-F238E27FC236}">
                <a16:creationId xmlns:a16="http://schemas.microsoft.com/office/drawing/2014/main" id="{1D7036F5-9CC3-491B-5637-086A0A3232A9}"/>
              </a:ext>
            </a:extLst>
          </p:cNvPr>
          <p:cNvSpPr/>
          <p:nvPr userDrawn="1"/>
        </p:nvSpPr>
        <p:spPr>
          <a:xfrm>
            <a:off x="682923" y="6353149"/>
            <a:ext cx="1119998" cy="166600"/>
          </a:xfrm>
          <a:custGeom>
            <a:avLst/>
            <a:gdLst/>
            <a:ahLst/>
            <a:cxnLst/>
            <a:rect l="l" t="t" r="r" b="b"/>
            <a:pathLst>
              <a:path w="1679997" h="249900">
                <a:moveTo>
                  <a:pt x="0" y="0"/>
                </a:moveTo>
                <a:lnTo>
                  <a:pt x="1679997" y="0"/>
                </a:lnTo>
                <a:lnTo>
                  <a:pt x="1679997" y="249900"/>
                </a:lnTo>
                <a:lnTo>
                  <a:pt x="0" y="249900"/>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txBody>
          <a:bodyPr/>
          <a:lstStyle/>
          <a:p>
            <a:endParaRPr lang="en-IN" sz="800"/>
          </a:p>
        </p:txBody>
      </p:sp>
      <p:sp>
        <p:nvSpPr>
          <p:cNvPr id="9" name="Text Placeholder 2">
            <a:extLst>
              <a:ext uri="{FF2B5EF4-FFF2-40B4-BE49-F238E27FC236}">
                <a16:creationId xmlns:a16="http://schemas.microsoft.com/office/drawing/2014/main" id="{5C8860C4-A3B6-52F0-A610-858CA1156FC6}"/>
              </a:ext>
            </a:extLst>
          </p:cNvPr>
          <p:cNvSpPr>
            <a:spLocks noGrp="1"/>
          </p:cNvSpPr>
          <p:nvPr>
            <p:ph idx="1"/>
          </p:nvPr>
        </p:nvSpPr>
        <p:spPr>
          <a:xfrm>
            <a:off x="572755" y="1428565"/>
            <a:ext cx="10781043"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cxnSp>
        <p:nvCxnSpPr>
          <p:cNvPr id="11" name="Straight Connector 10">
            <a:extLst>
              <a:ext uri="{FF2B5EF4-FFF2-40B4-BE49-F238E27FC236}">
                <a16:creationId xmlns:a16="http://schemas.microsoft.com/office/drawing/2014/main" id="{311B37FB-E952-F8F6-03FC-F9C677FDF1C6}"/>
              </a:ext>
            </a:extLst>
          </p:cNvPr>
          <p:cNvCxnSpPr>
            <a:cxnSpLocks/>
          </p:cNvCxnSpPr>
          <p:nvPr userDrawn="1"/>
        </p:nvCxnSpPr>
        <p:spPr>
          <a:xfrm>
            <a:off x="682922" y="862445"/>
            <a:ext cx="2484000"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89953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grpSp>
        <p:nvGrpSpPr>
          <p:cNvPr id="13" name="Group 2">
            <a:extLst>
              <a:ext uri="{FF2B5EF4-FFF2-40B4-BE49-F238E27FC236}">
                <a16:creationId xmlns:a16="http://schemas.microsoft.com/office/drawing/2014/main" id="{6F9B4F8B-B122-67E2-9010-15B2F1056576}"/>
              </a:ext>
            </a:extLst>
          </p:cNvPr>
          <p:cNvGrpSpPr/>
          <p:nvPr userDrawn="1"/>
        </p:nvGrpSpPr>
        <p:grpSpPr>
          <a:xfrm>
            <a:off x="9395929" y="10566"/>
            <a:ext cx="2796071" cy="6847434"/>
            <a:chOff x="0" y="0"/>
            <a:chExt cx="1104621" cy="2705159"/>
          </a:xfrm>
          <a:solidFill>
            <a:srgbClr val="00539A"/>
          </a:solidFill>
        </p:grpSpPr>
        <p:sp>
          <p:nvSpPr>
            <p:cNvPr id="14" name="Freeform 3">
              <a:extLst>
                <a:ext uri="{FF2B5EF4-FFF2-40B4-BE49-F238E27FC236}">
                  <a16:creationId xmlns:a16="http://schemas.microsoft.com/office/drawing/2014/main" id="{99F318B2-740D-DEF6-BF88-6F62EAA55F72}"/>
                </a:ext>
              </a:extLst>
            </p:cNvPr>
            <p:cNvSpPr/>
            <p:nvPr/>
          </p:nvSpPr>
          <p:spPr>
            <a:xfrm>
              <a:off x="0" y="0"/>
              <a:ext cx="1104621" cy="2705159"/>
            </a:xfrm>
            <a:custGeom>
              <a:avLst/>
              <a:gdLst/>
              <a:ahLst/>
              <a:cxnLst/>
              <a:rect l="l" t="t" r="r" b="b"/>
              <a:pathLst>
                <a:path w="1104621" h="2705159">
                  <a:moveTo>
                    <a:pt x="0" y="0"/>
                  </a:moveTo>
                  <a:lnTo>
                    <a:pt x="1104621" y="0"/>
                  </a:lnTo>
                  <a:lnTo>
                    <a:pt x="1104621" y="2705159"/>
                  </a:lnTo>
                  <a:lnTo>
                    <a:pt x="0" y="2705159"/>
                  </a:lnTo>
                  <a:close/>
                </a:path>
              </a:pathLst>
            </a:custGeom>
            <a:grpFill/>
          </p:spPr>
          <p:txBody>
            <a:bodyPr/>
            <a:lstStyle/>
            <a:p>
              <a:endParaRPr lang="en-IN" sz="800"/>
            </a:p>
          </p:txBody>
        </p:sp>
        <p:sp>
          <p:nvSpPr>
            <p:cNvPr id="15" name="TextBox 4">
              <a:extLst>
                <a:ext uri="{FF2B5EF4-FFF2-40B4-BE49-F238E27FC236}">
                  <a16:creationId xmlns:a16="http://schemas.microsoft.com/office/drawing/2014/main" id="{9E9765B9-2017-62B5-06FE-8A31A0C9BE52}"/>
                </a:ext>
              </a:extLst>
            </p:cNvPr>
            <p:cNvSpPr txBox="1"/>
            <p:nvPr/>
          </p:nvSpPr>
          <p:spPr>
            <a:xfrm>
              <a:off x="0" y="-47625"/>
              <a:ext cx="1104621" cy="2752784"/>
            </a:xfrm>
            <a:prstGeom prst="rect">
              <a:avLst/>
            </a:prstGeom>
            <a:grpFill/>
          </p:spPr>
          <p:txBody>
            <a:bodyPr lIns="33867" tIns="33867" rIns="33867" bIns="33867" rtlCol="0" anchor="ctr"/>
            <a:lstStyle/>
            <a:p>
              <a:pPr algn="ctr">
                <a:lnSpc>
                  <a:spcPts val="2462"/>
                </a:lnSpc>
              </a:pPr>
              <a:endParaRPr sz="800"/>
            </a:p>
          </p:txBody>
        </p:sp>
      </p:grpSp>
      <p:sp>
        <p:nvSpPr>
          <p:cNvPr id="22" name="Picture Placeholder 21">
            <a:extLst>
              <a:ext uri="{FF2B5EF4-FFF2-40B4-BE49-F238E27FC236}">
                <a16:creationId xmlns:a16="http://schemas.microsoft.com/office/drawing/2014/main" id="{5AA800E9-0BFF-7F59-EEB4-582A61F241E2}"/>
              </a:ext>
            </a:extLst>
          </p:cNvPr>
          <p:cNvSpPr>
            <a:spLocks noGrp="1"/>
          </p:cNvSpPr>
          <p:nvPr>
            <p:ph type="pic" sz="quarter" idx="10"/>
          </p:nvPr>
        </p:nvSpPr>
        <p:spPr>
          <a:xfrm>
            <a:off x="5195455" y="1570412"/>
            <a:ext cx="6310744" cy="4487488"/>
          </a:xfrm>
          <a:prstGeom prst="roundRect">
            <a:avLst>
              <a:gd name="adj" fmla="val 4858"/>
            </a:avLst>
          </a:prstGeom>
          <a:ln>
            <a:solidFill>
              <a:schemeClr val="tx1">
                <a:lumMod val="20000"/>
                <a:lumOff val="80000"/>
              </a:schemeClr>
            </a:solidFill>
          </a:ln>
        </p:spPr>
        <p:txBody>
          <a:bodyPr/>
          <a:lstStyle/>
          <a:p>
            <a:endParaRPr lang="en-IN"/>
          </a:p>
        </p:txBody>
      </p:sp>
      <p:sp>
        <p:nvSpPr>
          <p:cNvPr id="18" name="Freeform 7">
            <a:extLst>
              <a:ext uri="{FF2B5EF4-FFF2-40B4-BE49-F238E27FC236}">
                <a16:creationId xmlns:a16="http://schemas.microsoft.com/office/drawing/2014/main" id="{766DEB4A-3027-1B45-CF63-AB5B208E1BA6}"/>
              </a:ext>
            </a:extLst>
          </p:cNvPr>
          <p:cNvSpPr/>
          <p:nvPr userDrawn="1"/>
        </p:nvSpPr>
        <p:spPr>
          <a:xfrm>
            <a:off x="685800" y="5983288"/>
            <a:ext cx="1270000" cy="188913"/>
          </a:xfrm>
          <a:custGeom>
            <a:avLst/>
            <a:gdLst/>
            <a:ahLst/>
            <a:cxnLst/>
            <a:rect l="l" t="t" r="r" b="b"/>
            <a:pathLst>
              <a:path w="1905000" h="283369">
                <a:moveTo>
                  <a:pt x="0" y="0"/>
                </a:moveTo>
                <a:lnTo>
                  <a:pt x="1905000" y="0"/>
                </a:lnTo>
                <a:lnTo>
                  <a:pt x="1905000" y="283369"/>
                </a:lnTo>
                <a:lnTo>
                  <a:pt x="0" y="283369"/>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txBody>
          <a:bodyPr/>
          <a:lstStyle/>
          <a:p>
            <a:endParaRPr lang="en-IN" sz="800"/>
          </a:p>
        </p:txBody>
      </p:sp>
      <p:sp>
        <p:nvSpPr>
          <p:cNvPr id="20" name="Title 1">
            <a:extLst>
              <a:ext uri="{FF2B5EF4-FFF2-40B4-BE49-F238E27FC236}">
                <a16:creationId xmlns:a16="http://schemas.microsoft.com/office/drawing/2014/main" id="{FDC6D0E2-6FEE-8FFC-D5AE-1933DFD279B0}"/>
              </a:ext>
            </a:extLst>
          </p:cNvPr>
          <p:cNvSpPr>
            <a:spLocks noGrp="1"/>
          </p:cNvSpPr>
          <p:nvPr userDrawn="1">
            <p:ph type="title"/>
          </p:nvPr>
        </p:nvSpPr>
        <p:spPr>
          <a:xfrm>
            <a:off x="572756" y="365126"/>
            <a:ext cx="8488117" cy="850726"/>
          </a:xfrm>
        </p:spPr>
        <p:txBody>
          <a:bodyPr>
            <a:normAutofit/>
          </a:bodyPr>
          <a:lstStyle>
            <a:lvl1pPr>
              <a:defRPr sz="3600"/>
            </a:lvl1pPr>
          </a:lstStyle>
          <a:p>
            <a:r>
              <a:rPr lang="en-US" dirty="0"/>
              <a:t>Click to edit Master title style</a:t>
            </a:r>
            <a:endParaRPr lang="en-IN" dirty="0"/>
          </a:p>
        </p:txBody>
      </p:sp>
    </p:spTree>
    <p:extLst>
      <p:ext uri="{BB962C8B-B14F-4D97-AF65-F5344CB8AC3E}">
        <p14:creationId xmlns:p14="http://schemas.microsoft.com/office/powerpoint/2010/main" val="32953318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grpSp>
        <p:nvGrpSpPr>
          <p:cNvPr id="13" name="Group 2">
            <a:extLst>
              <a:ext uri="{FF2B5EF4-FFF2-40B4-BE49-F238E27FC236}">
                <a16:creationId xmlns:a16="http://schemas.microsoft.com/office/drawing/2014/main" id="{6F9B4F8B-B122-67E2-9010-15B2F1056576}"/>
              </a:ext>
            </a:extLst>
          </p:cNvPr>
          <p:cNvGrpSpPr/>
          <p:nvPr userDrawn="1"/>
        </p:nvGrpSpPr>
        <p:grpSpPr>
          <a:xfrm>
            <a:off x="9395929" y="10566"/>
            <a:ext cx="2796071" cy="6847434"/>
            <a:chOff x="0" y="0"/>
            <a:chExt cx="1104621" cy="2705159"/>
          </a:xfrm>
          <a:solidFill>
            <a:srgbClr val="00539A"/>
          </a:solidFill>
        </p:grpSpPr>
        <p:sp>
          <p:nvSpPr>
            <p:cNvPr id="14" name="Freeform 3">
              <a:extLst>
                <a:ext uri="{FF2B5EF4-FFF2-40B4-BE49-F238E27FC236}">
                  <a16:creationId xmlns:a16="http://schemas.microsoft.com/office/drawing/2014/main" id="{99F318B2-740D-DEF6-BF88-6F62EAA55F72}"/>
                </a:ext>
              </a:extLst>
            </p:cNvPr>
            <p:cNvSpPr/>
            <p:nvPr/>
          </p:nvSpPr>
          <p:spPr>
            <a:xfrm>
              <a:off x="0" y="0"/>
              <a:ext cx="1104621" cy="2705159"/>
            </a:xfrm>
            <a:custGeom>
              <a:avLst/>
              <a:gdLst/>
              <a:ahLst/>
              <a:cxnLst/>
              <a:rect l="l" t="t" r="r" b="b"/>
              <a:pathLst>
                <a:path w="1104621" h="2705159">
                  <a:moveTo>
                    <a:pt x="0" y="0"/>
                  </a:moveTo>
                  <a:lnTo>
                    <a:pt x="1104621" y="0"/>
                  </a:lnTo>
                  <a:lnTo>
                    <a:pt x="1104621" y="2705159"/>
                  </a:lnTo>
                  <a:lnTo>
                    <a:pt x="0" y="2705159"/>
                  </a:lnTo>
                  <a:close/>
                </a:path>
              </a:pathLst>
            </a:custGeom>
            <a:grpFill/>
          </p:spPr>
          <p:txBody>
            <a:bodyPr/>
            <a:lstStyle/>
            <a:p>
              <a:endParaRPr lang="en-IN" sz="800"/>
            </a:p>
          </p:txBody>
        </p:sp>
        <p:sp>
          <p:nvSpPr>
            <p:cNvPr id="15" name="TextBox 4">
              <a:extLst>
                <a:ext uri="{FF2B5EF4-FFF2-40B4-BE49-F238E27FC236}">
                  <a16:creationId xmlns:a16="http://schemas.microsoft.com/office/drawing/2014/main" id="{9E9765B9-2017-62B5-06FE-8A31A0C9BE52}"/>
                </a:ext>
              </a:extLst>
            </p:cNvPr>
            <p:cNvSpPr txBox="1"/>
            <p:nvPr/>
          </p:nvSpPr>
          <p:spPr>
            <a:xfrm>
              <a:off x="0" y="-47625"/>
              <a:ext cx="1104621" cy="2752784"/>
            </a:xfrm>
            <a:prstGeom prst="rect">
              <a:avLst/>
            </a:prstGeom>
            <a:grpFill/>
          </p:spPr>
          <p:txBody>
            <a:bodyPr lIns="33867" tIns="33867" rIns="33867" bIns="33867" rtlCol="0" anchor="ctr"/>
            <a:lstStyle/>
            <a:p>
              <a:pPr algn="ctr">
                <a:lnSpc>
                  <a:spcPts val="2462"/>
                </a:lnSpc>
              </a:pPr>
              <a:endParaRPr sz="800"/>
            </a:p>
          </p:txBody>
        </p:sp>
      </p:grpSp>
      <p:sp>
        <p:nvSpPr>
          <p:cNvPr id="22" name="Picture Placeholder 21">
            <a:extLst>
              <a:ext uri="{FF2B5EF4-FFF2-40B4-BE49-F238E27FC236}">
                <a16:creationId xmlns:a16="http://schemas.microsoft.com/office/drawing/2014/main" id="{5AA800E9-0BFF-7F59-EEB4-582A61F241E2}"/>
              </a:ext>
            </a:extLst>
          </p:cNvPr>
          <p:cNvSpPr>
            <a:spLocks noGrp="1"/>
          </p:cNvSpPr>
          <p:nvPr>
            <p:ph type="pic" sz="quarter" idx="10"/>
          </p:nvPr>
        </p:nvSpPr>
        <p:spPr>
          <a:xfrm>
            <a:off x="2514600" y="1570412"/>
            <a:ext cx="8991599" cy="4487488"/>
          </a:xfrm>
          <a:prstGeom prst="roundRect">
            <a:avLst>
              <a:gd name="adj" fmla="val 4858"/>
            </a:avLst>
          </a:prstGeom>
          <a:ln>
            <a:solidFill>
              <a:schemeClr val="tx1">
                <a:lumMod val="20000"/>
                <a:lumOff val="80000"/>
              </a:schemeClr>
            </a:solidFill>
          </a:ln>
        </p:spPr>
        <p:txBody>
          <a:bodyPr/>
          <a:lstStyle/>
          <a:p>
            <a:endParaRPr lang="en-IN"/>
          </a:p>
        </p:txBody>
      </p:sp>
      <p:sp>
        <p:nvSpPr>
          <p:cNvPr id="18" name="Freeform 7">
            <a:extLst>
              <a:ext uri="{FF2B5EF4-FFF2-40B4-BE49-F238E27FC236}">
                <a16:creationId xmlns:a16="http://schemas.microsoft.com/office/drawing/2014/main" id="{766DEB4A-3027-1B45-CF63-AB5B208E1BA6}"/>
              </a:ext>
            </a:extLst>
          </p:cNvPr>
          <p:cNvSpPr/>
          <p:nvPr userDrawn="1"/>
        </p:nvSpPr>
        <p:spPr>
          <a:xfrm>
            <a:off x="685800" y="5983288"/>
            <a:ext cx="1270000" cy="188913"/>
          </a:xfrm>
          <a:custGeom>
            <a:avLst/>
            <a:gdLst/>
            <a:ahLst/>
            <a:cxnLst/>
            <a:rect l="l" t="t" r="r" b="b"/>
            <a:pathLst>
              <a:path w="1905000" h="283369">
                <a:moveTo>
                  <a:pt x="0" y="0"/>
                </a:moveTo>
                <a:lnTo>
                  <a:pt x="1905000" y="0"/>
                </a:lnTo>
                <a:lnTo>
                  <a:pt x="1905000" y="283369"/>
                </a:lnTo>
                <a:lnTo>
                  <a:pt x="0" y="283369"/>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txBody>
          <a:bodyPr/>
          <a:lstStyle/>
          <a:p>
            <a:endParaRPr lang="en-IN" sz="800"/>
          </a:p>
        </p:txBody>
      </p:sp>
      <p:sp>
        <p:nvSpPr>
          <p:cNvPr id="20" name="Title 1">
            <a:extLst>
              <a:ext uri="{FF2B5EF4-FFF2-40B4-BE49-F238E27FC236}">
                <a16:creationId xmlns:a16="http://schemas.microsoft.com/office/drawing/2014/main" id="{FDC6D0E2-6FEE-8FFC-D5AE-1933DFD279B0}"/>
              </a:ext>
            </a:extLst>
          </p:cNvPr>
          <p:cNvSpPr>
            <a:spLocks noGrp="1"/>
          </p:cNvSpPr>
          <p:nvPr userDrawn="1">
            <p:ph type="title"/>
          </p:nvPr>
        </p:nvSpPr>
        <p:spPr>
          <a:xfrm>
            <a:off x="572756" y="365126"/>
            <a:ext cx="8488117" cy="850726"/>
          </a:xfrm>
        </p:spPr>
        <p:txBody>
          <a:bodyPr>
            <a:normAutofit/>
          </a:bodyPr>
          <a:lstStyle>
            <a:lvl1pPr>
              <a:defRPr sz="3600"/>
            </a:lvl1pPr>
          </a:lstStyle>
          <a:p>
            <a:r>
              <a:rPr lang="en-US" dirty="0"/>
              <a:t>Click to edit Master title style</a:t>
            </a:r>
            <a:endParaRPr lang="en-IN" dirty="0"/>
          </a:p>
        </p:txBody>
      </p:sp>
    </p:spTree>
    <p:extLst>
      <p:ext uri="{BB962C8B-B14F-4D97-AF65-F5344CB8AC3E}">
        <p14:creationId xmlns:p14="http://schemas.microsoft.com/office/powerpoint/2010/main" val="12023652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grpSp>
        <p:nvGrpSpPr>
          <p:cNvPr id="6" name="Group 2">
            <a:extLst>
              <a:ext uri="{FF2B5EF4-FFF2-40B4-BE49-F238E27FC236}">
                <a16:creationId xmlns:a16="http://schemas.microsoft.com/office/drawing/2014/main" id="{C3B4D1CD-B099-450F-A845-169B78D25A91}"/>
              </a:ext>
            </a:extLst>
          </p:cNvPr>
          <p:cNvGrpSpPr/>
          <p:nvPr userDrawn="1"/>
        </p:nvGrpSpPr>
        <p:grpSpPr>
          <a:xfrm>
            <a:off x="0" y="0"/>
            <a:ext cx="12192000" cy="2732991"/>
            <a:chOff x="0" y="0"/>
            <a:chExt cx="4816593" cy="1079700"/>
          </a:xfrm>
          <a:solidFill>
            <a:srgbClr val="00539A"/>
          </a:solidFill>
        </p:grpSpPr>
        <p:sp>
          <p:nvSpPr>
            <p:cNvPr id="7" name="Freeform 3">
              <a:extLst>
                <a:ext uri="{FF2B5EF4-FFF2-40B4-BE49-F238E27FC236}">
                  <a16:creationId xmlns:a16="http://schemas.microsoft.com/office/drawing/2014/main" id="{BC9F01E6-ACC2-F1D7-C770-3A6EA5F06E8A}"/>
                </a:ext>
              </a:extLst>
            </p:cNvPr>
            <p:cNvSpPr/>
            <p:nvPr/>
          </p:nvSpPr>
          <p:spPr>
            <a:xfrm>
              <a:off x="0" y="0"/>
              <a:ext cx="4816592" cy="1079700"/>
            </a:xfrm>
            <a:custGeom>
              <a:avLst/>
              <a:gdLst/>
              <a:ahLst/>
              <a:cxnLst/>
              <a:rect l="l" t="t" r="r" b="b"/>
              <a:pathLst>
                <a:path w="4816592" h="1079700">
                  <a:moveTo>
                    <a:pt x="0" y="0"/>
                  </a:moveTo>
                  <a:lnTo>
                    <a:pt x="4816592" y="0"/>
                  </a:lnTo>
                  <a:lnTo>
                    <a:pt x="4816592" y="1079700"/>
                  </a:lnTo>
                  <a:lnTo>
                    <a:pt x="0" y="1079700"/>
                  </a:lnTo>
                  <a:close/>
                </a:path>
              </a:pathLst>
            </a:custGeom>
            <a:grpFill/>
          </p:spPr>
          <p:txBody>
            <a:bodyPr/>
            <a:lstStyle/>
            <a:p>
              <a:endParaRPr lang="en-IN" sz="800"/>
            </a:p>
          </p:txBody>
        </p:sp>
        <p:sp>
          <p:nvSpPr>
            <p:cNvPr id="8" name="TextBox 4">
              <a:extLst>
                <a:ext uri="{FF2B5EF4-FFF2-40B4-BE49-F238E27FC236}">
                  <a16:creationId xmlns:a16="http://schemas.microsoft.com/office/drawing/2014/main" id="{10EDCE3C-3DC1-BCCC-A48F-09BDA3978D2E}"/>
                </a:ext>
              </a:extLst>
            </p:cNvPr>
            <p:cNvSpPr txBox="1"/>
            <p:nvPr/>
          </p:nvSpPr>
          <p:spPr>
            <a:xfrm>
              <a:off x="0" y="-47625"/>
              <a:ext cx="4816593" cy="1127325"/>
            </a:xfrm>
            <a:prstGeom prst="rect">
              <a:avLst/>
            </a:prstGeom>
            <a:grpFill/>
          </p:spPr>
          <p:txBody>
            <a:bodyPr lIns="33867" tIns="33867" rIns="33867" bIns="33867" rtlCol="0" anchor="ctr"/>
            <a:lstStyle/>
            <a:p>
              <a:pPr algn="ctr">
                <a:lnSpc>
                  <a:spcPts val="2462"/>
                </a:lnSpc>
              </a:pPr>
              <a:endParaRPr sz="800"/>
            </a:p>
          </p:txBody>
        </p:sp>
      </p:grpSp>
      <p:sp>
        <p:nvSpPr>
          <p:cNvPr id="9" name="AutoShape 18">
            <a:extLst>
              <a:ext uri="{FF2B5EF4-FFF2-40B4-BE49-F238E27FC236}">
                <a16:creationId xmlns:a16="http://schemas.microsoft.com/office/drawing/2014/main" id="{001C3FCB-D1A3-1F64-E374-0C94991DE578}"/>
              </a:ext>
            </a:extLst>
          </p:cNvPr>
          <p:cNvSpPr/>
          <p:nvPr userDrawn="1"/>
        </p:nvSpPr>
        <p:spPr>
          <a:xfrm>
            <a:off x="3931920" y="5787470"/>
            <a:ext cx="4328160" cy="0"/>
          </a:xfrm>
          <a:prstGeom prst="line">
            <a:avLst/>
          </a:prstGeom>
          <a:ln w="76200" cap="flat">
            <a:solidFill>
              <a:srgbClr val="00539A"/>
            </a:solidFill>
            <a:prstDash val="solid"/>
            <a:headEnd type="none" w="sm" len="sm"/>
            <a:tailEnd type="none" w="sm" len="sm"/>
          </a:ln>
        </p:spPr>
        <p:txBody>
          <a:bodyPr/>
          <a:lstStyle/>
          <a:p>
            <a:endParaRPr lang="en-IN" sz="800"/>
          </a:p>
        </p:txBody>
      </p:sp>
      <p:sp>
        <p:nvSpPr>
          <p:cNvPr id="10" name="Freeform 19">
            <a:extLst>
              <a:ext uri="{FF2B5EF4-FFF2-40B4-BE49-F238E27FC236}">
                <a16:creationId xmlns:a16="http://schemas.microsoft.com/office/drawing/2014/main" id="{F40E8225-AA76-2321-759B-DC3FA939E280}"/>
              </a:ext>
            </a:extLst>
          </p:cNvPr>
          <p:cNvSpPr/>
          <p:nvPr userDrawn="1"/>
        </p:nvSpPr>
        <p:spPr>
          <a:xfrm>
            <a:off x="5536001" y="6353149"/>
            <a:ext cx="1119998" cy="166600"/>
          </a:xfrm>
          <a:custGeom>
            <a:avLst/>
            <a:gdLst/>
            <a:ahLst/>
            <a:cxnLst/>
            <a:rect l="l" t="t" r="r" b="b"/>
            <a:pathLst>
              <a:path w="1679997" h="249900">
                <a:moveTo>
                  <a:pt x="0" y="0"/>
                </a:moveTo>
                <a:lnTo>
                  <a:pt x="1679998" y="0"/>
                </a:lnTo>
                <a:lnTo>
                  <a:pt x="1679998" y="249900"/>
                </a:lnTo>
                <a:lnTo>
                  <a:pt x="0" y="249900"/>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txBody>
          <a:bodyPr/>
          <a:lstStyle/>
          <a:p>
            <a:endParaRPr lang="en-IN" sz="800"/>
          </a:p>
        </p:txBody>
      </p:sp>
      <p:sp>
        <p:nvSpPr>
          <p:cNvPr id="11" name="Title 1">
            <a:extLst>
              <a:ext uri="{FF2B5EF4-FFF2-40B4-BE49-F238E27FC236}">
                <a16:creationId xmlns:a16="http://schemas.microsoft.com/office/drawing/2014/main" id="{A7E5C6DB-98D8-7590-9FF2-EB3E7FD32ED0}"/>
              </a:ext>
            </a:extLst>
          </p:cNvPr>
          <p:cNvSpPr>
            <a:spLocks noGrp="1"/>
          </p:cNvSpPr>
          <p:nvPr>
            <p:ph type="title"/>
          </p:nvPr>
        </p:nvSpPr>
        <p:spPr>
          <a:xfrm>
            <a:off x="572756" y="365126"/>
            <a:ext cx="10781044" cy="850726"/>
          </a:xfrm>
        </p:spPr>
        <p:txBody>
          <a:bodyPr>
            <a:normAutofit/>
          </a:bodyPr>
          <a:lstStyle>
            <a:lvl1pPr algn="ctr">
              <a:defRPr sz="3600">
                <a:solidFill>
                  <a:schemeClr val="bg1"/>
                </a:solidFill>
              </a:defRPr>
            </a:lvl1pPr>
          </a:lstStyle>
          <a:p>
            <a:r>
              <a:rPr lang="en-US"/>
              <a:t>Click to edit Master title style</a:t>
            </a:r>
            <a:endParaRPr lang="en-IN"/>
          </a:p>
        </p:txBody>
      </p:sp>
    </p:spTree>
    <p:extLst>
      <p:ext uri="{BB962C8B-B14F-4D97-AF65-F5344CB8AC3E}">
        <p14:creationId xmlns:p14="http://schemas.microsoft.com/office/powerpoint/2010/main" val="26740420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FBB2AA-06AD-F2FC-5383-B4B7B95FA0DF}"/>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DEFFB339-D764-126A-043A-AA902A2D94B5}"/>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2CEC418-3953-DA2D-A0FB-CABD98BBE893}"/>
              </a:ext>
            </a:extLst>
          </p:cNvPr>
          <p:cNvSpPr>
            <a:spLocks noGrp="1"/>
          </p:cNvSpPr>
          <p:nvPr>
            <p:ph type="dt" sz="half" idx="10"/>
          </p:nvPr>
        </p:nvSpPr>
        <p:spPr>
          <a:xfrm>
            <a:off x="838200" y="6356350"/>
            <a:ext cx="2743200" cy="365125"/>
          </a:xfrm>
          <a:prstGeom prst="rect">
            <a:avLst/>
          </a:prstGeom>
        </p:spPr>
        <p:txBody>
          <a:bodyPr/>
          <a:lstStyle/>
          <a:p>
            <a:fld id="{CB937118-AA9C-D947-A395-0A8492468232}" type="datetimeFigureOut">
              <a:rPr lang="en-US" smtClean="0"/>
              <a:t>2/18/2026</a:t>
            </a:fld>
            <a:endParaRPr lang="en-US"/>
          </a:p>
        </p:txBody>
      </p:sp>
      <p:sp>
        <p:nvSpPr>
          <p:cNvPr id="5" name="Footer Placeholder 4">
            <a:extLst>
              <a:ext uri="{FF2B5EF4-FFF2-40B4-BE49-F238E27FC236}">
                <a16:creationId xmlns:a16="http://schemas.microsoft.com/office/drawing/2014/main" id="{C38B8AE1-51E6-F6DC-0366-71136A416FD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0E9BB31A-1A8F-2867-8E45-A1156E678421}"/>
              </a:ext>
            </a:extLst>
          </p:cNvPr>
          <p:cNvSpPr>
            <a:spLocks noGrp="1"/>
          </p:cNvSpPr>
          <p:nvPr>
            <p:ph type="sldNum" sz="quarter" idx="12"/>
          </p:nvPr>
        </p:nvSpPr>
        <p:spPr/>
        <p:txBody>
          <a:bodyPr/>
          <a:lstStyle/>
          <a:p>
            <a:fld id="{4A0E460F-6C90-364E-AA71-6C064F716047}" type="slidenum">
              <a:rPr lang="en-US" smtClean="0"/>
              <a:t>‹#›</a:t>
            </a:fld>
            <a:endParaRPr lang="en-US"/>
          </a:p>
        </p:txBody>
      </p:sp>
      <p:cxnSp>
        <p:nvCxnSpPr>
          <p:cNvPr id="7" name="Straight Connector 6">
            <a:extLst>
              <a:ext uri="{FF2B5EF4-FFF2-40B4-BE49-F238E27FC236}">
                <a16:creationId xmlns:a16="http://schemas.microsoft.com/office/drawing/2014/main" id="{CF6DD119-3AB1-5E89-283B-CFC7450F3221}"/>
              </a:ext>
            </a:extLst>
          </p:cNvPr>
          <p:cNvCxnSpPr>
            <a:cxnSpLocks/>
          </p:cNvCxnSpPr>
          <p:nvPr userDrawn="1"/>
        </p:nvCxnSpPr>
        <p:spPr>
          <a:xfrm>
            <a:off x="838200" y="1051034"/>
            <a:ext cx="10515599" cy="0"/>
          </a:xfrm>
          <a:prstGeom prst="line">
            <a:avLst/>
          </a:prstGeom>
          <a:ln w="38100">
            <a:solidFill>
              <a:schemeClr val="tx2">
                <a:lumMod val="75000"/>
                <a:lumOff val="25000"/>
              </a:schemeClr>
            </a:solidFill>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41860924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FC22291-C337-39C7-FD40-EBE02BC965C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IN" dirty="0"/>
          </a:p>
        </p:txBody>
      </p:sp>
      <p:sp>
        <p:nvSpPr>
          <p:cNvPr id="3" name="Text Placeholder 2">
            <a:extLst>
              <a:ext uri="{FF2B5EF4-FFF2-40B4-BE49-F238E27FC236}">
                <a16:creationId xmlns:a16="http://schemas.microsoft.com/office/drawing/2014/main" id="{8CE1A707-7AA0-0DFF-8F6F-671208DFD08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79BEA0E-A411-0881-4E46-B05D96BD117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A5D1529-08C7-4C99-9E99-20E4A08C4BFB}" type="datetimeFigureOut">
              <a:rPr lang="en-IN" smtClean="0"/>
              <a:t>18-02-2026</a:t>
            </a:fld>
            <a:endParaRPr lang="en-IN"/>
          </a:p>
        </p:txBody>
      </p:sp>
      <p:sp>
        <p:nvSpPr>
          <p:cNvPr id="5" name="Footer Placeholder 4">
            <a:extLst>
              <a:ext uri="{FF2B5EF4-FFF2-40B4-BE49-F238E27FC236}">
                <a16:creationId xmlns:a16="http://schemas.microsoft.com/office/drawing/2014/main" id="{DB21033E-FC3A-580B-9671-FFCF7244FBF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CFB5395A-0FDE-A8A9-655F-D3C27595866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D75567B-EEA3-4D70-9A5C-C93BDFA2DBFF}" type="slidenum">
              <a:rPr lang="en-IN" smtClean="0"/>
              <a:t>‹#›</a:t>
            </a:fld>
            <a:endParaRPr lang="en-IN"/>
          </a:p>
        </p:txBody>
      </p:sp>
    </p:spTree>
    <p:extLst>
      <p:ext uri="{BB962C8B-B14F-4D97-AF65-F5344CB8AC3E}">
        <p14:creationId xmlns:p14="http://schemas.microsoft.com/office/powerpoint/2010/main" val="3256260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5" r:id="rId4"/>
    <p:sldLayoutId id="2147483652" r:id="rId5"/>
    <p:sldLayoutId id="2147483656" r:id="rId6"/>
  </p:sldLayoutIdLst>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microsoft.com/office/2018/10/relationships/comments" Target="../comments/modernComment_183_64C5BD3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486F9-4C47-EBC2-FC9E-C576B0E65EC7}"/>
              </a:ext>
            </a:extLst>
          </p:cNvPr>
          <p:cNvSpPr>
            <a:spLocks noGrp="1"/>
          </p:cNvSpPr>
          <p:nvPr>
            <p:ph type="title"/>
          </p:nvPr>
        </p:nvSpPr>
        <p:spPr>
          <a:xfrm>
            <a:off x="838200" y="794182"/>
            <a:ext cx="10515600" cy="1325563"/>
          </a:xfrm>
        </p:spPr>
        <p:txBody>
          <a:bodyPr/>
          <a:lstStyle/>
          <a:p>
            <a:r>
              <a:rPr lang="en-US" dirty="0"/>
              <a:t>How to Use This Template</a:t>
            </a:r>
            <a:endParaRPr lang="en-IN" dirty="0"/>
          </a:p>
        </p:txBody>
      </p:sp>
      <p:sp>
        <p:nvSpPr>
          <p:cNvPr id="3" name="Content Placeholder 2">
            <a:extLst>
              <a:ext uri="{FF2B5EF4-FFF2-40B4-BE49-F238E27FC236}">
                <a16:creationId xmlns:a16="http://schemas.microsoft.com/office/drawing/2014/main" id="{D6C25AC1-C670-CA4D-02CE-E1BA22231CBB}"/>
              </a:ext>
            </a:extLst>
          </p:cNvPr>
          <p:cNvSpPr>
            <a:spLocks noGrp="1"/>
          </p:cNvSpPr>
          <p:nvPr>
            <p:ph idx="1"/>
          </p:nvPr>
        </p:nvSpPr>
        <p:spPr>
          <a:xfrm>
            <a:off x="838200" y="1953491"/>
            <a:ext cx="10515600" cy="2784765"/>
          </a:xfrm>
        </p:spPr>
        <p:txBody>
          <a:bodyPr vert="horz" lIns="91440" tIns="45720" rIns="91440" bIns="45720" rtlCol="0" anchor="t">
            <a:normAutofit fontScale="85000" lnSpcReduction="20000"/>
          </a:bodyPr>
          <a:lstStyle/>
          <a:p>
            <a:pPr marL="229870" indent="-229870" algn="l">
              <a:buFont typeface="Arial" panose="020B0604020202020204" pitchFamily="34" charset="0"/>
              <a:buChar char="•"/>
            </a:pPr>
            <a:r>
              <a:rPr lang="en-US" sz="2000" dirty="0"/>
              <a:t>Follow the instructions in </a:t>
            </a:r>
            <a:r>
              <a:rPr lang="en-US" sz="2000" b="1" dirty="0"/>
              <a:t>Lab: Modernizing Digital Banking Operations at a Retail Bank </a:t>
            </a:r>
            <a:r>
              <a:rPr lang="en-US" sz="2000" dirty="0"/>
              <a:t>to create this presentation.</a:t>
            </a:r>
            <a:endParaRPr lang="en-US" dirty="0"/>
          </a:p>
          <a:p>
            <a:pPr marL="229870" indent="-229870" algn="l">
              <a:buFont typeface="Arial" panose="020B0604020202020204" pitchFamily="34" charset="0"/>
              <a:buChar char="•"/>
            </a:pPr>
            <a:r>
              <a:rPr lang="en-US" sz="2000" dirty="0"/>
              <a:t>Ensure all content is visible on the slides, since you’ll be saving this presentation in the PDF format. Don’t include any content in the note section.</a:t>
            </a:r>
            <a:endParaRPr lang="en-US" sz="2000" dirty="0">
              <a:ea typeface="+mn-lt"/>
              <a:cs typeface="+mn-lt"/>
            </a:endParaRPr>
          </a:p>
          <a:p>
            <a:pPr marL="229870" indent="-229870" algn="l">
              <a:buFont typeface="Arial" panose="020B0604020202020204" pitchFamily="34" charset="0"/>
              <a:buChar char="•"/>
            </a:pPr>
            <a:r>
              <a:rPr lang="en-US" sz="2000" b="1" dirty="0">
                <a:ea typeface="+mn-lt"/>
                <a:cs typeface="+mn-lt"/>
              </a:rPr>
              <a:t>Do not insert screenshots</a:t>
            </a:r>
            <a:r>
              <a:rPr lang="en-US" sz="2000" dirty="0">
                <a:ea typeface="+mn-lt"/>
                <a:cs typeface="+mn-lt"/>
              </a:rPr>
              <a:t> of the completed templates. Instead, copy and paste the tables directly from the Word/Excel templates into the slides.</a:t>
            </a:r>
          </a:p>
          <a:p>
            <a:pPr marL="229870" indent="-229870" algn="l">
              <a:buFont typeface="Arial" panose="020B0604020202020204" pitchFamily="34" charset="0"/>
              <a:buChar char="•"/>
            </a:pPr>
            <a:r>
              <a:rPr lang="en-US" sz="2000" dirty="0">
                <a:ea typeface="+mn-lt"/>
                <a:cs typeface="+mn-lt"/>
              </a:rPr>
              <a:t>Avoid animations, as they may not display consistently</a:t>
            </a:r>
            <a:r>
              <a:rPr lang="en-US" sz="2000" dirty="0"/>
              <a:t>.</a:t>
            </a:r>
            <a:endParaRPr lang="en-US" sz="2000" dirty="0">
              <a:cs typeface="Arial"/>
            </a:endParaRPr>
          </a:p>
          <a:p>
            <a:pPr marL="230400" indent="-230400" algn="l">
              <a:buFont typeface="Arial" panose="020B0604020202020204" pitchFamily="34" charset="0"/>
              <a:buChar char="•"/>
            </a:pPr>
            <a:r>
              <a:rPr lang="en-US" sz="2000" dirty="0">
                <a:solidFill>
                  <a:schemeClr val="bg2">
                    <a:lumMod val="10000"/>
                  </a:schemeClr>
                </a:solidFill>
              </a:rPr>
              <a:t>Add as many slides as needed to effectively present your content. </a:t>
            </a:r>
          </a:p>
          <a:p>
            <a:pPr marL="230400" indent="-230400" algn="l">
              <a:buFont typeface="Arial" panose="020B0604020202020204" pitchFamily="34" charset="0"/>
              <a:buChar char="•"/>
            </a:pPr>
            <a:r>
              <a:rPr lang="en-US" sz="2000" dirty="0">
                <a:solidFill>
                  <a:schemeClr val="bg2">
                    <a:lumMod val="10000"/>
                  </a:schemeClr>
                </a:solidFill>
              </a:rPr>
              <a:t>Expand the template tables with additional rows as necessary.</a:t>
            </a:r>
          </a:p>
          <a:p>
            <a:pPr marL="230400" indent="-230400" algn="l">
              <a:buFont typeface="Arial" panose="020B0604020202020204" pitchFamily="34" charset="0"/>
              <a:buChar char="•"/>
            </a:pPr>
            <a:r>
              <a:rPr lang="en-US" sz="2000" dirty="0">
                <a:solidFill>
                  <a:schemeClr val="bg2">
                    <a:lumMod val="10000"/>
                  </a:schemeClr>
                </a:solidFill>
              </a:rPr>
              <a:t>Feel free to include images or other elements to enhance your presentation.</a:t>
            </a:r>
          </a:p>
        </p:txBody>
      </p:sp>
      <p:sp>
        <p:nvSpPr>
          <p:cNvPr id="4" name="TextBox 3">
            <a:extLst>
              <a:ext uri="{FF2B5EF4-FFF2-40B4-BE49-F238E27FC236}">
                <a16:creationId xmlns:a16="http://schemas.microsoft.com/office/drawing/2014/main" id="{2F345217-8133-BEB6-5F12-85BB09D10B73}"/>
              </a:ext>
            </a:extLst>
          </p:cNvPr>
          <p:cNvSpPr txBox="1"/>
          <p:nvPr/>
        </p:nvSpPr>
        <p:spPr>
          <a:xfrm>
            <a:off x="966355" y="4909381"/>
            <a:ext cx="10387445" cy="984885"/>
          </a:xfrm>
          <a:prstGeom prst="rect">
            <a:avLst/>
          </a:prstGeom>
          <a:solidFill>
            <a:schemeClr val="bg1">
              <a:lumMod val="95000"/>
            </a:schemeClr>
          </a:solidFill>
          <a:ln>
            <a:noFill/>
            <a:prstDash val="sysDash"/>
          </a:ln>
        </p:spPr>
        <p:txBody>
          <a:bodyPr wrap="square" lIns="91440" tIns="45720" rIns="91440" bIns="45720" rtlCol="0" anchor="t">
            <a:spAutoFit/>
          </a:bodyPr>
          <a:lstStyle/>
          <a:p>
            <a:r>
              <a:rPr lang="en-US" sz="2000" b="1" i="1" dirty="0">
                <a:solidFill>
                  <a:srgbClr val="DA1E28"/>
                </a:solidFill>
              </a:rPr>
              <a:t>Note: Before submission, remove the instruction and table of contents slides and any placeholder instructions highlighted in yellow on individual slides.</a:t>
            </a:r>
            <a:r>
              <a:rPr lang="en-US" dirty="0"/>
              <a:t/>
            </a:r>
            <a:br>
              <a:rPr lang="en-US" dirty="0"/>
            </a:br>
            <a:endParaRPr lang="en-US" dirty="0">
              <a:cs typeface="Arial"/>
            </a:endParaRPr>
          </a:p>
        </p:txBody>
      </p:sp>
    </p:spTree>
    <p:extLst>
      <p:ext uri="{BB962C8B-B14F-4D97-AF65-F5344CB8AC3E}">
        <p14:creationId xmlns:p14="http://schemas.microsoft.com/office/powerpoint/2010/main" val="153286088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B04E27C-C591-24A3-967D-D6775A2BBC02}"/>
              </a:ext>
            </a:extLst>
          </p:cNvPr>
          <p:cNvSpPr>
            <a:spLocks noGrp="1"/>
          </p:cNvSpPr>
          <p:nvPr>
            <p:ph type="title"/>
          </p:nvPr>
        </p:nvSpPr>
        <p:spPr>
          <a:xfrm>
            <a:off x="573088" y="185244"/>
            <a:ext cx="8488117" cy="850726"/>
          </a:xfrm>
        </p:spPr>
        <p:txBody>
          <a:bodyPr>
            <a:noAutofit/>
          </a:bodyPr>
          <a:lstStyle/>
          <a:p>
            <a:pPr algn="ctr"/>
            <a:r>
              <a:rPr lang="en-US" dirty="0"/>
              <a:t>Modernizing Digital Banking Operations at a Retail Bank</a:t>
            </a:r>
          </a:p>
        </p:txBody>
      </p:sp>
      <p:sp>
        <p:nvSpPr>
          <p:cNvPr id="11" name="Subtitle 2">
            <a:extLst>
              <a:ext uri="{FF2B5EF4-FFF2-40B4-BE49-F238E27FC236}">
                <a16:creationId xmlns:a16="http://schemas.microsoft.com/office/drawing/2014/main" id="{4A2428E5-EDEC-4952-5A1E-4B0CEA274A4C}"/>
              </a:ext>
            </a:extLst>
          </p:cNvPr>
          <p:cNvSpPr txBox="1">
            <a:spLocks/>
          </p:cNvSpPr>
          <p:nvPr/>
        </p:nvSpPr>
        <p:spPr>
          <a:xfrm>
            <a:off x="573088" y="3066329"/>
            <a:ext cx="4372985" cy="93627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dirty="0">
                <a:solidFill>
                  <a:schemeClr val="bg2">
                    <a:lumMod val="10000"/>
                  </a:schemeClr>
                </a:solidFill>
              </a:rPr>
              <a:t>Name</a:t>
            </a:r>
            <a:r>
              <a:rPr lang="en-US" sz="2400" b="1" dirty="0" smtClean="0">
                <a:solidFill>
                  <a:schemeClr val="bg2">
                    <a:lumMod val="10000"/>
                  </a:schemeClr>
                </a:solidFill>
              </a:rPr>
              <a:t>: Dennis 	 </a:t>
            </a:r>
            <a:endParaRPr lang="en-US" sz="2400" b="1" dirty="0">
              <a:solidFill>
                <a:schemeClr val="bg2">
                  <a:lumMod val="10000"/>
                </a:schemeClr>
              </a:solidFill>
            </a:endParaRPr>
          </a:p>
          <a:p>
            <a:pPr marL="0" indent="0">
              <a:buNone/>
            </a:pPr>
            <a:r>
              <a:rPr lang="en-US" sz="2400" b="1" dirty="0">
                <a:solidFill>
                  <a:schemeClr val="bg2">
                    <a:lumMod val="10000"/>
                  </a:schemeClr>
                </a:solidFill>
              </a:rPr>
              <a:t>Date: </a:t>
            </a:r>
            <a:r>
              <a:rPr lang="en-US" sz="2400" b="1" dirty="0" smtClean="0">
                <a:solidFill>
                  <a:schemeClr val="bg2">
                    <a:lumMod val="10000"/>
                  </a:schemeClr>
                </a:solidFill>
              </a:rPr>
              <a:t>2026</a:t>
            </a:r>
            <a:endParaRPr lang="en-US" sz="2400" b="1" dirty="0">
              <a:solidFill>
                <a:schemeClr val="bg2">
                  <a:lumMod val="10000"/>
                </a:schemeClr>
              </a:solidFill>
            </a:endParaRPr>
          </a:p>
        </p:txBody>
      </p:sp>
    </p:spTree>
    <p:extLst>
      <p:ext uri="{BB962C8B-B14F-4D97-AF65-F5344CB8AC3E}">
        <p14:creationId xmlns:p14="http://schemas.microsoft.com/office/powerpoint/2010/main" val="37569812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13B8DD-61E1-757A-4429-B01A52D1D840}"/>
              </a:ext>
            </a:extLst>
          </p:cNvPr>
          <p:cNvSpPr>
            <a:spLocks noGrp="1"/>
          </p:cNvSpPr>
          <p:nvPr>
            <p:ph type="title"/>
          </p:nvPr>
        </p:nvSpPr>
        <p:spPr>
          <a:xfrm>
            <a:off x="572756" y="133943"/>
            <a:ext cx="9813446" cy="850726"/>
          </a:xfrm>
        </p:spPr>
        <p:txBody>
          <a:bodyPr>
            <a:normAutofit/>
          </a:bodyPr>
          <a:lstStyle/>
          <a:p>
            <a:r>
              <a:rPr lang="en-US" dirty="0"/>
              <a:t>Table of Contents</a:t>
            </a:r>
          </a:p>
        </p:txBody>
      </p:sp>
      <p:sp>
        <p:nvSpPr>
          <p:cNvPr id="3" name="Content Placeholder 2">
            <a:extLst>
              <a:ext uri="{FF2B5EF4-FFF2-40B4-BE49-F238E27FC236}">
                <a16:creationId xmlns:a16="http://schemas.microsoft.com/office/drawing/2014/main" id="{79DC3C78-4448-4D1D-97E7-E642B12828B1}"/>
              </a:ext>
            </a:extLst>
          </p:cNvPr>
          <p:cNvSpPr>
            <a:spLocks noGrp="1"/>
          </p:cNvSpPr>
          <p:nvPr>
            <p:ph idx="4294967295"/>
          </p:nvPr>
        </p:nvSpPr>
        <p:spPr>
          <a:xfrm>
            <a:off x="716973" y="1341438"/>
            <a:ext cx="10515600" cy="4435475"/>
          </a:xfrm>
        </p:spPr>
        <p:txBody>
          <a:bodyPr vert="horz" lIns="91440" tIns="45720" rIns="91440" bIns="45720" numCol="2" spcCol="720000" rtlCol="0" anchor="t">
            <a:noAutofit/>
          </a:bodyPr>
          <a:lstStyle/>
          <a:p>
            <a:pPr marL="230400" indent="-230400"/>
            <a:r>
              <a:rPr lang="en-US" sz="1600" dirty="0">
                <a:solidFill>
                  <a:schemeClr val="bg2">
                    <a:lumMod val="10000"/>
                  </a:schemeClr>
                </a:solidFill>
              </a:rPr>
              <a:t>Executive Summary</a:t>
            </a:r>
          </a:p>
          <a:p>
            <a:pPr marL="230400" indent="-230400"/>
            <a:r>
              <a:rPr lang="en-US" sz="1600" dirty="0">
                <a:solidFill>
                  <a:schemeClr val="bg2">
                    <a:lumMod val="10000"/>
                  </a:schemeClr>
                </a:solidFill>
              </a:rPr>
              <a:t>Introduction</a:t>
            </a:r>
          </a:p>
          <a:p>
            <a:pPr marL="230400" indent="-230400"/>
            <a:r>
              <a:rPr lang="en-US" sz="1600" dirty="0">
                <a:solidFill>
                  <a:schemeClr val="bg2">
                    <a:lumMod val="10000"/>
                  </a:schemeClr>
                </a:solidFill>
              </a:rPr>
              <a:t>Business Objectives</a:t>
            </a:r>
          </a:p>
          <a:p>
            <a:pPr marL="230400" indent="-230400"/>
            <a:endParaRPr lang="en-US" sz="1600" dirty="0">
              <a:solidFill>
                <a:schemeClr val="bg2">
                  <a:lumMod val="10000"/>
                </a:schemeClr>
              </a:solidFill>
            </a:endParaRPr>
          </a:p>
          <a:p>
            <a:pPr marL="230400" indent="-230400">
              <a:buNone/>
            </a:pPr>
            <a:r>
              <a:rPr lang="en-US" sz="1600" b="1" dirty="0">
                <a:solidFill>
                  <a:schemeClr val="bg2">
                    <a:lumMod val="10000"/>
                  </a:schemeClr>
                </a:solidFill>
              </a:rPr>
              <a:t>Artifacts</a:t>
            </a:r>
          </a:p>
          <a:p>
            <a:pPr marL="229870" indent="-229870"/>
            <a:r>
              <a:rPr lang="en-US" sz="1600" dirty="0"/>
              <a:t>Project Initiation and Stakeholder Engagement </a:t>
            </a:r>
          </a:p>
          <a:p>
            <a:pPr marL="229870" indent="-229870"/>
            <a:r>
              <a:rPr lang="en-US" sz="1600" dirty="0"/>
              <a:t>Requirements Gathering</a:t>
            </a:r>
            <a:endParaRPr lang="en-US" sz="1600" dirty="0">
              <a:cs typeface="Arial"/>
            </a:endParaRPr>
          </a:p>
          <a:p>
            <a:pPr marL="229870" indent="-229870"/>
            <a:r>
              <a:rPr lang="en-US" sz="1600" dirty="0"/>
              <a:t>Project Planning and Risk Analysis</a:t>
            </a:r>
            <a:endParaRPr lang="en-US" sz="1600" dirty="0">
              <a:cs typeface="Arial"/>
            </a:endParaRPr>
          </a:p>
          <a:p>
            <a:pPr marL="229870" indent="-229870"/>
            <a:r>
              <a:rPr lang="en-US" sz="1600" dirty="0"/>
              <a:t>Process Modeling and Visualization</a:t>
            </a:r>
            <a:endParaRPr lang="en-US" sz="1600" dirty="0">
              <a:cs typeface="Arial"/>
            </a:endParaRPr>
          </a:p>
          <a:p>
            <a:pPr marL="229870" indent="-229870"/>
            <a:r>
              <a:rPr lang="en-US" sz="1600" dirty="0"/>
              <a:t>System Design </a:t>
            </a:r>
            <a:endParaRPr lang="en-US" sz="1600" dirty="0">
              <a:cs typeface="Arial"/>
            </a:endParaRPr>
          </a:p>
          <a:p>
            <a:pPr marL="229870" indent="-229870"/>
            <a:r>
              <a:rPr lang="en-US" sz="1600" dirty="0"/>
              <a:t>Database Design</a:t>
            </a:r>
            <a:endParaRPr lang="en-US" sz="1600" dirty="0">
              <a:cs typeface="Arial"/>
            </a:endParaRPr>
          </a:p>
          <a:p>
            <a:pPr marL="229870" indent="-229870"/>
            <a:r>
              <a:rPr lang="en-US" sz="1600" dirty="0"/>
              <a:t>Test Planning and Case Design Using TDD and BDD</a:t>
            </a:r>
          </a:p>
          <a:p>
            <a:pPr marL="229870" indent="-229870"/>
            <a:r>
              <a:rPr lang="en-US" sz="1600" dirty="0"/>
              <a:t>CI/CD Workflow and Monitoring Plan</a:t>
            </a:r>
            <a:endParaRPr lang="en-US" sz="1600" dirty="0">
              <a:cs typeface="Arial"/>
            </a:endParaRPr>
          </a:p>
          <a:p>
            <a:pPr marL="229870" indent="-229870">
              <a:buNone/>
            </a:pPr>
            <a:endParaRPr lang="en-US" sz="1600" b="1" dirty="0"/>
          </a:p>
          <a:p>
            <a:pPr marL="229870" indent="-229870">
              <a:buNone/>
            </a:pPr>
            <a:r>
              <a:rPr lang="en-US" sz="1600" b="1" dirty="0"/>
              <a:t>Findings and Recommendations</a:t>
            </a:r>
            <a:endParaRPr lang="en-US" dirty="0"/>
          </a:p>
          <a:p>
            <a:pPr marL="230400" indent="-230400"/>
            <a:r>
              <a:rPr lang="en-US" sz="1600" dirty="0">
                <a:solidFill>
                  <a:schemeClr val="bg2">
                    <a:lumMod val="10000"/>
                  </a:schemeClr>
                </a:solidFill>
              </a:rPr>
              <a:t>Key Findings</a:t>
            </a:r>
          </a:p>
          <a:p>
            <a:pPr marL="230400" indent="-230400"/>
            <a:r>
              <a:rPr lang="en-US" sz="1600" dirty="0">
                <a:solidFill>
                  <a:schemeClr val="bg2">
                    <a:lumMod val="10000"/>
                  </a:schemeClr>
                </a:solidFill>
              </a:rPr>
              <a:t>Key Recommendations</a:t>
            </a:r>
          </a:p>
          <a:p>
            <a:pPr marL="230400" indent="-230400"/>
            <a:r>
              <a:rPr lang="en-US" sz="1600" dirty="0">
                <a:solidFill>
                  <a:schemeClr val="bg2">
                    <a:lumMod val="10000"/>
                  </a:schemeClr>
                </a:solidFill>
              </a:rPr>
              <a:t>Conclusion</a:t>
            </a:r>
          </a:p>
          <a:p>
            <a:pPr marL="229870" indent="-229870"/>
            <a:r>
              <a:rPr lang="en-US" sz="1600" dirty="0">
                <a:cs typeface="Arial"/>
              </a:rPr>
              <a:t>Appendix</a:t>
            </a:r>
          </a:p>
        </p:txBody>
      </p:sp>
    </p:spTree>
    <p:extLst>
      <p:ext uri="{BB962C8B-B14F-4D97-AF65-F5344CB8AC3E}">
        <p14:creationId xmlns:p14="http://schemas.microsoft.com/office/powerpoint/2010/main" val="47339629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CDD966-B4DC-454B-9A1F-2D06F536C6F5}"/>
              </a:ext>
            </a:extLst>
          </p:cNvPr>
          <p:cNvSpPr>
            <a:spLocks noGrp="1"/>
          </p:cNvSpPr>
          <p:nvPr>
            <p:ph type="title"/>
          </p:nvPr>
        </p:nvSpPr>
        <p:spPr/>
        <p:txBody>
          <a:bodyPr/>
          <a:lstStyle/>
          <a:p>
            <a:r>
              <a:rPr lang="en-IN" dirty="0"/>
              <a:t>Executive Summary</a:t>
            </a:r>
          </a:p>
        </p:txBody>
      </p:sp>
      <p:sp>
        <p:nvSpPr>
          <p:cNvPr id="3" name="Content Placeholder 2">
            <a:extLst>
              <a:ext uri="{FF2B5EF4-FFF2-40B4-BE49-F238E27FC236}">
                <a16:creationId xmlns:a16="http://schemas.microsoft.com/office/drawing/2014/main" id="{FE35D305-1814-B28B-73A0-AF88EC3D4589}"/>
              </a:ext>
            </a:extLst>
          </p:cNvPr>
          <p:cNvSpPr>
            <a:spLocks noGrp="1"/>
          </p:cNvSpPr>
          <p:nvPr>
            <p:ph idx="1"/>
          </p:nvPr>
        </p:nvSpPr>
        <p:spPr>
          <a:xfrm>
            <a:off x="572755" y="1210356"/>
            <a:ext cx="10781043" cy="4826762"/>
          </a:xfrm>
        </p:spPr>
        <p:txBody>
          <a:bodyPr vert="horz" lIns="91440" tIns="45720" rIns="91440" bIns="45720" rtlCol="0" anchor="t">
            <a:noAutofit/>
          </a:bodyPr>
          <a:lstStyle/>
          <a:p>
            <a:pPr marL="0" indent="0">
              <a:spcBef>
                <a:spcPts val="600"/>
              </a:spcBef>
              <a:buNone/>
            </a:pPr>
            <a:endParaRPr lang="en-US" sz="1600" b="1" dirty="0">
              <a:cs typeface="Arial" panose="020B0604020202020204" pitchFamily="34" charset="0"/>
            </a:endParaRPr>
          </a:p>
          <a:p>
            <a:pPr marL="0" indent="0">
              <a:spcBef>
                <a:spcPts val="600"/>
              </a:spcBef>
              <a:buNone/>
            </a:pPr>
            <a:r>
              <a:rPr lang="en-US" sz="1600" b="1" dirty="0">
                <a:cs typeface="Arial" panose="020B0604020202020204" pitchFamily="34" charset="0"/>
              </a:rPr>
              <a:t>Problem:</a:t>
            </a:r>
          </a:p>
          <a:p>
            <a:pPr marL="457200" indent="-457200">
              <a:spcBef>
                <a:spcPts val="600"/>
              </a:spcBef>
              <a:buFont typeface="+mj-lt"/>
              <a:buAutoNum type="arabicPeriod"/>
            </a:pPr>
            <a:r>
              <a:rPr lang="en-US" sz="1600" dirty="0">
                <a:cs typeface="Arial" panose="020B0604020202020204" pitchFamily="34" charset="0"/>
              </a:rPr>
              <a:t> </a:t>
            </a:r>
            <a:r>
              <a:rPr lang="en-US" sz="1600" dirty="0"/>
              <a:t>Legacy, </a:t>
            </a:r>
            <a:r>
              <a:rPr lang="en-US" sz="1600" dirty="0" err="1"/>
              <a:t>siloed</a:t>
            </a:r>
            <a:r>
              <a:rPr lang="en-US" sz="1600" dirty="0"/>
              <a:t> banking systems cause slow onboarding, delayed transactions, and regulatory risk.</a:t>
            </a:r>
            <a:endParaRPr lang="en-US" sz="1600" dirty="0">
              <a:cs typeface="Arial" panose="020B0604020202020204" pitchFamily="34" charset="0"/>
            </a:endParaRPr>
          </a:p>
          <a:p>
            <a:pPr>
              <a:spcBef>
                <a:spcPts val="600"/>
              </a:spcBef>
            </a:pPr>
            <a:endParaRPr lang="en-US" sz="1600" dirty="0">
              <a:cs typeface="Arial" panose="020B0604020202020204" pitchFamily="34" charset="0"/>
            </a:endParaRPr>
          </a:p>
          <a:p>
            <a:pPr>
              <a:spcBef>
                <a:spcPts val="600"/>
              </a:spcBef>
            </a:pPr>
            <a:endParaRPr lang="en-US" sz="1600" dirty="0">
              <a:cs typeface="Arial" panose="020B0604020202020204" pitchFamily="34" charset="0"/>
            </a:endParaRPr>
          </a:p>
          <a:p>
            <a:pPr marL="0" indent="0">
              <a:spcBef>
                <a:spcPts val="600"/>
              </a:spcBef>
              <a:buNone/>
            </a:pPr>
            <a:r>
              <a:rPr lang="en-US" sz="1600" b="1" dirty="0">
                <a:cs typeface="Arial" panose="020B0604020202020204" pitchFamily="34" charset="0"/>
              </a:rPr>
              <a:t>Key insights:</a:t>
            </a:r>
          </a:p>
          <a:p>
            <a:pPr marL="457200" indent="-457200">
              <a:spcBef>
                <a:spcPts val="600"/>
              </a:spcBef>
              <a:buFont typeface="+mj-lt"/>
              <a:buAutoNum type="arabicPeriod"/>
            </a:pPr>
            <a:r>
              <a:rPr lang="en-US" sz="1600" dirty="0" smtClean="0">
                <a:cs typeface="Arial" panose="020B0604020202020204" pitchFamily="34" charset="0"/>
              </a:rPr>
              <a:t>Operational </a:t>
            </a:r>
            <a:r>
              <a:rPr lang="en-US" sz="1600" dirty="0">
                <a:cs typeface="Arial" panose="020B0604020202020204" pitchFamily="34" charset="0"/>
              </a:rPr>
              <a:t>telemetry shows frequent CPU, I/O, and latency spikes during peak windows, impacting customer experience.</a:t>
            </a:r>
          </a:p>
          <a:p>
            <a:pPr marL="457200" indent="-457200">
              <a:spcBef>
                <a:spcPts val="600"/>
              </a:spcBef>
              <a:buFont typeface="+mj-lt"/>
              <a:buAutoNum type="arabicPeriod"/>
            </a:pPr>
            <a:r>
              <a:rPr lang="en-US" sz="1600" dirty="0" smtClean="0">
                <a:cs typeface="Arial" panose="020B0604020202020204" pitchFamily="34" charset="0"/>
              </a:rPr>
              <a:t>Fragmented </a:t>
            </a:r>
            <a:r>
              <a:rPr lang="en-US" sz="1600" dirty="0">
                <a:cs typeface="Arial" panose="020B0604020202020204" pitchFamily="34" charset="0"/>
              </a:rPr>
              <a:t>data sources lead to duplicate records and slow reconciliations, hindering real‑time fraud detection and reporting.</a:t>
            </a:r>
          </a:p>
          <a:p>
            <a:pPr>
              <a:spcBef>
                <a:spcPts val="600"/>
              </a:spcBef>
            </a:pPr>
            <a:endParaRPr lang="en-US" sz="1600" dirty="0">
              <a:cs typeface="Arial" panose="020B0604020202020204" pitchFamily="34" charset="0"/>
            </a:endParaRPr>
          </a:p>
          <a:p>
            <a:pPr marL="0" indent="0">
              <a:spcBef>
                <a:spcPts val="600"/>
              </a:spcBef>
              <a:buNone/>
            </a:pPr>
            <a:r>
              <a:rPr lang="en-US" sz="1600" b="1" dirty="0">
                <a:cs typeface="Arial" panose="020B0604020202020204" pitchFamily="34" charset="0"/>
              </a:rPr>
              <a:t>Recommended actions:</a:t>
            </a:r>
          </a:p>
          <a:p>
            <a:pPr marL="457200" indent="-457200">
              <a:spcBef>
                <a:spcPts val="600"/>
              </a:spcBef>
              <a:buFont typeface="+mj-lt"/>
              <a:buAutoNum type="arabicPeriod"/>
            </a:pPr>
            <a:r>
              <a:rPr lang="en-US" sz="1600" dirty="0">
                <a:cs typeface="Arial" panose="020B0604020202020204" pitchFamily="34" charset="0"/>
              </a:rPr>
              <a:t> </a:t>
            </a:r>
            <a:r>
              <a:rPr lang="en-US" sz="1600" dirty="0"/>
              <a:t>Migrate to a cloud‑native </a:t>
            </a:r>
            <a:r>
              <a:rPr lang="en-US" sz="1600" dirty="0" err="1"/>
              <a:t>microservices</a:t>
            </a:r>
            <a:r>
              <a:rPr lang="en-US" sz="1600" dirty="0"/>
              <a:t> architecture with </a:t>
            </a:r>
            <a:r>
              <a:rPr lang="en-US" sz="1600" dirty="0" err="1"/>
              <a:t>autoscaling</a:t>
            </a:r>
            <a:r>
              <a:rPr lang="en-US" sz="1600" dirty="0"/>
              <a:t> and containerized deployments.</a:t>
            </a:r>
            <a:endParaRPr lang="en-US" sz="1600" dirty="0">
              <a:cs typeface="Arial" panose="020B0604020202020204" pitchFamily="34" charset="0"/>
            </a:endParaRPr>
          </a:p>
          <a:p>
            <a:pPr marL="457200" indent="-457200">
              <a:spcBef>
                <a:spcPts val="600"/>
              </a:spcBef>
              <a:buFont typeface="+mj-lt"/>
              <a:buAutoNum type="arabicPeriod"/>
            </a:pPr>
            <a:r>
              <a:rPr lang="en-US" sz="1600" dirty="0">
                <a:cs typeface="Arial" panose="020B0604020202020204" pitchFamily="34" charset="0"/>
              </a:rPr>
              <a:t> </a:t>
            </a:r>
            <a:r>
              <a:rPr lang="en-US" sz="1600" dirty="0"/>
              <a:t>Implement an event‑driven data pipeline and centralized, compliance‑ready data layer with end‑to‑end lineage.</a:t>
            </a:r>
            <a:endParaRPr lang="en-US" sz="1600" dirty="0">
              <a:cs typeface="Arial" panose="020B0604020202020204" pitchFamily="34" charset="0"/>
            </a:endParaRPr>
          </a:p>
          <a:p>
            <a:pPr marL="457200" indent="-457200">
              <a:spcBef>
                <a:spcPts val="600"/>
              </a:spcBef>
              <a:buFont typeface="+mj-lt"/>
              <a:buAutoNum type="arabicPeriod"/>
            </a:pPr>
            <a:r>
              <a:rPr lang="en-US" sz="1600" dirty="0">
                <a:cs typeface="Arial" panose="020B0604020202020204" pitchFamily="34" charset="0"/>
              </a:rPr>
              <a:t> </a:t>
            </a:r>
            <a:r>
              <a:rPr lang="en-US" sz="1600" dirty="0"/>
              <a:t>Establish centralized monitoring, SRE </a:t>
            </a:r>
            <a:r>
              <a:rPr lang="en-US" sz="1600" dirty="0" err="1"/>
              <a:t>runbooks</a:t>
            </a:r>
            <a:r>
              <a:rPr lang="en-US" sz="1600" dirty="0"/>
              <a:t>, and compliance controls (audit trails, encryption, RBAC</a:t>
            </a:r>
            <a:r>
              <a:rPr lang="en-US" sz="1600" dirty="0" smtClean="0"/>
              <a:t>)</a:t>
            </a:r>
            <a:endParaRPr lang="en-IN" sz="1600" dirty="0"/>
          </a:p>
        </p:txBody>
      </p:sp>
    </p:spTree>
    <p:extLst>
      <p:ext uri="{BB962C8B-B14F-4D97-AF65-F5344CB8AC3E}">
        <p14:creationId xmlns:p14="http://schemas.microsoft.com/office/powerpoint/2010/main" val="337715687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DA4BA1-23B0-50EE-C7D5-5D12C019EE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798F4C-51ED-6428-2AC2-C8AEE7BDB27D}"/>
              </a:ext>
            </a:extLst>
          </p:cNvPr>
          <p:cNvSpPr>
            <a:spLocks noGrp="1"/>
          </p:cNvSpPr>
          <p:nvPr>
            <p:ph type="title"/>
          </p:nvPr>
        </p:nvSpPr>
        <p:spPr/>
        <p:txBody>
          <a:bodyPr/>
          <a:lstStyle/>
          <a:p>
            <a:r>
              <a:rPr lang="en-IN" dirty="0"/>
              <a:t>Introduction</a:t>
            </a:r>
          </a:p>
        </p:txBody>
      </p:sp>
      <p:sp>
        <p:nvSpPr>
          <p:cNvPr id="3" name="Content Placeholder 2">
            <a:extLst>
              <a:ext uri="{FF2B5EF4-FFF2-40B4-BE49-F238E27FC236}">
                <a16:creationId xmlns:a16="http://schemas.microsoft.com/office/drawing/2014/main" id="{A2228A40-6553-3659-03A7-738C440F8B8A}"/>
              </a:ext>
            </a:extLst>
          </p:cNvPr>
          <p:cNvSpPr>
            <a:spLocks noGrp="1"/>
          </p:cNvSpPr>
          <p:nvPr>
            <p:ph idx="1"/>
          </p:nvPr>
        </p:nvSpPr>
        <p:spPr>
          <a:xfrm>
            <a:off x="572755" y="1210354"/>
            <a:ext cx="10781043" cy="4826762"/>
          </a:xfrm>
        </p:spPr>
        <p:txBody>
          <a:bodyPr vert="horz" lIns="91440" tIns="45720" rIns="91440" bIns="45720" rtlCol="0" anchor="t">
            <a:noAutofit/>
          </a:bodyPr>
          <a:lstStyle/>
          <a:p>
            <a:pPr marL="0" indent="0">
              <a:buNone/>
            </a:pPr>
            <a:r>
              <a:rPr lang="en-US" sz="1600" b="1" dirty="0" smtClean="0">
                <a:cs typeface="Arial" panose="020B0604020202020204" pitchFamily="34" charset="0"/>
              </a:rPr>
              <a:t>Opportunity</a:t>
            </a:r>
            <a:r>
              <a:rPr lang="en-US" sz="1600" b="1" dirty="0">
                <a:cs typeface="Arial" panose="020B0604020202020204" pitchFamily="34" charset="0"/>
              </a:rPr>
              <a:t>:</a:t>
            </a:r>
          </a:p>
          <a:p>
            <a:pPr marL="0" indent="0">
              <a:buNone/>
            </a:pPr>
            <a:r>
              <a:rPr lang="en-US" sz="1600" b="1" dirty="0">
                <a:cs typeface="Arial" panose="020B0604020202020204" pitchFamily="34" charset="0"/>
              </a:rPr>
              <a:t>1. </a:t>
            </a:r>
            <a:r>
              <a:rPr lang="en-US" sz="1600" b="1" dirty="0"/>
              <a:t>Modernize legacy systems</a:t>
            </a:r>
            <a:r>
              <a:rPr lang="en-US" sz="1600" dirty="0"/>
              <a:t> to reduce onboarding time and improve customer </a:t>
            </a:r>
            <a:r>
              <a:rPr lang="en-US" sz="1600" dirty="0" smtClean="0"/>
              <a:t>satisfaction</a:t>
            </a:r>
            <a:endParaRPr lang="en-US" sz="1600" b="1" dirty="0">
              <a:cs typeface="Arial" panose="020B0604020202020204" pitchFamily="34" charset="0"/>
            </a:endParaRPr>
          </a:p>
          <a:p>
            <a:pPr marL="0" indent="0">
              <a:buNone/>
            </a:pPr>
            <a:r>
              <a:rPr lang="en-US" sz="1600" b="1" dirty="0">
                <a:cs typeface="Arial" panose="020B0604020202020204" pitchFamily="34" charset="0"/>
              </a:rPr>
              <a:t>2</a:t>
            </a:r>
            <a:r>
              <a:rPr lang="en-US" sz="1600" b="1" dirty="0" smtClean="0">
                <a:cs typeface="Arial" panose="020B0604020202020204" pitchFamily="34" charset="0"/>
              </a:rPr>
              <a:t>. </a:t>
            </a:r>
            <a:r>
              <a:rPr lang="en-US" sz="1600" b="1" dirty="0"/>
              <a:t>Enable real‑time fraud detection and reporting</a:t>
            </a:r>
            <a:r>
              <a:rPr lang="en-US" sz="1600" dirty="0"/>
              <a:t> to lower financial and compliance </a:t>
            </a:r>
            <a:r>
              <a:rPr lang="en-US" sz="1600" dirty="0" smtClean="0"/>
              <a:t>risk</a:t>
            </a:r>
            <a:endParaRPr lang="en-US" sz="1600" b="1" dirty="0">
              <a:cs typeface="Arial" panose="020B0604020202020204" pitchFamily="34" charset="0"/>
            </a:endParaRPr>
          </a:p>
          <a:p>
            <a:endParaRPr lang="en-US" sz="1600" b="1" dirty="0">
              <a:cs typeface="Arial" panose="020B0604020202020204" pitchFamily="34" charset="0"/>
            </a:endParaRPr>
          </a:p>
          <a:p>
            <a:pPr marL="0" indent="0">
              <a:buNone/>
            </a:pPr>
            <a:r>
              <a:rPr lang="en-US" sz="1600" b="1" dirty="0">
                <a:cs typeface="Arial" panose="020B0604020202020204" pitchFamily="34" charset="0"/>
              </a:rPr>
              <a:t>Approach:</a:t>
            </a:r>
          </a:p>
          <a:p>
            <a:pPr marL="0" indent="0">
              <a:buNone/>
            </a:pPr>
            <a:r>
              <a:rPr lang="en-US" sz="1600" b="1" dirty="0">
                <a:cs typeface="Arial" panose="020B0604020202020204" pitchFamily="34" charset="0"/>
              </a:rPr>
              <a:t>1</a:t>
            </a:r>
            <a:r>
              <a:rPr lang="en-US" sz="1600" b="1" dirty="0" smtClean="0">
                <a:cs typeface="Arial" panose="020B0604020202020204" pitchFamily="34" charset="0"/>
              </a:rPr>
              <a:t>. </a:t>
            </a:r>
            <a:r>
              <a:rPr lang="en-US" sz="1600" b="1" dirty="0"/>
              <a:t>Stakeholder interviews and workshops</a:t>
            </a:r>
            <a:r>
              <a:rPr lang="en-US" sz="1600" dirty="0"/>
              <a:t> to capture business and regulatory needs</a:t>
            </a:r>
            <a:endParaRPr lang="en-US" sz="1600" b="1" dirty="0">
              <a:cs typeface="Arial" panose="020B0604020202020204" pitchFamily="34" charset="0"/>
            </a:endParaRPr>
          </a:p>
          <a:p>
            <a:pPr marL="0" indent="0">
              <a:buNone/>
            </a:pPr>
            <a:r>
              <a:rPr lang="en-US" sz="1600" b="1" dirty="0">
                <a:cs typeface="Arial" panose="020B0604020202020204" pitchFamily="34" charset="0"/>
              </a:rPr>
              <a:t>2</a:t>
            </a:r>
            <a:r>
              <a:rPr lang="en-US" sz="1600" b="1" dirty="0" smtClean="0">
                <a:cs typeface="Arial" panose="020B0604020202020204" pitchFamily="34" charset="0"/>
              </a:rPr>
              <a:t>. </a:t>
            </a:r>
            <a:r>
              <a:rPr lang="en-US" sz="1600" b="1" dirty="0"/>
              <a:t>Data consolidation and ERD design</a:t>
            </a:r>
            <a:r>
              <a:rPr lang="en-US" sz="1600" dirty="0"/>
              <a:t> with secure ETL pipelines and lineage tracking</a:t>
            </a:r>
            <a:endParaRPr lang="en-US" sz="1600" b="1" dirty="0">
              <a:cs typeface="Arial" panose="020B0604020202020204" pitchFamily="34" charset="0"/>
            </a:endParaRPr>
          </a:p>
          <a:p>
            <a:endParaRPr lang="en-US" sz="1600" b="1" dirty="0">
              <a:cs typeface="Arial" panose="020B0604020202020204" pitchFamily="34" charset="0"/>
            </a:endParaRPr>
          </a:p>
          <a:p>
            <a:pPr marL="0" indent="0">
              <a:buNone/>
            </a:pPr>
            <a:r>
              <a:rPr lang="en-US" sz="1600" b="1" dirty="0">
                <a:cs typeface="Arial" panose="020B0604020202020204" pitchFamily="34" charset="0"/>
              </a:rPr>
              <a:t>Key questions/hypotheses:</a:t>
            </a:r>
          </a:p>
          <a:p>
            <a:pPr marL="0" indent="0">
              <a:buNone/>
            </a:pPr>
            <a:r>
              <a:rPr lang="en-US" sz="1600" b="1" dirty="0">
                <a:cs typeface="Arial" panose="020B0604020202020204" pitchFamily="34" charset="0"/>
              </a:rPr>
              <a:t>1</a:t>
            </a:r>
            <a:r>
              <a:rPr lang="en-US" sz="1600" b="1" dirty="0" smtClean="0">
                <a:cs typeface="Arial" panose="020B0604020202020204" pitchFamily="34" charset="0"/>
              </a:rPr>
              <a:t>. </a:t>
            </a:r>
            <a:r>
              <a:rPr lang="en-US" sz="1600" dirty="0"/>
              <a:t>Real‑time EDA + centralized data layer will reduce fraud detection latency and cut manual reconciliation by ≥50%</a:t>
            </a:r>
            <a:endParaRPr lang="en-US" sz="1600" b="1" dirty="0">
              <a:cs typeface="Arial" panose="020B0604020202020204" pitchFamily="34" charset="0"/>
            </a:endParaRPr>
          </a:p>
          <a:p>
            <a:pPr marL="0" indent="0">
              <a:buNone/>
            </a:pPr>
            <a:r>
              <a:rPr lang="en-US" sz="1600" b="1" dirty="0" smtClean="0">
                <a:cs typeface="Arial" panose="020B0604020202020204" pitchFamily="34" charset="0"/>
              </a:rPr>
              <a:t>2. </a:t>
            </a:r>
            <a:r>
              <a:rPr lang="en-US" sz="1600" dirty="0" smtClean="0">
                <a:cs typeface="Arial" panose="020B0604020202020204" pitchFamily="34" charset="0"/>
              </a:rPr>
              <a:t>C</a:t>
            </a:r>
            <a:r>
              <a:rPr lang="en-US" sz="1600" dirty="0" smtClean="0"/>
              <a:t>ontainerized </a:t>
            </a:r>
            <a:r>
              <a:rPr lang="en-US" sz="1600" dirty="0" err="1"/>
              <a:t>microservices</a:t>
            </a:r>
            <a:r>
              <a:rPr lang="en-US" sz="1600" dirty="0"/>
              <a:t> with </a:t>
            </a:r>
            <a:r>
              <a:rPr lang="en-US" sz="1600" dirty="0" err="1"/>
              <a:t>autoscaling</a:t>
            </a:r>
            <a:r>
              <a:rPr lang="en-US" sz="1600" dirty="0"/>
              <a:t> will meet peak SLAs while controlling cost</a:t>
            </a:r>
            <a:endParaRPr lang="en-US" sz="1600" b="1" dirty="0">
              <a:cs typeface="Arial" panose="020B0604020202020204" pitchFamily="34" charset="0"/>
            </a:endParaRPr>
          </a:p>
        </p:txBody>
      </p:sp>
    </p:spTree>
    <p:extLst>
      <p:ext uri="{BB962C8B-B14F-4D97-AF65-F5344CB8AC3E}">
        <p14:creationId xmlns:p14="http://schemas.microsoft.com/office/powerpoint/2010/main" val="305794492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0B57BA-D528-9116-493C-88E1284CF2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D67553-26A5-5154-779D-68121ACA07A7}"/>
              </a:ext>
            </a:extLst>
          </p:cNvPr>
          <p:cNvSpPr>
            <a:spLocks noGrp="1"/>
          </p:cNvSpPr>
          <p:nvPr>
            <p:ph type="title"/>
          </p:nvPr>
        </p:nvSpPr>
        <p:spPr/>
        <p:txBody>
          <a:bodyPr/>
          <a:lstStyle/>
          <a:p>
            <a:r>
              <a:rPr lang="en-IN" dirty="0"/>
              <a:t>Objectives</a:t>
            </a:r>
          </a:p>
        </p:txBody>
      </p:sp>
      <p:sp>
        <p:nvSpPr>
          <p:cNvPr id="3" name="Content Placeholder 2">
            <a:extLst>
              <a:ext uri="{FF2B5EF4-FFF2-40B4-BE49-F238E27FC236}">
                <a16:creationId xmlns:a16="http://schemas.microsoft.com/office/drawing/2014/main" id="{CD487492-1EC2-9E7C-EB0D-D407742FA862}"/>
              </a:ext>
            </a:extLst>
          </p:cNvPr>
          <p:cNvSpPr>
            <a:spLocks noGrp="1"/>
          </p:cNvSpPr>
          <p:nvPr>
            <p:ph idx="1"/>
          </p:nvPr>
        </p:nvSpPr>
        <p:spPr>
          <a:xfrm>
            <a:off x="572755" y="1210354"/>
            <a:ext cx="10781043" cy="4826762"/>
          </a:xfrm>
        </p:spPr>
        <p:txBody>
          <a:bodyPr vert="horz" lIns="91440" tIns="45720" rIns="91440" bIns="45720" rtlCol="0" anchor="t">
            <a:noAutofit/>
          </a:bodyPr>
          <a:lstStyle/>
          <a:p>
            <a:pPr marL="457200" indent="-457200">
              <a:buFont typeface="+mj-lt"/>
              <a:buAutoNum type="arabicPeriod"/>
            </a:pPr>
            <a:r>
              <a:rPr lang="en-US" sz="1800" b="1" dirty="0"/>
              <a:t>Reduce onboarding time</a:t>
            </a:r>
            <a:r>
              <a:rPr lang="en-US" sz="1800" dirty="0"/>
              <a:t> — cut end‑to‑end customer onboarding from X days to \&lt;24 hours through automation and API integration</a:t>
            </a:r>
            <a:r>
              <a:rPr lang="en-US" sz="1800" dirty="0" smtClean="0">
                <a:cs typeface="Arial" panose="020B0604020202020204" pitchFamily="34" charset="0"/>
              </a:rPr>
              <a:t> </a:t>
            </a:r>
            <a:endParaRPr lang="en-US" sz="1800" dirty="0">
              <a:cs typeface="Arial" panose="020B0604020202020204" pitchFamily="34" charset="0"/>
            </a:endParaRPr>
          </a:p>
          <a:p>
            <a:pPr marL="457200" indent="-457200">
              <a:buFont typeface="+mj-lt"/>
              <a:buAutoNum type="arabicPeriod"/>
            </a:pPr>
            <a:r>
              <a:rPr lang="en-US" sz="1800" b="1" dirty="0"/>
              <a:t>Improve transaction throughput and latency</a:t>
            </a:r>
            <a:r>
              <a:rPr lang="en-US" sz="1800" dirty="0"/>
              <a:t> — achieve sub‑second processing for retail transactions and 99.95% availability</a:t>
            </a:r>
            <a:r>
              <a:rPr lang="en-US" sz="1800" dirty="0" smtClean="0">
                <a:cs typeface="Arial" panose="020B0604020202020204" pitchFamily="34" charset="0"/>
              </a:rPr>
              <a:t> </a:t>
            </a:r>
            <a:endParaRPr lang="en-US" sz="1800" dirty="0">
              <a:cs typeface="Arial" panose="020B0604020202020204" pitchFamily="34" charset="0"/>
            </a:endParaRPr>
          </a:p>
          <a:p>
            <a:pPr marL="457200" indent="-457200">
              <a:buFont typeface="+mj-lt"/>
              <a:buAutoNum type="arabicPeriod"/>
            </a:pPr>
            <a:r>
              <a:rPr lang="en-US" sz="1800" b="1" dirty="0"/>
              <a:t>Enable real‑time fraud detection</a:t>
            </a:r>
            <a:r>
              <a:rPr lang="en-US" sz="1800" dirty="0"/>
              <a:t> — detect and alert on high‑risk events within seconds using an event‑driven pipeline</a:t>
            </a:r>
            <a:r>
              <a:rPr lang="en-US" sz="1800" dirty="0" smtClean="0">
                <a:cs typeface="Arial" panose="020B0604020202020204" pitchFamily="34" charset="0"/>
              </a:rPr>
              <a:t> </a:t>
            </a:r>
            <a:endParaRPr lang="en-US" sz="1800" dirty="0">
              <a:cs typeface="Arial" panose="020B0604020202020204" pitchFamily="34" charset="0"/>
            </a:endParaRPr>
          </a:p>
          <a:p>
            <a:pPr marL="457200" indent="-457200">
              <a:buFont typeface="+mj-lt"/>
              <a:buAutoNum type="arabicPeriod"/>
            </a:pPr>
            <a:r>
              <a:rPr lang="en-US" sz="1800" b="1" dirty="0"/>
              <a:t>Consolidate data for compliance</a:t>
            </a:r>
            <a:r>
              <a:rPr lang="en-US" sz="1800" dirty="0"/>
              <a:t> — centralize CRM, core banking, loan, and transaction data with full lineage and retention controls</a:t>
            </a:r>
            <a:r>
              <a:rPr lang="en-US" sz="1800" dirty="0" smtClean="0">
                <a:cs typeface="Arial" panose="020B0604020202020204" pitchFamily="34" charset="0"/>
              </a:rPr>
              <a:t> </a:t>
            </a:r>
            <a:endParaRPr lang="en-US" sz="1800" dirty="0">
              <a:cs typeface="Arial" panose="020B0604020202020204" pitchFamily="34" charset="0"/>
            </a:endParaRPr>
          </a:p>
          <a:p>
            <a:pPr marL="457200" indent="-457200">
              <a:buFont typeface="+mj-lt"/>
              <a:buAutoNum type="arabicPeriod"/>
            </a:pPr>
            <a:r>
              <a:rPr lang="en-US" sz="1800" b="1" dirty="0"/>
              <a:t>Secure, scalable platform</a:t>
            </a:r>
            <a:r>
              <a:rPr lang="en-US" sz="1800" dirty="0"/>
              <a:t> — deploy containerized </a:t>
            </a:r>
            <a:r>
              <a:rPr lang="en-US" sz="1800" dirty="0" err="1"/>
              <a:t>microservices</a:t>
            </a:r>
            <a:r>
              <a:rPr lang="en-US" sz="1800" dirty="0"/>
              <a:t> with RBAC, encryption, </a:t>
            </a:r>
            <a:r>
              <a:rPr lang="en-US" sz="1800" dirty="0" err="1"/>
              <a:t>autoscaling</a:t>
            </a:r>
            <a:r>
              <a:rPr lang="en-US" sz="1800" dirty="0"/>
              <a:t>, and disaster </a:t>
            </a:r>
            <a:r>
              <a:rPr lang="en-US" sz="1800"/>
              <a:t>recovery</a:t>
            </a:r>
            <a:r>
              <a:rPr lang="en-US" sz="1800" smtClean="0">
                <a:cs typeface="Arial" panose="020B0604020202020204" pitchFamily="34" charset="0"/>
              </a:rPr>
              <a:t> </a:t>
            </a:r>
            <a:endParaRPr lang="en-US" sz="1800" dirty="0">
              <a:cs typeface="Arial" panose="020B0604020202020204" pitchFamily="34" charset="0"/>
            </a:endParaRPr>
          </a:p>
        </p:txBody>
      </p:sp>
    </p:spTree>
    <p:extLst>
      <p:ext uri="{BB962C8B-B14F-4D97-AF65-F5344CB8AC3E}">
        <p14:creationId xmlns:p14="http://schemas.microsoft.com/office/powerpoint/2010/main" val="368402557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A85A4E-F8B6-34CA-1C67-94E45A6FF8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97E2FD-202A-960A-E4CA-B2534C34ADC9}"/>
              </a:ext>
            </a:extLst>
          </p:cNvPr>
          <p:cNvSpPr>
            <a:spLocks noGrp="1"/>
          </p:cNvSpPr>
          <p:nvPr>
            <p:ph type="title"/>
          </p:nvPr>
        </p:nvSpPr>
        <p:spPr>
          <a:xfrm>
            <a:off x="630265" y="2809277"/>
            <a:ext cx="8488117" cy="850726"/>
          </a:xfrm>
          <a:solidFill>
            <a:schemeClr val="bg1"/>
          </a:solidFill>
        </p:spPr>
        <p:txBody>
          <a:bodyPr anchor="ctr">
            <a:normAutofit/>
          </a:bodyPr>
          <a:lstStyle/>
          <a:p>
            <a:pPr algn="ctr"/>
            <a:r>
              <a:rPr lang="en-US" sz="5400" dirty="0"/>
              <a:t>Artifacts</a:t>
            </a:r>
          </a:p>
        </p:txBody>
      </p:sp>
      <p:sp>
        <p:nvSpPr>
          <p:cNvPr id="3" name="Content Placeholder 2">
            <a:extLst>
              <a:ext uri="{FF2B5EF4-FFF2-40B4-BE49-F238E27FC236}">
                <a16:creationId xmlns:a16="http://schemas.microsoft.com/office/drawing/2014/main" id="{CA113C5F-7EFE-3B6A-E572-2BF2662BB1BF}"/>
              </a:ext>
            </a:extLst>
          </p:cNvPr>
          <p:cNvSpPr>
            <a:spLocks noGrp="1"/>
          </p:cNvSpPr>
          <p:nvPr>
            <p:ph sz="half" idx="4294967295"/>
          </p:nvPr>
        </p:nvSpPr>
        <p:spPr>
          <a:xfrm>
            <a:off x="0" y="1163638"/>
            <a:ext cx="5181600" cy="5013325"/>
          </a:xfrm>
        </p:spPr>
        <p:txBody>
          <a:bodyPr>
            <a:normAutofit/>
          </a:bodyPr>
          <a:lstStyle/>
          <a:p>
            <a:pPr marL="0" indent="0" rtl="0" fontAlgn="base">
              <a:buNone/>
            </a:pPr>
            <a:endParaRPr lang="en-US" sz="1700" b="0" i="0">
              <a:effectLst/>
            </a:endParaRPr>
          </a:p>
          <a:p>
            <a:pPr marL="0" indent="0">
              <a:spcAft>
                <a:spcPts val="800"/>
              </a:spcAft>
              <a:buNone/>
            </a:pPr>
            <a:endParaRPr lang="en-US" sz="1700"/>
          </a:p>
        </p:txBody>
      </p:sp>
    </p:spTree>
    <p:extLst>
      <p:ext uri="{BB962C8B-B14F-4D97-AF65-F5344CB8AC3E}">
        <p14:creationId xmlns:p14="http://schemas.microsoft.com/office/powerpoint/2010/main" val="282668580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9BF8EE-E197-D5B9-6826-F4C85C6C420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CBD2466-32A8-C9D7-A496-84A2B1ADF301}"/>
              </a:ext>
            </a:extLst>
          </p:cNvPr>
          <p:cNvSpPr>
            <a:spLocks noGrp="1"/>
          </p:cNvSpPr>
          <p:nvPr>
            <p:ph type="title"/>
          </p:nvPr>
        </p:nvSpPr>
        <p:spPr>
          <a:xfrm>
            <a:off x="572756" y="133943"/>
            <a:ext cx="9813446" cy="850726"/>
          </a:xfrm>
        </p:spPr>
        <p:txBody>
          <a:bodyPr>
            <a:noAutofit/>
          </a:bodyPr>
          <a:lstStyle/>
          <a:p>
            <a:r>
              <a:rPr lang="en-US" sz="3200" dirty="0"/>
              <a:t>Project Initiation and Stakeholder Engagement</a:t>
            </a:r>
          </a:p>
        </p:txBody>
      </p:sp>
      <p:sp>
        <p:nvSpPr>
          <p:cNvPr id="8" name="Content Placeholder 4">
            <a:extLst>
              <a:ext uri="{FF2B5EF4-FFF2-40B4-BE49-F238E27FC236}">
                <a16:creationId xmlns:a16="http://schemas.microsoft.com/office/drawing/2014/main" id="{A8BE4308-1D98-CDF3-3F22-9CE0B8C58C6F}"/>
              </a:ext>
            </a:extLst>
          </p:cNvPr>
          <p:cNvSpPr txBox="1">
            <a:spLocks/>
          </p:cNvSpPr>
          <p:nvPr/>
        </p:nvSpPr>
        <p:spPr>
          <a:xfrm>
            <a:off x="573087" y="1216024"/>
            <a:ext cx="10659485" cy="5499407"/>
          </a:xfrm>
          <a:prstGeom prst="rect">
            <a:avLst/>
          </a:prstGeom>
        </p:spPr>
        <p:txBody>
          <a:bodyPr vert="horz" lIns="91440" tIns="45720" rIns="91440" bIns="45720" rtlCol="0" anchor="t">
            <a:normAutofit fontScale="4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IN" sz="2400" b="1" dirty="0"/>
              <a:t>Project </a:t>
            </a:r>
            <a:r>
              <a:rPr lang="en-IN" sz="2400" b="1" dirty="0" smtClean="0"/>
              <a:t>Charter</a:t>
            </a:r>
            <a:endParaRPr lang="en-IN" sz="2400" b="1" dirty="0">
              <a:cs typeface="Arial"/>
            </a:endParaRPr>
          </a:p>
          <a:p>
            <a:pPr marL="0" indent="0">
              <a:buNone/>
            </a:pPr>
            <a:r>
              <a:rPr lang="en-US" sz="2100" b="1" dirty="0"/>
              <a:t>1. Project Description</a:t>
            </a:r>
          </a:p>
          <a:p>
            <a:pPr marL="0" indent="0">
              <a:buNone/>
            </a:pPr>
            <a:r>
              <a:rPr lang="en-US" sz="2100" dirty="0"/>
              <a:t>The Core Digital Transformation for Retail Banking project is a strategic initiative to modernize the bank's entire technology infrastructure and operational systems. The project will replace legacy batch-processing platforms with a unified, cloud-native architecture leveraging </a:t>
            </a:r>
            <a:r>
              <a:rPr lang="en-US" sz="2100" dirty="0" err="1"/>
              <a:t>microservices</a:t>
            </a:r>
            <a:r>
              <a:rPr lang="en-US" sz="2100" dirty="0"/>
              <a:t>, containerization, and real-time data pipelines. The transformation addresses critical gaps in customer experience, regulatory compliance, and data integrity across all banking operations including customer onboarding, transaction processing, and loan servicing.</a:t>
            </a:r>
          </a:p>
          <a:p>
            <a:pPr marL="0" indent="0">
              <a:buNone/>
            </a:pPr>
            <a:endParaRPr lang="en-US" sz="2100" b="1" dirty="0"/>
          </a:p>
          <a:p>
            <a:pPr marL="0" indent="0">
              <a:buNone/>
            </a:pPr>
            <a:r>
              <a:rPr lang="en-US" sz="2100" b="1" dirty="0"/>
              <a:t>2. Objectives</a:t>
            </a:r>
          </a:p>
          <a:p>
            <a:pPr marL="0" indent="0">
              <a:buNone/>
            </a:pPr>
            <a:r>
              <a:rPr lang="en-US" sz="2100" dirty="0"/>
              <a:t>The project will achieve the following strategic objectives:</a:t>
            </a:r>
          </a:p>
          <a:p>
            <a:pPr marL="0" indent="0">
              <a:buNone/>
            </a:pPr>
            <a:r>
              <a:rPr lang="en-US" sz="2100" dirty="0" smtClean="0"/>
              <a:t>•Migrate </a:t>
            </a:r>
            <a:r>
              <a:rPr lang="en-US" sz="2100" dirty="0"/>
              <a:t>all legacy systems from </a:t>
            </a:r>
            <a:r>
              <a:rPr lang="en-US" sz="2100" dirty="0" err="1"/>
              <a:t>siloed</a:t>
            </a:r>
            <a:r>
              <a:rPr lang="en-US" sz="2100" dirty="0"/>
              <a:t> databases and batch workflows to a unified cloud-native </a:t>
            </a:r>
            <a:r>
              <a:rPr lang="en-US" sz="2100" dirty="0" err="1"/>
              <a:t>microservices</a:t>
            </a:r>
            <a:r>
              <a:rPr lang="en-US" sz="2100" dirty="0"/>
              <a:t> architecture.</a:t>
            </a:r>
          </a:p>
          <a:p>
            <a:pPr marL="0" indent="0">
              <a:buNone/>
            </a:pPr>
            <a:r>
              <a:rPr lang="en-US" sz="2100" dirty="0" smtClean="0"/>
              <a:t>•Establish </a:t>
            </a:r>
            <a:r>
              <a:rPr lang="en-US" sz="2100" dirty="0"/>
              <a:t>real-time data pipelines and a centralized data warehouse with secure APIs to enable data-driven decision-making.</a:t>
            </a:r>
          </a:p>
          <a:p>
            <a:pPr marL="0" indent="0">
              <a:buNone/>
            </a:pPr>
            <a:r>
              <a:rPr lang="en-US" sz="2100" dirty="0" smtClean="0"/>
              <a:t>•Implement </a:t>
            </a:r>
            <a:r>
              <a:rPr lang="en-US" sz="2100" dirty="0"/>
              <a:t>full auditability, encryption, and role-based access controls (RBAC) to meet regulatory mandates.</a:t>
            </a:r>
          </a:p>
          <a:p>
            <a:pPr marL="0" indent="0">
              <a:buNone/>
            </a:pPr>
            <a:r>
              <a:rPr lang="en-US" sz="2100" dirty="0" smtClean="0"/>
              <a:t>•Achieve </a:t>
            </a:r>
            <a:r>
              <a:rPr lang="en-US" sz="2100" dirty="0"/>
              <a:t>full compliance with KYC, AML, PCI-DSS, and GDPR regulatory frameworks.</a:t>
            </a:r>
          </a:p>
          <a:p>
            <a:pPr marL="0" indent="0">
              <a:buNone/>
            </a:pPr>
            <a:r>
              <a:rPr lang="en-US" sz="2100" dirty="0" smtClean="0"/>
              <a:t>•Reduce </a:t>
            </a:r>
            <a:r>
              <a:rPr lang="en-US" sz="2100" dirty="0"/>
              <a:t>manual processing errors and improve system scalability to support business growth.</a:t>
            </a:r>
          </a:p>
          <a:p>
            <a:pPr marL="0" indent="0">
              <a:buNone/>
            </a:pPr>
            <a:r>
              <a:rPr lang="en-US" sz="2100" dirty="0" smtClean="0"/>
              <a:t>•Deploy </a:t>
            </a:r>
            <a:r>
              <a:rPr lang="en-US" sz="2100" dirty="0"/>
              <a:t>fraud detection and customer analytics dashboards with real-time alerting capabilities.</a:t>
            </a:r>
          </a:p>
          <a:p>
            <a:pPr marL="0" indent="0">
              <a:buNone/>
            </a:pPr>
            <a:endParaRPr lang="en-US" sz="2100" b="1" dirty="0"/>
          </a:p>
          <a:p>
            <a:pPr marL="0" indent="0">
              <a:buNone/>
            </a:pPr>
            <a:r>
              <a:rPr lang="en-US" sz="2100" b="1" dirty="0"/>
              <a:t>3. Success Criteria</a:t>
            </a:r>
          </a:p>
          <a:p>
            <a:pPr marL="0" indent="0">
              <a:buNone/>
            </a:pPr>
            <a:r>
              <a:rPr lang="en-US" sz="2100" dirty="0"/>
              <a:t>Project success will be measured against the following criteria:</a:t>
            </a:r>
          </a:p>
          <a:p>
            <a:pPr marL="0" indent="0">
              <a:buNone/>
            </a:pPr>
            <a:r>
              <a:rPr lang="en-US" sz="2100" dirty="0" smtClean="0"/>
              <a:t>•100</a:t>
            </a:r>
            <a:r>
              <a:rPr lang="en-US" sz="2100" dirty="0"/>
              <a:t>% of core banking systems migrated to cloud-native architecture within project timeline.</a:t>
            </a:r>
          </a:p>
          <a:p>
            <a:pPr marL="0" indent="0">
              <a:buNone/>
            </a:pPr>
            <a:r>
              <a:rPr lang="en-US" sz="2100" dirty="0" smtClean="0"/>
              <a:t>•Zero </a:t>
            </a:r>
            <a:r>
              <a:rPr lang="en-US" sz="2100" dirty="0"/>
              <a:t>critical compliance findings in post-implementation KYC, AML, PCI-DSS, and GDPR audits.</a:t>
            </a:r>
          </a:p>
          <a:p>
            <a:pPr marL="0" indent="0">
              <a:buNone/>
            </a:pPr>
            <a:r>
              <a:rPr lang="en-US" sz="2100" dirty="0" smtClean="0"/>
              <a:t>•System </a:t>
            </a:r>
            <a:r>
              <a:rPr lang="en-US" sz="2100" dirty="0"/>
              <a:t>uptime of 99.9% or greater following go-live for all production services.</a:t>
            </a:r>
          </a:p>
          <a:p>
            <a:pPr marL="0" indent="0">
              <a:buNone/>
            </a:pPr>
            <a:r>
              <a:rPr lang="en-US" sz="2100" dirty="0" smtClean="0"/>
              <a:t>•Real-time </a:t>
            </a:r>
            <a:r>
              <a:rPr lang="en-US" sz="2100" dirty="0"/>
              <a:t>transaction processing latency reduced to under 500ms for 95th percentile requests.</a:t>
            </a:r>
          </a:p>
          <a:p>
            <a:pPr marL="0" indent="0">
              <a:buNone/>
            </a:pPr>
            <a:r>
              <a:rPr lang="en-US" sz="2100" dirty="0" smtClean="0"/>
              <a:t>•Fraud </a:t>
            </a:r>
            <a:r>
              <a:rPr lang="en-US" sz="2100" dirty="0"/>
              <a:t>detection alerts operational within 30 seconds of suspicious activity.</a:t>
            </a:r>
          </a:p>
          <a:p>
            <a:pPr marL="0" indent="0">
              <a:buNone/>
            </a:pPr>
            <a:r>
              <a:rPr lang="en-US" sz="2100" dirty="0" smtClean="0"/>
              <a:t>•All </a:t>
            </a:r>
            <a:r>
              <a:rPr lang="en-US" sz="2100" dirty="0"/>
              <a:t>data encrypted in transit and at rest; RBAC fully implemented and auditable.</a:t>
            </a:r>
          </a:p>
          <a:p>
            <a:pPr marL="0" indent="0">
              <a:buNone/>
            </a:pPr>
            <a:r>
              <a:rPr lang="en-US" sz="2100" dirty="0" smtClean="0"/>
              <a:t>•Successful </a:t>
            </a:r>
            <a:r>
              <a:rPr lang="en-US" sz="2100" dirty="0"/>
              <a:t>User Acceptance Testing (UAT) with sign-off from business unit leads.</a:t>
            </a:r>
          </a:p>
          <a:p>
            <a:pPr marL="0" indent="0">
              <a:buFont typeface="Arial" panose="020B0604020202020204" pitchFamily="34" charset="0"/>
              <a:buNone/>
            </a:pPr>
            <a:endParaRPr lang="en-IN" sz="800" dirty="0"/>
          </a:p>
        </p:txBody>
      </p:sp>
    </p:spTree>
    <p:extLst>
      <p:ext uri="{BB962C8B-B14F-4D97-AF65-F5344CB8AC3E}">
        <p14:creationId xmlns:p14="http://schemas.microsoft.com/office/powerpoint/2010/main" val="274600273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D9950B-3294-0080-17A8-8A9CD383ABA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9E81ACA-3B0A-9AE5-0607-EC7C9311430A}"/>
              </a:ext>
            </a:extLst>
          </p:cNvPr>
          <p:cNvSpPr>
            <a:spLocks noGrp="1"/>
          </p:cNvSpPr>
          <p:nvPr>
            <p:ph type="title"/>
          </p:nvPr>
        </p:nvSpPr>
        <p:spPr>
          <a:xfrm>
            <a:off x="572756" y="133943"/>
            <a:ext cx="9813446" cy="850726"/>
          </a:xfrm>
        </p:spPr>
        <p:txBody>
          <a:bodyPr>
            <a:noAutofit/>
          </a:bodyPr>
          <a:lstStyle/>
          <a:p>
            <a:r>
              <a:rPr lang="en-US" sz="3200" dirty="0"/>
              <a:t>Project Initiation and Stakeholder Engagement</a:t>
            </a:r>
          </a:p>
        </p:txBody>
      </p:sp>
      <p:sp>
        <p:nvSpPr>
          <p:cNvPr id="8" name="Content Placeholder 4">
            <a:extLst>
              <a:ext uri="{FF2B5EF4-FFF2-40B4-BE49-F238E27FC236}">
                <a16:creationId xmlns:a16="http://schemas.microsoft.com/office/drawing/2014/main" id="{25B78938-8947-ED6F-BD84-6B7BC1589E42}"/>
              </a:ext>
            </a:extLst>
          </p:cNvPr>
          <p:cNvSpPr txBox="1">
            <a:spLocks/>
          </p:cNvSpPr>
          <p:nvPr/>
        </p:nvSpPr>
        <p:spPr>
          <a:xfrm>
            <a:off x="573087" y="1216025"/>
            <a:ext cx="10659485" cy="4503738"/>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IN" sz="2400" b="1" dirty="0"/>
              <a:t>Stakeholder Register</a:t>
            </a:r>
          </a:p>
          <a:p>
            <a:pPr>
              <a:buNone/>
            </a:pPr>
            <a:endParaRPr lang="en-IN" sz="1000" dirty="0">
              <a:solidFill>
                <a:srgbClr val="111620"/>
              </a:solidFill>
              <a:cs typeface="Arial"/>
            </a:endParaRPr>
          </a:p>
          <a:p>
            <a:pPr marL="0" indent="0">
              <a:buNone/>
            </a:pPr>
            <a:endParaRPr lang="en-IN" sz="2400" b="1" dirty="0">
              <a:solidFill>
                <a:srgbClr val="111620"/>
              </a:solidFill>
              <a:cs typeface="Arial"/>
            </a:endParaRPr>
          </a:p>
        </p:txBody>
      </p:sp>
      <p:graphicFrame>
        <p:nvGraphicFramePr>
          <p:cNvPr id="2" name="Table 1"/>
          <p:cNvGraphicFramePr>
            <a:graphicFrameLocks noGrp="1"/>
          </p:cNvGraphicFramePr>
          <p:nvPr>
            <p:extLst>
              <p:ext uri="{D42A27DB-BD31-4B8C-83A1-F6EECF244321}">
                <p14:modId xmlns:p14="http://schemas.microsoft.com/office/powerpoint/2010/main" val="1152818825"/>
              </p:ext>
            </p:extLst>
          </p:nvPr>
        </p:nvGraphicFramePr>
        <p:xfrm>
          <a:off x="658760" y="1825625"/>
          <a:ext cx="10854814" cy="4351337"/>
        </p:xfrm>
        <a:graphic>
          <a:graphicData uri="http://schemas.openxmlformats.org/drawingml/2006/table">
            <a:tbl>
              <a:tblPr firstRow="1" firstCol="1" bandRow="1">
                <a:tableStyleId>{5C22544A-7EE6-4342-B048-85BDC9FD1C3A}</a:tableStyleId>
              </a:tblPr>
              <a:tblGrid>
                <a:gridCol w="392934">
                  <a:extLst>
                    <a:ext uri="{9D8B030D-6E8A-4147-A177-3AD203B41FA5}">
                      <a16:colId xmlns:a16="http://schemas.microsoft.com/office/drawing/2014/main" val="3619517104"/>
                    </a:ext>
                  </a:extLst>
                </a:gridCol>
                <a:gridCol w="1309782">
                  <a:extLst>
                    <a:ext uri="{9D8B030D-6E8A-4147-A177-3AD203B41FA5}">
                      <a16:colId xmlns:a16="http://schemas.microsoft.com/office/drawing/2014/main" val="566751027"/>
                    </a:ext>
                  </a:extLst>
                </a:gridCol>
                <a:gridCol w="1227920">
                  <a:extLst>
                    <a:ext uri="{9D8B030D-6E8A-4147-A177-3AD203B41FA5}">
                      <a16:colId xmlns:a16="http://schemas.microsoft.com/office/drawing/2014/main" val="4070526994"/>
                    </a:ext>
                  </a:extLst>
                </a:gridCol>
                <a:gridCol w="982336">
                  <a:extLst>
                    <a:ext uri="{9D8B030D-6E8A-4147-A177-3AD203B41FA5}">
                      <a16:colId xmlns:a16="http://schemas.microsoft.com/office/drawing/2014/main" val="635855134"/>
                    </a:ext>
                  </a:extLst>
                </a:gridCol>
                <a:gridCol w="491169">
                  <a:extLst>
                    <a:ext uri="{9D8B030D-6E8A-4147-A177-3AD203B41FA5}">
                      <a16:colId xmlns:a16="http://schemas.microsoft.com/office/drawing/2014/main" val="1310056928"/>
                    </a:ext>
                  </a:extLst>
                </a:gridCol>
                <a:gridCol w="474795">
                  <a:extLst>
                    <a:ext uri="{9D8B030D-6E8A-4147-A177-3AD203B41FA5}">
                      <a16:colId xmlns:a16="http://schemas.microsoft.com/office/drawing/2014/main" val="1003805757"/>
                    </a:ext>
                  </a:extLst>
                </a:gridCol>
                <a:gridCol w="573030">
                  <a:extLst>
                    <a:ext uri="{9D8B030D-6E8A-4147-A177-3AD203B41FA5}">
                      <a16:colId xmlns:a16="http://schemas.microsoft.com/office/drawing/2014/main" val="2073106046"/>
                    </a:ext>
                  </a:extLst>
                </a:gridCol>
                <a:gridCol w="450236">
                  <a:extLst>
                    <a:ext uri="{9D8B030D-6E8A-4147-A177-3AD203B41FA5}">
                      <a16:colId xmlns:a16="http://schemas.microsoft.com/office/drawing/2014/main" val="1929409397"/>
                    </a:ext>
                  </a:extLst>
                </a:gridCol>
                <a:gridCol w="1309782">
                  <a:extLst>
                    <a:ext uri="{9D8B030D-6E8A-4147-A177-3AD203B41FA5}">
                      <a16:colId xmlns:a16="http://schemas.microsoft.com/office/drawing/2014/main" val="1046779764"/>
                    </a:ext>
                  </a:extLst>
                </a:gridCol>
                <a:gridCol w="736752">
                  <a:extLst>
                    <a:ext uri="{9D8B030D-6E8A-4147-A177-3AD203B41FA5}">
                      <a16:colId xmlns:a16="http://schemas.microsoft.com/office/drawing/2014/main" val="2318124998"/>
                    </a:ext>
                  </a:extLst>
                </a:gridCol>
                <a:gridCol w="818613">
                  <a:extLst>
                    <a:ext uri="{9D8B030D-6E8A-4147-A177-3AD203B41FA5}">
                      <a16:colId xmlns:a16="http://schemas.microsoft.com/office/drawing/2014/main" val="3194169257"/>
                    </a:ext>
                  </a:extLst>
                </a:gridCol>
                <a:gridCol w="1391643">
                  <a:extLst>
                    <a:ext uri="{9D8B030D-6E8A-4147-A177-3AD203B41FA5}">
                      <a16:colId xmlns:a16="http://schemas.microsoft.com/office/drawing/2014/main" val="3364419157"/>
                    </a:ext>
                  </a:extLst>
                </a:gridCol>
                <a:gridCol w="695822">
                  <a:extLst>
                    <a:ext uri="{9D8B030D-6E8A-4147-A177-3AD203B41FA5}">
                      <a16:colId xmlns:a16="http://schemas.microsoft.com/office/drawing/2014/main" val="2386297084"/>
                    </a:ext>
                  </a:extLst>
                </a:gridCol>
              </a:tblGrid>
              <a:tr h="469034">
                <a:tc>
                  <a:txBody>
                    <a:bodyPr/>
                    <a:lstStyle/>
                    <a:p>
                      <a:pPr>
                        <a:spcAft>
                          <a:spcPts val="0"/>
                        </a:spcAft>
                      </a:pPr>
                      <a:r>
                        <a:rPr lang="en-MY" sz="800">
                          <a:effectLst/>
                        </a:rPr>
                        <a:t>ID</a:t>
                      </a:r>
                      <a:endParaRPr lang="en-MY" sz="900">
                        <a:effectLst/>
                        <a:latin typeface="Arial" panose="020B0604020202020204" pitchFamily="34" charset="0"/>
                        <a:ea typeface="Arial" panose="020B0604020202020204" pitchFamily="34" charset="0"/>
                      </a:endParaRPr>
                    </a:p>
                  </a:txBody>
                  <a:tcPr marL="58049" marR="58049" marT="46439" marB="46439"/>
                </a:tc>
                <a:tc>
                  <a:txBody>
                    <a:bodyPr/>
                    <a:lstStyle/>
                    <a:p>
                      <a:pPr>
                        <a:spcAft>
                          <a:spcPts val="0"/>
                        </a:spcAft>
                      </a:pPr>
                      <a:r>
                        <a:rPr lang="en-MY" sz="800">
                          <a:effectLst/>
                        </a:rPr>
                        <a:t>Stakeholder</a:t>
                      </a:r>
                      <a:endParaRPr lang="en-MY" sz="900">
                        <a:effectLst/>
                        <a:latin typeface="Arial" panose="020B0604020202020204" pitchFamily="34" charset="0"/>
                        <a:ea typeface="Arial" panose="020B0604020202020204" pitchFamily="34" charset="0"/>
                      </a:endParaRPr>
                    </a:p>
                  </a:txBody>
                  <a:tcPr marL="58049" marR="58049" marT="46439" marB="46439"/>
                </a:tc>
                <a:tc>
                  <a:txBody>
                    <a:bodyPr/>
                    <a:lstStyle/>
                    <a:p>
                      <a:pPr>
                        <a:spcAft>
                          <a:spcPts val="0"/>
                        </a:spcAft>
                      </a:pPr>
                      <a:r>
                        <a:rPr lang="en-MY" sz="800">
                          <a:effectLst/>
                        </a:rPr>
                        <a:t>Role</a:t>
                      </a:r>
                      <a:endParaRPr lang="en-MY" sz="900">
                        <a:effectLst/>
                        <a:latin typeface="Arial" panose="020B0604020202020204" pitchFamily="34" charset="0"/>
                        <a:ea typeface="Arial" panose="020B0604020202020204" pitchFamily="34" charset="0"/>
                      </a:endParaRPr>
                    </a:p>
                  </a:txBody>
                  <a:tcPr marL="58049" marR="58049" marT="46439" marB="46439"/>
                </a:tc>
                <a:tc>
                  <a:txBody>
                    <a:bodyPr/>
                    <a:lstStyle/>
                    <a:p>
                      <a:pPr>
                        <a:spcAft>
                          <a:spcPts val="0"/>
                        </a:spcAft>
                      </a:pPr>
                      <a:r>
                        <a:rPr lang="en-MY" sz="800">
                          <a:effectLst/>
                        </a:rPr>
                        <a:t>Department / Group</a:t>
                      </a:r>
                      <a:endParaRPr lang="en-MY" sz="900">
                        <a:effectLst/>
                        <a:latin typeface="Arial" panose="020B0604020202020204" pitchFamily="34" charset="0"/>
                        <a:ea typeface="Arial" panose="020B0604020202020204" pitchFamily="34" charset="0"/>
                      </a:endParaRPr>
                    </a:p>
                  </a:txBody>
                  <a:tcPr marL="58049" marR="58049" marT="46439" marB="46439"/>
                </a:tc>
                <a:tc>
                  <a:txBody>
                    <a:bodyPr/>
                    <a:lstStyle/>
                    <a:p>
                      <a:pPr>
                        <a:spcAft>
                          <a:spcPts val="0"/>
                        </a:spcAft>
                      </a:pPr>
                      <a:r>
                        <a:rPr lang="en-MY" sz="800">
                          <a:effectLst/>
                        </a:rPr>
                        <a:t>Attitude</a:t>
                      </a:r>
                      <a:endParaRPr lang="en-MY" sz="900">
                        <a:effectLst/>
                        <a:latin typeface="Arial" panose="020B0604020202020204" pitchFamily="34" charset="0"/>
                        <a:ea typeface="Arial" panose="020B0604020202020204" pitchFamily="34" charset="0"/>
                      </a:endParaRPr>
                    </a:p>
                  </a:txBody>
                  <a:tcPr marL="58049" marR="58049" marT="46439" marB="46439"/>
                </a:tc>
                <a:tc>
                  <a:txBody>
                    <a:bodyPr/>
                    <a:lstStyle/>
                    <a:p>
                      <a:pPr>
                        <a:spcAft>
                          <a:spcPts val="0"/>
                        </a:spcAft>
                      </a:pPr>
                      <a:r>
                        <a:rPr lang="en-MY" sz="800">
                          <a:effectLst/>
                        </a:rPr>
                        <a:t>Influence</a:t>
                      </a:r>
                      <a:endParaRPr lang="en-MY" sz="900">
                        <a:effectLst/>
                        <a:latin typeface="Arial" panose="020B0604020202020204" pitchFamily="34" charset="0"/>
                        <a:ea typeface="Arial" panose="020B0604020202020204" pitchFamily="34" charset="0"/>
                      </a:endParaRPr>
                    </a:p>
                  </a:txBody>
                  <a:tcPr marL="58049" marR="58049" marT="46439" marB="46439"/>
                </a:tc>
                <a:tc>
                  <a:txBody>
                    <a:bodyPr/>
                    <a:lstStyle/>
                    <a:p>
                      <a:pPr>
                        <a:spcAft>
                          <a:spcPts val="0"/>
                        </a:spcAft>
                      </a:pPr>
                      <a:r>
                        <a:rPr lang="en-MY" sz="800">
                          <a:effectLst/>
                        </a:rPr>
                        <a:t>Impact</a:t>
                      </a:r>
                      <a:endParaRPr lang="en-MY" sz="900">
                        <a:effectLst/>
                        <a:latin typeface="Arial" panose="020B0604020202020204" pitchFamily="34" charset="0"/>
                        <a:ea typeface="Arial" panose="020B0604020202020204" pitchFamily="34" charset="0"/>
                      </a:endParaRPr>
                    </a:p>
                  </a:txBody>
                  <a:tcPr marL="58049" marR="58049" marT="46439" marB="46439"/>
                </a:tc>
                <a:tc>
                  <a:txBody>
                    <a:bodyPr/>
                    <a:lstStyle/>
                    <a:p>
                      <a:pPr>
                        <a:spcAft>
                          <a:spcPts val="0"/>
                        </a:spcAft>
                      </a:pPr>
                      <a:r>
                        <a:rPr lang="en-MY" sz="800">
                          <a:effectLst/>
                        </a:rPr>
                        <a:t>Interest</a:t>
                      </a:r>
                      <a:endParaRPr lang="en-MY" sz="900">
                        <a:effectLst/>
                        <a:latin typeface="Arial" panose="020B0604020202020204" pitchFamily="34" charset="0"/>
                        <a:ea typeface="Arial" panose="020B0604020202020204" pitchFamily="34" charset="0"/>
                      </a:endParaRPr>
                    </a:p>
                  </a:txBody>
                  <a:tcPr marL="58049" marR="58049" marT="46439" marB="46439"/>
                </a:tc>
                <a:tc>
                  <a:txBody>
                    <a:bodyPr/>
                    <a:lstStyle/>
                    <a:p>
                      <a:pPr>
                        <a:spcAft>
                          <a:spcPts val="0"/>
                        </a:spcAft>
                      </a:pPr>
                      <a:r>
                        <a:rPr lang="en-MY" sz="800">
                          <a:effectLst/>
                        </a:rPr>
                        <a:t>Comm. Preferences</a:t>
                      </a:r>
                      <a:endParaRPr lang="en-MY" sz="900">
                        <a:effectLst/>
                        <a:latin typeface="Arial" panose="020B0604020202020204" pitchFamily="34" charset="0"/>
                        <a:ea typeface="Arial" panose="020B0604020202020204" pitchFamily="34" charset="0"/>
                      </a:endParaRPr>
                    </a:p>
                  </a:txBody>
                  <a:tcPr marL="58049" marR="58049" marT="46439" marB="46439"/>
                </a:tc>
                <a:tc>
                  <a:txBody>
                    <a:bodyPr/>
                    <a:lstStyle/>
                    <a:p>
                      <a:pPr>
                        <a:spcAft>
                          <a:spcPts val="0"/>
                        </a:spcAft>
                      </a:pPr>
                      <a:r>
                        <a:rPr lang="en-MY" sz="800">
                          <a:effectLst/>
                        </a:rPr>
                        <a:t>Location</a:t>
                      </a:r>
                      <a:endParaRPr lang="en-MY" sz="900">
                        <a:effectLst/>
                        <a:latin typeface="Arial" panose="020B0604020202020204" pitchFamily="34" charset="0"/>
                        <a:ea typeface="Arial" panose="020B0604020202020204" pitchFamily="34" charset="0"/>
                      </a:endParaRPr>
                    </a:p>
                  </a:txBody>
                  <a:tcPr marL="58049" marR="58049" marT="46439" marB="46439"/>
                </a:tc>
                <a:tc>
                  <a:txBody>
                    <a:bodyPr/>
                    <a:lstStyle/>
                    <a:p>
                      <a:pPr>
                        <a:spcAft>
                          <a:spcPts val="0"/>
                        </a:spcAft>
                      </a:pPr>
                      <a:r>
                        <a:rPr lang="en-MY" sz="800">
                          <a:effectLst/>
                        </a:rPr>
                        <a:t>Availability</a:t>
                      </a:r>
                      <a:endParaRPr lang="en-MY" sz="900">
                        <a:effectLst/>
                        <a:latin typeface="Arial" panose="020B0604020202020204" pitchFamily="34" charset="0"/>
                        <a:ea typeface="Arial" panose="020B0604020202020204" pitchFamily="34" charset="0"/>
                      </a:endParaRPr>
                    </a:p>
                  </a:txBody>
                  <a:tcPr marL="58049" marR="58049" marT="46439" marB="46439"/>
                </a:tc>
                <a:tc>
                  <a:txBody>
                    <a:bodyPr/>
                    <a:lstStyle/>
                    <a:p>
                      <a:pPr>
                        <a:spcAft>
                          <a:spcPts val="0"/>
                        </a:spcAft>
                      </a:pPr>
                      <a:r>
                        <a:rPr lang="en-MY" sz="800">
                          <a:effectLst/>
                        </a:rPr>
                        <a:t>Success Criteria</a:t>
                      </a:r>
                      <a:endParaRPr lang="en-MY" sz="900">
                        <a:effectLst/>
                        <a:latin typeface="Arial" panose="020B0604020202020204" pitchFamily="34" charset="0"/>
                        <a:ea typeface="Arial" panose="020B0604020202020204" pitchFamily="34" charset="0"/>
                      </a:endParaRPr>
                    </a:p>
                  </a:txBody>
                  <a:tcPr marL="58049" marR="58049" marT="46439" marB="46439"/>
                </a:tc>
                <a:tc>
                  <a:txBody>
                    <a:bodyPr/>
                    <a:lstStyle/>
                    <a:p>
                      <a:pPr>
                        <a:spcAft>
                          <a:spcPts val="0"/>
                        </a:spcAft>
                      </a:pPr>
                      <a:r>
                        <a:rPr lang="en-MY" sz="800">
                          <a:effectLst/>
                        </a:rPr>
                        <a:t>Work Hours</a:t>
                      </a:r>
                      <a:endParaRPr lang="en-MY" sz="900">
                        <a:effectLst/>
                        <a:latin typeface="Arial" panose="020B0604020202020204" pitchFamily="34" charset="0"/>
                        <a:ea typeface="Arial" panose="020B0604020202020204" pitchFamily="34" charset="0"/>
                      </a:endParaRPr>
                    </a:p>
                  </a:txBody>
                  <a:tcPr marL="58049" marR="58049" marT="46439" marB="46439"/>
                </a:tc>
                <a:extLst>
                  <a:ext uri="{0D108BD9-81ED-4DB2-BD59-A6C34878D82A}">
                    <a16:rowId xmlns:a16="http://schemas.microsoft.com/office/drawing/2014/main" val="1806131067"/>
                  </a:ext>
                </a:extLst>
              </a:tr>
              <a:tr h="970576">
                <a:tc>
                  <a:txBody>
                    <a:bodyPr/>
                    <a:lstStyle/>
                    <a:p>
                      <a:pPr>
                        <a:spcAft>
                          <a:spcPts val="0"/>
                        </a:spcAft>
                      </a:pPr>
                      <a:r>
                        <a:rPr lang="en-MY" sz="800">
                          <a:effectLst/>
                        </a:rPr>
                        <a:t>S-01</a:t>
                      </a:r>
                      <a:endParaRPr lang="en-MY" sz="900">
                        <a:effectLst/>
                        <a:latin typeface="Arial" panose="020B0604020202020204" pitchFamily="34" charset="0"/>
                        <a:ea typeface="Arial" panose="020B0604020202020204" pitchFamily="34" charset="0"/>
                      </a:endParaRPr>
                    </a:p>
                  </a:txBody>
                  <a:tcPr marL="58049" marR="58049" marT="46439" marB="46439"/>
                </a:tc>
                <a:tc>
                  <a:txBody>
                    <a:bodyPr/>
                    <a:lstStyle/>
                    <a:p>
                      <a:pPr>
                        <a:spcAft>
                          <a:spcPts val="0"/>
                        </a:spcAft>
                      </a:pPr>
                      <a:r>
                        <a:rPr lang="en-MY" sz="800">
                          <a:effectLst/>
                        </a:rPr>
                        <a:t>Chief Executive Officer (CEO)</a:t>
                      </a:r>
                      <a:endParaRPr lang="en-MY" sz="900">
                        <a:effectLst/>
                        <a:latin typeface="Arial" panose="020B0604020202020204" pitchFamily="34" charset="0"/>
                        <a:ea typeface="Arial" panose="020B0604020202020204" pitchFamily="34" charset="0"/>
                      </a:endParaRPr>
                    </a:p>
                  </a:txBody>
                  <a:tcPr marL="58049" marR="58049" marT="46439" marB="46439"/>
                </a:tc>
                <a:tc>
                  <a:txBody>
                    <a:bodyPr/>
                    <a:lstStyle/>
                    <a:p>
                      <a:pPr>
                        <a:spcAft>
                          <a:spcPts val="0"/>
                        </a:spcAft>
                      </a:pPr>
                      <a:r>
                        <a:rPr lang="en-MY" sz="800">
                          <a:effectLst/>
                        </a:rPr>
                        <a:t>Project Sponsor / Executive Champion</a:t>
                      </a:r>
                      <a:endParaRPr lang="en-MY" sz="900">
                        <a:effectLst/>
                        <a:latin typeface="Arial" panose="020B0604020202020204" pitchFamily="34" charset="0"/>
                        <a:ea typeface="Arial" panose="020B0604020202020204" pitchFamily="34" charset="0"/>
                      </a:endParaRPr>
                    </a:p>
                  </a:txBody>
                  <a:tcPr marL="58049" marR="58049" marT="46439" marB="46439"/>
                </a:tc>
                <a:tc>
                  <a:txBody>
                    <a:bodyPr/>
                    <a:lstStyle/>
                    <a:p>
                      <a:pPr>
                        <a:spcAft>
                          <a:spcPts val="0"/>
                        </a:spcAft>
                      </a:pPr>
                      <a:r>
                        <a:rPr lang="en-MY" sz="800">
                          <a:effectLst/>
                        </a:rPr>
                        <a:t>Executive Leadership</a:t>
                      </a:r>
                      <a:endParaRPr lang="en-MY" sz="900">
                        <a:effectLst/>
                        <a:latin typeface="Arial" panose="020B0604020202020204" pitchFamily="34" charset="0"/>
                        <a:ea typeface="Arial" panose="020B0604020202020204" pitchFamily="34" charset="0"/>
                      </a:endParaRPr>
                    </a:p>
                  </a:txBody>
                  <a:tcPr marL="58049" marR="58049" marT="46439" marB="46439"/>
                </a:tc>
                <a:tc>
                  <a:txBody>
                    <a:bodyPr/>
                    <a:lstStyle/>
                    <a:p>
                      <a:pPr algn="ctr">
                        <a:spcAft>
                          <a:spcPts val="0"/>
                        </a:spcAft>
                      </a:pPr>
                      <a:r>
                        <a:rPr lang="en-MY" sz="800">
                          <a:effectLst/>
                        </a:rPr>
                        <a:t>Supportive</a:t>
                      </a:r>
                      <a:endParaRPr lang="en-MY" sz="900">
                        <a:effectLst/>
                        <a:latin typeface="Arial" panose="020B0604020202020204" pitchFamily="34" charset="0"/>
                        <a:ea typeface="Arial" panose="020B0604020202020204" pitchFamily="34" charset="0"/>
                      </a:endParaRPr>
                    </a:p>
                  </a:txBody>
                  <a:tcPr marL="58049" marR="58049" marT="46439" marB="46439"/>
                </a:tc>
                <a:tc>
                  <a:txBody>
                    <a:bodyPr/>
                    <a:lstStyle/>
                    <a:p>
                      <a:pPr algn="ctr">
                        <a:spcAft>
                          <a:spcPts val="0"/>
                        </a:spcAft>
                      </a:pPr>
                      <a:r>
                        <a:rPr lang="en-MY" sz="800">
                          <a:effectLst/>
                        </a:rPr>
                        <a:t>High</a:t>
                      </a:r>
                      <a:endParaRPr lang="en-MY" sz="900">
                        <a:effectLst/>
                        <a:latin typeface="Arial" panose="020B0604020202020204" pitchFamily="34" charset="0"/>
                        <a:ea typeface="Arial" panose="020B0604020202020204" pitchFamily="34" charset="0"/>
                      </a:endParaRPr>
                    </a:p>
                  </a:txBody>
                  <a:tcPr marL="58049" marR="58049" marT="46439" marB="46439"/>
                </a:tc>
                <a:tc>
                  <a:txBody>
                    <a:bodyPr/>
                    <a:lstStyle/>
                    <a:p>
                      <a:pPr algn="ctr">
                        <a:spcAft>
                          <a:spcPts val="0"/>
                        </a:spcAft>
                      </a:pPr>
                      <a:r>
                        <a:rPr lang="en-MY" sz="800">
                          <a:effectLst/>
                        </a:rPr>
                        <a:t>High</a:t>
                      </a:r>
                      <a:endParaRPr lang="en-MY" sz="900">
                        <a:effectLst/>
                        <a:latin typeface="Arial" panose="020B0604020202020204" pitchFamily="34" charset="0"/>
                        <a:ea typeface="Arial" panose="020B0604020202020204" pitchFamily="34" charset="0"/>
                      </a:endParaRPr>
                    </a:p>
                  </a:txBody>
                  <a:tcPr marL="58049" marR="58049" marT="46439" marB="46439"/>
                </a:tc>
                <a:tc>
                  <a:txBody>
                    <a:bodyPr/>
                    <a:lstStyle/>
                    <a:p>
                      <a:pPr algn="ctr">
                        <a:spcAft>
                          <a:spcPts val="0"/>
                        </a:spcAft>
                      </a:pPr>
                      <a:r>
                        <a:rPr lang="en-MY" sz="800">
                          <a:effectLst/>
                        </a:rPr>
                        <a:t>High</a:t>
                      </a:r>
                      <a:endParaRPr lang="en-MY" sz="900">
                        <a:effectLst/>
                        <a:latin typeface="Arial" panose="020B0604020202020204" pitchFamily="34" charset="0"/>
                        <a:ea typeface="Arial" panose="020B0604020202020204" pitchFamily="34" charset="0"/>
                      </a:endParaRPr>
                    </a:p>
                  </a:txBody>
                  <a:tcPr marL="58049" marR="58049" marT="46439" marB="46439"/>
                </a:tc>
                <a:tc>
                  <a:txBody>
                    <a:bodyPr/>
                    <a:lstStyle/>
                    <a:p>
                      <a:pPr>
                        <a:spcAft>
                          <a:spcPts val="0"/>
                        </a:spcAft>
                      </a:pPr>
                      <a:r>
                        <a:rPr lang="en-MY" sz="800">
                          <a:effectLst/>
                        </a:rPr>
                        <a:t>Monthly executive summary reports; escalations as needed</a:t>
                      </a:r>
                      <a:endParaRPr lang="en-MY" sz="900">
                        <a:effectLst/>
                        <a:latin typeface="Arial" panose="020B0604020202020204" pitchFamily="34" charset="0"/>
                        <a:ea typeface="Arial" panose="020B0604020202020204" pitchFamily="34" charset="0"/>
                      </a:endParaRPr>
                    </a:p>
                  </a:txBody>
                  <a:tcPr marL="58049" marR="58049" marT="46439" marB="46439"/>
                </a:tc>
                <a:tc>
                  <a:txBody>
                    <a:bodyPr/>
                    <a:lstStyle/>
                    <a:p>
                      <a:pPr>
                        <a:spcAft>
                          <a:spcPts val="0"/>
                        </a:spcAft>
                      </a:pPr>
                      <a:r>
                        <a:rPr lang="en-MY" sz="800">
                          <a:effectLst/>
                        </a:rPr>
                        <a:t>Head Office</a:t>
                      </a:r>
                      <a:endParaRPr lang="en-MY" sz="900">
                        <a:effectLst/>
                        <a:latin typeface="Arial" panose="020B0604020202020204" pitchFamily="34" charset="0"/>
                        <a:ea typeface="Arial" panose="020B0604020202020204" pitchFamily="34" charset="0"/>
                      </a:endParaRPr>
                    </a:p>
                  </a:txBody>
                  <a:tcPr marL="58049" marR="58049" marT="46439" marB="46439"/>
                </a:tc>
                <a:tc>
                  <a:txBody>
                    <a:bodyPr/>
                    <a:lstStyle/>
                    <a:p>
                      <a:pPr>
                        <a:spcAft>
                          <a:spcPts val="0"/>
                        </a:spcAft>
                      </a:pPr>
                      <a:r>
                        <a:rPr lang="en-MY" sz="800">
                          <a:effectLst/>
                        </a:rPr>
                        <a:t>Limited – strategic decisions only</a:t>
                      </a:r>
                      <a:endParaRPr lang="en-MY" sz="900">
                        <a:effectLst/>
                        <a:latin typeface="Arial" panose="020B0604020202020204" pitchFamily="34" charset="0"/>
                        <a:ea typeface="Arial" panose="020B0604020202020204" pitchFamily="34" charset="0"/>
                      </a:endParaRPr>
                    </a:p>
                  </a:txBody>
                  <a:tcPr marL="58049" marR="58049" marT="46439" marB="46439"/>
                </a:tc>
                <a:tc>
                  <a:txBody>
                    <a:bodyPr/>
                    <a:lstStyle/>
                    <a:p>
                      <a:pPr>
                        <a:spcAft>
                          <a:spcPts val="0"/>
                        </a:spcAft>
                      </a:pPr>
                      <a:r>
                        <a:rPr lang="en-MY" sz="800">
                          <a:effectLst/>
                        </a:rPr>
                        <a:t>Regulatory compliance achieved; revenue growth; reduced operational risk</a:t>
                      </a:r>
                      <a:endParaRPr lang="en-MY" sz="900">
                        <a:effectLst/>
                        <a:latin typeface="Arial" panose="020B0604020202020204" pitchFamily="34" charset="0"/>
                        <a:ea typeface="Arial" panose="020B0604020202020204" pitchFamily="34" charset="0"/>
                      </a:endParaRPr>
                    </a:p>
                  </a:txBody>
                  <a:tcPr marL="58049" marR="58049" marT="46439" marB="46439"/>
                </a:tc>
                <a:tc>
                  <a:txBody>
                    <a:bodyPr/>
                    <a:lstStyle/>
                    <a:p>
                      <a:pPr>
                        <a:spcAft>
                          <a:spcPts val="0"/>
                        </a:spcAft>
                      </a:pPr>
                      <a:r>
                        <a:rPr lang="en-MY" sz="800">
                          <a:effectLst/>
                        </a:rPr>
                        <a:t>As required for approvals and escalations</a:t>
                      </a:r>
                      <a:endParaRPr lang="en-MY" sz="900">
                        <a:effectLst/>
                        <a:latin typeface="Arial" panose="020B0604020202020204" pitchFamily="34" charset="0"/>
                        <a:ea typeface="Arial" panose="020B0604020202020204" pitchFamily="34" charset="0"/>
                      </a:endParaRPr>
                    </a:p>
                  </a:txBody>
                  <a:tcPr marL="58049" marR="58049" marT="46439" marB="46439"/>
                </a:tc>
                <a:extLst>
                  <a:ext uri="{0D108BD9-81ED-4DB2-BD59-A6C34878D82A}">
                    <a16:rowId xmlns:a16="http://schemas.microsoft.com/office/drawing/2014/main" val="1797807371"/>
                  </a:ext>
                </a:extLst>
              </a:tr>
              <a:tr h="719805">
                <a:tc>
                  <a:txBody>
                    <a:bodyPr/>
                    <a:lstStyle/>
                    <a:p>
                      <a:pPr>
                        <a:spcAft>
                          <a:spcPts val="0"/>
                        </a:spcAft>
                      </a:pPr>
                      <a:r>
                        <a:rPr lang="en-MY" sz="800">
                          <a:effectLst/>
                        </a:rPr>
                        <a:t>S-02</a:t>
                      </a:r>
                      <a:endParaRPr lang="en-MY" sz="900">
                        <a:effectLst/>
                        <a:latin typeface="Arial" panose="020B0604020202020204" pitchFamily="34" charset="0"/>
                        <a:ea typeface="Arial" panose="020B0604020202020204" pitchFamily="34" charset="0"/>
                      </a:endParaRPr>
                    </a:p>
                  </a:txBody>
                  <a:tcPr marL="58049" marR="58049" marT="46439" marB="46439"/>
                </a:tc>
                <a:tc>
                  <a:txBody>
                    <a:bodyPr/>
                    <a:lstStyle/>
                    <a:p>
                      <a:pPr>
                        <a:spcAft>
                          <a:spcPts val="0"/>
                        </a:spcAft>
                      </a:pPr>
                      <a:r>
                        <a:rPr lang="en-MY" sz="800">
                          <a:effectLst/>
                        </a:rPr>
                        <a:t>Chief Information Officer (CIO)</a:t>
                      </a:r>
                      <a:endParaRPr lang="en-MY" sz="900">
                        <a:effectLst/>
                        <a:latin typeface="Arial" panose="020B0604020202020204" pitchFamily="34" charset="0"/>
                        <a:ea typeface="Arial" panose="020B0604020202020204" pitchFamily="34" charset="0"/>
                      </a:endParaRPr>
                    </a:p>
                  </a:txBody>
                  <a:tcPr marL="58049" marR="58049" marT="46439" marB="46439"/>
                </a:tc>
                <a:tc>
                  <a:txBody>
                    <a:bodyPr/>
                    <a:lstStyle/>
                    <a:p>
                      <a:pPr>
                        <a:spcAft>
                          <a:spcPts val="0"/>
                        </a:spcAft>
                      </a:pPr>
                      <a:r>
                        <a:rPr lang="en-MY" sz="800">
                          <a:effectLst/>
                        </a:rPr>
                        <a:t>Project Manager / IT Lead</a:t>
                      </a:r>
                      <a:endParaRPr lang="en-MY" sz="900">
                        <a:effectLst/>
                        <a:latin typeface="Arial" panose="020B0604020202020204" pitchFamily="34" charset="0"/>
                        <a:ea typeface="Arial" panose="020B0604020202020204" pitchFamily="34" charset="0"/>
                      </a:endParaRPr>
                    </a:p>
                  </a:txBody>
                  <a:tcPr marL="58049" marR="58049" marT="46439" marB="46439"/>
                </a:tc>
                <a:tc>
                  <a:txBody>
                    <a:bodyPr/>
                    <a:lstStyle/>
                    <a:p>
                      <a:pPr>
                        <a:spcAft>
                          <a:spcPts val="0"/>
                        </a:spcAft>
                      </a:pPr>
                      <a:r>
                        <a:rPr lang="en-MY" sz="800">
                          <a:effectLst/>
                        </a:rPr>
                        <a:t>Information Technology</a:t>
                      </a:r>
                      <a:endParaRPr lang="en-MY" sz="900">
                        <a:effectLst/>
                        <a:latin typeface="Arial" panose="020B0604020202020204" pitchFamily="34" charset="0"/>
                        <a:ea typeface="Arial" panose="020B0604020202020204" pitchFamily="34" charset="0"/>
                      </a:endParaRPr>
                    </a:p>
                  </a:txBody>
                  <a:tcPr marL="58049" marR="58049" marT="46439" marB="46439"/>
                </a:tc>
                <a:tc>
                  <a:txBody>
                    <a:bodyPr/>
                    <a:lstStyle/>
                    <a:p>
                      <a:pPr algn="ctr">
                        <a:spcAft>
                          <a:spcPts val="0"/>
                        </a:spcAft>
                      </a:pPr>
                      <a:r>
                        <a:rPr lang="en-MY" sz="800">
                          <a:effectLst/>
                        </a:rPr>
                        <a:t>Supportive</a:t>
                      </a:r>
                      <a:endParaRPr lang="en-MY" sz="900">
                        <a:effectLst/>
                        <a:latin typeface="Arial" panose="020B0604020202020204" pitchFamily="34" charset="0"/>
                        <a:ea typeface="Arial" panose="020B0604020202020204" pitchFamily="34" charset="0"/>
                      </a:endParaRPr>
                    </a:p>
                  </a:txBody>
                  <a:tcPr marL="58049" marR="58049" marT="46439" marB="46439"/>
                </a:tc>
                <a:tc>
                  <a:txBody>
                    <a:bodyPr/>
                    <a:lstStyle/>
                    <a:p>
                      <a:pPr algn="ctr">
                        <a:spcAft>
                          <a:spcPts val="0"/>
                        </a:spcAft>
                      </a:pPr>
                      <a:r>
                        <a:rPr lang="en-MY" sz="800">
                          <a:effectLst/>
                        </a:rPr>
                        <a:t>High</a:t>
                      </a:r>
                      <a:endParaRPr lang="en-MY" sz="900">
                        <a:effectLst/>
                        <a:latin typeface="Arial" panose="020B0604020202020204" pitchFamily="34" charset="0"/>
                        <a:ea typeface="Arial" panose="020B0604020202020204" pitchFamily="34" charset="0"/>
                      </a:endParaRPr>
                    </a:p>
                  </a:txBody>
                  <a:tcPr marL="58049" marR="58049" marT="46439" marB="46439"/>
                </a:tc>
                <a:tc>
                  <a:txBody>
                    <a:bodyPr/>
                    <a:lstStyle/>
                    <a:p>
                      <a:pPr algn="ctr">
                        <a:spcAft>
                          <a:spcPts val="0"/>
                        </a:spcAft>
                      </a:pPr>
                      <a:r>
                        <a:rPr lang="en-MY" sz="800">
                          <a:effectLst/>
                        </a:rPr>
                        <a:t>High</a:t>
                      </a:r>
                      <a:endParaRPr lang="en-MY" sz="900">
                        <a:effectLst/>
                        <a:latin typeface="Arial" panose="020B0604020202020204" pitchFamily="34" charset="0"/>
                        <a:ea typeface="Arial" panose="020B0604020202020204" pitchFamily="34" charset="0"/>
                      </a:endParaRPr>
                    </a:p>
                  </a:txBody>
                  <a:tcPr marL="58049" marR="58049" marT="46439" marB="46439"/>
                </a:tc>
                <a:tc>
                  <a:txBody>
                    <a:bodyPr/>
                    <a:lstStyle/>
                    <a:p>
                      <a:pPr algn="ctr">
                        <a:spcAft>
                          <a:spcPts val="0"/>
                        </a:spcAft>
                      </a:pPr>
                      <a:r>
                        <a:rPr lang="en-MY" sz="800">
                          <a:effectLst/>
                        </a:rPr>
                        <a:t>High</a:t>
                      </a:r>
                      <a:endParaRPr lang="en-MY" sz="900">
                        <a:effectLst/>
                        <a:latin typeface="Arial" panose="020B0604020202020204" pitchFamily="34" charset="0"/>
                        <a:ea typeface="Arial" panose="020B0604020202020204" pitchFamily="34" charset="0"/>
                      </a:endParaRPr>
                    </a:p>
                  </a:txBody>
                  <a:tcPr marL="58049" marR="58049" marT="46439" marB="46439"/>
                </a:tc>
                <a:tc>
                  <a:txBody>
                    <a:bodyPr/>
                    <a:lstStyle/>
                    <a:p>
                      <a:pPr>
                        <a:spcAft>
                          <a:spcPts val="0"/>
                        </a:spcAft>
                      </a:pPr>
                      <a:r>
                        <a:rPr lang="en-MY" sz="800">
                          <a:effectLst/>
                        </a:rPr>
                        <a:t>Weekly project status reports; daily stand-up during critical phases</a:t>
                      </a:r>
                      <a:endParaRPr lang="en-MY" sz="900">
                        <a:effectLst/>
                        <a:latin typeface="Arial" panose="020B0604020202020204" pitchFamily="34" charset="0"/>
                        <a:ea typeface="Arial" panose="020B0604020202020204" pitchFamily="34" charset="0"/>
                      </a:endParaRPr>
                    </a:p>
                  </a:txBody>
                  <a:tcPr marL="58049" marR="58049" marT="46439" marB="46439"/>
                </a:tc>
                <a:tc>
                  <a:txBody>
                    <a:bodyPr/>
                    <a:lstStyle/>
                    <a:p>
                      <a:pPr>
                        <a:spcAft>
                          <a:spcPts val="0"/>
                        </a:spcAft>
                      </a:pPr>
                      <a:r>
                        <a:rPr lang="en-MY" sz="800">
                          <a:effectLst/>
                        </a:rPr>
                        <a:t>Head Office / Remote</a:t>
                      </a:r>
                      <a:endParaRPr lang="en-MY" sz="900">
                        <a:effectLst/>
                        <a:latin typeface="Arial" panose="020B0604020202020204" pitchFamily="34" charset="0"/>
                        <a:ea typeface="Arial" panose="020B0604020202020204" pitchFamily="34" charset="0"/>
                      </a:endParaRPr>
                    </a:p>
                  </a:txBody>
                  <a:tcPr marL="58049" marR="58049" marT="46439" marB="46439"/>
                </a:tc>
                <a:tc>
                  <a:txBody>
                    <a:bodyPr/>
                    <a:lstStyle/>
                    <a:p>
                      <a:pPr>
                        <a:spcAft>
                          <a:spcPts val="0"/>
                        </a:spcAft>
                      </a:pPr>
                      <a:r>
                        <a:rPr lang="en-MY" sz="800">
                          <a:effectLst/>
                        </a:rPr>
                        <a:t>Full-time project involvement</a:t>
                      </a:r>
                      <a:endParaRPr lang="en-MY" sz="900">
                        <a:effectLst/>
                        <a:latin typeface="Arial" panose="020B0604020202020204" pitchFamily="34" charset="0"/>
                        <a:ea typeface="Arial" panose="020B0604020202020204" pitchFamily="34" charset="0"/>
                      </a:endParaRPr>
                    </a:p>
                  </a:txBody>
                  <a:tcPr marL="58049" marR="58049" marT="46439" marB="46439"/>
                </a:tc>
                <a:tc>
                  <a:txBody>
                    <a:bodyPr/>
                    <a:lstStyle/>
                    <a:p>
                      <a:pPr>
                        <a:spcAft>
                          <a:spcPts val="0"/>
                        </a:spcAft>
                      </a:pPr>
                      <a:r>
                        <a:rPr lang="en-MY" sz="800">
                          <a:effectLst/>
                        </a:rPr>
                        <a:t>On-time, on-budget delivery; stable production systems post go-live</a:t>
                      </a:r>
                      <a:endParaRPr lang="en-MY" sz="900">
                        <a:effectLst/>
                        <a:latin typeface="Arial" panose="020B0604020202020204" pitchFamily="34" charset="0"/>
                        <a:ea typeface="Arial" panose="020B0604020202020204" pitchFamily="34" charset="0"/>
                      </a:endParaRPr>
                    </a:p>
                  </a:txBody>
                  <a:tcPr marL="58049" marR="58049" marT="46439" marB="46439"/>
                </a:tc>
                <a:tc>
                  <a:txBody>
                    <a:bodyPr/>
                    <a:lstStyle/>
                    <a:p>
                      <a:pPr>
                        <a:spcAft>
                          <a:spcPts val="0"/>
                        </a:spcAft>
                      </a:pPr>
                      <a:r>
                        <a:rPr lang="en-MY" sz="800">
                          <a:effectLst/>
                        </a:rPr>
                        <a:t>Full-time (40 hrs/week)</a:t>
                      </a:r>
                      <a:endParaRPr lang="en-MY" sz="900">
                        <a:effectLst/>
                        <a:latin typeface="Arial" panose="020B0604020202020204" pitchFamily="34" charset="0"/>
                        <a:ea typeface="Arial" panose="020B0604020202020204" pitchFamily="34" charset="0"/>
                      </a:endParaRPr>
                    </a:p>
                  </a:txBody>
                  <a:tcPr marL="58049" marR="58049" marT="46439" marB="46439"/>
                </a:tc>
                <a:extLst>
                  <a:ext uri="{0D108BD9-81ED-4DB2-BD59-A6C34878D82A}">
                    <a16:rowId xmlns:a16="http://schemas.microsoft.com/office/drawing/2014/main" val="3051536553"/>
                  </a:ext>
                </a:extLst>
              </a:tr>
              <a:tr h="845190">
                <a:tc>
                  <a:txBody>
                    <a:bodyPr/>
                    <a:lstStyle/>
                    <a:p>
                      <a:pPr>
                        <a:spcAft>
                          <a:spcPts val="0"/>
                        </a:spcAft>
                      </a:pPr>
                      <a:r>
                        <a:rPr lang="en-MY" sz="800">
                          <a:effectLst/>
                        </a:rPr>
                        <a:t>S-03</a:t>
                      </a:r>
                      <a:endParaRPr lang="en-MY" sz="900">
                        <a:effectLst/>
                        <a:latin typeface="Arial" panose="020B0604020202020204" pitchFamily="34" charset="0"/>
                        <a:ea typeface="Arial" panose="020B0604020202020204" pitchFamily="34" charset="0"/>
                      </a:endParaRPr>
                    </a:p>
                  </a:txBody>
                  <a:tcPr marL="58049" marR="58049" marT="46439" marB="46439"/>
                </a:tc>
                <a:tc>
                  <a:txBody>
                    <a:bodyPr/>
                    <a:lstStyle/>
                    <a:p>
                      <a:pPr>
                        <a:spcAft>
                          <a:spcPts val="0"/>
                        </a:spcAft>
                      </a:pPr>
                      <a:r>
                        <a:rPr lang="en-MY" sz="800">
                          <a:effectLst/>
                        </a:rPr>
                        <a:t>Chief Compliance Officer (CCO)</a:t>
                      </a:r>
                      <a:endParaRPr lang="en-MY" sz="900">
                        <a:effectLst/>
                        <a:latin typeface="Arial" panose="020B0604020202020204" pitchFamily="34" charset="0"/>
                        <a:ea typeface="Arial" panose="020B0604020202020204" pitchFamily="34" charset="0"/>
                      </a:endParaRPr>
                    </a:p>
                  </a:txBody>
                  <a:tcPr marL="58049" marR="58049" marT="46439" marB="46439"/>
                </a:tc>
                <a:tc>
                  <a:txBody>
                    <a:bodyPr/>
                    <a:lstStyle/>
                    <a:p>
                      <a:pPr>
                        <a:spcAft>
                          <a:spcPts val="0"/>
                        </a:spcAft>
                      </a:pPr>
                      <a:r>
                        <a:rPr lang="en-MY" sz="800">
                          <a:effectLst/>
                        </a:rPr>
                        <a:t>Regulatory Advisor / Approver</a:t>
                      </a:r>
                      <a:endParaRPr lang="en-MY" sz="900">
                        <a:effectLst/>
                        <a:latin typeface="Arial" panose="020B0604020202020204" pitchFamily="34" charset="0"/>
                        <a:ea typeface="Arial" panose="020B0604020202020204" pitchFamily="34" charset="0"/>
                      </a:endParaRPr>
                    </a:p>
                  </a:txBody>
                  <a:tcPr marL="58049" marR="58049" marT="46439" marB="46439"/>
                </a:tc>
                <a:tc>
                  <a:txBody>
                    <a:bodyPr/>
                    <a:lstStyle/>
                    <a:p>
                      <a:pPr>
                        <a:spcAft>
                          <a:spcPts val="0"/>
                        </a:spcAft>
                      </a:pPr>
                      <a:r>
                        <a:rPr lang="en-MY" sz="800">
                          <a:effectLst/>
                        </a:rPr>
                        <a:t>Regulatory Affairs &amp; Compliance</a:t>
                      </a:r>
                      <a:endParaRPr lang="en-MY" sz="900">
                        <a:effectLst/>
                        <a:latin typeface="Arial" panose="020B0604020202020204" pitchFamily="34" charset="0"/>
                        <a:ea typeface="Arial" panose="020B0604020202020204" pitchFamily="34" charset="0"/>
                      </a:endParaRPr>
                    </a:p>
                  </a:txBody>
                  <a:tcPr marL="58049" marR="58049" marT="46439" marB="46439"/>
                </a:tc>
                <a:tc>
                  <a:txBody>
                    <a:bodyPr/>
                    <a:lstStyle/>
                    <a:p>
                      <a:pPr algn="ctr">
                        <a:spcAft>
                          <a:spcPts val="0"/>
                        </a:spcAft>
                      </a:pPr>
                      <a:r>
                        <a:rPr lang="en-MY" sz="800">
                          <a:effectLst/>
                        </a:rPr>
                        <a:t>Supportive</a:t>
                      </a:r>
                      <a:endParaRPr lang="en-MY" sz="900">
                        <a:effectLst/>
                        <a:latin typeface="Arial" panose="020B0604020202020204" pitchFamily="34" charset="0"/>
                        <a:ea typeface="Arial" panose="020B0604020202020204" pitchFamily="34" charset="0"/>
                      </a:endParaRPr>
                    </a:p>
                  </a:txBody>
                  <a:tcPr marL="58049" marR="58049" marT="46439" marB="46439"/>
                </a:tc>
                <a:tc>
                  <a:txBody>
                    <a:bodyPr/>
                    <a:lstStyle/>
                    <a:p>
                      <a:pPr algn="ctr">
                        <a:spcAft>
                          <a:spcPts val="0"/>
                        </a:spcAft>
                      </a:pPr>
                      <a:r>
                        <a:rPr lang="en-MY" sz="800">
                          <a:effectLst/>
                        </a:rPr>
                        <a:t>High</a:t>
                      </a:r>
                      <a:endParaRPr lang="en-MY" sz="900">
                        <a:effectLst/>
                        <a:latin typeface="Arial" panose="020B0604020202020204" pitchFamily="34" charset="0"/>
                        <a:ea typeface="Arial" panose="020B0604020202020204" pitchFamily="34" charset="0"/>
                      </a:endParaRPr>
                    </a:p>
                  </a:txBody>
                  <a:tcPr marL="58049" marR="58049" marT="46439" marB="46439"/>
                </a:tc>
                <a:tc>
                  <a:txBody>
                    <a:bodyPr/>
                    <a:lstStyle/>
                    <a:p>
                      <a:pPr algn="ctr">
                        <a:spcAft>
                          <a:spcPts val="0"/>
                        </a:spcAft>
                      </a:pPr>
                      <a:r>
                        <a:rPr lang="en-MY" sz="800">
                          <a:effectLst/>
                        </a:rPr>
                        <a:t>High</a:t>
                      </a:r>
                      <a:endParaRPr lang="en-MY" sz="900">
                        <a:effectLst/>
                        <a:latin typeface="Arial" panose="020B0604020202020204" pitchFamily="34" charset="0"/>
                        <a:ea typeface="Arial" panose="020B0604020202020204" pitchFamily="34" charset="0"/>
                      </a:endParaRPr>
                    </a:p>
                  </a:txBody>
                  <a:tcPr marL="58049" marR="58049" marT="46439" marB="46439"/>
                </a:tc>
                <a:tc>
                  <a:txBody>
                    <a:bodyPr/>
                    <a:lstStyle/>
                    <a:p>
                      <a:pPr algn="ctr">
                        <a:spcAft>
                          <a:spcPts val="0"/>
                        </a:spcAft>
                      </a:pPr>
                      <a:r>
                        <a:rPr lang="en-MY" sz="800">
                          <a:effectLst/>
                        </a:rPr>
                        <a:t>High</a:t>
                      </a:r>
                      <a:endParaRPr lang="en-MY" sz="900">
                        <a:effectLst/>
                        <a:latin typeface="Arial" panose="020B0604020202020204" pitchFamily="34" charset="0"/>
                        <a:ea typeface="Arial" panose="020B0604020202020204" pitchFamily="34" charset="0"/>
                      </a:endParaRPr>
                    </a:p>
                  </a:txBody>
                  <a:tcPr marL="58049" marR="58049" marT="46439" marB="46439"/>
                </a:tc>
                <a:tc>
                  <a:txBody>
                    <a:bodyPr/>
                    <a:lstStyle/>
                    <a:p>
                      <a:pPr>
                        <a:spcAft>
                          <a:spcPts val="0"/>
                        </a:spcAft>
                      </a:pPr>
                      <a:r>
                        <a:rPr lang="en-MY" sz="800">
                          <a:effectLst/>
                        </a:rPr>
                        <a:t>Bi-weekly compliance updates; immediate alerts for regulatory risks</a:t>
                      </a:r>
                      <a:endParaRPr lang="en-MY" sz="900">
                        <a:effectLst/>
                        <a:latin typeface="Arial" panose="020B0604020202020204" pitchFamily="34" charset="0"/>
                        <a:ea typeface="Arial" panose="020B0604020202020204" pitchFamily="34" charset="0"/>
                      </a:endParaRPr>
                    </a:p>
                  </a:txBody>
                  <a:tcPr marL="58049" marR="58049" marT="46439" marB="46439"/>
                </a:tc>
                <a:tc>
                  <a:txBody>
                    <a:bodyPr/>
                    <a:lstStyle/>
                    <a:p>
                      <a:pPr>
                        <a:spcAft>
                          <a:spcPts val="0"/>
                        </a:spcAft>
                      </a:pPr>
                      <a:r>
                        <a:rPr lang="en-MY" sz="800">
                          <a:effectLst/>
                        </a:rPr>
                        <a:t>Head Office</a:t>
                      </a:r>
                      <a:endParaRPr lang="en-MY" sz="900">
                        <a:effectLst/>
                        <a:latin typeface="Arial" panose="020B0604020202020204" pitchFamily="34" charset="0"/>
                        <a:ea typeface="Arial" panose="020B0604020202020204" pitchFamily="34" charset="0"/>
                      </a:endParaRPr>
                    </a:p>
                  </a:txBody>
                  <a:tcPr marL="58049" marR="58049" marT="46439" marB="46439"/>
                </a:tc>
                <a:tc>
                  <a:txBody>
                    <a:bodyPr/>
                    <a:lstStyle/>
                    <a:p>
                      <a:pPr>
                        <a:spcAft>
                          <a:spcPts val="0"/>
                        </a:spcAft>
                      </a:pPr>
                      <a:r>
                        <a:rPr lang="en-MY" sz="800">
                          <a:effectLst/>
                        </a:rPr>
                        <a:t>Available for reviews and milestone sign-offs</a:t>
                      </a:r>
                      <a:endParaRPr lang="en-MY" sz="900">
                        <a:effectLst/>
                        <a:latin typeface="Arial" panose="020B0604020202020204" pitchFamily="34" charset="0"/>
                        <a:ea typeface="Arial" panose="020B0604020202020204" pitchFamily="34" charset="0"/>
                      </a:endParaRPr>
                    </a:p>
                  </a:txBody>
                  <a:tcPr marL="58049" marR="58049" marT="46439" marB="46439"/>
                </a:tc>
                <a:tc>
                  <a:txBody>
                    <a:bodyPr/>
                    <a:lstStyle/>
                    <a:p>
                      <a:pPr>
                        <a:spcAft>
                          <a:spcPts val="0"/>
                        </a:spcAft>
                      </a:pPr>
                      <a:r>
                        <a:rPr lang="en-MY" sz="800">
                          <a:effectLst/>
                        </a:rPr>
                        <a:t>Zero compliance violations; KYC, AML, PCI-DSS, GDPR fully satisfied</a:t>
                      </a:r>
                      <a:endParaRPr lang="en-MY" sz="900">
                        <a:effectLst/>
                        <a:latin typeface="Arial" panose="020B0604020202020204" pitchFamily="34" charset="0"/>
                        <a:ea typeface="Arial" panose="020B0604020202020204" pitchFamily="34" charset="0"/>
                      </a:endParaRPr>
                    </a:p>
                  </a:txBody>
                  <a:tcPr marL="58049" marR="58049" marT="46439" marB="46439"/>
                </a:tc>
                <a:tc>
                  <a:txBody>
                    <a:bodyPr/>
                    <a:lstStyle/>
                    <a:p>
                      <a:pPr>
                        <a:spcAft>
                          <a:spcPts val="0"/>
                        </a:spcAft>
                      </a:pPr>
                      <a:r>
                        <a:rPr lang="en-MY" sz="800">
                          <a:effectLst/>
                        </a:rPr>
                        <a:t>Approx. 10–15 hrs/week</a:t>
                      </a:r>
                      <a:endParaRPr lang="en-MY" sz="900">
                        <a:effectLst/>
                        <a:latin typeface="Arial" panose="020B0604020202020204" pitchFamily="34" charset="0"/>
                        <a:ea typeface="Arial" panose="020B0604020202020204" pitchFamily="34" charset="0"/>
                      </a:endParaRPr>
                    </a:p>
                  </a:txBody>
                  <a:tcPr marL="58049" marR="58049" marT="46439" marB="46439"/>
                </a:tc>
                <a:extLst>
                  <a:ext uri="{0D108BD9-81ED-4DB2-BD59-A6C34878D82A}">
                    <a16:rowId xmlns:a16="http://schemas.microsoft.com/office/drawing/2014/main" val="1210873937"/>
                  </a:ext>
                </a:extLst>
              </a:tr>
              <a:tr h="1346732">
                <a:tc>
                  <a:txBody>
                    <a:bodyPr/>
                    <a:lstStyle/>
                    <a:p>
                      <a:pPr>
                        <a:spcAft>
                          <a:spcPts val="0"/>
                        </a:spcAft>
                      </a:pPr>
                      <a:r>
                        <a:rPr lang="en-MY" sz="800">
                          <a:effectLst/>
                        </a:rPr>
                        <a:t>S-04</a:t>
                      </a:r>
                      <a:endParaRPr lang="en-MY" sz="900">
                        <a:effectLst/>
                        <a:latin typeface="Arial" panose="020B0604020202020204" pitchFamily="34" charset="0"/>
                        <a:ea typeface="Arial" panose="020B0604020202020204" pitchFamily="34" charset="0"/>
                      </a:endParaRPr>
                    </a:p>
                  </a:txBody>
                  <a:tcPr marL="58049" marR="58049" marT="46439" marB="46439"/>
                </a:tc>
                <a:tc>
                  <a:txBody>
                    <a:bodyPr/>
                    <a:lstStyle/>
                    <a:p>
                      <a:pPr>
                        <a:spcAft>
                          <a:spcPts val="0"/>
                        </a:spcAft>
                      </a:pPr>
                      <a:r>
                        <a:rPr lang="en-MY" sz="800">
                          <a:effectLst/>
                        </a:rPr>
                        <a:t>Enterprise Architect</a:t>
                      </a:r>
                      <a:endParaRPr lang="en-MY" sz="900">
                        <a:effectLst/>
                        <a:latin typeface="Arial" panose="020B0604020202020204" pitchFamily="34" charset="0"/>
                        <a:ea typeface="Arial" panose="020B0604020202020204" pitchFamily="34" charset="0"/>
                      </a:endParaRPr>
                    </a:p>
                  </a:txBody>
                  <a:tcPr marL="58049" marR="58049" marT="46439" marB="46439"/>
                </a:tc>
                <a:tc>
                  <a:txBody>
                    <a:bodyPr/>
                    <a:lstStyle/>
                    <a:p>
                      <a:pPr>
                        <a:spcAft>
                          <a:spcPts val="0"/>
                        </a:spcAft>
                      </a:pPr>
                      <a:r>
                        <a:rPr lang="en-MY" sz="800">
                          <a:effectLst/>
                        </a:rPr>
                        <a:t>Solution Designer / Technical Governance</a:t>
                      </a:r>
                      <a:endParaRPr lang="en-MY" sz="900">
                        <a:effectLst/>
                        <a:latin typeface="Arial" panose="020B0604020202020204" pitchFamily="34" charset="0"/>
                        <a:ea typeface="Arial" panose="020B0604020202020204" pitchFamily="34" charset="0"/>
                      </a:endParaRPr>
                    </a:p>
                  </a:txBody>
                  <a:tcPr marL="58049" marR="58049" marT="46439" marB="46439"/>
                </a:tc>
                <a:tc>
                  <a:txBody>
                    <a:bodyPr/>
                    <a:lstStyle/>
                    <a:p>
                      <a:pPr>
                        <a:spcAft>
                          <a:spcPts val="0"/>
                        </a:spcAft>
                      </a:pPr>
                      <a:r>
                        <a:rPr lang="en-MY" sz="800">
                          <a:effectLst/>
                        </a:rPr>
                        <a:t>IT Architecture Team</a:t>
                      </a:r>
                      <a:endParaRPr lang="en-MY" sz="900">
                        <a:effectLst/>
                        <a:latin typeface="Arial" panose="020B0604020202020204" pitchFamily="34" charset="0"/>
                        <a:ea typeface="Arial" panose="020B0604020202020204" pitchFamily="34" charset="0"/>
                      </a:endParaRPr>
                    </a:p>
                  </a:txBody>
                  <a:tcPr marL="58049" marR="58049" marT="46439" marB="46439"/>
                </a:tc>
                <a:tc>
                  <a:txBody>
                    <a:bodyPr/>
                    <a:lstStyle/>
                    <a:p>
                      <a:pPr algn="ctr">
                        <a:spcAft>
                          <a:spcPts val="0"/>
                        </a:spcAft>
                      </a:pPr>
                      <a:r>
                        <a:rPr lang="en-MY" sz="800">
                          <a:effectLst/>
                        </a:rPr>
                        <a:t>Supportive</a:t>
                      </a:r>
                      <a:endParaRPr lang="en-MY" sz="900">
                        <a:effectLst/>
                        <a:latin typeface="Arial" panose="020B0604020202020204" pitchFamily="34" charset="0"/>
                        <a:ea typeface="Arial" panose="020B0604020202020204" pitchFamily="34" charset="0"/>
                      </a:endParaRPr>
                    </a:p>
                  </a:txBody>
                  <a:tcPr marL="58049" marR="58049" marT="46439" marB="46439"/>
                </a:tc>
                <a:tc>
                  <a:txBody>
                    <a:bodyPr/>
                    <a:lstStyle/>
                    <a:p>
                      <a:pPr algn="ctr">
                        <a:spcAft>
                          <a:spcPts val="0"/>
                        </a:spcAft>
                      </a:pPr>
                      <a:r>
                        <a:rPr lang="en-MY" sz="800">
                          <a:effectLst/>
                        </a:rPr>
                        <a:t>High</a:t>
                      </a:r>
                      <a:endParaRPr lang="en-MY" sz="900">
                        <a:effectLst/>
                        <a:latin typeface="Arial" panose="020B0604020202020204" pitchFamily="34" charset="0"/>
                        <a:ea typeface="Arial" panose="020B0604020202020204" pitchFamily="34" charset="0"/>
                      </a:endParaRPr>
                    </a:p>
                  </a:txBody>
                  <a:tcPr marL="58049" marR="58049" marT="46439" marB="46439"/>
                </a:tc>
                <a:tc>
                  <a:txBody>
                    <a:bodyPr/>
                    <a:lstStyle/>
                    <a:p>
                      <a:pPr algn="ctr">
                        <a:spcAft>
                          <a:spcPts val="0"/>
                        </a:spcAft>
                      </a:pPr>
                      <a:r>
                        <a:rPr lang="en-MY" sz="800">
                          <a:effectLst/>
                        </a:rPr>
                        <a:t>High</a:t>
                      </a:r>
                      <a:endParaRPr lang="en-MY" sz="900">
                        <a:effectLst/>
                        <a:latin typeface="Arial" panose="020B0604020202020204" pitchFamily="34" charset="0"/>
                        <a:ea typeface="Arial" panose="020B0604020202020204" pitchFamily="34" charset="0"/>
                      </a:endParaRPr>
                    </a:p>
                  </a:txBody>
                  <a:tcPr marL="58049" marR="58049" marT="46439" marB="46439"/>
                </a:tc>
                <a:tc>
                  <a:txBody>
                    <a:bodyPr/>
                    <a:lstStyle/>
                    <a:p>
                      <a:pPr algn="ctr">
                        <a:spcAft>
                          <a:spcPts val="0"/>
                        </a:spcAft>
                      </a:pPr>
                      <a:r>
                        <a:rPr lang="en-MY" sz="800">
                          <a:effectLst/>
                        </a:rPr>
                        <a:t>High</a:t>
                      </a:r>
                      <a:endParaRPr lang="en-MY" sz="900">
                        <a:effectLst/>
                        <a:latin typeface="Arial" panose="020B0604020202020204" pitchFamily="34" charset="0"/>
                        <a:ea typeface="Arial" panose="020B0604020202020204" pitchFamily="34" charset="0"/>
                      </a:endParaRPr>
                    </a:p>
                  </a:txBody>
                  <a:tcPr marL="58049" marR="58049" marT="46439" marB="46439"/>
                </a:tc>
                <a:tc>
                  <a:txBody>
                    <a:bodyPr/>
                    <a:lstStyle/>
                    <a:p>
                      <a:pPr>
                        <a:spcAft>
                          <a:spcPts val="0"/>
                        </a:spcAft>
                      </a:pPr>
                      <a:r>
                        <a:rPr lang="en-MY" sz="800">
                          <a:effectLst/>
                        </a:rPr>
                        <a:t>Weekly architecture review meetings; technical design documentation</a:t>
                      </a:r>
                      <a:endParaRPr lang="en-MY" sz="900">
                        <a:effectLst/>
                        <a:latin typeface="Arial" panose="020B0604020202020204" pitchFamily="34" charset="0"/>
                        <a:ea typeface="Arial" panose="020B0604020202020204" pitchFamily="34" charset="0"/>
                      </a:endParaRPr>
                    </a:p>
                  </a:txBody>
                  <a:tcPr marL="58049" marR="58049" marT="46439" marB="46439"/>
                </a:tc>
                <a:tc>
                  <a:txBody>
                    <a:bodyPr/>
                    <a:lstStyle/>
                    <a:p>
                      <a:pPr>
                        <a:spcAft>
                          <a:spcPts val="0"/>
                        </a:spcAft>
                      </a:pPr>
                      <a:r>
                        <a:rPr lang="en-MY" sz="800">
                          <a:effectLst/>
                        </a:rPr>
                        <a:t>Head Office / Remote</a:t>
                      </a:r>
                      <a:endParaRPr lang="en-MY" sz="900">
                        <a:effectLst/>
                        <a:latin typeface="Arial" panose="020B0604020202020204" pitchFamily="34" charset="0"/>
                        <a:ea typeface="Arial" panose="020B0604020202020204" pitchFamily="34" charset="0"/>
                      </a:endParaRPr>
                    </a:p>
                  </a:txBody>
                  <a:tcPr marL="58049" marR="58049" marT="46439" marB="46439"/>
                </a:tc>
                <a:tc>
                  <a:txBody>
                    <a:bodyPr/>
                    <a:lstStyle/>
                    <a:p>
                      <a:pPr>
                        <a:spcAft>
                          <a:spcPts val="0"/>
                        </a:spcAft>
                      </a:pPr>
                      <a:r>
                        <a:rPr lang="en-MY" sz="800">
                          <a:effectLst/>
                        </a:rPr>
                        <a:t>Full-time during design; part-time in later phases</a:t>
                      </a:r>
                      <a:endParaRPr lang="en-MY" sz="900">
                        <a:effectLst/>
                        <a:latin typeface="Arial" panose="020B0604020202020204" pitchFamily="34" charset="0"/>
                        <a:ea typeface="Arial" panose="020B0604020202020204" pitchFamily="34" charset="0"/>
                      </a:endParaRPr>
                    </a:p>
                  </a:txBody>
                  <a:tcPr marL="58049" marR="58049" marT="46439" marB="46439"/>
                </a:tc>
                <a:tc>
                  <a:txBody>
                    <a:bodyPr/>
                    <a:lstStyle/>
                    <a:p>
                      <a:pPr>
                        <a:spcAft>
                          <a:spcPts val="0"/>
                        </a:spcAft>
                      </a:pPr>
                      <a:r>
                        <a:rPr lang="en-MY" sz="800">
                          <a:effectLst/>
                        </a:rPr>
                        <a:t>Scalable, secure, and maintainable architecture approved by all stakeholders</a:t>
                      </a:r>
                      <a:endParaRPr lang="en-MY" sz="900">
                        <a:effectLst/>
                        <a:latin typeface="Arial" panose="020B0604020202020204" pitchFamily="34" charset="0"/>
                        <a:ea typeface="Arial" panose="020B0604020202020204" pitchFamily="34" charset="0"/>
                      </a:endParaRPr>
                    </a:p>
                  </a:txBody>
                  <a:tcPr marL="58049" marR="58049" marT="46439" marB="46439"/>
                </a:tc>
                <a:tc>
                  <a:txBody>
                    <a:bodyPr/>
                    <a:lstStyle/>
                    <a:p>
                      <a:pPr>
                        <a:spcAft>
                          <a:spcPts val="0"/>
                        </a:spcAft>
                      </a:pPr>
                      <a:r>
                        <a:rPr lang="en-MY" sz="800" dirty="0">
                          <a:effectLst/>
                        </a:rPr>
                        <a:t>Full-time (40 hrs/week) – Phases 1–2; 20 hrs/week thereafter</a:t>
                      </a:r>
                      <a:endParaRPr lang="en-MY" sz="900" dirty="0">
                        <a:effectLst/>
                        <a:latin typeface="Arial" panose="020B0604020202020204" pitchFamily="34" charset="0"/>
                        <a:ea typeface="Arial" panose="020B0604020202020204" pitchFamily="34" charset="0"/>
                      </a:endParaRPr>
                    </a:p>
                  </a:txBody>
                  <a:tcPr marL="58049" marR="58049" marT="46439" marB="46439"/>
                </a:tc>
                <a:extLst>
                  <a:ext uri="{0D108BD9-81ED-4DB2-BD59-A6C34878D82A}">
                    <a16:rowId xmlns:a16="http://schemas.microsoft.com/office/drawing/2014/main" val="2963964451"/>
                  </a:ext>
                </a:extLst>
              </a:tr>
            </a:tbl>
          </a:graphicData>
        </a:graphic>
      </p:graphicFrame>
    </p:spTree>
    <p:extLst>
      <p:ext uri="{BB962C8B-B14F-4D97-AF65-F5344CB8AC3E}">
        <p14:creationId xmlns:p14="http://schemas.microsoft.com/office/powerpoint/2010/main" val="64981231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A28B80-6E3F-55F1-1496-FCE9195BC79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52B4F61-2C4D-2A21-D1AB-493E1B7375F6}"/>
              </a:ext>
            </a:extLst>
          </p:cNvPr>
          <p:cNvSpPr>
            <a:spLocks noGrp="1"/>
          </p:cNvSpPr>
          <p:nvPr>
            <p:ph type="title"/>
          </p:nvPr>
        </p:nvSpPr>
        <p:spPr>
          <a:xfrm>
            <a:off x="572756" y="133943"/>
            <a:ext cx="9813446" cy="850726"/>
          </a:xfrm>
        </p:spPr>
        <p:txBody>
          <a:bodyPr>
            <a:noAutofit/>
          </a:bodyPr>
          <a:lstStyle/>
          <a:p>
            <a:r>
              <a:rPr lang="en-US" sz="3200" dirty="0"/>
              <a:t>Project Initiation and Stakeholder Engagement</a:t>
            </a:r>
          </a:p>
        </p:txBody>
      </p:sp>
      <p:sp>
        <p:nvSpPr>
          <p:cNvPr id="8" name="Content Placeholder 4">
            <a:extLst>
              <a:ext uri="{FF2B5EF4-FFF2-40B4-BE49-F238E27FC236}">
                <a16:creationId xmlns:a16="http://schemas.microsoft.com/office/drawing/2014/main" id="{F3A1BE54-E011-A20C-CE51-1D9F007CF5C5}"/>
              </a:ext>
            </a:extLst>
          </p:cNvPr>
          <p:cNvSpPr txBox="1">
            <a:spLocks/>
          </p:cNvSpPr>
          <p:nvPr/>
        </p:nvSpPr>
        <p:spPr>
          <a:xfrm>
            <a:off x="573087" y="1216025"/>
            <a:ext cx="10659485" cy="4503738"/>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IN" sz="2400" b="1" dirty="0"/>
              <a:t>Stakeholder Engagement </a:t>
            </a:r>
            <a:r>
              <a:rPr lang="en-IN" sz="2400" b="1" dirty="0" smtClean="0"/>
              <a:t>Plan</a:t>
            </a:r>
          </a:p>
          <a:p>
            <a:pPr marL="0" indent="0">
              <a:buFont typeface="Arial" panose="020B0604020202020204" pitchFamily="34" charset="0"/>
              <a:buNone/>
            </a:pPr>
            <a:endParaRPr lang="en-IN" sz="1000" b="1" dirty="0"/>
          </a:p>
        </p:txBody>
      </p:sp>
      <p:graphicFrame>
        <p:nvGraphicFramePr>
          <p:cNvPr id="2" name="Table 1"/>
          <p:cNvGraphicFramePr>
            <a:graphicFrameLocks noGrp="1"/>
          </p:cNvGraphicFramePr>
          <p:nvPr>
            <p:extLst>
              <p:ext uri="{D42A27DB-BD31-4B8C-83A1-F6EECF244321}">
                <p14:modId xmlns:p14="http://schemas.microsoft.com/office/powerpoint/2010/main" val="3352672443"/>
              </p:ext>
            </p:extLst>
          </p:nvPr>
        </p:nvGraphicFramePr>
        <p:xfrm>
          <a:off x="712270" y="1867302"/>
          <a:ext cx="9955730" cy="4273616"/>
        </p:xfrm>
        <a:graphic>
          <a:graphicData uri="http://schemas.openxmlformats.org/drawingml/2006/table">
            <a:tbl>
              <a:tblPr>
                <a:tableStyleId>{5C22544A-7EE6-4342-B048-85BDC9FD1C3A}</a:tableStyleId>
              </a:tblPr>
              <a:tblGrid>
                <a:gridCol w="345685">
                  <a:extLst>
                    <a:ext uri="{9D8B030D-6E8A-4147-A177-3AD203B41FA5}">
                      <a16:colId xmlns:a16="http://schemas.microsoft.com/office/drawing/2014/main" val="89327264"/>
                    </a:ext>
                  </a:extLst>
                </a:gridCol>
                <a:gridCol w="1244466">
                  <a:extLst>
                    <a:ext uri="{9D8B030D-6E8A-4147-A177-3AD203B41FA5}">
                      <a16:colId xmlns:a16="http://schemas.microsoft.com/office/drawing/2014/main" val="1952116823"/>
                    </a:ext>
                  </a:extLst>
                </a:gridCol>
                <a:gridCol w="760507">
                  <a:extLst>
                    <a:ext uri="{9D8B030D-6E8A-4147-A177-3AD203B41FA5}">
                      <a16:colId xmlns:a16="http://schemas.microsoft.com/office/drawing/2014/main" val="3113136371"/>
                    </a:ext>
                  </a:extLst>
                </a:gridCol>
                <a:gridCol w="207411">
                  <a:extLst>
                    <a:ext uri="{9D8B030D-6E8A-4147-A177-3AD203B41FA5}">
                      <a16:colId xmlns:a16="http://schemas.microsoft.com/office/drawing/2014/main" val="3493073993"/>
                    </a:ext>
                  </a:extLst>
                </a:gridCol>
                <a:gridCol w="760507">
                  <a:extLst>
                    <a:ext uri="{9D8B030D-6E8A-4147-A177-3AD203B41FA5}">
                      <a16:colId xmlns:a16="http://schemas.microsoft.com/office/drawing/2014/main" val="2231617287"/>
                    </a:ext>
                  </a:extLst>
                </a:gridCol>
                <a:gridCol w="1797563">
                  <a:extLst>
                    <a:ext uri="{9D8B030D-6E8A-4147-A177-3AD203B41FA5}">
                      <a16:colId xmlns:a16="http://schemas.microsoft.com/office/drawing/2014/main" val="835112347"/>
                    </a:ext>
                  </a:extLst>
                </a:gridCol>
                <a:gridCol w="4839591">
                  <a:extLst>
                    <a:ext uri="{9D8B030D-6E8A-4147-A177-3AD203B41FA5}">
                      <a16:colId xmlns:a16="http://schemas.microsoft.com/office/drawing/2014/main" val="889401900"/>
                    </a:ext>
                  </a:extLst>
                </a:gridCol>
              </a:tblGrid>
              <a:tr h="572912">
                <a:tc>
                  <a:txBody>
                    <a:bodyPr/>
                    <a:lstStyle/>
                    <a:p>
                      <a:pPr>
                        <a:spcAft>
                          <a:spcPts val="0"/>
                        </a:spcAft>
                      </a:pPr>
                      <a:r>
                        <a:rPr lang="en-MY" sz="900" b="1">
                          <a:effectLst/>
                        </a:rPr>
                        <a:t>ID</a:t>
                      </a:r>
                      <a:endParaRPr lang="en-MY" sz="1000" b="1">
                        <a:effectLst/>
                        <a:latin typeface="Arial" panose="020B0604020202020204" pitchFamily="34" charset="0"/>
                        <a:ea typeface="Arial" panose="020B0604020202020204" pitchFamily="34" charset="0"/>
                      </a:endParaRPr>
                    </a:p>
                  </a:txBody>
                  <a:tcPr marL="69850" marR="69850" marT="50800" marB="50800">
                    <a:solidFill>
                      <a:schemeClr val="accent1">
                        <a:lumMod val="20000"/>
                        <a:lumOff val="80000"/>
                      </a:schemeClr>
                    </a:solidFill>
                  </a:tcPr>
                </a:tc>
                <a:tc>
                  <a:txBody>
                    <a:bodyPr/>
                    <a:lstStyle/>
                    <a:p>
                      <a:pPr>
                        <a:spcAft>
                          <a:spcPts val="0"/>
                        </a:spcAft>
                      </a:pPr>
                      <a:r>
                        <a:rPr lang="en-MY" sz="900" b="1">
                          <a:effectLst/>
                        </a:rPr>
                        <a:t>Stakeholder</a:t>
                      </a:r>
                      <a:endParaRPr lang="en-MY" sz="1000" b="1">
                        <a:effectLst/>
                        <a:latin typeface="Arial" panose="020B0604020202020204" pitchFamily="34" charset="0"/>
                        <a:ea typeface="Arial" panose="020B0604020202020204" pitchFamily="34" charset="0"/>
                      </a:endParaRPr>
                    </a:p>
                  </a:txBody>
                  <a:tcPr marL="69850" marR="69850" marT="50800" marB="50800">
                    <a:solidFill>
                      <a:schemeClr val="accent1">
                        <a:lumMod val="20000"/>
                        <a:lumOff val="80000"/>
                      </a:schemeClr>
                    </a:solidFill>
                  </a:tcPr>
                </a:tc>
                <a:tc>
                  <a:txBody>
                    <a:bodyPr/>
                    <a:lstStyle/>
                    <a:p>
                      <a:pPr>
                        <a:spcAft>
                          <a:spcPts val="0"/>
                        </a:spcAft>
                      </a:pPr>
                      <a:r>
                        <a:rPr lang="en-MY" sz="900" b="1">
                          <a:effectLst/>
                        </a:rPr>
                        <a:t>Current Level</a:t>
                      </a:r>
                      <a:endParaRPr lang="en-MY" sz="1000" b="1">
                        <a:effectLst/>
                        <a:latin typeface="Arial" panose="020B0604020202020204" pitchFamily="34" charset="0"/>
                        <a:ea typeface="Arial" panose="020B0604020202020204" pitchFamily="34" charset="0"/>
                      </a:endParaRPr>
                    </a:p>
                  </a:txBody>
                  <a:tcPr marL="69850" marR="69850" marT="50800" marB="50800">
                    <a:solidFill>
                      <a:schemeClr val="accent1">
                        <a:lumMod val="20000"/>
                        <a:lumOff val="80000"/>
                      </a:schemeClr>
                    </a:solidFill>
                  </a:tcPr>
                </a:tc>
                <a:tc>
                  <a:txBody>
                    <a:bodyPr/>
                    <a:lstStyle/>
                    <a:p>
                      <a:pPr>
                        <a:spcAft>
                          <a:spcPts val="0"/>
                        </a:spcAft>
                      </a:pPr>
                      <a:r>
                        <a:rPr lang="en-MY" sz="900" b="1" dirty="0">
                          <a:effectLst/>
                        </a:rPr>
                        <a:t>→</a:t>
                      </a:r>
                      <a:endParaRPr lang="en-MY" sz="1000" b="1" dirty="0">
                        <a:effectLst/>
                        <a:latin typeface="Arial" panose="020B0604020202020204" pitchFamily="34" charset="0"/>
                        <a:ea typeface="Arial" panose="020B0604020202020204" pitchFamily="34" charset="0"/>
                      </a:endParaRPr>
                    </a:p>
                  </a:txBody>
                  <a:tcPr marL="69850" marR="69850" marT="50800" marB="50800">
                    <a:solidFill>
                      <a:schemeClr val="accent1">
                        <a:lumMod val="20000"/>
                        <a:lumOff val="80000"/>
                      </a:schemeClr>
                    </a:solidFill>
                  </a:tcPr>
                </a:tc>
                <a:tc>
                  <a:txBody>
                    <a:bodyPr/>
                    <a:lstStyle/>
                    <a:p>
                      <a:pPr>
                        <a:spcAft>
                          <a:spcPts val="0"/>
                        </a:spcAft>
                      </a:pPr>
                      <a:r>
                        <a:rPr lang="en-MY" sz="900" b="1">
                          <a:effectLst/>
                        </a:rPr>
                        <a:t>Desired Level</a:t>
                      </a:r>
                      <a:endParaRPr lang="en-MY" sz="1000" b="1">
                        <a:effectLst/>
                        <a:latin typeface="Arial" panose="020B0604020202020204" pitchFamily="34" charset="0"/>
                        <a:ea typeface="Arial" panose="020B0604020202020204" pitchFamily="34" charset="0"/>
                      </a:endParaRPr>
                    </a:p>
                  </a:txBody>
                  <a:tcPr marL="69850" marR="69850" marT="50800" marB="50800">
                    <a:solidFill>
                      <a:schemeClr val="accent1">
                        <a:lumMod val="20000"/>
                        <a:lumOff val="80000"/>
                      </a:schemeClr>
                    </a:solidFill>
                  </a:tcPr>
                </a:tc>
                <a:tc>
                  <a:txBody>
                    <a:bodyPr/>
                    <a:lstStyle/>
                    <a:p>
                      <a:pPr>
                        <a:spcAft>
                          <a:spcPts val="0"/>
                        </a:spcAft>
                      </a:pPr>
                      <a:r>
                        <a:rPr lang="en-MY" sz="900" b="1" dirty="0">
                          <a:effectLst/>
                        </a:rPr>
                        <a:t>Rationale for Gap</a:t>
                      </a:r>
                      <a:endParaRPr lang="en-MY" sz="1000" b="1" dirty="0">
                        <a:effectLst/>
                        <a:latin typeface="Arial" panose="020B0604020202020204" pitchFamily="34" charset="0"/>
                        <a:ea typeface="Arial" panose="020B0604020202020204" pitchFamily="34" charset="0"/>
                      </a:endParaRPr>
                    </a:p>
                  </a:txBody>
                  <a:tcPr marL="69850" marR="69850" marT="50800" marB="50800">
                    <a:solidFill>
                      <a:schemeClr val="accent1">
                        <a:lumMod val="20000"/>
                        <a:lumOff val="80000"/>
                      </a:schemeClr>
                    </a:solidFill>
                  </a:tcPr>
                </a:tc>
                <a:tc>
                  <a:txBody>
                    <a:bodyPr/>
                    <a:lstStyle/>
                    <a:p>
                      <a:pPr>
                        <a:spcAft>
                          <a:spcPts val="0"/>
                        </a:spcAft>
                      </a:pPr>
                      <a:r>
                        <a:rPr lang="en-MY" sz="900" b="1" dirty="0">
                          <a:effectLst/>
                        </a:rPr>
                        <a:t>Engagement Strategies</a:t>
                      </a:r>
                      <a:endParaRPr lang="en-MY" sz="1000" b="1" dirty="0">
                        <a:effectLst/>
                        <a:latin typeface="Arial" panose="020B0604020202020204" pitchFamily="34" charset="0"/>
                        <a:ea typeface="Arial" panose="020B0604020202020204" pitchFamily="34" charset="0"/>
                      </a:endParaRPr>
                    </a:p>
                  </a:txBody>
                  <a:tcPr marL="69850" marR="69850" marT="50800" marB="50800">
                    <a:solidFill>
                      <a:schemeClr val="accent1">
                        <a:lumMod val="20000"/>
                        <a:lumOff val="80000"/>
                      </a:schemeClr>
                    </a:solidFill>
                  </a:tcPr>
                </a:tc>
                <a:extLst>
                  <a:ext uri="{0D108BD9-81ED-4DB2-BD59-A6C34878D82A}">
                    <a16:rowId xmlns:a16="http://schemas.microsoft.com/office/drawing/2014/main" val="47772477"/>
                  </a:ext>
                </a:extLst>
              </a:tr>
              <a:tr h="859368">
                <a:tc>
                  <a:txBody>
                    <a:bodyPr/>
                    <a:lstStyle/>
                    <a:p>
                      <a:pPr>
                        <a:spcAft>
                          <a:spcPts val="0"/>
                        </a:spcAft>
                      </a:pPr>
                      <a:r>
                        <a:rPr lang="en-MY" sz="900">
                          <a:effectLst/>
                        </a:rPr>
                        <a:t>S-01</a:t>
                      </a:r>
                      <a:endParaRPr lang="en-MY" sz="1000">
                        <a:effectLst/>
                        <a:latin typeface="Arial" panose="020B0604020202020204" pitchFamily="34" charset="0"/>
                        <a:ea typeface="Arial" panose="020B0604020202020204" pitchFamily="34" charset="0"/>
                      </a:endParaRPr>
                    </a:p>
                  </a:txBody>
                  <a:tcPr marL="69850" marR="69850" marT="50800" marB="50800"/>
                </a:tc>
                <a:tc>
                  <a:txBody>
                    <a:bodyPr/>
                    <a:lstStyle/>
                    <a:p>
                      <a:pPr>
                        <a:spcAft>
                          <a:spcPts val="0"/>
                        </a:spcAft>
                      </a:pPr>
                      <a:r>
                        <a:rPr lang="en-MY" sz="900">
                          <a:effectLst/>
                        </a:rPr>
                        <a:t>Chief Executive Officer (CEO)</a:t>
                      </a:r>
                      <a:endParaRPr lang="en-MY" sz="1000">
                        <a:effectLst/>
                        <a:latin typeface="Arial" panose="020B0604020202020204" pitchFamily="34" charset="0"/>
                        <a:ea typeface="Arial" panose="020B0604020202020204" pitchFamily="34" charset="0"/>
                      </a:endParaRPr>
                    </a:p>
                  </a:txBody>
                  <a:tcPr marL="69850" marR="69850" marT="50800" marB="50800"/>
                </a:tc>
                <a:tc>
                  <a:txBody>
                    <a:bodyPr/>
                    <a:lstStyle/>
                    <a:p>
                      <a:pPr algn="ctr">
                        <a:spcAft>
                          <a:spcPts val="0"/>
                        </a:spcAft>
                      </a:pPr>
                      <a:r>
                        <a:rPr lang="en-MY" sz="900">
                          <a:effectLst/>
                        </a:rPr>
                        <a:t>S – Supportive</a:t>
                      </a:r>
                      <a:endParaRPr lang="en-MY" sz="1000">
                        <a:effectLst/>
                        <a:latin typeface="Arial" panose="020B0604020202020204" pitchFamily="34" charset="0"/>
                        <a:ea typeface="Arial" panose="020B0604020202020204" pitchFamily="34" charset="0"/>
                      </a:endParaRPr>
                    </a:p>
                  </a:txBody>
                  <a:tcPr marL="69850" marR="69850" marT="50800" marB="50800" anchor="ctr"/>
                </a:tc>
                <a:tc>
                  <a:txBody>
                    <a:bodyPr/>
                    <a:lstStyle/>
                    <a:p>
                      <a:pPr algn="ctr">
                        <a:spcAft>
                          <a:spcPts val="0"/>
                        </a:spcAft>
                      </a:pPr>
                      <a:r>
                        <a:rPr lang="en-MY" sz="1000">
                          <a:effectLst/>
                        </a:rPr>
                        <a:t>→</a:t>
                      </a:r>
                      <a:endParaRPr lang="en-MY" sz="1000">
                        <a:effectLst/>
                        <a:latin typeface="Arial" panose="020B0604020202020204" pitchFamily="34" charset="0"/>
                        <a:ea typeface="Arial" panose="020B0604020202020204" pitchFamily="34" charset="0"/>
                      </a:endParaRPr>
                    </a:p>
                  </a:txBody>
                  <a:tcPr marL="50800" marR="50800" marT="50800" marB="50800"/>
                </a:tc>
                <a:tc>
                  <a:txBody>
                    <a:bodyPr/>
                    <a:lstStyle/>
                    <a:p>
                      <a:pPr algn="ctr">
                        <a:spcAft>
                          <a:spcPts val="0"/>
                        </a:spcAft>
                      </a:pPr>
                      <a:r>
                        <a:rPr lang="en-MY" sz="900">
                          <a:effectLst/>
                        </a:rPr>
                        <a:t>L – Leading</a:t>
                      </a:r>
                      <a:endParaRPr lang="en-MY" sz="1000">
                        <a:effectLst/>
                        <a:latin typeface="Arial" panose="020B0604020202020204" pitchFamily="34" charset="0"/>
                        <a:ea typeface="Arial" panose="020B0604020202020204" pitchFamily="34" charset="0"/>
                      </a:endParaRPr>
                    </a:p>
                  </a:txBody>
                  <a:tcPr marL="69850" marR="69850" marT="50800" marB="50800" anchor="ctr"/>
                </a:tc>
                <a:tc>
                  <a:txBody>
                    <a:bodyPr/>
                    <a:lstStyle/>
                    <a:p>
                      <a:pPr>
                        <a:spcAft>
                          <a:spcPts val="0"/>
                        </a:spcAft>
                      </a:pPr>
                      <a:r>
                        <a:rPr lang="en-MY" sz="900" dirty="0">
                          <a:effectLst/>
                        </a:rPr>
                        <a:t>Sponsor needs to actively champion the initiative, not just approve deliverables.</a:t>
                      </a:r>
                      <a:endParaRPr lang="en-MY" sz="1000" dirty="0">
                        <a:effectLst/>
                        <a:latin typeface="Arial" panose="020B0604020202020204" pitchFamily="34" charset="0"/>
                        <a:ea typeface="Arial" panose="020B0604020202020204" pitchFamily="34" charset="0"/>
                      </a:endParaRPr>
                    </a:p>
                  </a:txBody>
                  <a:tcPr marL="69850" marR="69850" marT="50800" marB="50800"/>
                </a:tc>
                <a:tc>
                  <a:txBody>
                    <a:bodyPr/>
                    <a:lstStyle/>
                    <a:p>
                      <a:pPr>
                        <a:spcAft>
                          <a:spcPts val="0"/>
                        </a:spcAft>
                      </a:pPr>
                      <a:r>
                        <a:rPr lang="en-MY" sz="900">
                          <a:effectLst/>
                        </a:rPr>
                        <a:t>1. Monthly executive briefings with milestone dashboards and risk summaries.</a:t>
                      </a:r>
                      <a:endParaRPr lang="en-MY" sz="1000">
                        <a:effectLst/>
                      </a:endParaRPr>
                    </a:p>
                    <a:p>
                      <a:pPr>
                        <a:spcBef>
                          <a:spcPts val="200"/>
                        </a:spcBef>
                        <a:spcAft>
                          <a:spcPts val="0"/>
                        </a:spcAft>
                      </a:pPr>
                      <a:r>
                        <a:rPr lang="en-MY" sz="900">
                          <a:effectLst/>
                        </a:rPr>
                        <a:t>2. Involve CEO in milestone celebrations and regulatory validation announcements.</a:t>
                      </a:r>
                      <a:endParaRPr lang="en-MY" sz="1000">
                        <a:effectLst/>
                      </a:endParaRPr>
                    </a:p>
                    <a:p>
                      <a:pPr>
                        <a:spcBef>
                          <a:spcPts val="200"/>
                        </a:spcBef>
                        <a:spcAft>
                          <a:spcPts val="0"/>
                        </a:spcAft>
                      </a:pPr>
                      <a:r>
                        <a:rPr lang="en-MY" sz="900">
                          <a:effectLst/>
                        </a:rPr>
                        <a:t>3. Provide concise escalation memos to keep decisions fast and visible.</a:t>
                      </a:r>
                      <a:endParaRPr lang="en-MY" sz="1000">
                        <a:effectLst/>
                        <a:latin typeface="Arial" panose="020B0604020202020204" pitchFamily="34" charset="0"/>
                        <a:ea typeface="Arial" panose="020B0604020202020204" pitchFamily="34" charset="0"/>
                      </a:endParaRPr>
                    </a:p>
                  </a:txBody>
                  <a:tcPr marL="69850" marR="69850" marT="50800" marB="50800"/>
                </a:tc>
                <a:extLst>
                  <a:ext uri="{0D108BD9-81ED-4DB2-BD59-A6C34878D82A}">
                    <a16:rowId xmlns:a16="http://schemas.microsoft.com/office/drawing/2014/main" val="1872652239"/>
                  </a:ext>
                </a:extLst>
              </a:tr>
              <a:tr h="859368">
                <a:tc>
                  <a:txBody>
                    <a:bodyPr/>
                    <a:lstStyle/>
                    <a:p>
                      <a:pPr>
                        <a:spcAft>
                          <a:spcPts val="0"/>
                        </a:spcAft>
                      </a:pPr>
                      <a:r>
                        <a:rPr lang="en-MY" sz="900">
                          <a:effectLst/>
                        </a:rPr>
                        <a:t>S-02</a:t>
                      </a:r>
                      <a:endParaRPr lang="en-MY" sz="1000">
                        <a:effectLst/>
                        <a:latin typeface="Arial" panose="020B0604020202020204" pitchFamily="34" charset="0"/>
                        <a:ea typeface="Arial" panose="020B0604020202020204" pitchFamily="34" charset="0"/>
                      </a:endParaRPr>
                    </a:p>
                  </a:txBody>
                  <a:tcPr marL="69850" marR="69850" marT="50800" marB="50800"/>
                </a:tc>
                <a:tc>
                  <a:txBody>
                    <a:bodyPr/>
                    <a:lstStyle/>
                    <a:p>
                      <a:pPr>
                        <a:spcAft>
                          <a:spcPts val="0"/>
                        </a:spcAft>
                      </a:pPr>
                      <a:r>
                        <a:rPr lang="en-MY" sz="900">
                          <a:effectLst/>
                        </a:rPr>
                        <a:t>Chief Information Officer (CIO)</a:t>
                      </a:r>
                      <a:endParaRPr lang="en-MY" sz="1000">
                        <a:effectLst/>
                        <a:latin typeface="Arial" panose="020B0604020202020204" pitchFamily="34" charset="0"/>
                        <a:ea typeface="Arial" panose="020B0604020202020204" pitchFamily="34" charset="0"/>
                      </a:endParaRPr>
                    </a:p>
                  </a:txBody>
                  <a:tcPr marL="69850" marR="69850" marT="50800" marB="50800"/>
                </a:tc>
                <a:tc>
                  <a:txBody>
                    <a:bodyPr/>
                    <a:lstStyle/>
                    <a:p>
                      <a:pPr algn="ctr">
                        <a:spcAft>
                          <a:spcPts val="0"/>
                        </a:spcAft>
                      </a:pPr>
                      <a:r>
                        <a:rPr lang="en-MY" sz="900">
                          <a:effectLst/>
                        </a:rPr>
                        <a:t>L – Leading</a:t>
                      </a:r>
                      <a:endParaRPr lang="en-MY" sz="1000">
                        <a:effectLst/>
                        <a:latin typeface="Arial" panose="020B0604020202020204" pitchFamily="34" charset="0"/>
                        <a:ea typeface="Arial" panose="020B0604020202020204" pitchFamily="34" charset="0"/>
                      </a:endParaRPr>
                    </a:p>
                  </a:txBody>
                  <a:tcPr marL="69850" marR="69850" marT="50800" marB="50800" anchor="ctr"/>
                </a:tc>
                <a:tc>
                  <a:txBody>
                    <a:bodyPr/>
                    <a:lstStyle/>
                    <a:p>
                      <a:pPr algn="ctr">
                        <a:spcAft>
                          <a:spcPts val="0"/>
                        </a:spcAft>
                      </a:pPr>
                      <a:r>
                        <a:rPr lang="en-MY" sz="1000">
                          <a:effectLst/>
                        </a:rPr>
                        <a:t>→</a:t>
                      </a:r>
                      <a:endParaRPr lang="en-MY" sz="1000">
                        <a:effectLst/>
                        <a:latin typeface="Arial" panose="020B0604020202020204" pitchFamily="34" charset="0"/>
                        <a:ea typeface="Arial" panose="020B0604020202020204" pitchFamily="34" charset="0"/>
                      </a:endParaRPr>
                    </a:p>
                  </a:txBody>
                  <a:tcPr marL="50800" marR="50800" marT="50800" marB="50800"/>
                </a:tc>
                <a:tc>
                  <a:txBody>
                    <a:bodyPr/>
                    <a:lstStyle/>
                    <a:p>
                      <a:pPr algn="ctr">
                        <a:spcAft>
                          <a:spcPts val="0"/>
                        </a:spcAft>
                      </a:pPr>
                      <a:r>
                        <a:rPr lang="en-MY" sz="900" dirty="0">
                          <a:effectLst/>
                        </a:rPr>
                        <a:t>L – Leading</a:t>
                      </a:r>
                      <a:endParaRPr lang="en-MY" sz="1000" dirty="0">
                        <a:effectLst/>
                        <a:latin typeface="Arial" panose="020B0604020202020204" pitchFamily="34" charset="0"/>
                        <a:ea typeface="Arial" panose="020B0604020202020204" pitchFamily="34" charset="0"/>
                      </a:endParaRPr>
                    </a:p>
                  </a:txBody>
                  <a:tcPr marL="69850" marR="69850" marT="50800" marB="50800" anchor="ctr"/>
                </a:tc>
                <a:tc>
                  <a:txBody>
                    <a:bodyPr/>
                    <a:lstStyle/>
                    <a:p>
                      <a:pPr>
                        <a:spcAft>
                          <a:spcPts val="0"/>
                        </a:spcAft>
                      </a:pPr>
                      <a:r>
                        <a:rPr lang="en-MY" sz="900">
                          <a:effectLst/>
                        </a:rPr>
                        <a:t>Project Manager is already at the highest engagement level; maintain momentum.</a:t>
                      </a:r>
                      <a:endParaRPr lang="en-MY" sz="1000">
                        <a:effectLst/>
                        <a:latin typeface="Arial" panose="020B0604020202020204" pitchFamily="34" charset="0"/>
                        <a:ea typeface="Arial" panose="020B0604020202020204" pitchFamily="34" charset="0"/>
                      </a:endParaRPr>
                    </a:p>
                  </a:txBody>
                  <a:tcPr marL="69850" marR="69850" marT="50800" marB="50800"/>
                </a:tc>
                <a:tc>
                  <a:txBody>
                    <a:bodyPr/>
                    <a:lstStyle/>
                    <a:p>
                      <a:pPr>
                        <a:spcAft>
                          <a:spcPts val="0"/>
                        </a:spcAft>
                      </a:pPr>
                      <a:r>
                        <a:rPr lang="en-MY" sz="900" dirty="0">
                          <a:effectLst/>
                        </a:rPr>
                        <a:t>1. Weekly status reviews and daily stand-ups during critical delivery phases.</a:t>
                      </a:r>
                      <a:endParaRPr lang="en-MY" sz="1000" dirty="0">
                        <a:effectLst/>
                      </a:endParaRPr>
                    </a:p>
                    <a:p>
                      <a:pPr>
                        <a:spcBef>
                          <a:spcPts val="200"/>
                        </a:spcBef>
                        <a:spcAft>
                          <a:spcPts val="0"/>
                        </a:spcAft>
                      </a:pPr>
                      <a:r>
                        <a:rPr lang="en-MY" sz="900" dirty="0">
                          <a:effectLst/>
                        </a:rPr>
                        <a:t>2. Empower CIO with real-time project dashboards and risk registers.</a:t>
                      </a:r>
                      <a:endParaRPr lang="en-MY" sz="1000" dirty="0">
                        <a:effectLst/>
                      </a:endParaRPr>
                    </a:p>
                    <a:p>
                      <a:pPr>
                        <a:spcBef>
                          <a:spcPts val="200"/>
                        </a:spcBef>
                        <a:spcAft>
                          <a:spcPts val="0"/>
                        </a:spcAft>
                      </a:pPr>
                      <a:r>
                        <a:rPr lang="en-MY" sz="900" dirty="0">
                          <a:effectLst/>
                        </a:rPr>
                        <a:t>3. Recognize contributions publicly in steering committee updates.</a:t>
                      </a:r>
                      <a:endParaRPr lang="en-MY" sz="1000" dirty="0">
                        <a:effectLst/>
                        <a:latin typeface="Arial" panose="020B0604020202020204" pitchFamily="34" charset="0"/>
                        <a:ea typeface="Arial" panose="020B0604020202020204" pitchFamily="34" charset="0"/>
                      </a:endParaRPr>
                    </a:p>
                  </a:txBody>
                  <a:tcPr marL="69850" marR="69850" marT="50800" marB="50800"/>
                </a:tc>
                <a:extLst>
                  <a:ext uri="{0D108BD9-81ED-4DB2-BD59-A6C34878D82A}">
                    <a16:rowId xmlns:a16="http://schemas.microsoft.com/office/drawing/2014/main" val="1869085814"/>
                  </a:ext>
                </a:extLst>
              </a:tr>
              <a:tr h="990984">
                <a:tc>
                  <a:txBody>
                    <a:bodyPr/>
                    <a:lstStyle/>
                    <a:p>
                      <a:pPr>
                        <a:spcAft>
                          <a:spcPts val="0"/>
                        </a:spcAft>
                      </a:pPr>
                      <a:r>
                        <a:rPr lang="en-MY" sz="900">
                          <a:effectLst/>
                        </a:rPr>
                        <a:t>S-03</a:t>
                      </a:r>
                      <a:endParaRPr lang="en-MY" sz="1000">
                        <a:effectLst/>
                        <a:latin typeface="Arial" panose="020B0604020202020204" pitchFamily="34" charset="0"/>
                        <a:ea typeface="Arial" panose="020B0604020202020204" pitchFamily="34" charset="0"/>
                      </a:endParaRPr>
                    </a:p>
                  </a:txBody>
                  <a:tcPr marL="69850" marR="69850" marT="50800" marB="50800"/>
                </a:tc>
                <a:tc>
                  <a:txBody>
                    <a:bodyPr/>
                    <a:lstStyle/>
                    <a:p>
                      <a:pPr>
                        <a:spcAft>
                          <a:spcPts val="0"/>
                        </a:spcAft>
                      </a:pPr>
                      <a:r>
                        <a:rPr lang="en-MY" sz="900">
                          <a:effectLst/>
                        </a:rPr>
                        <a:t>Chief Compliance Officer (CCO)</a:t>
                      </a:r>
                      <a:endParaRPr lang="en-MY" sz="1000">
                        <a:effectLst/>
                        <a:latin typeface="Arial" panose="020B0604020202020204" pitchFamily="34" charset="0"/>
                        <a:ea typeface="Arial" panose="020B0604020202020204" pitchFamily="34" charset="0"/>
                      </a:endParaRPr>
                    </a:p>
                  </a:txBody>
                  <a:tcPr marL="69850" marR="69850" marT="50800" marB="50800"/>
                </a:tc>
                <a:tc>
                  <a:txBody>
                    <a:bodyPr/>
                    <a:lstStyle/>
                    <a:p>
                      <a:pPr algn="ctr">
                        <a:spcAft>
                          <a:spcPts val="0"/>
                        </a:spcAft>
                      </a:pPr>
                      <a:r>
                        <a:rPr lang="en-MY" sz="900">
                          <a:effectLst/>
                        </a:rPr>
                        <a:t>S – Supportive</a:t>
                      </a:r>
                      <a:endParaRPr lang="en-MY" sz="1000">
                        <a:effectLst/>
                        <a:latin typeface="Arial" panose="020B0604020202020204" pitchFamily="34" charset="0"/>
                        <a:ea typeface="Arial" panose="020B0604020202020204" pitchFamily="34" charset="0"/>
                      </a:endParaRPr>
                    </a:p>
                  </a:txBody>
                  <a:tcPr marL="69850" marR="69850" marT="50800" marB="50800" anchor="ctr"/>
                </a:tc>
                <a:tc>
                  <a:txBody>
                    <a:bodyPr/>
                    <a:lstStyle/>
                    <a:p>
                      <a:pPr algn="ctr">
                        <a:spcAft>
                          <a:spcPts val="0"/>
                        </a:spcAft>
                      </a:pPr>
                      <a:r>
                        <a:rPr lang="en-MY" sz="1000">
                          <a:effectLst/>
                        </a:rPr>
                        <a:t>→</a:t>
                      </a:r>
                      <a:endParaRPr lang="en-MY" sz="1000">
                        <a:effectLst/>
                        <a:latin typeface="Arial" panose="020B0604020202020204" pitchFamily="34" charset="0"/>
                        <a:ea typeface="Arial" panose="020B0604020202020204" pitchFamily="34" charset="0"/>
                      </a:endParaRPr>
                    </a:p>
                  </a:txBody>
                  <a:tcPr marL="50800" marR="50800" marT="50800" marB="50800"/>
                </a:tc>
                <a:tc>
                  <a:txBody>
                    <a:bodyPr/>
                    <a:lstStyle/>
                    <a:p>
                      <a:pPr algn="ctr">
                        <a:spcAft>
                          <a:spcPts val="0"/>
                        </a:spcAft>
                      </a:pPr>
                      <a:r>
                        <a:rPr lang="en-MY" sz="900">
                          <a:effectLst/>
                        </a:rPr>
                        <a:t>L – Leading</a:t>
                      </a:r>
                      <a:endParaRPr lang="en-MY" sz="1000">
                        <a:effectLst/>
                        <a:latin typeface="Arial" panose="020B0604020202020204" pitchFamily="34" charset="0"/>
                        <a:ea typeface="Arial" panose="020B0604020202020204" pitchFamily="34" charset="0"/>
                      </a:endParaRPr>
                    </a:p>
                  </a:txBody>
                  <a:tcPr marL="69850" marR="69850" marT="50800" marB="50800" anchor="ctr"/>
                </a:tc>
                <a:tc>
                  <a:txBody>
                    <a:bodyPr/>
                    <a:lstStyle/>
                    <a:p>
                      <a:pPr>
                        <a:spcAft>
                          <a:spcPts val="0"/>
                        </a:spcAft>
                      </a:pPr>
                      <a:r>
                        <a:rPr lang="en-MY" sz="900" dirty="0">
                          <a:effectLst/>
                        </a:rPr>
                        <a:t>Regulatory stakes are critical; CCO must co-lead compliance decisions, not merely review.</a:t>
                      </a:r>
                      <a:endParaRPr lang="en-MY" sz="1000" dirty="0">
                        <a:effectLst/>
                        <a:latin typeface="Arial" panose="020B0604020202020204" pitchFamily="34" charset="0"/>
                        <a:ea typeface="Arial" panose="020B0604020202020204" pitchFamily="34" charset="0"/>
                      </a:endParaRPr>
                    </a:p>
                  </a:txBody>
                  <a:tcPr marL="69850" marR="69850" marT="50800" marB="50800"/>
                </a:tc>
                <a:tc>
                  <a:txBody>
                    <a:bodyPr/>
                    <a:lstStyle/>
                    <a:p>
                      <a:pPr>
                        <a:spcAft>
                          <a:spcPts val="0"/>
                        </a:spcAft>
                      </a:pPr>
                      <a:r>
                        <a:rPr lang="en-MY" sz="900">
                          <a:effectLst/>
                        </a:rPr>
                        <a:t>1. Bi-weekly compliance checkpoint meetings with live audit trail reviews.</a:t>
                      </a:r>
                      <a:endParaRPr lang="en-MY" sz="1000">
                        <a:effectLst/>
                      </a:endParaRPr>
                    </a:p>
                    <a:p>
                      <a:pPr>
                        <a:spcBef>
                          <a:spcPts val="200"/>
                        </a:spcBef>
                        <a:spcAft>
                          <a:spcPts val="0"/>
                        </a:spcAft>
                      </a:pPr>
                      <a:r>
                        <a:rPr lang="en-MY" sz="900">
                          <a:effectLst/>
                        </a:rPr>
                        <a:t>2. Include CCO as approver for all KYC, AML, PCI-DSS, and GDPR deliverables.</a:t>
                      </a:r>
                      <a:endParaRPr lang="en-MY" sz="1000">
                        <a:effectLst/>
                      </a:endParaRPr>
                    </a:p>
                    <a:p>
                      <a:pPr>
                        <a:spcBef>
                          <a:spcPts val="200"/>
                        </a:spcBef>
                        <a:spcAft>
                          <a:spcPts val="0"/>
                        </a:spcAft>
                      </a:pPr>
                      <a:r>
                        <a:rPr lang="en-MY" sz="900">
                          <a:effectLst/>
                        </a:rPr>
                        <a:t>3. Provide early warning alerts for any regulatory risk so CCO can act proactively.</a:t>
                      </a:r>
                      <a:endParaRPr lang="en-MY" sz="1000">
                        <a:effectLst/>
                        <a:latin typeface="Arial" panose="020B0604020202020204" pitchFamily="34" charset="0"/>
                        <a:ea typeface="Arial" panose="020B0604020202020204" pitchFamily="34" charset="0"/>
                      </a:endParaRPr>
                    </a:p>
                  </a:txBody>
                  <a:tcPr marL="69850" marR="69850" marT="50800" marB="50800"/>
                </a:tc>
                <a:extLst>
                  <a:ext uri="{0D108BD9-81ED-4DB2-BD59-A6C34878D82A}">
                    <a16:rowId xmlns:a16="http://schemas.microsoft.com/office/drawing/2014/main" val="1356928362"/>
                  </a:ext>
                </a:extLst>
              </a:tr>
              <a:tr h="990984">
                <a:tc>
                  <a:txBody>
                    <a:bodyPr/>
                    <a:lstStyle/>
                    <a:p>
                      <a:pPr>
                        <a:spcAft>
                          <a:spcPts val="0"/>
                        </a:spcAft>
                      </a:pPr>
                      <a:r>
                        <a:rPr lang="en-MY" sz="900">
                          <a:effectLst/>
                        </a:rPr>
                        <a:t>S-04</a:t>
                      </a:r>
                      <a:endParaRPr lang="en-MY" sz="1000">
                        <a:effectLst/>
                        <a:latin typeface="Arial" panose="020B0604020202020204" pitchFamily="34" charset="0"/>
                        <a:ea typeface="Arial" panose="020B0604020202020204" pitchFamily="34" charset="0"/>
                      </a:endParaRPr>
                    </a:p>
                  </a:txBody>
                  <a:tcPr marL="69850" marR="69850" marT="50800" marB="50800"/>
                </a:tc>
                <a:tc>
                  <a:txBody>
                    <a:bodyPr/>
                    <a:lstStyle/>
                    <a:p>
                      <a:pPr>
                        <a:spcAft>
                          <a:spcPts val="0"/>
                        </a:spcAft>
                      </a:pPr>
                      <a:r>
                        <a:rPr lang="en-MY" sz="900">
                          <a:effectLst/>
                        </a:rPr>
                        <a:t>Enterprise Architect</a:t>
                      </a:r>
                      <a:endParaRPr lang="en-MY" sz="1000">
                        <a:effectLst/>
                        <a:latin typeface="Arial" panose="020B0604020202020204" pitchFamily="34" charset="0"/>
                        <a:ea typeface="Arial" panose="020B0604020202020204" pitchFamily="34" charset="0"/>
                      </a:endParaRPr>
                    </a:p>
                  </a:txBody>
                  <a:tcPr marL="69850" marR="69850" marT="50800" marB="50800"/>
                </a:tc>
                <a:tc>
                  <a:txBody>
                    <a:bodyPr/>
                    <a:lstStyle/>
                    <a:p>
                      <a:pPr algn="ctr">
                        <a:spcAft>
                          <a:spcPts val="0"/>
                        </a:spcAft>
                      </a:pPr>
                      <a:r>
                        <a:rPr lang="en-MY" sz="900">
                          <a:effectLst/>
                        </a:rPr>
                        <a:t>L – Leading</a:t>
                      </a:r>
                      <a:endParaRPr lang="en-MY" sz="1000">
                        <a:effectLst/>
                        <a:latin typeface="Arial" panose="020B0604020202020204" pitchFamily="34" charset="0"/>
                        <a:ea typeface="Arial" panose="020B0604020202020204" pitchFamily="34" charset="0"/>
                      </a:endParaRPr>
                    </a:p>
                  </a:txBody>
                  <a:tcPr marL="69850" marR="69850" marT="50800" marB="50800" anchor="ctr"/>
                </a:tc>
                <a:tc>
                  <a:txBody>
                    <a:bodyPr/>
                    <a:lstStyle/>
                    <a:p>
                      <a:pPr algn="ctr">
                        <a:spcAft>
                          <a:spcPts val="0"/>
                        </a:spcAft>
                      </a:pPr>
                      <a:r>
                        <a:rPr lang="en-MY" sz="1000">
                          <a:effectLst/>
                        </a:rPr>
                        <a:t>→</a:t>
                      </a:r>
                      <a:endParaRPr lang="en-MY" sz="1000">
                        <a:effectLst/>
                        <a:latin typeface="Arial" panose="020B0604020202020204" pitchFamily="34" charset="0"/>
                        <a:ea typeface="Arial" panose="020B0604020202020204" pitchFamily="34" charset="0"/>
                      </a:endParaRPr>
                    </a:p>
                  </a:txBody>
                  <a:tcPr marL="50800" marR="50800" marT="50800" marB="50800"/>
                </a:tc>
                <a:tc>
                  <a:txBody>
                    <a:bodyPr/>
                    <a:lstStyle/>
                    <a:p>
                      <a:pPr algn="ctr">
                        <a:spcAft>
                          <a:spcPts val="0"/>
                        </a:spcAft>
                      </a:pPr>
                      <a:r>
                        <a:rPr lang="en-MY" sz="900">
                          <a:effectLst/>
                        </a:rPr>
                        <a:t>L – Leading</a:t>
                      </a:r>
                      <a:endParaRPr lang="en-MY" sz="1000">
                        <a:effectLst/>
                        <a:latin typeface="Arial" panose="020B0604020202020204" pitchFamily="34" charset="0"/>
                        <a:ea typeface="Arial" panose="020B0604020202020204" pitchFamily="34" charset="0"/>
                      </a:endParaRPr>
                    </a:p>
                  </a:txBody>
                  <a:tcPr marL="69850" marR="69850" marT="50800" marB="50800" anchor="ctr"/>
                </a:tc>
                <a:tc>
                  <a:txBody>
                    <a:bodyPr/>
                    <a:lstStyle/>
                    <a:p>
                      <a:pPr>
                        <a:spcAft>
                          <a:spcPts val="0"/>
                        </a:spcAft>
                      </a:pPr>
                      <a:r>
                        <a:rPr lang="en-MY" sz="900">
                          <a:effectLst/>
                        </a:rPr>
                        <a:t>Technical governance requires sustained leadership engagement through all design phases.</a:t>
                      </a:r>
                      <a:endParaRPr lang="en-MY" sz="1000">
                        <a:effectLst/>
                        <a:latin typeface="Arial" panose="020B0604020202020204" pitchFamily="34" charset="0"/>
                        <a:ea typeface="Arial" panose="020B0604020202020204" pitchFamily="34" charset="0"/>
                      </a:endParaRPr>
                    </a:p>
                  </a:txBody>
                  <a:tcPr marL="69850" marR="69850" marT="50800" marB="50800"/>
                </a:tc>
                <a:tc>
                  <a:txBody>
                    <a:bodyPr/>
                    <a:lstStyle/>
                    <a:p>
                      <a:pPr>
                        <a:spcAft>
                          <a:spcPts val="0"/>
                        </a:spcAft>
                      </a:pPr>
                      <a:r>
                        <a:rPr lang="en-MY" sz="900" dirty="0">
                          <a:effectLst/>
                        </a:rPr>
                        <a:t>1. Weekly architecture review cadence with documented design decisions.</a:t>
                      </a:r>
                      <a:endParaRPr lang="en-MY" sz="1000" dirty="0">
                        <a:effectLst/>
                      </a:endParaRPr>
                    </a:p>
                    <a:p>
                      <a:pPr>
                        <a:spcBef>
                          <a:spcPts val="200"/>
                        </a:spcBef>
                        <a:spcAft>
                          <a:spcPts val="0"/>
                        </a:spcAft>
                      </a:pPr>
                      <a:r>
                        <a:rPr lang="en-MY" sz="900" dirty="0">
                          <a:effectLst/>
                        </a:rPr>
                        <a:t>2. Assign EA as technical approver for all integration and API designs.</a:t>
                      </a:r>
                      <a:endParaRPr lang="en-MY" sz="1000" dirty="0">
                        <a:effectLst/>
                      </a:endParaRPr>
                    </a:p>
                    <a:p>
                      <a:pPr>
                        <a:spcBef>
                          <a:spcPts val="200"/>
                        </a:spcBef>
                        <a:spcAft>
                          <a:spcPts val="0"/>
                        </a:spcAft>
                      </a:pPr>
                      <a:r>
                        <a:rPr lang="en-MY" sz="900" dirty="0">
                          <a:effectLst/>
                        </a:rPr>
                        <a:t>3. Involve EA in vendor evaluation and cloud infrastructure sign-offs.</a:t>
                      </a:r>
                      <a:endParaRPr lang="en-MY" sz="1000" dirty="0">
                        <a:effectLst/>
                        <a:latin typeface="Arial" panose="020B0604020202020204" pitchFamily="34" charset="0"/>
                        <a:ea typeface="Arial" panose="020B0604020202020204" pitchFamily="34" charset="0"/>
                      </a:endParaRPr>
                    </a:p>
                  </a:txBody>
                  <a:tcPr marL="69850" marR="69850" marT="50800" marB="50800"/>
                </a:tc>
                <a:extLst>
                  <a:ext uri="{0D108BD9-81ED-4DB2-BD59-A6C34878D82A}">
                    <a16:rowId xmlns:a16="http://schemas.microsoft.com/office/drawing/2014/main" val="2253504370"/>
                  </a:ext>
                </a:extLst>
              </a:tr>
            </a:tbl>
          </a:graphicData>
        </a:graphic>
      </p:graphicFrame>
    </p:spTree>
    <p:extLst>
      <p:ext uri="{BB962C8B-B14F-4D97-AF65-F5344CB8AC3E}">
        <p14:creationId xmlns:p14="http://schemas.microsoft.com/office/powerpoint/2010/main" val="126480758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E015D9-3EA3-6350-E4EA-11FCDE4B271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8CB3C8B-C2B9-053C-082B-E2A5F9C8C55D}"/>
              </a:ext>
            </a:extLst>
          </p:cNvPr>
          <p:cNvSpPr>
            <a:spLocks noGrp="1"/>
          </p:cNvSpPr>
          <p:nvPr>
            <p:ph type="title"/>
          </p:nvPr>
        </p:nvSpPr>
        <p:spPr>
          <a:xfrm>
            <a:off x="572756" y="133943"/>
            <a:ext cx="9813446" cy="850726"/>
          </a:xfrm>
        </p:spPr>
        <p:txBody>
          <a:bodyPr>
            <a:noAutofit/>
          </a:bodyPr>
          <a:lstStyle/>
          <a:p>
            <a:r>
              <a:rPr lang="en-US" sz="3200" dirty="0"/>
              <a:t>Requirements Gathering</a:t>
            </a:r>
          </a:p>
        </p:txBody>
      </p:sp>
      <p:sp>
        <p:nvSpPr>
          <p:cNvPr id="8" name="Content Placeholder 4">
            <a:extLst>
              <a:ext uri="{FF2B5EF4-FFF2-40B4-BE49-F238E27FC236}">
                <a16:creationId xmlns:a16="http://schemas.microsoft.com/office/drawing/2014/main" id="{1C371C2C-9AFA-178C-34D1-0C089CE7C789}"/>
              </a:ext>
            </a:extLst>
          </p:cNvPr>
          <p:cNvSpPr txBox="1">
            <a:spLocks/>
          </p:cNvSpPr>
          <p:nvPr/>
        </p:nvSpPr>
        <p:spPr>
          <a:xfrm>
            <a:off x="573087" y="1216025"/>
            <a:ext cx="10659485" cy="4503738"/>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IN" sz="2400" b="1" dirty="0"/>
              <a:t>Business Requirements Document (BRD</a:t>
            </a:r>
            <a:r>
              <a:rPr lang="en-IN" sz="2400" b="1" dirty="0" smtClean="0"/>
              <a:t>)</a:t>
            </a:r>
          </a:p>
          <a:p>
            <a:pPr marL="0" indent="0">
              <a:buFont typeface="Arial" panose="020B0604020202020204" pitchFamily="34" charset="0"/>
              <a:buNone/>
            </a:pPr>
            <a:endParaRPr lang="en-IN" sz="1000" b="1" dirty="0"/>
          </a:p>
        </p:txBody>
      </p:sp>
      <p:graphicFrame>
        <p:nvGraphicFramePr>
          <p:cNvPr id="2" name="Table 1"/>
          <p:cNvGraphicFramePr>
            <a:graphicFrameLocks noGrp="1"/>
          </p:cNvGraphicFramePr>
          <p:nvPr>
            <p:extLst>
              <p:ext uri="{D42A27DB-BD31-4B8C-83A1-F6EECF244321}">
                <p14:modId xmlns:p14="http://schemas.microsoft.com/office/powerpoint/2010/main" val="334768192"/>
              </p:ext>
            </p:extLst>
          </p:nvPr>
        </p:nvGraphicFramePr>
        <p:xfrm>
          <a:off x="654518" y="2329313"/>
          <a:ext cx="11049802" cy="3869355"/>
        </p:xfrm>
        <a:graphic>
          <a:graphicData uri="http://schemas.openxmlformats.org/drawingml/2006/table">
            <a:tbl>
              <a:tblPr firstRow="1" firstCol="1" bandRow="1">
                <a:tableStyleId>{5C22544A-7EE6-4342-B048-85BDC9FD1C3A}</a:tableStyleId>
              </a:tblPr>
              <a:tblGrid>
                <a:gridCol w="1284860">
                  <a:extLst>
                    <a:ext uri="{9D8B030D-6E8A-4147-A177-3AD203B41FA5}">
                      <a16:colId xmlns:a16="http://schemas.microsoft.com/office/drawing/2014/main" val="3841459480"/>
                    </a:ext>
                  </a:extLst>
                </a:gridCol>
                <a:gridCol w="6424304">
                  <a:extLst>
                    <a:ext uri="{9D8B030D-6E8A-4147-A177-3AD203B41FA5}">
                      <a16:colId xmlns:a16="http://schemas.microsoft.com/office/drawing/2014/main" val="3008204464"/>
                    </a:ext>
                  </a:extLst>
                </a:gridCol>
                <a:gridCol w="1927290">
                  <a:extLst>
                    <a:ext uri="{9D8B030D-6E8A-4147-A177-3AD203B41FA5}">
                      <a16:colId xmlns:a16="http://schemas.microsoft.com/office/drawing/2014/main" val="2132893758"/>
                    </a:ext>
                  </a:extLst>
                </a:gridCol>
                <a:gridCol w="1413348">
                  <a:extLst>
                    <a:ext uri="{9D8B030D-6E8A-4147-A177-3AD203B41FA5}">
                      <a16:colId xmlns:a16="http://schemas.microsoft.com/office/drawing/2014/main" val="1355944868"/>
                    </a:ext>
                  </a:extLst>
                </a:gridCol>
              </a:tblGrid>
              <a:tr h="552765">
                <a:tc>
                  <a:txBody>
                    <a:bodyPr/>
                    <a:lstStyle/>
                    <a:p>
                      <a:pPr>
                        <a:spcAft>
                          <a:spcPts val="0"/>
                        </a:spcAft>
                      </a:pPr>
                      <a:r>
                        <a:rPr lang="en-MY" sz="900">
                          <a:effectLst/>
                        </a:rPr>
                        <a:t>ID</a:t>
                      </a:r>
                      <a:endParaRPr lang="en-MY" sz="1000">
                        <a:effectLst/>
                        <a:latin typeface="Arial" panose="020B0604020202020204" pitchFamily="34" charset="0"/>
                        <a:ea typeface="Arial" panose="020B0604020202020204" pitchFamily="34" charset="0"/>
                      </a:endParaRPr>
                    </a:p>
                  </a:txBody>
                  <a:tcPr marL="69850" marR="69850" marT="50800" marB="50800"/>
                </a:tc>
                <a:tc>
                  <a:txBody>
                    <a:bodyPr/>
                    <a:lstStyle/>
                    <a:p>
                      <a:pPr>
                        <a:spcAft>
                          <a:spcPts val="0"/>
                        </a:spcAft>
                      </a:pPr>
                      <a:r>
                        <a:rPr lang="en-MY" sz="900">
                          <a:effectLst/>
                        </a:rPr>
                        <a:t>Objective</a:t>
                      </a:r>
                      <a:endParaRPr lang="en-MY" sz="1000">
                        <a:effectLst/>
                        <a:latin typeface="Arial" panose="020B0604020202020204" pitchFamily="34" charset="0"/>
                        <a:ea typeface="Arial" panose="020B0604020202020204" pitchFamily="34" charset="0"/>
                      </a:endParaRPr>
                    </a:p>
                  </a:txBody>
                  <a:tcPr marL="69850" marR="69850" marT="50800" marB="50800"/>
                </a:tc>
                <a:tc>
                  <a:txBody>
                    <a:bodyPr/>
                    <a:lstStyle/>
                    <a:p>
                      <a:pPr>
                        <a:spcAft>
                          <a:spcPts val="0"/>
                        </a:spcAft>
                      </a:pPr>
                      <a:r>
                        <a:rPr lang="en-MY" sz="900">
                          <a:effectLst/>
                        </a:rPr>
                        <a:t>Domain</a:t>
                      </a:r>
                      <a:endParaRPr lang="en-MY" sz="1000">
                        <a:effectLst/>
                        <a:latin typeface="Arial" panose="020B0604020202020204" pitchFamily="34" charset="0"/>
                        <a:ea typeface="Arial" panose="020B0604020202020204" pitchFamily="34" charset="0"/>
                      </a:endParaRPr>
                    </a:p>
                  </a:txBody>
                  <a:tcPr marL="69850" marR="69850" marT="50800" marB="50800"/>
                </a:tc>
                <a:tc>
                  <a:txBody>
                    <a:bodyPr/>
                    <a:lstStyle/>
                    <a:p>
                      <a:pPr>
                        <a:spcAft>
                          <a:spcPts val="0"/>
                        </a:spcAft>
                      </a:pPr>
                      <a:r>
                        <a:rPr lang="en-MY" sz="900">
                          <a:effectLst/>
                        </a:rPr>
                        <a:t>Priority</a:t>
                      </a:r>
                      <a:endParaRPr lang="en-MY" sz="1000">
                        <a:effectLst/>
                        <a:latin typeface="Arial" panose="020B0604020202020204" pitchFamily="34" charset="0"/>
                        <a:ea typeface="Arial" panose="020B0604020202020204" pitchFamily="34" charset="0"/>
                      </a:endParaRPr>
                    </a:p>
                  </a:txBody>
                  <a:tcPr marL="69850" marR="69850" marT="50800" marB="50800"/>
                </a:tc>
                <a:extLst>
                  <a:ext uri="{0D108BD9-81ED-4DB2-BD59-A6C34878D82A}">
                    <a16:rowId xmlns:a16="http://schemas.microsoft.com/office/drawing/2014/main" val="160472932"/>
                  </a:ext>
                </a:extLst>
              </a:tr>
              <a:tr h="552765">
                <a:tc>
                  <a:txBody>
                    <a:bodyPr/>
                    <a:lstStyle/>
                    <a:p>
                      <a:pPr>
                        <a:spcAft>
                          <a:spcPts val="0"/>
                        </a:spcAft>
                      </a:pPr>
                      <a:r>
                        <a:rPr lang="en-MY" sz="900">
                          <a:effectLst/>
                        </a:rPr>
                        <a:t>OBJ-01</a:t>
                      </a:r>
                      <a:endParaRPr lang="en-MY" sz="1000">
                        <a:effectLst/>
                        <a:latin typeface="Arial" panose="020B0604020202020204" pitchFamily="34" charset="0"/>
                        <a:ea typeface="Arial" panose="020B0604020202020204" pitchFamily="34" charset="0"/>
                      </a:endParaRPr>
                    </a:p>
                  </a:txBody>
                  <a:tcPr marL="69850" marR="69850" marT="50800" marB="50800"/>
                </a:tc>
                <a:tc>
                  <a:txBody>
                    <a:bodyPr/>
                    <a:lstStyle/>
                    <a:p>
                      <a:pPr>
                        <a:spcAft>
                          <a:spcPts val="0"/>
                        </a:spcAft>
                      </a:pPr>
                      <a:r>
                        <a:rPr lang="en-MY" sz="900" dirty="0">
                          <a:effectLst/>
                        </a:rPr>
                        <a:t>Migrate to a secure, cloud-native infrastructure by Q4 2026.</a:t>
                      </a:r>
                      <a:endParaRPr lang="en-MY" sz="1000" dirty="0">
                        <a:effectLst/>
                        <a:latin typeface="Arial" panose="020B0604020202020204" pitchFamily="34" charset="0"/>
                        <a:ea typeface="Arial" panose="020B0604020202020204" pitchFamily="34" charset="0"/>
                      </a:endParaRPr>
                    </a:p>
                  </a:txBody>
                  <a:tcPr marL="69850" marR="69850" marT="50800" marB="50800"/>
                </a:tc>
                <a:tc>
                  <a:txBody>
                    <a:bodyPr/>
                    <a:lstStyle/>
                    <a:p>
                      <a:pPr>
                        <a:spcAft>
                          <a:spcPts val="0"/>
                        </a:spcAft>
                      </a:pPr>
                      <a:r>
                        <a:rPr lang="en-MY" sz="900">
                          <a:effectLst/>
                        </a:rPr>
                        <a:t>Technology</a:t>
                      </a:r>
                      <a:endParaRPr lang="en-MY" sz="1000">
                        <a:effectLst/>
                        <a:latin typeface="Arial" panose="020B0604020202020204" pitchFamily="34" charset="0"/>
                        <a:ea typeface="Arial" panose="020B0604020202020204" pitchFamily="34" charset="0"/>
                      </a:endParaRPr>
                    </a:p>
                  </a:txBody>
                  <a:tcPr marL="69850" marR="69850" marT="50800" marB="50800"/>
                </a:tc>
                <a:tc>
                  <a:txBody>
                    <a:bodyPr/>
                    <a:lstStyle/>
                    <a:p>
                      <a:pPr algn="ctr">
                        <a:spcAft>
                          <a:spcPts val="0"/>
                        </a:spcAft>
                      </a:pPr>
                      <a:r>
                        <a:rPr lang="en-MY" sz="900">
                          <a:effectLst/>
                        </a:rPr>
                        <a:t>Critical</a:t>
                      </a:r>
                      <a:endParaRPr lang="en-MY" sz="1000">
                        <a:effectLst/>
                        <a:latin typeface="Arial" panose="020B0604020202020204" pitchFamily="34" charset="0"/>
                        <a:ea typeface="Arial" panose="020B0604020202020204" pitchFamily="34" charset="0"/>
                      </a:endParaRPr>
                    </a:p>
                  </a:txBody>
                  <a:tcPr marL="69850" marR="69850" marT="50800" marB="50800"/>
                </a:tc>
                <a:extLst>
                  <a:ext uri="{0D108BD9-81ED-4DB2-BD59-A6C34878D82A}">
                    <a16:rowId xmlns:a16="http://schemas.microsoft.com/office/drawing/2014/main" val="3302058323"/>
                  </a:ext>
                </a:extLst>
              </a:tr>
              <a:tr h="552765">
                <a:tc>
                  <a:txBody>
                    <a:bodyPr/>
                    <a:lstStyle/>
                    <a:p>
                      <a:pPr>
                        <a:spcAft>
                          <a:spcPts val="0"/>
                        </a:spcAft>
                      </a:pPr>
                      <a:r>
                        <a:rPr lang="en-MY" sz="900">
                          <a:effectLst/>
                        </a:rPr>
                        <a:t>OBJ-02</a:t>
                      </a:r>
                      <a:endParaRPr lang="en-MY" sz="1000">
                        <a:effectLst/>
                        <a:latin typeface="Arial" panose="020B0604020202020204" pitchFamily="34" charset="0"/>
                        <a:ea typeface="Arial" panose="020B0604020202020204" pitchFamily="34" charset="0"/>
                      </a:endParaRPr>
                    </a:p>
                  </a:txBody>
                  <a:tcPr marL="69850" marR="69850" marT="50800" marB="50800"/>
                </a:tc>
                <a:tc>
                  <a:txBody>
                    <a:bodyPr/>
                    <a:lstStyle/>
                    <a:p>
                      <a:pPr>
                        <a:spcAft>
                          <a:spcPts val="0"/>
                        </a:spcAft>
                      </a:pPr>
                      <a:r>
                        <a:rPr lang="en-MY" sz="900" dirty="0">
                          <a:effectLst/>
                        </a:rPr>
                        <a:t>Improve customer </a:t>
                      </a:r>
                      <a:r>
                        <a:rPr lang="en-MY" sz="900" dirty="0" err="1">
                          <a:effectLst/>
                        </a:rPr>
                        <a:t>onboarding</a:t>
                      </a:r>
                      <a:r>
                        <a:rPr lang="en-MY" sz="900" dirty="0">
                          <a:effectLst/>
                        </a:rPr>
                        <a:t> and loan processing time by 40%.</a:t>
                      </a:r>
                      <a:endParaRPr lang="en-MY" sz="1000" dirty="0">
                        <a:effectLst/>
                        <a:latin typeface="Arial" panose="020B0604020202020204" pitchFamily="34" charset="0"/>
                        <a:ea typeface="Arial" panose="020B0604020202020204" pitchFamily="34" charset="0"/>
                      </a:endParaRPr>
                    </a:p>
                  </a:txBody>
                  <a:tcPr marL="69850" marR="69850" marT="50800" marB="50800"/>
                </a:tc>
                <a:tc>
                  <a:txBody>
                    <a:bodyPr/>
                    <a:lstStyle/>
                    <a:p>
                      <a:pPr>
                        <a:spcAft>
                          <a:spcPts val="0"/>
                        </a:spcAft>
                      </a:pPr>
                      <a:r>
                        <a:rPr lang="en-MY" sz="900">
                          <a:effectLst/>
                        </a:rPr>
                        <a:t>Operations</a:t>
                      </a:r>
                      <a:endParaRPr lang="en-MY" sz="1000">
                        <a:effectLst/>
                        <a:latin typeface="Arial" panose="020B0604020202020204" pitchFamily="34" charset="0"/>
                        <a:ea typeface="Arial" panose="020B0604020202020204" pitchFamily="34" charset="0"/>
                      </a:endParaRPr>
                    </a:p>
                  </a:txBody>
                  <a:tcPr marL="69850" marR="69850" marT="50800" marB="50800"/>
                </a:tc>
                <a:tc>
                  <a:txBody>
                    <a:bodyPr/>
                    <a:lstStyle/>
                    <a:p>
                      <a:pPr algn="ctr">
                        <a:spcAft>
                          <a:spcPts val="0"/>
                        </a:spcAft>
                      </a:pPr>
                      <a:r>
                        <a:rPr lang="en-MY" sz="900">
                          <a:effectLst/>
                        </a:rPr>
                        <a:t>High</a:t>
                      </a:r>
                      <a:endParaRPr lang="en-MY" sz="1000">
                        <a:effectLst/>
                        <a:latin typeface="Arial" panose="020B0604020202020204" pitchFamily="34" charset="0"/>
                        <a:ea typeface="Arial" panose="020B0604020202020204" pitchFamily="34" charset="0"/>
                      </a:endParaRPr>
                    </a:p>
                  </a:txBody>
                  <a:tcPr marL="69850" marR="69850" marT="50800" marB="50800"/>
                </a:tc>
                <a:extLst>
                  <a:ext uri="{0D108BD9-81ED-4DB2-BD59-A6C34878D82A}">
                    <a16:rowId xmlns:a16="http://schemas.microsoft.com/office/drawing/2014/main" val="2859671981"/>
                  </a:ext>
                </a:extLst>
              </a:tr>
              <a:tr h="552765">
                <a:tc>
                  <a:txBody>
                    <a:bodyPr/>
                    <a:lstStyle/>
                    <a:p>
                      <a:pPr>
                        <a:spcAft>
                          <a:spcPts val="0"/>
                        </a:spcAft>
                      </a:pPr>
                      <a:r>
                        <a:rPr lang="en-MY" sz="900">
                          <a:effectLst/>
                        </a:rPr>
                        <a:t>OBJ-03</a:t>
                      </a:r>
                      <a:endParaRPr lang="en-MY" sz="1000">
                        <a:effectLst/>
                        <a:latin typeface="Arial" panose="020B0604020202020204" pitchFamily="34" charset="0"/>
                        <a:ea typeface="Arial" panose="020B0604020202020204" pitchFamily="34" charset="0"/>
                      </a:endParaRPr>
                    </a:p>
                  </a:txBody>
                  <a:tcPr marL="69850" marR="69850" marT="50800" marB="50800"/>
                </a:tc>
                <a:tc>
                  <a:txBody>
                    <a:bodyPr/>
                    <a:lstStyle/>
                    <a:p>
                      <a:pPr>
                        <a:spcAft>
                          <a:spcPts val="0"/>
                        </a:spcAft>
                      </a:pPr>
                      <a:r>
                        <a:rPr lang="en-MY" sz="900">
                          <a:effectLst/>
                        </a:rPr>
                        <a:t>Achieve 100% compliance with KYC, AML, PCI-DSS, and GDPR.</a:t>
                      </a:r>
                      <a:endParaRPr lang="en-MY" sz="1000">
                        <a:effectLst/>
                        <a:latin typeface="Arial" panose="020B0604020202020204" pitchFamily="34" charset="0"/>
                        <a:ea typeface="Arial" panose="020B0604020202020204" pitchFamily="34" charset="0"/>
                      </a:endParaRPr>
                    </a:p>
                  </a:txBody>
                  <a:tcPr marL="69850" marR="69850" marT="50800" marB="50800"/>
                </a:tc>
                <a:tc>
                  <a:txBody>
                    <a:bodyPr/>
                    <a:lstStyle/>
                    <a:p>
                      <a:pPr>
                        <a:spcAft>
                          <a:spcPts val="0"/>
                        </a:spcAft>
                      </a:pPr>
                      <a:r>
                        <a:rPr lang="en-MY" sz="900">
                          <a:effectLst/>
                        </a:rPr>
                        <a:t>Compliance</a:t>
                      </a:r>
                      <a:endParaRPr lang="en-MY" sz="1000">
                        <a:effectLst/>
                        <a:latin typeface="Arial" panose="020B0604020202020204" pitchFamily="34" charset="0"/>
                        <a:ea typeface="Arial" panose="020B0604020202020204" pitchFamily="34" charset="0"/>
                      </a:endParaRPr>
                    </a:p>
                  </a:txBody>
                  <a:tcPr marL="69850" marR="69850" marT="50800" marB="50800"/>
                </a:tc>
                <a:tc>
                  <a:txBody>
                    <a:bodyPr/>
                    <a:lstStyle/>
                    <a:p>
                      <a:pPr algn="ctr">
                        <a:spcAft>
                          <a:spcPts val="0"/>
                        </a:spcAft>
                      </a:pPr>
                      <a:r>
                        <a:rPr lang="en-MY" sz="900">
                          <a:effectLst/>
                        </a:rPr>
                        <a:t>Critical</a:t>
                      </a:r>
                      <a:endParaRPr lang="en-MY" sz="1000">
                        <a:effectLst/>
                        <a:latin typeface="Arial" panose="020B0604020202020204" pitchFamily="34" charset="0"/>
                        <a:ea typeface="Arial" panose="020B0604020202020204" pitchFamily="34" charset="0"/>
                      </a:endParaRPr>
                    </a:p>
                  </a:txBody>
                  <a:tcPr marL="69850" marR="69850" marT="50800" marB="50800"/>
                </a:tc>
                <a:extLst>
                  <a:ext uri="{0D108BD9-81ED-4DB2-BD59-A6C34878D82A}">
                    <a16:rowId xmlns:a16="http://schemas.microsoft.com/office/drawing/2014/main" val="593410722"/>
                  </a:ext>
                </a:extLst>
              </a:tr>
              <a:tr h="552765">
                <a:tc>
                  <a:txBody>
                    <a:bodyPr/>
                    <a:lstStyle/>
                    <a:p>
                      <a:pPr>
                        <a:spcAft>
                          <a:spcPts val="0"/>
                        </a:spcAft>
                      </a:pPr>
                      <a:r>
                        <a:rPr lang="en-MY" sz="900">
                          <a:effectLst/>
                        </a:rPr>
                        <a:t>OBJ-04</a:t>
                      </a:r>
                      <a:endParaRPr lang="en-MY" sz="1000">
                        <a:effectLst/>
                        <a:latin typeface="Arial" panose="020B0604020202020204" pitchFamily="34" charset="0"/>
                        <a:ea typeface="Arial" panose="020B0604020202020204" pitchFamily="34" charset="0"/>
                      </a:endParaRPr>
                    </a:p>
                  </a:txBody>
                  <a:tcPr marL="69850" marR="69850" marT="50800" marB="50800"/>
                </a:tc>
                <a:tc>
                  <a:txBody>
                    <a:bodyPr/>
                    <a:lstStyle/>
                    <a:p>
                      <a:pPr>
                        <a:spcAft>
                          <a:spcPts val="0"/>
                        </a:spcAft>
                      </a:pPr>
                      <a:r>
                        <a:rPr lang="en-MY" sz="900">
                          <a:effectLst/>
                        </a:rPr>
                        <a:t>Maintain 99.99% uptime with scalable, redundant infrastructure.</a:t>
                      </a:r>
                      <a:endParaRPr lang="en-MY" sz="1000">
                        <a:effectLst/>
                        <a:latin typeface="Arial" panose="020B0604020202020204" pitchFamily="34" charset="0"/>
                        <a:ea typeface="Arial" panose="020B0604020202020204" pitchFamily="34" charset="0"/>
                      </a:endParaRPr>
                    </a:p>
                  </a:txBody>
                  <a:tcPr marL="69850" marR="69850" marT="50800" marB="50800"/>
                </a:tc>
                <a:tc>
                  <a:txBody>
                    <a:bodyPr/>
                    <a:lstStyle/>
                    <a:p>
                      <a:pPr>
                        <a:spcAft>
                          <a:spcPts val="0"/>
                        </a:spcAft>
                      </a:pPr>
                      <a:r>
                        <a:rPr lang="en-MY" sz="900">
                          <a:effectLst/>
                        </a:rPr>
                        <a:t>Technology</a:t>
                      </a:r>
                      <a:endParaRPr lang="en-MY" sz="1000">
                        <a:effectLst/>
                        <a:latin typeface="Arial" panose="020B0604020202020204" pitchFamily="34" charset="0"/>
                        <a:ea typeface="Arial" panose="020B0604020202020204" pitchFamily="34" charset="0"/>
                      </a:endParaRPr>
                    </a:p>
                  </a:txBody>
                  <a:tcPr marL="69850" marR="69850" marT="50800" marB="50800"/>
                </a:tc>
                <a:tc>
                  <a:txBody>
                    <a:bodyPr/>
                    <a:lstStyle/>
                    <a:p>
                      <a:pPr algn="ctr">
                        <a:spcAft>
                          <a:spcPts val="0"/>
                        </a:spcAft>
                      </a:pPr>
                      <a:r>
                        <a:rPr lang="en-MY" sz="900">
                          <a:effectLst/>
                        </a:rPr>
                        <a:t>High</a:t>
                      </a:r>
                      <a:endParaRPr lang="en-MY" sz="1000">
                        <a:effectLst/>
                        <a:latin typeface="Arial" panose="020B0604020202020204" pitchFamily="34" charset="0"/>
                        <a:ea typeface="Arial" panose="020B0604020202020204" pitchFamily="34" charset="0"/>
                      </a:endParaRPr>
                    </a:p>
                  </a:txBody>
                  <a:tcPr marL="69850" marR="69850" marT="50800" marB="50800"/>
                </a:tc>
                <a:extLst>
                  <a:ext uri="{0D108BD9-81ED-4DB2-BD59-A6C34878D82A}">
                    <a16:rowId xmlns:a16="http://schemas.microsoft.com/office/drawing/2014/main" val="2553602175"/>
                  </a:ext>
                </a:extLst>
              </a:tr>
              <a:tr h="552765">
                <a:tc>
                  <a:txBody>
                    <a:bodyPr/>
                    <a:lstStyle/>
                    <a:p>
                      <a:pPr>
                        <a:spcAft>
                          <a:spcPts val="0"/>
                        </a:spcAft>
                      </a:pPr>
                      <a:r>
                        <a:rPr lang="en-MY" sz="900">
                          <a:effectLst/>
                        </a:rPr>
                        <a:t>OBJ-05</a:t>
                      </a:r>
                      <a:endParaRPr lang="en-MY" sz="1000">
                        <a:effectLst/>
                        <a:latin typeface="Arial" panose="020B0604020202020204" pitchFamily="34" charset="0"/>
                        <a:ea typeface="Arial" panose="020B0604020202020204" pitchFamily="34" charset="0"/>
                      </a:endParaRPr>
                    </a:p>
                  </a:txBody>
                  <a:tcPr marL="69850" marR="69850" marT="50800" marB="50800"/>
                </a:tc>
                <a:tc>
                  <a:txBody>
                    <a:bodyPr/>
                    <a:lstStyle/>
                    <a:p>
                      <a:pPr>
                        <a:spcAft>
                          <a:spcPts val="0"/>
                        </a:spcAft>
                      </a:pPr>
                      <a:r>
                        <a:rPr lang="en-MY" sz="900">
                          <a:effectLst/>
                        </a:rPr>
                        <a:t>Reduce fraud losses through real-time detection and alerting.</a:t>
                      </a:r>
                      <a:endParaRPr lang="en-MY" sz="1000">
                        <a:effectLst/>
                        <a:latin typeface="Arial" panose="020B0604020202020204" pitchFamily="34" charset="0"/>
                        <a:ea typeface="Arial" panose="020B0604020202020204" pitchFamily="34" charset="0"/>
                      </a:endParaRPr>
                    </a:p>
                  </a:txBody>
                  <a:tcPr marL="69850" marR="69850" marT="50800" marB="50800"/>
                </a:tc>
                <a:tc>
                  <a:txBody>
                    <a:bodyPr/>
                    <a:lstStyle/>
                    <a:p>
                      <a:pPr>
                        <a:spcAft>
                          <a:spcPts val="0"/>
                        </a:spcAft>
                      </a:pPr>
                      <a:r>
                        <a:rPr lang="en-MY" sz="900">
                          <a:effectLst/>
                        </a:rPr>
                        <a:t>Risk</a:t>
                      </a:r>
                      <a:endParaRPr lang="en-MY" sz="1000">
                        <a:effectLst/>
                        <a:latin typeface="Arial" panose="020B0604020202020204" pitchFamily="34" charset="0"/>
                        <a:ea typeface="Arial" panose="020B0604020202020204" pitchFamily="34" charset="0"/>
                      </a:endParaRPr>
                    </a:p>
                  </a:txBody>
                  <a:tcPr marL="69850" marR="69850" marT="50800" marB="50800"/>
                </a:tc>
                <a:tc>
                  <a:txBody>
                    <a:bodyPr/>
                    <a:lstStyle/>
                    <a:p>
                      <a:pPr algn="ctr">
                        <a:spcAft>
                          <a:spcPts val="0"/>
                        </a:spcAft>
                      </a:pPr>
                      <a:r>
                        <a:rPr lang="en-MY" sz="900">
                          <a:effectLst/>
                        </a:rPr>
                        <a:t>High</a:t>
                      </a:r>
                      <a:endParaRPr lang="en-MY" sz="1000">
                        <a:effectLst/>
                        <a:latin typeface="Arial" panose="020B0604020202020204" pitchFamily="34" charset="0"/>
                        <a:ea typeface="Arial" panose="020B0604020202020204" pitchFamily="34" charset="0"/>
                      </a:endParaRPr>
                    </a:p>
                  </a:txBody>
                  <a:tcPr marL="69850" marR="69850" marT="50800" marB="50800"/>
                </a:tc>
                <a:extLst>
                  <a:ext uri="{0D108BD9-81ED-4DB2-BD59-A6C34878D82A}">
                    <a16:rowId xmlns:a16="http://schemas.microsoft.com/office/drawing/2014/main" val="4123800939"/>
                  </a:ext>
                </a:extLst>
              </a:tr>
              <a:tr h="552765">
                <a:tc>
                  <a:txBody>
                    <a:bodyPr/>
                    <a:lstStyle/>
                    <a:p>
                      <a:pPr>
                        <a:spcAft>
                          <a:spcPts val="0"/>
                        </a:spcAft>
                      </a:pPr>
                      <a:r>
                        <a:rPr lang="en-MY" sz="900">
                          <a:effectLst/>
                        </a:rPr>
                        <a:t>OBJ-06</a:t>
                      </a:r>
                      <a:endParaRPr lang="en-MY" sz="1000">
                        <a:effectLst/>
                        <a:latin typeface="Arial" panose="020B0604020202020204" pitchFamily="34" charset="0"/>
                        <a:ea typeface="Arial" panose="020B0604020202020204" pitchFamily="34" charset="0"/>
                      </a:endParaRPr>
                    </a:p>
                  </a:txBody>
                  <a:tcPr marL="69850" marR="69850" marT="50800" marB="50800"/>
                </a:tc>
                <a:tc>
                  <a:txBody>
                    <a:bodyPr/>
                    <a:lstStyle/>
                    <a:p>
                      <a:pPr>
                        <a:spcAft>
                          <a:spcPts val="0"/>
                        </a:spcAft>
                      </a:pPr>
                      <a:r>
                        <a:rPr lang="en-MY" sz="900" dirty="0">
                          <a:effectLst/>
                        </a:rPr>
                        <a:t>Enable data-driven decision-making via centralized analytics.</a:t>
                      </a:r>
                      <a:endParaRPr lang="en-MY" sz="1000" dirty="0">
                        <a:effectLst/>
                        <a:latin typeface="Arial" panose="020B0604020202020204" pitchFamily="34" charset="0"/>
                        <a:ea typeface="Arial" panose="020B0604020202020204" pitchFamily="34" charset="0"/>
                      </a:endParaRPr>
                    </a:p>
                  </a:txBody>
                  <a:tcPr marL="69850" marR="69850" marT="50800" marB="50800"/>
                </a:tc>
                <a:tc>
                  <a:txBody>
                    <a:bodyPr/>
                    <a:lstStyle/>
                    <a:p>
                      <a:pPr>
                        <a:spcAft>
                          <a:spcPts val="0"/>
                        </a:spcAft>
                      </a:pPr>
                      <a:r>
                        <a:rPr lang="en-MY" sz="900">
                          <a:effectLst/>
                        </a:rPr>
                        <a:t>Strategy</a:t>
                      </a:r>
                      <a:endParaRPr lang="en-MY" sz="1000">
                        <a:effectLst/>
                        <a:latin typeface="Arial" panose="020B0604020202020204" pitchFamily="34" charset="0"/>
                        <a:ea typeface="Arial" panose="020B0604020202020204" pitchFamily="34" charset="0"/>
                      </a:endParaRPr>
                    </a:p>
                  </a:txBody>
                  <a:tcPr marL="69850" marR="69850" marT="50800" marB="50800"/>
                </a:tc>
                <a:tc>
                  <a:txBody>
                    <a:bodyPr/>
                    <a:lstStyle/>
                    <a:p>
                      <a:pPr algn="ctr">
                        <a:spcAft>
                          <a:spcPts val="0"/>
                        </a:spcAft>
                      </a:pPr>
                      <a:r>
                        <a:rPr lang="en-MY" sz="900" dirty="0">
                          <a:effectLst/>
                        </a:rPr>
                        <a:t>Medium</a:t>
                      </a:r>
                      <a:endParaRPr lang="en-MY" sz="1000" dirty="0">
                        <a:effectLst/>
                        <a:latin typeface="Arial" panose="020B0604020202020204" pitchFamily="34" charset="0"/>
                        <a:ea typeface="Arial" panose="020B0604020202020204" pitchFamily="34" charset="0"/>
                      </a:endParaRPr>
                    </a:p>
                  </a:txBody>
                  <a:tcPr marL="69850" marR="69850" marT="50800" marB="50800"/>
                </a:tc>
                <a:extLst>
                  <a:ext uri="{0D108BD9-81ED-4DB2-BD59-A6C34878D82A}">
                    <a16:rowId xmlns:a16="http://schemas.microsoft.com/office/drawing/2014/main" val="371726833"/>
                  </a:ext>
                </a:extLst>
              </a:tr>
            </a:tbl>
          </a:graphicData>
        </a:graphic>
      </p:graphicFrame>
    </p:spTree>
    <p:extLst>
      <p:ext uri="{BB962C8B-B14F-4D97-AF65-F5344CB8AC3E}">
        <p14:creationId xmlns:p14="http://schemas.microsoft.com/office/powerpoint/2010/main" val="10719202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B667E7-DFE5-81A1-B201-4F2933132C1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489EBB5-EE2A-D663-F37B-D0097FAE18D8}"/>
              </a:ext>
            </a:extLst>
          </p:cNvPr>
          <p:cNvSpPr>
            <a:spLocks noGrp="1"/>
          </p:cNvSpPr>
          <p:nvPr>
            <p:ph type="title"/>
          </p:nvPr>
        </p:nvSpPr>
        <p:spPr>
          <a:xfrm>
            <a:off x="572756" y="133943"/>
            <a:ext cx="9813446" cy="850726"/>
          </a:xfrm>
        </p:spPr>
        <p:txBody>
          <a:bodyPr>
            <a:noAutofit/>
          </a:bodyPr>
          <a:lstStyle/>
          <a:p>
            <a:r>
              <a:rPr lang="en-US" sz="3200" dirty="0"/>
              <a:t>Requirements Gathering</a:t>
            </a:r>
          </a:p>
        </p:txBody>
      </p:sp>
      <p:sp>
        <p:nvSpPr>
          <p:cNvPr id="8" name="Content Placeholder 4">
            <a:extLst>
              <a:ext uri="{FF2B5EF4-FFF2-40B4-BE49-F238E27FC236}">
                <a16:creationId xmlns:a16="http://schemas.microsoft.com/office/drawing/2014/main" id="{AE6DA914-A2CC-478F-879B-0390CE6488F4}"/>
              </a:ext>
            </a:extLst>
          </p:cNvPr>
          <p:cNvSpPr txBox="1">
            <a:spLocks/>
          </p:cNvSpPr>
          <p:nvPr/>
        </p:nvSpPr>
        <p:spPr>
          <a:xfrm>
            <a:off x="573087" y="1174282"/>
            <a:ext cx="10659485" cy="5072514"/>
          </a:xfrm>
          <a:prstGeom prst="rect">
            <a:avLst/>
          </a:prstGeom>
        </p:spPr>
        <p:txBody>
          <a:bodyPr vert="horz" lIns="91440" tIns="45720" rIns="91440" bIns="45720" rtlCol="0" anchor="t">
            <a:normAutofit fontScale="3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900" b="1" dirty="0"/>
              <a:t>Use Case Diagram and Detailed Flow Descriptions</a:t>
            </a:r>
          </a:p>
          <a:p>
            <a:endParaRPr lang="en-MY" dirty="0"/>
          </a:p>
          <a:p>
            <a:r>
              <a:rPr lang="en-MY" dirty="0"/>
              <a:t> ┌─────────────────────────────────────────────────────────────────────────┐ │                                                                         │ │  Customer                      CORE DIGITAL BANKING PLATFORM            │ │    (O)  ────────────►  ( </a:t>
            </a:r>
            <a:r>
              <a:rPr lang="en-MY" dirty="0" err="1"/>
              <a:t>Onboard</a:t>
            </a:r>
            <a:r>
              <a:rPr lang="en-MY" dirty="0"/>
              <a:t> New Customer )                        │ │     │                                                                   │ │     └──────────────►  ( Manage Patient Account )                       │ │                                                                         │ │                                                                         │ │  Product Owner                                                          │ │    (O)  ────────────►  ( Configure Compliance Rules )                  │ │     │                                                                   │ │     └──────────────►  ( Monitor Fraud Alerts )                         │ │                                                                         │ │                                                                         │ │  Compliance Officer                                                     │ │    (O)  ────────────►  ( Configure Compliance Rules )                  │ │                                                                         │ │                                                                         │ │  DevOps Engineer                                                        │ │    (O)  ────────────►  ( Manage Deployment Pipeline )                  │ │                                                                         │ │                                                                         │ │                            ( </a:t>
            </a:r>
            <a:r>
              <a:rPr lang="en-MY" dirty="0" err="1"/>
              <a:t>Onboard</a:t>
            </a:r>
            <a:r>
              <a:rPr lang="en-MY" dirty="0"/>
              <a:t> New Customer )  ◄────  Credit      │ │                                                             Bureau API  │ │                                                                         │ │                            ( Monitor Fraud Alerts )  ◄────  Fraud       │ │                                                             Detection   │ │                                                             Engine      │ │                                                                         │ │                            ( Access Regulatory     )  ◄────  External   │ │                            ( Reports               )         Regulator  │ │                                                                         │ </a:t>
            </a:r>
            <a:r>
              <a:rPr lang="en-MY" dirty="0" smtClean="0"/>
              <a:t>└─────────────────────────────────────────────────────────────────────────┘</a:t>
            </a:r>
          </a:p>
          <a:p>
            <a:pPr marL="0" indent="0">
              <a:buNone/>
            </a:pPr>
            <a:r>
              <a:rPr lang="en-MY" b="1" dirty="0" smtClean="0"/>
              <a:t>Use Case: </a:t>
            </a:r>
            <a:r>
              <a:rPr lang="en-MY" b="1" dirty="0" err="1" smtClean="0"/>
              <a:t>Onboard</a:t>
            </a:r>
            <a:r>
              <a:rPr lang="en-MY" b="1" dirty="0" smtClean="0"/>
              <a:t> New Customer</a:t>
            </a:r>
            <a:endParaRPr lang="en-MY" dirty="0" smtClean="0"/>
          </a:p>
          <a:p>
            <a:r>
              <a:rPr lang="en-MY" dirty="0" smtClean="0"/>
              <a:t>Precondition</a:t>
            </a:r>
            <a:r>
              <a:rPr lang="en-MY" dirty="0"/>
              <a:t>: Customer has valid identity documents (passport, driver's license, or national ID)</a:t>
            </a:r>
          </a:p>
          <a:p>
            <a:r>
              <a:rPr lang="en-MY" dirty="0"/>
              <a:t>Main Flow:</a:t>
            </a:r>
          </a:p>
          <a:p>
            <a:pPr lvl="0"/>
            <a:r>
              <a:rPr lang="en-MY" dirty="0"/>
              <a:t>Customer navigates to the </a:t>
            </a:r>
            <a:r>
              <a:rPr lang="en-MY" dirty="0" err="1"/>
              <a:t>onboarding</a:t>
            </a:r>
            <a:r>
              <a:rPr lang="en-MY" dirty="0"/>
              <a:t> portal (web or mobile app)</a:t>
            </a:r>
          </a:p>
          <a:p>
            <a:pPr lvl="0"/>
            <a:r>
              <a:rPr lang="en-MY" dirty="0"/>
              <a:t>System presents KYC data collection form (name, address, DOB, ID number)</a:t>
            </a:r>
          </a:p>
          <a:p>
            <a:pPr lvl="0"/>
            <a:r>
              <a:rPr lang="en-MY" dirty="0"/>
              <a:t>Customer uploads identity verification documents (passport scan, proof of address)</a:t>
            </a:r>
          </a:p>
          <a:p>
            <a:pPr lvl="0"/>
            <a:r>
              <a:rPr lang="en-MY" dirty="0"/>
              <a:t>System validates document formats and performs OCR extraction</a:t>
            </a:r>
          </a:p>
          <a:p>
            <a:pPr lvl="0"/>
            <a:r>
              <a:rPr lang="en-MY" dirty="0"/>
              <a:t>System invokes Credit Bureau API to verify identity and credit history</a:t>
            </a:r>
          </a:p>
          <a:p>
            <a:pPr lvl="0"/>
            <a:r>
              <a:rPr lang="en-MY" dirty="0"/>
              <a:t>System performs AML screening against </a:t>
            </a:r>
            <a:r>
              <a:rPr lang="en-MY" dirty="0" err="1"/>
              <a:t>watchlists</a:t>
            </a:r>
            <a:r>
              <a:rPr lang="en-MY" dirty="0"/>
              <a:t> and sanctions databases</a:t>
            </a:r>
          </a:p>
          <a:p>
            <a:pPr lvl="0"/>
            <a:r>
              <a:rPr lang="en-MY" dirty="0"/>
              <a:t>If all checks pass, system creates customer account and assigns account number</a:t>
            </a:r>
          </a:p>
          <a:p>
            <a:pPr lvl="0"/>
            <a:r>
              <a:rPr lang="en-MY" dirty="0"/>
              <a:t>System sends confirmation email/SMS with account credentials</a:t>
            </a:r>
          </a:p>
          <a:p>
            <a:r>
              <a:rPr lang="en-MY" dirty="0" err="1"/>
              <a:t>Postcondition</a:t>
            </a:r>
            <a:r>
              <a:rPr lang="en-MY" dirty="0"/>
              <a:t>: Customer account is active and ready for transactions. </a:t>
            </a:r>
            <a:r>
              <a:rPr lang="en-MY" dirty="0" err="1"/>
              <a:t>Onboarding</a:t>
            </a:r>
            <a:r>
              <a:rPr lang="en-MY" dirty="0"/>
              <a:t> completed in under 5 minutes.</a:t>
            </a:r>
          </a:p>
          <a:p>
            <a:r>
              <a:rPr lang="en-MY" dirty="0"/>
              <a:t>Alternative Flow: If identity verification fails, system prompts customer to re-upload documents or contact support.</a:t>
            </a:r>
          </a:p>
          <a:p>
            <a:endParaRPr lang="en-MY" dirty="0"/>
          </a:p>
          <a:p>
            <a:pPr marL="0" indent="0">
              <a:buNone/>
            </a:pPr>
            <a:endParaRPr lang="en-US" sz="1000" dirty="0">
              <a:highlight>
                <a:srgbClr val="FFFF00"/>
              </a:highlight>
              <a:cs typeface="Arial"/>
            </a:endParaRPr>
          </a:p>
          <a:p>
            <a:pPr marL="0" indent="0">
              <a:buNone/>
            </a:pPr>
            <a:endParaRPr lang="en-US" sz="2400" b="1" dirty="0">
              <a:cs typeface="Arial"/>
            </a:endParaRPr>
          </a:p>
        </p:txBody>
      </p:sp>
    </p:spTree>
    <p:extLst>
      <p:ext uri="{BB962C8B-B14F-4D97-AF65-F5344CB8AC3E}">
        <p14:creationId xmlns:p14="http://schemas.microsoft.com/office/powerpoint/2010/main" val="307794693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4D78D7-362F-C655-FB13-E3EF28D4C33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45B8ECF-125E-DB8D-FD48-6BAE82443CD7}"/>
              </a:ext>
            </a:extLst>
          </p:cNvPr>
          <p:cNvSpPr>
            <a:spLocks noGrp="1"/>
          </p:cNvSpPr>
          <p:nvPr>
            <p:ph type="title"/>
          </p:nvPr>
        </p:nvSpPr>
        <p:spPr>
          <a:xfrm>
            <a:off x="572756" y="133943"/>
            <a:ext cx="9813446" cy="850726"/>
          </a:xfrm>
        </p:spPr>
        <p:txBody>
          <a:bodyPr>
            <a:noAutofit/>
          </a:bodyPr>
          <a:lstStyle/>
          <a:p>
            <a:r>
              <a:rPr lang="en-US" sz="3200" dirty="0"/>
              <a:t>Requirements Gathering</a:t>
            </a:r>
          </a:p>
        </p:txBody>
      </p:sp>
      <p:sp>
        <p:nvSpPr>
          <p:cNvPr id="8" name="Content Placeholder 4">
            <a:extLst>
              <a:ext uri="{FF2B5EF4-FFF2-40B4-BE49-F238E27FC236}">
                <a16:creationId xmlns:a16="http://schemas.microsoft.com/office/drawing/2014/main" id="{C12E9D48-7404-B389-7D8A-3A5774B90994}"/>
              </a:ext>
            </a:extLst>
          </p:cNvPr>
          <p:cNvSpPr txBox="1">
            <a:spLocks/>
          </p:cNvSpPr>
          <p:nvPr/>
        </p:nvSpPr>
        <p:spPr>
          <a:xfrm>
            <a:off x="573087" y="1216025"/>
            <a:ext cx="10659485" cy="4503738"/>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b="1" dirty="0"/>
              <a:t>Requirements Traceability Matrix (RTM</a:t>
            </a:r>
            <a:r>
              <a:rPr lang="en-US" sz="2400" b="1" dirty="0" smtClean="0"/>
              <a:t>)</a:t>
            </a:r>
          </a:p>
          <a:p>
            <a:pPr marL="0" indent="0">
              <a:buFont typeface="Arial" panose="020B0604020202020204" pitchFamily="34" charset="0"/>
              <a:buNone/>
            </a:pPr>
            <a:endParaRPr lang="en-US" sz="1000" b="1" dirty="0"/>
          </a:p>
        </p:txBody>
      </p:sp>
      <p:graphicFrame>
        <p:nvGraphicFramePr>
          <p:cNvPr id="3" name="Table 2"/>
          <p:cNvGraphicFramePr>
            <a:graphicFrameLocks noGrp="1"/>
          </p:cNvGraphicFramePr>
          <p:nvPr>
            <p:extLst>
              <p:ext uri="{D42A27DB-BD31-4B8C-83A1-F6EECF244321}">
                <p14:modId xmlns:p14="http://schemas.microsoft.com/office/powerpoint/2010/main" val="4028533911"/>
              </p:ext>
            </p:extLst>
          </p:nvPr>
        </p:nvGraphicFramePr>
        <p:xfrm>
          <a:off x="347134" y="1837264"/>
          <a:ext cx="11006665" cy="4301068"/>
        </p:xfrm>
        <a:graphic>
          <a:graphicData uri="http://schemas.openxmlformats.org/drawingml/2006/table">
            <a:tbl>
              <a:tblPr/>
              <a:tblGrid>
                <a:gridCol w="528704">
                  <a:extLst>
                    <a:ext uri="{9D8B030D-6E8A-4147-A177-3AD203B41FA5}">
                      <a16:colId xmlns:a16="http://schemas.microsoft.com/office/drawing/2014/main" val="4262721927"/>
                    </a:ext>
                  </a:extLst>
                </a:gridCol>
                <a:gridCol w="634445">
                  <a:extLst>
                    <a:ext uri="{9D8B030D-6E8A-4147-A177-3AD203B41FA5}">
                      <a16:colId xmlns:a16="http://schemas.microsoft.com/office/drawing/2014/main" val="3996798744"/>
                    </a:ext>
                  </a:extLst>
                </a:gridCol>
                <a:gridCol w="2114819">
                  <a:extLst>
                    <a:ext uri="{9D8B030D-6E8A-4147-A177-3AD203B41FA5}">
                      <a16:colId xmlns:a16="http://schemas.microsoft.com/office/drawing/2014/main" val="1347614431"/>
                    </a:ext>
                  </a:extLst>
                </a:gridCol>
                <a:gridCol w="1586113">
                  <a:extLst>
                    <a:ext uri="{9D8B030D-6E8A-4147-A177-3AD203B41FA5}">
                      <a16:colId xmlns:a16="http://schemas.microsoft.com/office/drawing/2014/main" val="1014548353"/>
                    </a:ext>
                  </a:extLst>
                </a:gridCol>
                <a:gridCol w="1855272">
                  <a:extLst>
                    <a:ext uri="{9D8B030D-6E8A-4147-A177-3AD203B41FA5}">
                      <a16:colId xmlns:a16="http://schemas.microsoft.com/office/drawing/2014/main" val="2667343825"/>
                    </a:ext>
                  </a:extLst>
                </a:gridCol>
                <a:gridCol w="1163151">
                  <a:extLst>
                    <a:ext uri="{9D8B030D-6E8A-4147-A177-3AD203B41FA5}">
                      <a16:colId xmlns:a16="http://schemas.microsoft.com/office/drawing/2014/main" val="2643526801"/>
                    </a:ext>
                  </a:extLst>
                </a:gridCol>
                <a:gridCol w="634445">
                  <a:extLst>
                    <a:ext uri="{9D8B030D-6E8A-4147-A177-3AD203B41FA5}">
                      <a16:colId xmlns:a16="http://schemas.microsoft.com/office/drawing/2014/main" val="212795263"/>
                    </a:ext>
                  </a:extLst>
                </a:gridCol>
                <a:gridCol w="634445">
                  <a:extLst>
                    <a:ext uri="{9D8B030D-6E8A-4147-A177-3AD203B41FA5}">
                      <a16:colId xmlns:a16="http://schemas.microsoft.com/office/drawing/2014/main" val="4008928015"/>
                    </a:ext>
                  </a:extLst>
                </a:gridCol>
                <a:gridCol w="528704">
                  <a:extLst>
                    <a:ext uri="{9D8B030D-6E8A-4147-A177-3AD203B41FA5}">
                      <a16:colId xmlns:a16="http://schemas.microsoft.com/office/drawing/2014/main" val="3381583893"/>
                    </a:ext>
                  </a:extLst>
                </a:gridCol>
                <a:gridCol w="1326567">
                  <a:extLst>
                    <a:ext uri="{9D8B030D-6E8A-4147-A177-3AD203B41FA5}">
                      <a16:colId xmlns:a16="http://schemas.microsoft.com/office/drawing/2014/main" val="4130612429"/>
                    </a:ext>
                  </a:extLst>
                </a:gridCol>
              </a:tblGrid>
              <a:tr h="571299">
                <a:tc>
                  <a:txBody>
                    <a:bodyPr/>
                    <a:lstStyle/>
                    <a:p>
                      <a:pPr algn="ctr" fontAlgn="ctr"/>
                      <a:r>
                        <a:rPr lang="en-MY" sz="1000" b="1" i="0" u="none" strike="noStrike" dirty="0" err="1">
                          <a:solidFill>
                            <a:srgbClr val="FFFFFF"/>
                          </a:solidFill>
                          <a:effectLst/>
                          <a:latin typeface="Arial" panose="020B0604020202020204" pitchFamily="34" charset="0"/>
                        </a:rPr>
                        <a:t>Req</a:t>
                      </a:r>
                      <a:r>
                        <a:rPr lang="en-MY" sz="1000" b="1" i="0" u="none" strike="noStrike" dirty="0">
                          <a:solidFill>
                            <a:srgbClr val="FFFFFF"/>
                          </a:solidFill>
                          <a:effectLst/>
                          <a:latin typeface="Arial" panose="020B0604020202020204" pitchFamily="34" charset="0"/>
                        </a:rPr>
                        <a:t> ID</a:t>
                      </a:r>
                    </a:p>
                  </a:txBody>
                  <a:tcPr marL="4592" marR="4592" marT="4592"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c>
                  <a:txBody>
                    <a:bodyPr/>
                    <a:lstStyle/>
                    <a:p>
                      <a:pPr algn="ctr" fontAlgn="ctr"/>
                      <a:r>
                        <a:rPr lang="en-MY" sz="1000" b="1" i="0" u="none" strike="noStrike" dirty="0">
                          <a:solidFill>
                            <a:srgbClr val="FFFFFF"/>
                          </a:solidFill>
                          <a:effectLst/>
                          <a:latin typeface="Arial" panose="020B0604020202020204" pitchFamily="34" charset="0"/>
                        </a:rPr>
                        <a:t>Requirement Type</a:t>
                      </a:r>
                    </a:p>
                  </a:txBody>
                  <a:tcPr marL="4592" marR="4592" marT="4592"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c>
                  <a:txBody>
                    <a:bodyPr/>
                    <a:lstStyle/>
                    <a:p>
                      <a:pPr algn="ctr" fontAlgn="ctr"/>
                      <a:r>
                        <a:rPr lang="en-MY" sz="1000" b="1" i="0" u="none" strike="noStrike" dirty="0">
                          <a:solidFill>
                            <a:srgbClr val="FFFFFF"/>
                          </a:solidFill>
                          <a:effectLst/>
                          <a:latin typeface="Arial" panose="020B0604020202020204" pitchFamily="34" charset="0"/>
                        </a:rPr>
                        <a:t>Requirement Description</a:t>
                      </a:r>
                    </a:p>
                  </a:txBody>
                  <a:tcPr marL="4592" marR="4592" marT="4592"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c>
                  <a:txBody>
                    <a:bodyPr/>
                    <a:lstStyle/>
                    <a:p>
                      <a:pPr algn="ctr" fontAlgn="ctr"/>
                      <a:r>
                        <a:rPr lang="en-MY" sz="1000" b="1" i="0" u="none" strike="noStrike">
                          <a:solidFill>
                            <a:srgbClr val="FFFFFF"/>
                          </a:solidFill>
                          <a:effectLst/>
                          <a:latin typeface="Arial" panose="020B0604020202020204" pitchFamily="34" charset="0"/>
                        </a:rPr>
                        <a:t>Mapped to BRD Objective</a:t>
                      </a:r>
                    </a:p>
                  </a:txBody>
                  <a:tcPr marL="4592" marR="4592" marT="4592"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c>
                  <a:txBody>
                    <a:bodyPr/>
                    <a:lstStyle/>
                    <a:p>
                      <a:pPr algn="ctr" fontAlgn="ctr"/>
                      <a:r>
                        <a:rPr lang="en-MY" sz="1000" b="1" i="0" u="none" strike="noStrike">
                          <a:solidFill>
                            <a:srgbClr val="FFFFFF"/>
                          </a:solidFill>
                          <a:effectLst/>
                          <a:latin typeface="Arial" panose="020B0604020202020204" pitchFamily="34" charset="0"/>
                        </a:rPr>
                        <a:t>Acceptance Criteria</a:t>
                      </a:r>
                    </a:p>
                  </a:txBody>
                  <a:tcPr marL="4592" marR="4592" marT="4592"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c>
                  <a:txBody>
                    <a:bodyPr/>
                    <a:lstStyle/>
                    <a:p>
                      <a:pPr algn="ctr" fontAlgn="ctr"/>
                      <a:r>
                        <a:rPr lang="en-MY" sz="1000" b="1" i="0" u="none" strike="noStrike">
                          <a:solidFill>
                            <a:srgbClr val="FFFFFF"/>
                          </a:solidFill>
                          <a:effectLst/>
                          <a:latin typeface="Arial" panose="020B0604020202020204" pitchFamily="34" charset="0"/>
                        </a:rPr>
                        <a:t>Verification Method</a:t>
                      </a:r>
                    </a:p>
                  </a:txBody>
                  <a:tcPr marL="4592" marR="4592" marT="4592"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c>
                  <a:txBody>
                    <a:bodyPr/>
                    <a:lstStyle/>
                    <a:p>
                      <a:pPr algn="ctr" fontAlgn="ctr"/>
                      <a:r>
                        <a:rPr lang="en-MY" sz="1000" b="1" i="0" u="none" strike="noStrike">
                          <a:solidFill>
                            <a:srgbClr val="FFFFFF"/>
                          </a:solidFill>
                          <a:effectLst/>
                          <a:latin typeface="Arial" panose="020B0604020202020204" pitchFamily="34" charset="0"/>
                        </a:rPr>
                        <a:t>Test Case ID</a:t>
                      </a:r>
                    </a:p>
                  </a:txBody>
                  <a:tcPr marL="4592" marR="4592" marT="4592"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c>
                  <a:txBody>
                    <a:bodyPr/>
                    <a:lstStyle/>
                    <a:p>
                      <a:pPr algn="ctr" fontAlgn="ctr"/>
                      <a:r>
                        <a:rPr lang="en-MY" sz="1000" b="1" i="0" u="none" strike="noStrike">
                          <a:solidFill>
                            <a:srgbClr val="FFFFFF"/>
                          </a:solidFill>
                          <a:effectLst/>
                          <a:latin typeface="Arial" panose="020B0604020202020204" pitchFamily="34" charset="0"/>
                        </a:rPr>
                        <a:t>Test Status</a:t>
                      </a:r>
                    </a:p>
                  </a:txBody>
                  <a:tcPr marL="4592" marR="4592" marT="4592"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c>
                  <a:txBody>
                    <a:bodyPr/>
                    <a:lstStyle/>
                    <a:p>
                      <a:pPr algn="ctr" fontAlgn="ctr"/>
                      <a:r>
                        <a:rPr lang="en-MY" sz="1000" b="1" i="0" u="none" strike="noStrike">
                          <a:solidFill>
                            <a:srgbClr val="FFFFFF"/>
                          </a:solidFill>
                          <a:effectLst/>
                          <a:latin typeface="Arial" panose="020B0604020202020204" pitchFamily="34" charset="0"/>
                        </a:rPr>
                        <a:t>Priority</a:t>
                      </a:r>
                    </a:p>
                  </a:txBody>
                  <a:tcPr marL="4592" marR="4592" marT="4592"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c>
                  <a:txBody>
                    <a:bodyPr/>
                    <a:lstStyle/>
                    <a:p>
                      <a:pPr algn="ctr" fontAlgn="ctr"/>
                      <a:r>
                        <a:rPr lang="en-MY" sz="1000" b="1" i="0" u="none" strike="noStrike">
                          <a:solidFill>
                            <a:srgbClr val="FFFFFF"/>
                          </a:solidFill>
                          <a:effectLst/>
                          <a:latin typeface="Arial" panose="020B0604020202020204" pitchFamily="34" charset="0"/>
                        </a:rPr>
                        <a:t>Notes</a:t>
                      </a:r>
                    </a:p>
                  </a:txBody>
                  <a:tcPr marL="4592" marR="4592" marT="4592"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extLst>
                  <a:ext uri="{0D108BD9-81ED-4DB2-BD59-A6C34878D82A}">
                    <a16:rowId xmlns:a16="http://schemas.microsoft.com/office/drawing/2014/main" val="103658661"/>
                  </a:ext>
                </a:extLst>
              </a:tr>
              <a:tr h="791657">
                <a:tc>
                  <a:txBody>
                    <a:bodyPr/>
                    <a:lstStyle/>
                    <a:p>
                      <a:pPr algn="l" fontAlgn="t"/>
                      <a:r>
                        <a:rPr lang="en-MY" sz="1000" b="0" i="0" u="none" strike="noStrike">
                          <a:solidFill>
                            <a:srgbClr val="000000"/>
                          </a:solidFill>
                          <a:effectLst/>
                          <a:latin typeface="Arial" panose="020B0604020202020204" pitchFamily="34" charset="0"/>
                        </a:rPr>
                        <a:t>FR-01</a:t>
                      </a:r>
                    </a:p>
                  </a:txBody>
                  <a:tcPr marL="4592" marR="4592" marT="4592" marB="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algn="l" fontAlgn="t"/>
                      <a:r>
                        <a:rPr lang="en-MY" sz="1000" b="0" i="0" u="none" strike="noStrike">
                          <a:solidFill>
                            <a:srgbClr val="000000"/>
                          </a:solidFill>
                          <a:effectLst/>
                          <a:latin typeface="Arial" panose="020B0604020202020204" pitchFamily="34" charset="0"/>
                        </a:rPr>
                        <a:t>Functional</a:t>
                      </a:r>
                    </a:p>
                  </a:txBody>
                  <a:tcPr marL="4592" marR="4592" marT="4592" marB="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algn="l" fontAlgn="t"/>
                      <a:r>
                        <a:rPr lang="en-US" sz="1000" b="0" i="0" u="none" strike="noStrike" dirty="0">
                          <a:solidFill>
                            <a:srgbClr val="000000"/>
                          </a:solidFill>
                          <a:effectLst/>
                          <a:latin typeface="Arial" panose="020B0604020202020204" pitchFamily="34" charset="0"/>
                        </a:rPr>
                        <a:t>Customers can securely register and onboard via web and mobile apps with identity verification and KYC checks completed in real time</a:t>
                      </a:r>
                    </a:p>
                  </a:txBody>
                  <a:tcPr marL="4592" marR="4592" marT="4592" marB="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algn="l" fontAlgn="t"/>
                      <a:r>
                        <a:rPr lang="en-US" sz="1000" b="0" i="0" u="none" strike="noStrike" dirty="0">
                          <a:solidFill>
                            <a:srgbClr val="000000"/>
                          </a:solidFill>
                          <a:effectLst/>
                          <a:latin typeface="Arial" panose="020B0604020202020204" pitchFamily="34" charset="0"/>
                        </a:rPr>
                        <a:t>OBJ-02: Improve customer onboarding time by 40%</a:t>
                      </a:r>
                    </a:p>
                  </a:txBody>
                  <a:tcPr marL="4592" marR="4592" marT="4592" marB="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algn="l" fontAlgn="t"/>
                      <a:r>
                        <a:rPr lang="en-US" sz="1000" b="0" i="0" u="none" strike="noStrike">
                          <a:solidFill>
                            <a:srgbClr val="000000"/>
                          </a:solidFill>
                          <a:effectLst/>
                          <a:latin typeface="Arial" panose="020B0604020202020204" pitchFamily="34" charset="0"/>
                        </a:rPr>
                        <a:t>KYC verification completes in &lt;5 min; Account activated immediately upon approval; Identity docs OCR accuracy &gt;95%</a:t>
                      </a:r>
                    </a:p>
                  </a:txBody>
                  <a:tcPr marL="4592" marR="4592" marT="4592" marB="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algn="l" fontAlgn="t"/>
                      <a:r>
                        <a:rPr lang="en-MY" sz="1000" b="0" i="0" u="none" strike="noStrike">
                          <a:solidFill>
                            <a:srgbClr val="000000"/>
                          </a:solidFill>
                          <a:effectLst/>
                          <a:latin typeface="Arial" panose="020B0604020202020204" pitchFamily="34" charset="0"/>
                        </a:rPr>
                        <a:t>UAT + Integration Testing</a:t>
                      </a:r>
                    </a:p>
                  </a:txBody>
                  <a:tcPr marL="4592" marR="4592" marT="4592" marB="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algn="l" fontAlgn="t"/>
                      <a:r>
                        <a:rPr lang="en-MY" sz="1000" b="0" i="0" u="none" strike="noStrike">
                          <a:solidFill>
                            <a:srgbClr val="000000"/>
                          </a:solidFill>
                          <a:effectLst/>
                          <a:latin typeface="Arial" panose="020B0604020202020204" pitchFamily="34" charset="0"/>
                        </a:rPr>
                        <a:t>TC-ON-001</a:t>
                      </a:r>
                    </a:p>
                  </a:txBody>
                  <a:tcPr marL="4592" marR="4592" marT="4592" marB="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algn="ctr" fontAlgn="ctr"/>
                      <a:r>
                        <a:rPr lang="en-MY" sz="1000" b="1" i="0" u="none" strike="noStrike">
                          <a:solidFill>
                            <a:srgbClr val="375623"/>
                          </a:solidFill>
                          <a:effectLst/>
                          <a:latin typeface="Arial" panose="020B0604020202020204" pitchFamily="34" charset="0"/>
                        </a:rPr>
                        <a:t>Passed</a:t>
                      </a:r>
                    </a:p>
                  </a:txBody>
                  <a:tcPr marL="4592" marR="4592" marT="4592"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2EFDA"/>
                    </a:solidFill>
                  </a:tcPr>
                </a:tc>
                <a:tc>
                  <a:txBody>
                    <a:bodyPr/>
                    <a:lstStyle/>
                    <a:p>
                      <a:pPr algn="ctr" fontAlgn="ctr"/>
                      <a:r>
                        <a:rPr lang="en-MY" sz="1000" b="1" i="0" u="none" strike="noStrike">
                          <a:solidFill>
                            <a:srgbClr val="833C00"/>
                          </a:solidFill>
                          <a:effectLst/>
                          <a:latin typeface="Arial" panose="020B0604020202020204" pitchFamily="34" charset="0"/>
                        </a:rPr>
                        <a:t>Critical</a:t>
                      </a:r>
                    </a:p>
                  </a:txBody>
                  <a:tcPr marL="4592" marR="4592" marT="4592"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CE4D6"/>
                    </a:solidFill>
                  </a:tcPr>
                </a:tc>
                <a:tc>
                  <a:txBody>
                    <a:bodyPr/>
                    <a:lstStyle/>
                    <a:p>
                      <a:pPr algn="l" fontAlgn="t"/>
                      <a:r>
                        <a:rPr lang="en-US" sz="1000" b="0" i="0" u="none" strike="noStrike">
                          <a:solidFill>
                            <a:srgbClr val="000000"/>
                          </a:solidFill>
                          <a:effectLst/>
                          <a:latin typeface="Arial" panose="020B0604020202020204" pitchFamily="34" charset="0"/>
                        </a:rPr>
                        <a:t>Integrated with Credit Bureau API</a:t>
                      </a:r>
                    </a:p>
                  </a:txBody>
                  <a:tcPr marL="4592" marR="4592" marT="4592" marB="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4263505334"/>
                  </a:ext>
                </a:extLst>
              </a:tr>
              <a:tr h="734528">
                <a:tc>
                  <a:txBody>
                    <a:bodyPr/>
                    <a:lstStyle/>
                    <a:p>
                      <a:pPr algn="l" fontAlgn="t"/>
                      <a:r>
                        <a:rPr lang="en-MY" sz="1000" b="0" i="0" u="none" strike="noStrike">
                          <a:solidFill>
                            <a:srgbClr val="000000"/>
                          </a:solidFill>
                          <a:effectLst/>
                          <a:latin typeface="Arial" panose="020B0604020202020204" pitchFamily="34" charset="0"/>
                        </a:rPr>
                        <a:t>FR-02</a:t>
                      </a:r>
                    </a:p>
                  </a:txBody>
                  <a:tcPr marL="4592" marR="4592" marT="4592" marB="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l" fontAlgn="t"/>
                      <a:r>
                        <a:rPr lang="en-MY" sz="1000" b="0" i="0" u="none" strike="noStrike">
                          <a:solidFill>
                            <a:srgbClr val="000000"/>
                          </a:solidFill>
                          <a:effectLst/>
                          <a:latin typeface="Arial" panose="020B0604020202020204" pitchFamily="34" charset="0"/>
                        </a:rPr>
                        <a:t>Functional</a:t>
                      </a:r>
                    </a:p>
                  </a:txBody>
                  <a:tcPr marL="4592" marR="4592" marT="4592" marB="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l" fontAlgn="t"/>
                      <a:r>
                        <a:rPr lang="en-US" sz="1000" b="0" i="0" u="none" strike="noStrike">
                          <a:solidFill>
                            <a:srgbClr val="000000"/>
                          </a:solidFill>
                          <a:effectLst/>
                          <a:latin typeface="Arial" panose="020B0604020202020204" pitchFamily="34" charset="0"/>
                        </a:rPr>
                        <a:t>Customers can manage account settings, view statements, and update personal information through a self-service portal</a:t>
                      </a:r>
                    </a:p>
                  </a:txBody>
                  <a:tcPr marL="4592" marR="4592" marT="4592" marB="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l" fontAlgn="t"/>
                      <a:r>
                        <a:rPr lang="en-US" sz="1000" b="0" i="0" u="none" strike="noStrike" dirty="0">
                          <a:solidFill>
                            <a:srgbClr val="000000"/>
                          </a:solidFill>
                          <a:effectLst/>
                          <a:latin typeface="Arial" panose="020B0604020202020204" pitchFamily="34" charset="0"/>
                        </a:rPr>
                        <a:t>OBJ-02: Improve customer onboarding time by 40%</a:t>
                      </a:r>
                    </a:p>
                  </a:txBody>
                  <a:tcPr marL="4592" marR="4592" marT="4592" marB="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l" fontAlgn="t"/>
                      <a:r>
                        <a:rPr lang="en-US" sz="1000" b="0" i="0" u="none" strike="noStrike">
                          <a:solidFill>
                            <a:srgbClr val="000000"/>
                          </a:solidFill>
                          <a:effectLst/>
                          <a:latin typeface="Arial" panose="020B0604020202020204" pitchFamily="34" charset="0"/>
                        </a:rPr>
                        <a:t>Account updates reflect in &lt;30 sec; Statement download available in PDF/CSV; Profile changes logged in audit trail</a:t>
                      </a:r>
                    </a:p>
                  </a:txBody>
                  <a:tcPr marL="4592" marR="4592" marT="4592" marB="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l" fontAlgn="t"/>
                      <a:r>
                        <a:rPr lang="en-MY" sz="1000" b="0" i="0" u="none" strike="noStrike">
                          <a:solidFill>
                            <a:srgbClr val="000000"/>
                          </a:solidFill>
                          <a:effectLst/>
                          <a:latin typeface="Arial" panose="020B0604020202020204" pitchFamily="34" charset="0"/>
                        </a:rPr>
                        <a:t>UAT + Security Testing</a:t>
                      </a:r>
                    </a:p>
                  </a:txBody>
                  <a:tcPr marL="4592" marR="4592" marT="4592" marB="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l" fontAlgn="t"/>
                      <a:r>
                        <a:rPr lang="en-MY" sz="1000" b="0" i="0" u="none" strike="noStrike">
                          <a:solidFill>
                            <a:srgbClr val="000000"/>
                          </a:solidFill>
                          <a:effectLst/>
                          <a:latin typeface="Arial" panose="020B0604020202020204" pitchFamily="34" charset="0"/>
                        </a:rPr>
                        <a:t>TC-AC-002</a:t>
                      </a:r>
                    </a:p>
                  </a:txBody>
                  <a:tcPr marL="4592" marR="4592" marT="4592" marB="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fontAlgn="ctr"/>
                      <a:r>
                        <a:rPr lang="en-MY" sz="1000" b="1" i="0" u="none" strike="noStrike">
                          <a:solidFill>
                            <a:srgbClr val="375623"/>
                          </a:solidFill>
                          <a:effectLst/>
                          <a:latin typeface="Arial" panose="020B0604020202020204" pitchFamily="34" charset="0"/>
                        </a:rPr>
                        <a:t>Passed</a:t>
                      </a:r>
                    </a:p>
                  </a:txBody>
                  <a:tcPr marL="4592" marR="4592" marT="4592"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2EFDA"/>
                    </a:solidFill>
                  </a:tcPr>
                </a:tc>
                <a:tc>
                  <a:txBody>
                    <a:bodyPr/>
                    <a:lstStyle/>
                    <a:p>
                      <a:pPr algn="ctr" fontAlgn="ctr"/>
                      <a:r>
                        <a:rPr lang="en-MY" sz="1000" b="1" i="0" u="none" strike="noStrike">
                          <a:solidFill>
                            <a:srgbClr val="7F6000"/>
                          </a:solidFill>
                          <a:effectLst/>
                          <a:latin typeface="Arial" panose="020B0604020202020204" pitchFamily="34" charset="0"/>
                        </a:rPr>
                        <a:t>High</a:t>
                      </a:r>
                    </a:p>
                  </a:txBody>
                  <a:tcPr marL="4592" marR="4592" marT="4592"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2CC"/>
                    </a:solidFill>
                  </a:tcPr>
                </a:tc>
                <a:tc>
                  <a:txBody>
                    <a:bodyPr/>
                    <a:lstStyle/>
                    <a:p>
                      <a:pPr algn="l" fontAlgn="t"/>
                      <a:r>
                        <a:rPr lang="en-MY" sz="1000" b="0" i="0" u="none" strike="noStrike">
                          <a:solidFill>
                            <a:srgbClr val="000000"/>
                          </a:solidFill>
                          <a:effectLst/>
                          <a:latin typeface="Arial" panose="020B0604020202020204" pitchFamily="34" charset="0"/>
                        </a:rPr>
                        <a:t>GDPR-compliant data access controls</a:t>
                      </a:r>
                    </a:p>
                  </a:txBody>
                  <a:tcPr marL="4592" marR="4592" marT="4592" marB="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944369269"/>
                  </a:ext>
                </a:extLst>
              </a:tr>
              <a:tr h="734528">
                <a:tc>
                  <a:txBody>
                    <a:bodyPr/>
                    <a:lstStyle/>
                    <a:p>
                      <a:pPr algn="l" fontAlgn="t"/>
                      <a:r>
                        <a:rPr lang="en-MY" sz="1000" b="0" i="0" u="none" strike="noStrike">
                          <a:solidFill>
                            <a:srgbClr val="000000"/>
                          </a:solidFill>
                          <a:effectLst/>
                          <a:latin typeface="Arial" panose="020B0604020202020204" pitchFamily="34" charset="0"/>
                        </a:rPr>
                        <a:t>FR-03</a:t>
                      </a:r>
                    </a:p>
                  </a:txBody>
                  <a:tcPr marL="4592" marR="4592" marT="4592" marB="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algn="l" fontAlgn="t"/>
                      <a:r>
                        <a:rPr lang="en-MY" sz="1000" b="0" i="0" u="none" strike="noStrike">
                          <a:solidFill>
                            <a:srgbClr val="000000"/>
                          </a:solidFill>
                          <a:effectLst/>
                          <a:latin typeface="Arial" panose="020B0604020202020204" pitchFamily="34" charset="0"/>
                        </a:rPr>
                        <a:t>Functional</a:t>
                      </a:r>
                    </a:p>
                  </a:txBody>
                  <a:tcPr marL="4592" marR="4592" marT="4592" marB="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algn="l" fontAlgn="t"/>
                      <a:r>
                        <a:rPr lang="en-US" sz="1000" b="0" i="0" u="none" strike="noStrike">
                          <a:solidFill>
                            <a:srgbClr val="000000"/>
                          </a:solidFill>
                          <a:effectLst/>
                          <a:latin typeface="Arial" panose="020B0604020202020204" pitchFamily="34" charset="0"/>
                        </a:rPr>
                        <a:t>The system must send automated notifications (email/SMS) for account actions, transaction alerts, and compliance events</a:t>
                      </a:r>
                    </a:p>
                  </a:txBody>
                  <a:tcPr marL="4592" marR="4592" marT="4592" marB="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algn="l" fontAlgn="t"/>
                      <a:r>
                        <a:rPr lang="en-US" sz="1000" b="0" i="0" u="none" strike="noStrike" dirty="0">
                          <a:solidFill>
                            <a:srgbClr val="000000"/>
                          </a:solidFill>
                          <a:effectLst/>
                          <a:latin typeface="Arial" panose="020B0604020202020204" pitchFamily="34" charset="0"/>
                        </a:rPr>
                        <a:t>OBJ-02: Improve onboarding time by 40%</a:t>
                      </a:r>
                    </a:p>
                  </a:txBody>
                  <a:tcPr marL="4592" marR="4592" marT="4592" marB="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algn="l" fontAlgn="t"/>
                      <a:r>
                        <a:rPr lang="en-US" sz="1000" b="0" i="0" u="none" strike="noStrike" dirty="0">
                          <a:solidFill>
                            <a:srgbClr val="000000"/>
                          </a:solidFill>
                          <a:effectLst/>
                          <a:latin typeface="Arial" panose="020B0604020202020204" pitchFamily="34" charset="0"/>
                        </a:rPr>
                        <a:t>Notifications delivered within 60 sec; Multi-channel delivery (email + SMS); Opt-out preferences honored</a:t>
                      </a:r>
                    </a:p>
                  </a:txBody>
                  <a:tcPr marL="4592" marR="4592" marT="4592" marB="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algn="l" fontAlgn="t"/>
                      <a:r>
                        <a:rPr lang="en-MY" sz="1000" b="0" i="0" u="none" strike="noStrike">
                          <a:solidFill>
                            <a:srgbClr val="000000"/>
                          </a:solidFill>
                          <a:effectLst/>
                          <a:latin typeface="Arial" panose="020B0604020202020204" pitchFamily="34" charset="0"/>
                        </a:rPr>
                        <a:t>Integration Testing</a:t>
                      </a:r>
                    </a:p>
                  </a:txBody>
                  <a:tcPr marL="4592" marR="4592" marT="4592" marB="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algn="l" fontAlgn="t"/>
                      <a:r>
                        <a:rPr lang="en-MY" sz="1000" b="0" i="0" u="none" strike="noStrike">
                          <a:solidFill>
                            <a:srgbClr val="000000"/>
                          </a:solidFill>
                          <a:effectLst/>
                          <a:latin typeface="Arial" panose="020B0604020202020204" pitchFamily="34" charset="0"/>
                        </a:rPr>
                        <a:t>TC-NT-003</a:t>
                      </a:r>
                    </a:p>
                  </a:txBody>
                  <a:tcPr marL="4592" marR="4592" marT="4592" marB="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algn="ctr" fontAlgn="ctr"/>
                      <a:r>
                        <a:rPr lang="en-MY" sz="1000" b="1" i="0" u="none" strike="noStrike">
                          <a:solidFill>
                            <a:srgbClr val="375623"/>
                          </a:solidFill>
                          <a:effectLst/>
                          <a:latin typeface="Arial" panose="020B0604020202020204" pitchFamily="34" charset="0"/>
                        </a:rPr>
                        <a:t>Passed</a:t>
                      </a:r>
                    </a:p>
                  </a:txBody>
                  <a:tcPr marL="4592" marR="4592" marT="4592"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2EFDA"/>
                    </a:solidFill>
                  </a:tcPr>
                </a:tc>
                <a:tc>
                  <a:txBody>
                    <a:bodyPr/>
                    <a:lstStyle/>
                    <a:p>
                      <a:pPr algn="ctr" fontAlgn="ctr"/>
                      <a:r>
                        <a:rPr lang="en-MY" sz="1000" b="1" i="0" u="none" strike="noStrike">
                          <a:solidFill>
                            <a:srgbClr val="375623"/>
                          </a:solidFill>
                          <a:effectLst/>
                          <a:latin typeface="Arial" panose="020B0604020202020204" pitchFamily="34" charset="0"/>
                        </a:rPr>
                        <a:t>Medium</a:t>
                      </a:r>
                    </a:p>
                  </a:txBody>
                  <a:tcPr marL="4592" marR="4592" marT="4592"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2EFDA"/>
                    </a:solidFill>
                  </a:tcPr>
                </a:tc>
                <a:tc>
                  <a:txBody>
                    <a:bodyPr/>
                    <a:lstStyle/>
                    <a:p>
                      <a:pPr algn="l" fontAlgn="t"/>
                      <a:r>
                        <a:rPr lang="en-MY" sz="1000" b="0" i="0" u="none" strike="noStrike">
                          <a:solidFill>
                            <a:srgbClr val="000000"/>
                          </a:solidFill>
                          <a:effectLst/>
                          <a:latin typeface="Arial" panose="020B0604020202020204" pitchFamily="34" charset="0"/>
                        </a:rPr>
                        <a:t>Using third-party notification gateway</a:t>
                      </a:r>
                    </a:p>
                  </a:txBody>
                  <a:tcPr marL="4592" marR="4592" marT="4592" marB="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476866196"/>
                  </a:ext>
                </a:extLst>
              </a:tr>
              <a:tr h="734528">
                <a:tc>
                  <a:txBody>
                    <a:bodyPr/>
                    <a:lstStyle/>
                    <a:p>
                      <a:pPr algn="l" fontAlgn="t"/>
                      <a:r>
                        <a:rPr lang="en-MY" sz="1000" b="0" i="0" u="none" strike="noStrike">
                          <a:solidFill>
                            <a:srgbClr val="000000"/>
                          </a:solidFill>
                          <a:effectLst/>
                          <a:latin typeface="Arial" panose="020B0604020202020204" pitchFamily="34" charset="0"/>
                        </a:rPr>
                        <a:t>FR-04</a:t>
                      </a:r>
                    </a:p>
                  </a:txBody>
                  <a:tcPr marL="4592" marR="4592" marT="4592" marB="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l" fontAlgn="t"/>
                      <a:r>
                        <a:rPr lang="en-MY" sz="1000" b="0" i="0" u="none" strike="noStrike">
                          <a:solidFill>
                            <a:srgbClr val="000000"/>
                          </a:solidFill>
                          <a:effectLst/>
                          <a:latin typeface="Arial" panose="020B0604020202020204" pitchFamily="34" charset="0"/>
                        </a:rPr>
                        <a:t>Functional</a:t>
                      </a:r>
                    </a:p>
                  </a:txBody>
                  <a:tcPr marL="4592" marR="4592" marT="4592" marB="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l" fontAlgn="t"/>
                      <a:r>
                        <a:rPr lang="en-US" sz="1000" b="0" i="0" u="none" strike="noStrike">
                          <a:solidFill>
                            <a:srgbClr val="000000"/>
                          </a:solidFill>
                          <a:effectLst/>
                          <a:latin typeface="Arial" panose="020B0604020202020204" pitchFamily="34" charset="0"/>
                        </a:rPr>
                        <a:t>Customer onboarding must be completed within 5 minutes end-to-end under normal operating conditions</a:t>
                      </a:r>
                    </a:p>
                  </a:txBody>
                  <a:tcPr marL="4592" marR="4592" marT="4592" marB="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l" fontAlgn="t"/>
                      <a:r>
                        <a:rPr lang="en-US" sz="1000" b="0" i="0" u="none" strike="noStrike">
                          <a:solidFill>
                            <a:srgbClr val="000000"/>
                          </a:solidFill>
                          <a:effectLst/>
                          <a:latin typeface="Arial" panose="020B0604020202020204" pitchFamily="34" charset="0"/>
                        </a:rPr>
                        <a:t>OBJ-02: Improve customer onboarding time by 40%</a:t>
                      </a:r>
                    </a:p>
                  </a:txBody>
                  <a:tcPr marL="4592" marR="4592" marT="4592" marB="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l" fontAlgn="t"/>
                      <a:r>
                        <a:rPr lang="en-US" sz="1000" b="0" i="0" u="none" strike="noStrike" dirty="0">
                          <a:solidFill>
                            <a:srgbClr val="000000"/>
                          </a:solidFill>
                          <a:effectLst/>
                          <a:latin typeface="Arial" panose="020B0604020202020204" pitchFamily="34" charset="0"/>
                        </a:rPr>
                        <a:t>95th percentile onboarding time &lt;5 min; &lt;2% rejection rate; Dashboard shows real-time onboarding metrics</a:t>
                      </a:r>
                    </a:p>
                  </a:txBody>
                  <a:tcPr marL="4592" marR="4592" marT="4592" marB="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l" fontAlgn="t"/>
                      <a:r>
                        <a:rPr lang="en-MY" sz="1000" b="0" i="0" u="none" strike="noStrike">
                          <a:solidFill>
                            <a:srgbClr val="000000"/>
                          </a:solidFill>
                          <a:effectLst/>
                          <a:latin typeface="Arial" panose="020B0604020202020204" pitchFamily="34" charset="0"/>
                        </a:rPr>
                        <a:t>Performance Testing</a:t>
                      </a:r>
                    </a:p>
                  </a:txBody>
                  <a:tcPr marL="4592" marR="4592" marT="4592" marB="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l" fontAlgn="t"/>
                      <a:r>
                        <a:rPr lang="en-MY" sz="1000" b="0" i="0" u="none" strike="noStrike">
                          <a:solidFill>
                            <a:srgbClr val="000000"/>
                          </a:solidFill>
                          <a:effectLst/>
                          <a:latin typeface="Arial" panose="020B0604020202020204" pitchFamily="34" charset="0"/>
                        </a:rPr>
                        <a:t>TC-ON-004</a:t>
                      </a:r>
                    </a:p>
                  </a:txBody>
                  <a:tcPr marL="4592" marR="4592" marT="4592" marB="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fontAlgn="ctr"/>
                      <a:r>
                        <a:rPr lang="en-MY" sz="1000" b="1" i="0" u="none" strike="noStrike">
                          <a:solidFill>
                            <a:srgbClr val="375623"/>
                          </a:solidFill>
                          <a:effectLst/>
                          <a:latin typeface="Arial" panose="020B0604020202020204" pitchFamily="34" charset="0"/>
                        </a:rPr>
                        <a:t>Passed</a:t>
                      </a:r>
                    </a:p>
                  </a:txBody>
                  <a:tcPr marL="4592" marR="4592" marT="4592"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2EFDA"/>
                    </a:solidFill>
                  </a:tcPr>
                </a:tc>
                <a:tc>
                  <a:txBody>
                    <a:bodyPr/>
                    <a:lstStyle/>
                    <a:p>
                      <a:pPr algn="ctr" fontAlgn="ctr"/>
                      <a:r>
                        <a:rPr lang="en-MY" sz="1000" b="1" i="0" u="none" strike="noStrike">
                          <a:solidFill>
                            <a:srgbClr val="7F6000"/>
                          </a:solidFill>
                          <a:effectLst/>
                          <a:latin typeface="Arial" panose="020B0604020202020204" pitchFamily="34" charset="0"/>
                        </a:rPr>
                        <a:t>High</a:t>
                      </a:r>
                    </a:p>
                  </a:txBody>
                  <a:tcPr marL="4592" marR="4592" marT="4592"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2CC"/>
                    </a:solidFill>
                  </a:tcPr>
                </a:tc>
                <a:tc>
                  <a:txBody>
                    <a:bodyPr/>
                    <a:lstStyle/>
                    <a:p>
                      <a:pPr algn="l" fontAlgn="t"/>
                      <a:r>
                        <a:rPr lang="en-MY" sz="1000" b="0" i="0" u="none" strike="noStrike">
                          <a:solidFill>
                            <a:srgbClr val="000000"/>
                          </a:solidFill>
                          <a:effectLst/>
                          <a:latin typeface="Arial" panose="020B0604020202020204" pitchFamily="34" charset="0"/>
                        </a:rPr>
                        <a:t>Baseline: 12 min → Target: 5 min achieved</a:t>
                      </a:r>
                    </a:p>
                  </a:txBody>
                  <a:tcPr marL="4592" marR="4592" marT="4592" marB="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76440145"/>
                  </a:ext>
                </a:extLst>
              </a:tr>
              <a:tr h="734528">
                <a:tc>
                  <a:txBody>
                    <a:bodyPr/>
                    <a:lstStyle/>
                    <a:p>
                      <a:pPr algn="l" fontAlgn="t"/>
                      <a:r>
                        <a:rPr lang="en-MY" sz="1000" b="0" i="0" u="none" strike="noStrike">
                          <a:solidFill>
                            <a:srgbClr val="000000"/>
                          </a:solidFill>
                          <a:effectLst/>
                          <a:latin typeface="Arial" panose="020B0604020202020204" pitchFamily="34" charset="0"/>
                        </a:rPr>
                        <a:t>FR-05</a:t>
                      </a:r>
                    </a:p>
                  </a:txBody>
                  <a:tcPr marL="4592" marR="4592" marT="4592" marB="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algn="l" fontAlgn="t"/>
                      <a:r>
                        <a:rPr lang="en-MY" sz="1000" b="0" i="0" u="none" strike="noStrike">
                          <a:solidFill>
                            <a:srgbClr val="000000"/>
                          </a:solidFill>
                          <a:effectLst/>
                          <a:latin typeface="Arial" panose="020B0604020202020204" pitchFamily="34" charset="0"/>
                        </a:rPr>
                        <a:t>Functional</a:t>
                      </a:r>
                    </a:p>
                  </a:txBody>
                  <a:tcPr marL="4592" marR="4592" marT="4592" marB="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algn="l" fontAlgn="t"/>
                      <a:r>
                        <a:rPr lang="en-US" sz="1000" b="0" i="0" u="none" strike="noStrike">
                          <a:solidFill>
                            <a:srgbClr val="000000"/>
                          </a:solidFill>
                          <a:effectLst/>
                          <a:latin typeface="Arial" panose="020B0604020202020204" pitchFamily="34" charset="0"/>
                        </a:rPr>
                        <a:t>Compliance staff can access real-time audit logs and KYC/AML reports via a dedicated compliance dashboard</a:t>
                      </a:r>
                    </a:p>
                  </a:txBody>
                  <a:tcPr marL="4592" marR="4592" marT="4592" marB="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algn="l" fontAlgn="t"/>
                      <a:r>
                        <a:rPr lang="en-US" sz="1000" b="0" i="0" u="none" strike="noStrike" dirty="0">
                          <a:solidFill>
                            <a:srgbClr val="000000"/>
                          </a:solidFill>
                          <a:effectLst/>
                          <a:latin typeface="Arial" panose="020B0604020202020204" pitchFamily="34" charset="0"/>
                        </a:rPr>
                        <a:t>OBJ-03: Achieve 100% compliance with KYC, AML, PCI-DSS, GDPR</a:t>
                      </a:r>
                    </a:p>
                  </a:txBody>
                  <a:tcPr marL="4592" marR="4592" marT="4592" marB="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algn="l" fontAlgn="t"/>
                      <a:r>
                        <a:rPr lang="en-US" sz="1000" b="0" i="0" u="none" strike="noStrike" dirty="0">
                          <a:solidFill>
                            <a:srgbClr val="000000"/>
                          </a:solidFill>
                          <a:effectLst/>
                          <a:latin typeface="Arial" panose="020B0604020202020204" pitchFamily="34" charset="0"/>
                        </a:rPr>
                        <a:t>Audit logs available with &lt;1 sec latency; Reports exportable in CSV/Excel; Role-based access enforced</a:t>
                      </a:r>
                    </a:p>
                  </a:txBody>
                  <a:tcPr marL="4592" marR="4592" marT="4592" marB="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algn="l" fontAlgn="t"/>
                      <a:r>
                        <a:rPr lang="en-MY" sz="1000" b="0" i="0" u="none" strike="noStrike" dirty="0">
                          <a:solidFill>
                            <a:srgbClr val="000000"/>
                          </a:solidFill>
                          <a:effectLst/>
                          <a:latin typeface="Arial" panose="020B0604020202020204" pitchFamily="34" charset="0"/>
                        </a:rPr>
                        <a:t>UAT + Compliance Audit</a:t>
                      </a:r>
                    </a:p>
                  </a:txBody>
                  <a:tcPr marL="4592" marR="4592" marT="4592" marB="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algn="l" fontAlgn="t"/>
                      <a:r>
                        <a:rPr lang="en-MY" sz="1000" b="0" i="0" u="none" strike="noStrike" dirty="0">
                          <a:solidFill>
                            <a:srgbClr val="000000"/>
                          </a:solidFill>
                          <a:effectLst/>
                          <a:latin typeface="Arial" panose="020B0604020202020204" pitchFamily="34" charset="0"/>
                        </a:rPr>
                        <a:t>TC-CM-005</a:t>
                      </a:r>
                    </a:p>
                  </a:txBody>
                  <a:tcPr marL="4592" marR="4592" marT="4592" marB="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algn="ctr" fontAlgn="ctr"/>
                      <a:r>
                        <a:rPr lang="en-MY" sz="1000" b="1" i="0" u="none" strike="noStrike" dirty="0">
                          <a:solidFill>
                            <a:srgbClr val="375623"/>
                          </a:solidFill>
                          <a:effectLst/>
                          <a:latin typeface="Arial" panose="020B0604020202020204" pitchFamily="34" charset="0"/>
                        </a:rPr>
                        <a:t>Passed</a:t>
                      </a:r>
                    </a:p>
                  </a:txBody>
                  <a:tcPr marL="4592" marR="4592" marT="4592"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2EFDA"/>
                    </a:solidFill>
                  </a:tcPr>
                </a:tc>
                <a:tc>
                  <a:txBody>
                    <a:bodyPr/>
                    <a:lstStyle/>
                    <a:p>
                      <a:pPr algn="ctr" fontAlgn="ctr"/>
                      <a:r>
                        <a:rPr lang="en-MY" sz="1000" b="1" i="0" u="none" strike="noStrike" dirty="0">
                          <a:solidFill>
                            <a:srgbClr val="833C00"/>
                          </a:solidFill>
                          <a:effectLst/>
                          <a:latin typeface="Arial" panose="020B0604020202020204" pitchFamily="34" charset="0"/>
                        </a:rPr>
                        <a:t>Critical</a:t>
                      </a:r>
                    </a:p>
                  </a:txBody>
                  <a:tcPr marL="4592" marR="4592" marT="4592"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CE4D6"/>
                    </a:solidFill>
                  </a:tcPr>
                </a:tc>
                <a:tc>
                  <a:txBody>
                    <a:bodyPr/>
                    <a:lstStyle/>
                    <a:p>
                      <a:pPr algn="l" fontAlgn="t"/>
                      <a:r>
                        <a:rPr lang="en-MY" sz="1000" b="0" i="0" u="none" strike="noStrike" dirty="0">
                          <a:solidFill>
                            <a:srgbClr val="000000"/>
                          </a:solidFill>
                          <a:effectLst/>
                          <a:latin typeface="Arial" panose="020B0604020202020204" pitchFamily="34" charset="0"/>
                        </a:rPr>
                        <a:t>External auditor validated controls</a:t>
                      </a:r>
                    </a:p>
                  </a:txBody>
                  <a:tcPr marL="4592" marR="4592" marT="4592" marB="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1539915433"/>
                  </a:ext>
                </a:extLst>
              </a:tr>
            </a:tbl>
          </a:graphicData>
        </a:graphic>
      </p:graphicFrame>
    </p:spTree>
    <p:extLst>
      <p:ext uri="{BB962C8B-B14F-4D97-AF65-F5344CB8AC3E}">
        <p14:creationId xmlns:p14="http://schemas.microsoft.com/office/powerpoint/2010/main" val="76334392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04FC67-B255-3D71-DC5B-91D75CF535A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61DDDEF-ABB6-308C-B4C8-97DE1E659682}"/>
              </a:ext>
            </a:extLst>
          </p:cNvPr>
          <p:cNvSpPr>
            <a:spLocks noGrp="1"/>
          </p:cNvSpPr>
          <p:nvPr>
            <p:ph type="title"/>
          </p:nvPr>
        </p:nvSpPr>
        <p:spPr>
          <a:xfrm>
            <a:off x="572756" y="133943"/>
            <a:ext cx="9813446" cy="850726"/>
          </a:xfrm>
        </p:spPr>
        <p:txBody>
          <a:bodyPr>
            <a:noAutofit/>
          </a:bodyPr>
          <a:lstStyle/>
          <a:p>
            <a:r>
              <a:rPr lang="en-US" sz="3200" dirty="0"/>
              <a:t>Project Planning and Risk Analysis</a:t>
            </a:r>
          </a:p>
        </p:txBody>
      </p:sp>
      <p:sp>
        <p:nvSpPr>
          <p:cNvPr id="8" name="Content Placeholder 4">
            <a:extLst>
              <a:ext uri="{FF2B5EF4-FFF2-40B4-BE49-F238E27FC236}">
                <a16:creationId xmlns:a16="http://schemas.microsoft.com/office/drawing/2014/main" id="{BDBAF68E-7DF9-0CAA-8CA8-9B3288B3C2C3}"/>
              </a:ext>
            </a:extLst>
          </p:cNvPr>
          <p:cNvSpPr txBox="1">
            <a:spLocks/>
          </p:cNvSpPr>
          <p:nvPr/>
        </p:nvSpPr>
        <p:spPr>
          <a:xfrm>
            <a:off x="573087" y="1216025"/>
            <a:ext cx="10659485" cy="4503738"/>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b="1" dirty="0"/>
              <a:t>Work Breakdown Structure (WBS</a:t>
            </a:r>
            <a:r>
              <a:rPr lang="en-US" sz="2400" b="1" dirty="0" smtClean="0"/>
              <a:t>)</a:t>
            </a:r>
          </a:p>
          <a:p>
            <a:pPr marL="0" indent="0">
              <a:buFont typeface="Arial" panose="020B0604020202020204" pitchFamily="34" charset="0"/>
              <a:buNone/>
            </a:pPr>
            <a:endParaRPr lang="en-US" sz="2400" b="1" dirty="0"/>
          </a:p>
          <a:p>
            <a:pPr marL="0" indent="0">
              <a:buFont typeface="Arial" panose="020B0604020202020204" pitchFamily="34" charset="0"/>
              <a:buNone/>
            </a:pPr>
            <a:endParaRPr lang="en-US" sz="2400" b="1" dirty="0"/>
          </a:p>
        </p:txBody>
      </p:sp>
      <p:graphicFrame>
        <p:nvGraphicFramePr>
          <p:cNvPr id="5" name="Table 4"/>
          <p:cNvGraphicFramePr>
            <a:graphicFrameLocks noGrp="1"/>
          </p:cNvGraphicFramePr>
          <p:nvPr>
            <p:extLst>
              <p:ext uri="{D42A27DB-BD31-4B8C-83A1-F6EECF244321}">
                <p14:modId xmlns:p14="http://schemas.microsoft.com/office/powerpoint/2010/main" val="586443234"/>
              </p:ext>
            </p:extLst>
          </p:nvPr>
        </p:nvGraphicFramePr>
        <p:xfrm>
          <a:off x="668866" y="1896531"/>
          <a:ext cx="10563705" cy="3823231"/>
        </p:xfrm>
        <a:graphic>
          <a:graphicData uri="http://schemas.openxmlformats.org/drawingml/2006/table">
            <a:tbl>
              <a:tblPr/>
              <a:tblGrid>
                <a:gridCol w="990347">
                  <a:extLst>
                    <a:ext uri="{9D8B030D-6E8A-4147-A177-3AD203B41FA5}">
                      <a16:colId xmlns:a16="http://schemas.microsoft.com/office/drawing/2014/main" val="2604126824"/>
                    </a:ext>
                  </a:extLst>
                </a:gridCol>
                <a:gridCol w="3961390">
                  <a:extLst>
                    <a:ext uri="{9D8B030D-6E8A-4147-A177-3AD203B41FA5}">
                      <a16:colId xmlns:a16="http://schemas.microsoft.com/office/drawing/2014/main" val="2846020734"/>
                    </a:ext>
                  </a:extLst>
                </a:gridCol>
                <a:gridCol w="660231">
                  <a:extLst>
                    <a:ext uri="{9D8B030D-6E8A-4147-A177-3AD203B41FA5}">
                      <a16:colId xmlns:a16="http://schemas.microsoft.com/office/drawing/2014/main" val="4009662577"/>
                    </a:ext>
                  </a:extLst>
                </a:gridCol>
                <a:gridCol w="4951737">
                  <a:extLst>
                    <a:ext uri="{9D8B030D-6E8A-4147-A177-3AD203B41FA5}">
                      <a16:colId xmlns:a16="http://schemas.microsoft.com/office/drawing/2014/main" val="2816132720"/>
                    </a:ext>
                  </a:extLst>
                </a:gridCol>
              </a:tblGrid>
              <a:tr h="475921">
                <a:tc>
                  <a:txBody>
                    <a:bodyPr/>
                    <a:lstStyle/>
                    <a:p>
                      <a:pPr algn="ctr" fontAlgn="ctr"/>
                      <a:r>
                        <a:rPr lang="en-MY" sz="1200" b="1" i="0" u="none" strike="noStrike">
                          <a:solidFill>
                            <a:srgbClr val="FFFFFF"/>
                          </a:solidFill>
                          <a:effectLst/>
                          <a:latin typeface="Arial" panose="020B0604020202020204" pitchFamily="34" charset="0"/>
                        </a:rPr>
                        <a:t>WBS Code</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c>
                  <a:txBody>
                    <a:bodyPr/>
                    <a:lstStyle/>
                    <a:p>
                      <a:pPr algn="ctr" fontAlgn="ctr"/>
                      <a:r>
                        <a:rPr lang="en-MY" sz="1200" b="1" i="0" u="none" strike="noStrike">
                          <a:solidFill>
                            <a:srgbClr val="FFFFFF"/>
                          </a:solidFill>
                          <a:effectLst/>
                          <a:latin typeface="Arial" panose="020B0604020202020204" pitchFamily="34" charset="0"/>
                        </a:rPr>
                        <a:t>Task / Deliverable</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c>
                  <a:txBody>
                    <a:bodyPr/>
                    <a:lstStyle/>
                    <a:p>
                      <a:pPr algn="ctr" fontAlgn="ctr"/>
                      <a:r>
                        <a:rPr lang="en-MY" sz="1200" b="1" i="0" u="none" strike="noStrike">
                          <a:solidFill>
                            <a:srgbClr val="FFFFFF"/>
                          </a:solidFill>
                          <a:effectLst/>
                          <a:latin typeface="Arial" panose="020B0604020202020204" pitchFamily="34" charset="0"/>
                        </a:rPr>
                        <a:t>Level</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c>
                  <a:txBody>
                    <a:bodyPr/>
                    <a:lstStyle/>
                    <a:p>
                      <a:pPr algn="ctr" fontAlgn="ctr"/>
                      <a:r>
                        <a:rPr lang="en-MY" sz="1200" b="1" i="0" u="none" strike="noStrike">
                          <a:solidFill>
                            <a:srgbClr val="FFFFFF"/>
                          </a:solidFill>
                          <a:effectLst/>
                          <a:latin typeface="Arial" panose="020B0604020202020204" pitchFamily="34" charset="0"/>
                        </a:rPr>
                        <a:t>Description</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extLst>
                  <a:ext uri="{0D108BD9-81ED-4DB2-BD59-A6C34878D82A}">
                    <a16:rowId xmlns:a16="http://schemas.microsoft.com/office/drawing/2014/main" val="1968989135"/>
                  </a:ext>
                </a:extLst>
              </a:tr>
              <a:tr h="1348442">
                <a:tc>
                  <a:txBody>
                    <a:bodyPr/>
                    <a:lstStyle/>
                    <a:p>
                      <a:pPr algn="ctr" fontAlgn="ctr"/>
                      <a:r>
                        <a:rPr lang="en-MY" sz="1400" b="1" i="0" u="none" strike="noStrike">
                          <a:solidFill>
                            <a:srgbClr val="FFFFFF"/>
                          </a:solidFill>
                          <a:effectLst/>
                          <a:latin typeface="Arial" panose="020B0604020202020204" pitchFamily="34" charset="0"/>
                        </a:rPr>
                        <a:t>1.0</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E75B6"/>
                    </a:solidFill>
                  </a:tcPr>
                </a:tc>
                <a:tc>
                  <a:txBody>
                    <a:bodyPr/>
                    <a:lstStyle/>
                    <a:p>
                      <a:pPr algn="l" fontAlgn="ctr"/>
                      <a:r>
                        <a:rPr lang="en-MY" sz="1400" b="1" i="0" u="none" strike="noStrike">
                          <a:solidFill>
                            <a:srgbClr val="FFFFFF"/>
                          </a:solidFill>
                          <a:effectLst/>
                          <a:latin typeface="Arial" panose="020B0604020202020204" pitchFamily="34" charset="0"/>
                        </a:rPr>
                        <a:t>Core Digital Transformation for a Retail Banking</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E75B6"/>
                    </a:solidFill>
                  </a:tcPr>
                </a:tc>
                <a:tc>
                  <a:txBody>
                    <a:bodyPr/>
                    <a:lstStyle/>
                    <a:p>
                      <a:pPr algn="ctr" fontAlgn="ctr"/>
                      <a:r>
                        <a:rPr lang="en-MY" sz="1400" b="1" i="0" u="none" strike="noStrike">
                          <a:solidFill>
                            <a:srgbClr val="FFFFFF"/>
                          </a:solidFill>
                          <a:effectLst/>
                          <a:latin typeface="Arial" panose="020B0604020202020204" pitchFamily="34" charset="0"/>
                        </a:rPr>
                        <a:t>0</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E75B6"/>
                    </a:solidFill>
                  </a:tcPr>
                </a:tc>
                <a:tc>
                  <a:txBody>
                    <a:bodyPr/>
                    <a:lstStyle/>
                    <a:p>
                      <a:pPr algn="l" fontAlgn="t"/>
                      <a:r>
                        <a:rPr lang="en-US" sz="1400" b="1" i="0" u="none" strike="noStrike">
                          <a:solidFill>
                            <a:srgbClr val="FFFFFF"/>
                          </a:solidFill>
                          <a:effectLst/>
                          <a:latin typeface="Arial" panose="020B0604020202020204" pitchFamily="34" charset="0"/>
                        </a:rPr>
                        <a:t>Complete digital transformation initiative to modernize retail banking systems with cloud-native architecture, regulatory compliance, and real-time data capabilities</a:t>
                      </a:r>
                    </a:p>
                  </a:txBody>
                  <a:tcPr marL="6350" marR="6350" marT="6350" marB="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E75B6"/>
                    </a:solidFill>
                  </a:tcPr>
                </a:tc>
                <a:extLst>
                  <a:ext uri="{0D108BD9-81ED-4DB2-BD59-A6C34878D82A}">
                    <a16:rowId xmlns:a16="http://schemas.microsoft.com/office/drawing/2014/main" val="2728371087"/>
                  </a:ext>
                </a:extLst>
              </a:tr>
              <a:tr h="737677">
                <a:tc>
                  <a:txBody>
                    <a:bodyPr/>
                    <a:lstStyle/>
                    <a:p>
                      <a:pPr algn="ctr" fontAlgn="ctr"/>
                      <a:r>
                        <a:rPr lang="en-MY" sz="1100" b="1" i="0" u="none" strike="noStrike">
                          <a:solidFill>
                            <a:srgbClr val="1F4E79"/>
                          </a:solidFill>
                          <a:effectLst/>
                          <a:latin typeface="Arial" panose="020B0604020202020204" pitchFamily="34" charset="0"/>
                        </a:rPr>
                        <a:t>1.1</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D6E4F0"/>
                    </a:solidFill>
                  </a:tcPr>
                </a:tc>
                <a:tc>
                  <a:txBody>
                    <a:bodyPr/>
                    <a:lstStyle/>
                    <a:p>
                      <a:pPr algn="l" fontAlgn="ctr"/>
                      <a:r>
                        <a:rPr lang="en-MY" sz="1100" b="1" i="0" u="none" strike="noStrike" dirty="0">
                          <a:solidFill>
                            <a:srgbClr val="1F4E79"/>
                          </a:solidFill>
                          <a:effectLst/>
                          <a:latin typeface="Arial" panose="020B0604020202020204" pitchFamily="34" charset="0"/>
                        </a:rPr>
                        <a:t>Planning</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D6E4F0"/>
                    </a:solidFill>
                  </a:tcPr>
                </a:tc>
                <a:tc>
                  <a:txBody>
                    <a:bodyPr/>
                    <a:lstStyle/>
                    <a:p>
                      <a:pPr algn="ctr" fontAlgn="ctr"/>
                      <a:r>
                        <a:rPr lang="en-MY" sz="1100" b="1" i="0" u="none" strike="noStrike">
                          <a:solidFill>
                            <a:srgbClr val="1F4E79"/>
                          </a:solidFill>
                          <a:effectLst/>
                          <a:latin typeface="Arial" panose="020B0604020202020204" pitchFamily="34" charset="0"/>
                        </a:rPr>
                        <a:t>1</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D6E4F0"/>
                    </a:solidFill>
                  </a:tcPr>
                </a:tc>
                <a:tc>
                  <a:txBody>
                    <a:bodyPr/>
                    <a:lstStyle/>
                    <a:p>
                      <a:pPr algn="l" fontAlgn="t"/>
                      <a:r>
                        <a:rPr lang="en-US" sz="1100" b="1" i="0" u="none" strike="noStrike">
                          <a:solidFill>
                            <a:srgbClr val="1F4E79"/>
                          </a:solidFill>
                          <a:effectLst/>
                          <a:latin typeface="Arial" panose="020B0604020202020204" pitchFamily="34" charset="0"/>
                        </a:rPr>
                        <a:t>Project initiation, stakeholder engagement, requirements gathering, and architectural design</a:t>
                      </a:r>
                    </a:p>
                  </a:txBody>
                  <a:tcPr marL="6350" marR="6350" marT="6350" marB="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D6E4F0"/>
                    </a:solidFill>
                  </a:tcPr>
                </a:tc>
                <a:extLst>
                  <a:ext uri="{0D108BD9-81ED-4DB2-BD59-A6C34878D82A}">
                    <a16:rowId xmlns:a16="http://schemas.microsoft.com/office/drawing/2014/main" val="500235995"/>
                  </a:ext>
                </a:extLst>
              </a:tr>
              <a:tr h="396601">
                <a:tc>
                  <a:txBody>
                    <a:bodyPr/>
                    <a:lstStyle/>
                    <a:p>
                      <a:pPr algn="ctr" fontAlgn="ctr"/>
                      <a:r>
                        <a:rPr lang="en-MY" sz="1100" b="1" i="0" u="none" strike="noStrike">
                          <a:solidFill>
                            <a:srgbClr val="1F4E79"/>
                          </a:solidFill>
                          <a:effectLst/>
                          <a:latin typeface="Arial" panose="020B0604020202020204" pitchFamily="34" charset="0"/>
                        </a:rPr>
                        <a:t>1.2</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D6E4F0"/>
                    </a:solidFill>
                  </a:tcPr>
                </a:tc>
                <a:tc>
                  <a:txBody>
                    <a:bodyPr/>
                    <a:lstStyle/>
                    <a:p>
                      <a:pPr algn="l" fontAlgn="ctr"/>
                      <a:r>
                        <a:rPr lang="en-MY" sz="1100" b="1" i="0" u="none" strike="noStrike">
                          <a:solidFill>
                            <a:srgbClr val="1F4E79"/>
                          </a:solidFill>
                          <a:effectLst/>
                          <a:latin typeface="Arial" panose="020B0604020202020204" pitchFamily="34" charset="0"/>
                        </a:rPr>
                        <a:t>Execution</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D6E4F0"/>
                    </a:solidFill>
                  </a:tcPr>
                </a:tc>
                <a:tc>
                  <a:txBody>
                    <a:bodyPr/>
                    <a:lstStyle/>
                    <a:p>
                      <a:pPr algn="ctr" fontAlgn="ctr"/>
                      <a:r>
                        <a:rPr lang="en-MY" sz="1100" b="1" i="0" u="none" strike="noStrike">
                          <a:solidFill>
                            <a:srgbClr val="1F4E79"/>
                          </a:solidFill>
                          <a:effectLst/>
                          <a:latin typeface="Arial" panose="020B0604020202020204" pitchFamily="34" charset="0"/>
                        </a:rPr>
                        <a:t>1</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D6E4F0"/>
                    </a:solidFill>
                  </a:tcPr>
                </a:tc>
                <a:tc>
                  <a:txBody>
                    <a:bodyPr/>
                    <a:lstStyle/>
                    <a:p>
                      <a:pPr algn="l" fontAlgn="t"/>
                      <a:r>
                        <a:rPr lang="en-US" sz="1100" b="1" i="0" u="none" strike="noStrike">
                          <a:solidFill>
                            <a:srgbClr val="1F4E79"/>
                          </a:solidFill>
                          <a:effectLst/>
                          <a:latin typeface="Arial" panose="020B0604020202020204" pitchFamily="34" charset="0"/>
                        </a:rPr>
                        <a:t>Development, integration, testing, and compliance validation</a:t>
                      </a:r>
                    </a:p>
                  </a:txBody>
                  <a:tcPr marL="6350" marR="6350" marT="6350" marB="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D6E4F0"/>
                    </a:solidFill>
                  </a:tcPr>
                </a:tc>
                <a:extLst>
                  <a:ext uri="{0D108BD9-81ED-4DB2-BD59-A6C34878D82A}">
                    <a16:rowId xmlns:a16="http://schemas.microsoft.com/office/drawing/2014/main" val="94258337"/>
                  </a:ext>
                </a:extLst>
              </a:tr>
              <a:tr h="864590">
                <a:tc>
                  <a:txBody>
                    <a:bodyPr/>
                    <a:lstStyle/>
                    <a:p>
                      <a:pPr algn="ctr" fontAlgn="ctr"/>
                      <a:r>
                        <a:rPr lang="en-MY" sz="1100" b="1" i="0" u="none" strike="noStrike">
                          <a:solidFill>
                            <a:srgbClr val="1F4E79"/>
                          </a:solidFill>
                          <a:effectLst/>
                          <a:latin typeface="Arial" panose="020B0604020202020204" pitchFamily="34" charset="0"/>
                        </a:rPr>
                        <a:t>1.3</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D6E4F0"/>
                    </a:solidFill>
                  </a:tcPr>
                </a:tc>
                <a:tc>
                  <a:txBody>
                    <a:bodyPr/>
                    <a:lstStyle/>
                    <a:p>
                      <a:pPr algn="l" fontAlgn="ctr"/>
                      <a:r>
                        <a:rPr lang="en-MY" sz="1100" b="1" i="0" u="none" strike="noStrike">
                          <a:solidFill>
                            <a:srgbClr val="1F4E79"/>
                          </a:solidFill>
                          <a:effectLst/>
                          <a:latin typeface="Arial" panose="020B0604020202020204" pitchFamily="34" charset="0"/>
                        </a:rPr>
                        <a:t>Closure</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D6E4F0"/>
                    </a:solidFill>
                  </a:tcPr>
                </a:tc>
                <a:tc>
                  <a:txBody>
                    <a:bodyPr/>
                    <a:lstStyle/>
                    <a:p>
                      <a:pPr algn="ctr" fontAlgn="ctr"/>
                      <a:r>
                        <a:rPr lang="en-MY" sz="1100" b="1" i="0" u="none" strike="noStrike">
                          <a:solidFill>
                            <a:srgbClr val="1F4E79"/>
                          </a:solidFill>
                          <a:effectLst/>
                          <a:latin typeface="Arial" panose="020B0604020202020204" pitchFamily="34" charset="0"/>
                        </a:rPr>
                        <a:t>1</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D6E4F0"/>
                    </a:solidFill>
                  </a:tcPr>
                </a:tc>
                <a:tc>
                  <a:txBody>
                    <a:bodyPr/>
                    <a:lstStyle/>
                    <a:p>
                      <a:pPr algn="l" fontAlgn="t"/>
                      <a:r>
                        <a:rPr lang="en-MY" sz="1100" b="1" i="0" u="none" strike="noStrike" dirty="0">
                          <a:solidFill>
                            <a:srgbClr val="1F4E79"/>
                          </a:solidFill>
                          <a:effectLst/>
                          <a:latin typeface="Arial" panose="020B0604020202020204" pitchFamily="34" charset="0"/>
                        </a:rPr>
                        <a:t>Production deployment, training, handover, and post-implementation support</a:t>
                      </a:r>
                    </a:p>
                  </a:txBody>
                  <a:tcPr marL="6350" marR="6350" marT="6350" marB="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D6E4F0"/>
                    </a:solidFill>
                  </a:tcPr>
                </a:tc>
                <a:extLst>
                  <a:ext uri="{0D108BD9-81ED-4DB2-BD59-A6C34878D82A}">
                    <a16:rowId xmlns:a16="http://schemas.microsoft.com/office/drawing/2014/main" val="2020766222"/>
                  </a:ext>
                </a:extLst>
              </a:tr>
            </a:tbl>
          </a:graphicData>
        </a:graphic>
      </p:graphicFrame>
    </p:spTree>
    <p:extLst>
      <p:ext uri="{BB962C8B-B14F-4D97-AF65-F5344CB8AC3E}">
        <p14:creationId xmlns:p14="http://schemas.microsoft.com/office/powerpoint/2010/main" val="227025291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7547F8-DC26-412E-D013-E868F7681D4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60BD5F8-EDD6-16DB-3C40-DCA71922457D}"/>
              </a:ext>
            </a:extLst>
          </p:cNvPr>
          <p:cNvSpPr>
            <a:spLocks noGrp="1"/>
          </p:cNvSpPr>
          <p:nvPr>
            <p:ph type="title"/>
          </p:nvPr>
        </p:nvSpPr>
        <p:spPr>
          <a:xfrm>
            <a:off x="572756" y="133943"/>
            <a:ext cx="9813446" cy="850726"/>
          </a:xfrm>
        </p:spPr>
        <p:txBody>
          <a:bodyPr>
            <a:noAutofit/>
          </a:bodyPr>
          <a:lstStyle/>
          <a:p>
            <a:r>
              <a:rPr lang="en-US" sz="3200" dirty="0"/>
              <a:t>Project Planning and Risk Analysis</a:t>
            </a:r>
          </a:p>
        </p:txBody>
      </p:sp>
      <p:sp>
        <p:nvSpPr>
          <p:cNvPr id="8" name="Content Placeholder 4">
            <a:extLst>
              <a:ext uri="{FF2B5EF4-FFF2-40B4-BE49-F238E27FC236}">
                <a16:creationId xmlns:a16="http://schemas.microsoft.com/office/drawing/2014/main" id="{F3013976-8F52-A961-B85F-1F3DD9C169F3}"/>
              </a:ext>
            </a:extLst>
          </p:cNvPr>
          <p:cNvSpPr txBox="1">
            <a:spLocks/>
          </p:cNvSpPr>
          <p:nvPr/>
        </p:nvSpPr>
        <p:spPr>
          <a:xfrm>
            <a:off x="573087" y="1216025"/>
            <a:ext cx="10659485" cy="4503738"/>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b="1" dirty="0"/>
              <a:t>Network </a:t>
            </a:r>
            <a:r>
              <a:rPr lang="en-US" sz="2400" b="1" dirty="0" smtClean="0"/>
              <a:t>Diagram</a:t>
            </a:r>
          </a:p>
          <a:p>
            <a:pPr marL="0" indent="0">
              <a:buFont typeface="Arial" panose="020B0604020202020204" pitchFamily="34" charset="0"/>
              <a:buNone/>
            </a:pPr>
            <a:endParaRPr lang="en-US" sz="2400" b="1" dirty="0"/>
          </a:p>
        </p:txBody>
      </p:sp>
      <p:graphicFrame>
        <p:nvGraphicFramePr>
          <p:cNvPr id="3" name="Table 2"/>
          <p:cNvGraphicFramePr>
            <a:graphicFrameLocks noGrp="1"/>
          </p:cNvGraphicFramePr>
          <p:nvPr>
            <p:extLst>
              <p:ext uri="{D42A27DB-BD31-4B8C-83A1-F6EECF244321}">
                <p14:modId xmlns:p14="http://schemas.microsoft.com/office/powerpoint/2010/main" val="2381788007"/>
              </p:ext>
            </p:extLst>
          </p:nvPr>
        </p:nvGraphicFramePr>
        <p:xfrm>
          <a:off x="702733" y="1938864"/>
          <a:ext cx="9743017" cy="3967430"/>
        </p:xfrm>
        <a:graphic>
          <a:graphicData uri="http://schemas.openxmlformats.org/drawingml/2006/table">
            <a:tbl>
              <a:tblPr/>
              <a:tblGrid>
                <a:gridCol w="2304188">
                  <a:extLst>
                    <a:ext uri="{9D8B030D-6E8A-4147-A177-3AD203B41FA5}">
                      <a16:colId xmlns:a16="http://schemas.microsoft.com/office/drawing/2014/main" val="2047062859"/>
                    </a:ext>
                  </a:extLst>
                </a:gridCol>
                <a:gridCol w="2531762">
                  <a:extLst>
                    <a:ext uri="{9D8B030D-6E8A-4147-A177-3AD203B41FA5}">
                      <a16:colId xmlns:a16="http://schemas.microsoft.com/office/drawing/2014/main" val="3620197750"/>
                    </a:ext>
                  </a:extLst>
                </a:gridCol>
                <a:gridCol w="668499">
                  <a:extLst>
                    <a:ext uri="{9D8B030D-6E8A-4147-A177-3AD203B41FA5}">
                      <a16:colId xmlns:a16="http://schemas.microsoft.com/office/drawing/2014/main" val="3006948318"/>
                    </a:ext>
                  </a:extLst>
                </a:gridCol>
                <a:gridCol w="682722">
                  <a:extLst>
                    <a:ext uri="{9D8B030D-6E8A-4147-A177-3AD203B41FA5}">
                      <a16:colId xmlns:a16="http://schemas.microsoft.com/office/drawing/2014/main" val="1857354293"/>
                    </a:ext>
                  </a:extLst>
                </a:gridCol>
                <a:gridCol w="1080977">
                  <a:extLst>
                    <a:ext uri="{9D8B030D-6E8A-4147-A177-3AD203B41FA5}">
                      <a16:colId xmlns:a16="http://schemas.microsoft.com/office/drawing/2014/main" val="252906345"/>
                    </a:ext>
                  </a:extLst>
                </a:gridCol>
                <a:gridCol w="768063">
                  <a:extLst>
                    <a:ext uri="{9D8B030D-6E8A-4147-A177-3AD203B41FA5}">
                      <a16:colId xmlns:a16="http://schemas.microsoft.com/office/drawing/2014/main" val="1738896481"/>
                    </a:ext>
                  </a:extLst>
                </a:gridCol>
                <a:gridCol w="768063">
                  <a:extLst>
                    <a:ext uri="{9D8B030D-6E8A-4147-A177-3AD203B41FA5}">
                      <a16:colId xmlns:a16="http://schemas.microsoft.com/office/drawing/2014/main" val="134958949"/>
                    </a:ext>
                  </a:extLst>
                </a:gridCol>
                <a:gridCol w="938743">
                  <a:extLst>
                    <a:ext uri="{9D8B030D-6E8A-4147-A177-3AD203B41FA5}">
                      <a16:colId xmlns:a16="http://schemas.microsoft.com/office/drawing/2014/main" val="121811144"/>
                    </a:ext>
                  </a:extLst>
                </a:gridCol>
              </a:tblGrid>
              <a:tr h="396743">
                <a:tc>
                  <a:txBody>
                    <a:bodyPr/>
                    <a:lstStyle/>
                    <a:p>
                      <a:pPr algn="ctr" fontAlgn="ctr"/>
                      <a:r>
                        <a:rPr lang="en-MY" sz="1100" b="1" i="0" u="none" strike="noStrike">
                          <a:solidFill>
                            <a:srgbClr val="FFFFFF"/>
                          </a:solidFill>
                          <a:effectLst/>
                          <a:latin typeface="Arial" panose="020B0604020202020204" pitchFamily="34" charset="0"/>
                        </a:rPr>
                        <a:t>Task ID</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c>
                  <a:txBody>
                    <a:bodyPr/>
                    <a:lstStyle/>
                    <a:p>
                      <a:pPr algn="ctr" fontAlgn="ctr"/>
                      <a:r>
                        <a:rPr lang="en-MY" sz="1100" b="1" i="0" u="none" strike="noStrike">
                          <a:solidFill>
                            <a:srgbClr val="FFFFFF"/>
                          </a:solidFill>
                          <a:effectLst/>
                          <a:latin typeface="Arial" panose="020B0604020202020204" pitchFamily="34" charset="0"/>
                        </a:rPr>
                        <a:t>Task Name</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c>
                  <a:txBody>
                    <a:bodyPr/>
                    <a:lstStyle/>
                    <a:p>
                      <a:pPr algn="ctr" fontAlgn="ctr"/>
                      <a:r>
                        <a:rPr lang="en-MY" sz="1100" b="1" i="0" u="none" strike="noStrike">
                          <a:solidFill>
                            <a:srgbClr val="FFFFFF"/>
                          </a:solidFill>
                          <a:effectLst/>
                          <a:latin typeface="Arial" panose="020B0604020202020204" pitchFamily="34" charset="0"/>
                        </a:rPr>
                        <a:t>Phase</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c>
                  <a:txBody>
                    <a:bodyPr/>
                    <a:lstStyle/>
                    <a:p>
                      <a:pPr algn="ctr" fontAlgn="ctr"/>
                      <a:r>
                        <a:rPr lang="en-MY" sz="1100" b="1" i="0" u="none" strike="noStrike">
                          <a:solidFill>
                            <a:srgbClr val="FFFFFF"/>
                          </a:solidFill>
                          <a:effectLst/>
                          <a:latin typeface="Arial" panose="020B0604020202020204" pitchFamily="34" charset="0"/>
                        </a:rPr>
                        <a:t>Duration</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c>
                  <a:txBody>
                    <a:bodyPr/>
                    <a:lstStyle/>
                    <a:p>
                      <a:pPr algn="ctr" fontAlgn="ctr"/>
                      <a:r>
                        <a:rPr lang="en-MY" sz="1100" b="1" i="0" u="none" strike="noStrike">
                          <a:solidFill>
                            <a:srgbClr val="FFFFFF"/>
                          </a:solidFill>
                          <a:effectLst/>
                          <a:latin typeface="Arial" panose="020B0604020202020204" pitchFamily="34" charset="0"/>
                        </a:rPr>
                        <a:t>Predecessors</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c>
                  <a:txBody>
                    <a:bodyPr/>
                    <a:lstStyle/>
                    <a:p>
                      <a:pPr algn="ctr" fontAlgn="ctr"/>
                      <a:r>
                        <a:rPr lang="en-MY" sz="1100" b="1" i="0" u="none" strike="noStrike">
                          <a:solidFill>
                            <a:srgbClr val="FFFFFF"/>
                          </a:solidFill>
                          <a:effectLst/>
                          <a:latin typeface="Arial" panose="020B0604020202020204" pitchFamily="34" charset="0"/>
                        </a:rPr>
                        <a:t>Start</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c>
                  <a:txBody>
                    <a:bodyPr/>
                    <a:lstStyle/>
                    <a:p>
                      <a:pPr algn="ctr" fontAlgn="ctr"/>
                      <a:r>
                        <a:rPr lang="en-MY" sz="1100" b="1" i="0" u="none" strike="noStrike">
                          <a:solidFill>
                            <a:srgbClr val="FFFFFF"/>
                          </a:solidFill>
                          <a:effectLst/>
                          <a:latin typeface="Arial" panose="020B0604020202020204" pitchFamily="34" charset="0"/>
                        </a:rPr>
                        <a:t>End</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c>
                  <a:txBody>
                    <a:bodyPr/>
                    <a:lstStyle/>
                    <a:p>
                      <a:pPr algn="ctr" fontAlgn="ctr"/>
                      <a:r>
                        <a:rPr lang="en-MY" sz="1100" b="1" i="0" u="none" strike="noStrike">
                          <a:solidFill>
                            <a:srgbClr val="FFFFFF"/>
                          </a:solidFill>
                          <a:effectLst/>
                          <a:latin typeface="Arial" panose="020B0604020202020204" pitchFamily="34" charset="0"/>
                        </a:rPr>
                        <a:t>Critical Path</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extLst>
                  <a:ext uri="{0D108BD9-81ED-4DB2-BD59-A6C34878D82A}">
                    <a16:rowId xmlns:a16="http://schemas.microsoft.com/office/drawing/2014/main" val="44642379"/>
                  </a:ext>
                </a:extLst>
              </a:tr>
              <a:tr h="396743">
                <a:tc>
                  <a:txBody>
                    <a:bodyPr/>
                    <a:lstStyle/>
                    <a:p>
                      <a:pPr algn="ctr" fontAlgn="ctr"/>
                      <a:r>
                        <a:rPr lang="en-MY" sz="1000" b="0" i="0" u="none" strike="noStrike">
                          <a:solidFill>
                            <a:srgbClr val="000000"/>
                          </a:solidFill>
                          <a:effectLst/>
                          <a:latin typeface="Arial" panose="020B0604020202020204" pitchFamily="34" charset="0"/>
                        </a:rPr>
                        <a:t>1.1.1</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D6E4F0"/>
                    </a:solidFill>
                  </a:tcPr>
                </a:tc>
                <a:tc>
                  <a:txBody>
                    <a:bodyPr/>
                    <a:lstStyle/>
                    <a:p>
                      <a:pPr algn="l" fontAlgn="ctr"/>
                      <a:r>
                        <a:rPr lang="en-MY" sz="1000" b="0" i="0" u="none" strike="noStrike">
                          <a:solidFill>
                            <a:srgbClr val="000000"/>
                          </a:solidFill>
                          <a:effectLst/>
                          <a:latin typeface="Arial" panose="020B0604020202020204" pitchFamily="34" charset="0"/>
                        </a:rPr>
                        <a:t>Identify Stakeholders</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D6E4F0"/>
                    </a:solidFill>
                  </a:tcPr>
                </a:tc>
                <a:tc>
                  <a:txBody>
                    <a:bodyPr/>
                    <a:lstStyle/>
                    <a:p>
                      <a:pPr algn="ctr" fontAlgn="ctr"/>
                      <a:r>
                        <a:rPr lang="en-MY" sz="1000" b="0" i="0" u="none" strike="noStrike">
                          <a:solidFill>
                            <a:srgbClr val="000000"/>
                          </a:solidFill>
                          <a:effectLst/>
                          <a:latin typeface="Arial" panose="020B0604020202020204" pitchFamily="34" charset="0"/>
                        </a:rPr>
                        <a:t>Planning</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D6E4F0"/>
                    </a:solidFill>
                  </a:tcPr>
                </a:tc>
                <a:tc>
                  <a:txBody>
                    <a:bodyPr/>
                    <a:lstStyle/>
                    <a:p>
                      <a:pPr algn="ctr" fontAlgn="ctr"/>
                      <a:r>
                        <a:rPr lang="en-MY" sz="1000" b="0" i="0" u="none" strike="noStrike">
                          <a:solidFill>
                            <a:srgbClr val="000000"/>
                          </a:solidFill>
                          <a:effectLst/>
                          <a:latin typeface="Arial" panose="020B0604020202020204" pitchFamily="34" charset="0"/>
                        </a:rPr>
                        <a:t>3 days</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D6E4F0"/>
                    </a:solidFill>
                  </a:tcPr>
                </a:tc>
                <a:tc>
                  <a:txBody>
                    <a:bodyPr/>
                    <a:lstStyle/>
                    <a:p>
                      <a:pPr algn="ctr" fontAlgn="ctr"/>
                      <a:r>
                        <a:rPr lang="en-MY" sz="1000" b="0" i="0" u="none" strike="noStrike">
                          <a:solidFill>
                            <a:srgbClr val="000000"/>
                          </a:solidFill>
                          <a:effectLst/>
                          <a:latin typeface="Arial" panose="020B0604020202020204" pitchFamily="34" charset="0"/>
                        </a:rPr>
                        <a:t>-</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D6E4F0"/>
                    </a:solidFill>
                  </a:tcPr>
                </a:tc>
                <a:tc>
                  <a:txBody>
                    <a:bodyPr/>
                    <a:lstStyle/>
                    <a:p>
                      <a:pPr algn="ctr" fontAlgn="ctr"/>
                      <a:r>
                        <a:rPr lang="en-MY" sz="1000" b="0" i="0" u="none" strike="noStrike">
                          <a:solidFill>
                            <a:srgbClr val="000000"/>
                          </a:solidFill>
                          <a:effectLst/>
                          <a:latin typeface="Arial" panose="020B0604020202020204" pitchFamily="34" charset="0"/>
                        </a:rPr>
                        <a:t>Week 1</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D6E4F0"/>
                    </a:solidFill>
                  </a:tcPr>
                </a:tc>
                <a:tc>
                  <a:txBody>
                    <a:bodyPr/>
                    <a:lstStyle/>
                    <a:p>
                      <a:pPr algn="ctr" fontAlgn="ctr"/>
                      <a:r>
                        <a:rPr lang="en-MY" sz="1000" b="0" i="0" u="none" strike="noStrike">
                          <a:solidFill>
                            <a:srgbClr val="000000"/>
                          </a:solidFill>
                          <a:effectLst/>
                          <a:latin typeface="Arial" panose="020B0604020202020204" pitchFamily="34" charset="0"/>
                        </a:rPr>
                        <a:t>Week 1</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D6E4F0"/>
                    </a:solidFill>
                  </a:tcPr>
                </a:tc>
                <a:tc>
                  <a:txBody>
                    <a:bodyPr/>
                    <a:lstStyle/>
                    <a:p>
                      <a:pPr algn="ctr" fontAlgn="ctr"/>
                      <a:r>
                        <a:rPr lang="en-MY" sz="1000" b="1" i="0" u="none" strike="noStrike">
                          <a:solidFill>
                            <a:srgbClr val="833C00"/>
                          </a:solidFill>
                          <a:effectLst/>
                          <a:latin typeface="Arial" panose="020B0604020202020204" pitchFamily="34" charset="0"/>
                        </a:rPr>
                        <a:t>Yes</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CE4D6"/>
                    </a:solidFill>
                  </a:tcPr>
                </a:tc>
                <a:extLst>
                  <a:ext uri="{0D108BD9-81ED-4DB2-BD59-A6C34878D82A}">
                    <a16:rowId xmlns:a16="http://schemas.microsoft.com/office/drawing/2014/main" val="2741971057"/>
                  </a:ext>
                </a:extLst>
              </a:tr>
              <a:tr h="396743">
                <a:tc>
                  <a:txBody>
                    <a:bodyPr/>
                    <a:lstStyle/>
                    <a:p>
                      <a:pPr algn="ctr" fontAlgn="ctr"/>
                      <a:r>
                        <a:rPr lang="en-MY" sz="1000" b="0" i="0" u="none" strike="noStrike" dirty="0">
                          <a:solidFill>
                            <a:srgbClr val="000000"/>
                          </a:solidFill>
                          <a:effectLst/>
                          <a:latin typeface="Arial" panose="020B0604020202020204" pitchFamily="34" charset="0"/>
                        </a:rPr>
                        <a:t>1.1.2</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D6E4F0"/>
                    </a:solidFill>
                  </a:tcPr>
                </a:tc>
                <a:tc>
                  <a:txBody>
                    <a:bodyPr/>
                    <a:lstStyle/>
                    <a:p>
                      <a:pPr algn="l" fontAlgn="ctr"/>
                      <a:r>
                        <a:rPr lang="en-MY" sz="1000" b="0" i="0" u="none" strike="noStrike">
                          <a:solidFill>
                            <a:srgbClr val="000000"/>
                          </a:solidFill>
                          <a:effectLst/>
                          <a:latin typeface="Arial" panose="020B0604020202020204" pitchFamily="34" charset="0"/>
                        </a:rPr>
                        <a:t>Gather Requirements</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D6E4F0"/>
                    </a:solidFill>
                  </a:tcPr>
                </a:tc>
                <a:tc>
                  <a:txBody>
                    <a:bodyPr/>
                    <a:lstStyle/>
                    <a:p>
                      <a:pPr algn="ctr" fontAlgn="ctr"/>
                      <a:r>
                        <a:rPr lang="en-MY" sz="1000" b="0" i="0" u="none" strike="noStrike">
                          <a:solidFill>
                            <a:srgbClr val="000000"/>
                          </a:solidFill>
                          <a:effectLst/>
                          <a:latin typeface="Arial" panose="020B0604020202020204" pitchFamily="34" charset="0"/>
                        </a:rPr>
                        <a:t>Planning</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D6E4F0"/>
                    </a:solidFill>
                  </a:tcPr>
                </a:tc>
                <a:tc>
                  <a:txBody>
                    <a:bodyPr/>
                    <a:lstStyle/>
                    <a:p>
                      <a:pPr algn="ctr" fontAlgn="ctr"/>
                      <a:r>
                        <a:rPr lang="en-MY" sz="1000" b="0" i="0" u="none" strike="noStrike">
                          <a:solidFill>
                            <a:srgbClr val="000000"/>
                          </a:solidFill>
                          <a:effectLst/>
                          <a:latin typeface="Arial" panose="020B0604020202020204" pitchFamily="34" charset="0"/>
                        </a:rPr>
                        <a:t>1 week</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D6E4F0"/>
                    </a:solidFill>
                  </a:tcPr>
                </a:tc>
                <a:tc>
                  <a:txBody>
                    <a:bodyPr/>
                    <a:lstStyle/>
                    <a:p>
                      <a:pPr algn="ctr" fontAlgn="ctr"/>
                      <a:r>
                        <a:rPr lang="en-MY" sz="1000" b="0" i="0" u="none" strike="noStrike">
                          <a:solidFill>
                            <a:srgbClr val="000000"/>
                          </a:solidFill>
                          <a:effectLst/>
                          <a:latin typeface="Arial" panose="020B0604020202020204" pitchFamily="34" charset="0"/>
                        </a:rPr>
                        <a:t>1.1.1</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D6E4F0"/>
                    </a:solidFill>
                  </a:tcPr>
                </a:tc>
                <a:tc>
                  <a:txBody>
                    <a:bodyPr/>
                    <a:lstStyle/>
                    <a:p>
                      <a:pPr algn="ctr" fontAlgn="ctr"/>
                      <a:r>
                        <a:rPr lang="en-MY" sz="1000" b="0" i="0" u="none" strike="noStrike">
                          <a:solidFill>
                            <a:srgbClr val="000000"/>
                          </a:solidFill>
                          <a:effectLst/>
                          <a:latin typeface="Arial" panose="020B0604020202020204" pitchFamily="34" charset="0"/>
                        </a:rPr>
                        <a:t>Week 1</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D6E4F0"/>
                    </a:solidFill>
                  </a:tcPr>
                </a:tc>
                <a:tc>
                  <a:txBody>
                    <a:bodyPr/>
                    <a:lstStyle/>
                    <a:p>
                      <a:pPr algn="ctr" fontAlgn="ctr"/>
                      <a:r>
                        <a:rPr lang="en-MY" sz="1000" b="0" i="0" u="none" strike="noStrike">
                          <a:solidFill>
                            <a:srgbClr val="000000"/>
                          </a:solidFill>
                          <a:effectLst/>
                          <a:latin typeface="Arial" panose="020B0604020202020204" pitchFamily="34" charset="0"/>
                        </a:rPr>
                        <a:t>Week 2</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D6E4F0"/>
                    </a:solidFill>
                  </a:tcPr>
                </a:tc>
                <a:tc>
                  <a:txBody>
                    <a:bodyPr/>
                    <a:lstStyle/>
                    <a:p>
                      <a:pPr algn="ctr" fontAlgn="ctr"/>
                      <a:r>
                        <a:rPr lang="en-MY" sz="1000" b="1" i="0" u="none" strike="noStrike">
                          <a:solidFill>
                            <a:srgbClr val="833C00"/>
                          </a:solidFill>
                          <a:effectLst/>
                          <a:latin typeface="Arial" panose="020B0604020202020204" pitchFamily="34" charset="0"/>
                        </a:rPr>
                        <a:t>Yes</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CE4D6"/>
                    </a:solidFill>
                  </a:tcPr>
                </a:tc>
                <a:extLst>
                  <a:ext uri="{0D108BD9-81ED-4DB2-BD59-A6C34878D82A}">
                    <a16:rowId xmlns:a16="http://schemas.microsoft.com/office/drawing/2014/main" val="1269151785"/>
                  </a:ext>
                </a:extLst>
              </a:tr>
              <a:tr h="396743">
                <a:tc>
                  <a:txBody>
                    <a:bodyPr/>
                    <a:lstStyle/>
                    <a:p>
                      <a:pPr algn="ctr" fontAlgn="ctr"/>
                      <a:r>
                        <a:rPr lang="en-MY" sz="1000" b="0" i="0" u="none" strike="noStrike">
                          <a:solidFill>
                            <a:srgbClr val="000000"/>
                          </a:solidFill>
                          <a:effectLst/>
                          <a:latin typeface="Arial" panose="020B0604020202020204" pitchFamily="34" charset="0"/>
                        </a:rPr>
                        <a:t>1.1.3</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D6E4F0"/>
                    </a:solidFill>
                  </a:tcPr>
                </a:tc>
                <a:tc>
                  <a:txBody>
                    <a:bodyPr/>
                    <a:lstStyle/>
                    <a:p>
                      <a:pPr algn="l" fontAlgn="ctr"/>
                      <a:r>
                        <a:rPr lang="en-MY" sz="1000" b="0" i="0" u="none" strike="noStrike">
                          <a:solidFill>
                            <a:srgbClr val="000000"/>
                          </a:solidFill>
                          <a:effectLst/>
                          <a:latin typeface="Arial" panose="020B0604020202020204" pitchFamily="34" charset="0"/>
                        </a:rPr>
                        <a:t>Design Cloud-Native Architecture</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D6E4F0"/>
                    </a:solidFill>
                  </a:tcPr>
                </a:tc>
                <a:tc>
                  <a:txBody>
                    <a:bodyPr/>
                    <a:lstStyle/>
                    <a:p>
                      <a:pPr algn="ctr" fontAlgn="ctr"/>
                      <a:r>
                        <a:rPr lang="en-MY" sz="1000" b="0" i="0" u="none" strike="noStrike">
                          <a:solidFill>
                            <a:srgbClr val="000000"/>
                          </a:solidFill>
                          <a:effectLst/>
                          <a:latin typeface="Arial" panose="020B0604020202020204" pitchFamily="34" charset="0"/>
                        </a:rPr>
                        <a:t>Planning</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D6E4F0"/>
                    </a:solidFill>
                  </a:tcPr>
                </a:tc>
                <a:tc>
                  <a:txBody>
                    <a:bodyPr/>
                    <a:lstStyle/>
                    <a:p>
                      <a:pPr algn="ctr" fontAlgn="ctr"/>
                      <a:r>
                        <a:rPr lang="en-MY" sz="1000" b="0" i="0" u="none" strike="noStrike">
                          <a:solidFill>
                            <a:srgbClr val="000000"/>
                          </a:solidFill>
                          <a:effectLst/>
                          <a:latin typeface="Arial" panose="020B0604020202020204" pitchFamily="34" charset="0"/>
                        </a:rPr>
                        <a:t>1 week</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D6E4F0"/>
                    </a:solidFill>
                  </a:tcPr>
                </a:tc>
                <a:tc>
                  <a:txBody>
                    <a:bodyPr/>
                    <a:lstStyle/>
                    <a:p>
                      <a:pPr algn="ctr" fontAlgn="ctr"/>
                      <a:r>
                        <a:rPr lang="en-MY" sz="1000" b="0" i="0" u="none" strike="noStrike">
                          <a:solidFill>
                            <a:srgbClr val="000000"/>
                          </a:solidFill>
                          <a:effectLst/>
                          <a:latin typeface="Arial" panose="020B0604020202020204" pitchFamily="34" charset="0"/>
                        </a:rPr>
                        <a:t>1.1.2</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D6E4F0"/>
                    </a:solidFill>
                  </a:tcPr>
                </a:tc>
                <a:tc>
                  <a:txBody>
                    <a:bodyPr/>
                    <a:lstStyle/>
                    <a:p>
                      <a:pPr algn="ctr" fontAlgn="ctr"/>
                      <a:r>
                        <a:rPr lang="en-MY" sz="1000" b="0" i="0" u="none" strike="noStrike">
                          <a:solidFill>
                            <a:srgbClr val="000000"/>
                          </a:solidFill>
                          <a:effectLst/>
                          <a:latin typeface="Arial" panose="020B0604020202020204" pitchFamily="34" charset="0"/>
                        </a:rPr>
                        <a:t>Week 2</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D6E4F0"/>
                    </a:solidFill>
                  </a:tcPr>
                </a:tc>
                <a:tc>
                  <a:txBody>
                    <a:bodyPr/>
                    <a:lstStyle/>
                    <a:p>
                      <a:pPr algn="ctr" fontAlgn="ctr"/>
                      <a:r>
                        <a:rPr lang="en-MY" sz="1000" b="0" i="0" u="none" strike="noStrike">
                          <a:solidFill>
                            <a:srgbClr val="000000"/>
                          </a:solidFill>
                          <a:effectLst/>
                          <a:latin typeface="Arial" panose="020B0604020202020204" pitchFamily="34" charset="0"/>
                        </a:rPr>
                        <a:t>Week 2</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D6E4F0"/>
                    </a:solidFill>
                  </a:tcPr>
                </a:tc>
                <a:tc>
                  <a:txBody>
                    <a:bodyPr/>
                    <a:lstStyle/>
                    <a:p>
                      <a:pPr algn="ctr" fontAlgn="ctr"/>
                      <a:r>
                        <a:rPr lang="en-MY" sz="1000" b="1" i="0" u="none" strike="noStrike">
                          <a:solidFill>
                            <a:srgbClr val="833C00"/>
                          </a:solidFill>
                          <a:effectLst/>
                          <a:latin typeface="Arial" panose="020B0604020202020204" pitchFamily="34" charset="0"/>
                        </a:rPr>
                        <a:t>Yes</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CE4D6"/>
                    </a:solidFill>
                  </a:tcPr>
                </a:tc>
                <a:extLst>
                  <a:ext uri="{0D108BD9-81ED-4DB2-BD59-A6C34878D82A}">
                    <a16:rowId xmlns:a16="http://schemas.microsoft.com/office/drawing/2014/main" val="3739243739"/>
                  </a:ext>
                </a:extLst>
              </a:tr>
              <a:tr h="396743">
                <a:tc>
                  <a:txBody>
                    <a:bodyPr/>
                    <a:lstStyle/>
                    <a:p>
                      <a:pPr algn="ctr" fontAlgn="ctr"/>
                      <a:r>
                        <a:rPr lang="en-MY" sz="1000" b="0" i="0" u="none" strike="noStrike">
                          <a:solidFill>
                            <a:srgbClr val="000000"/>
                          </a:solidFill>
                          <a:effectLst/>
                          <a:latin typeface="Arial" panose="020B0604020202020204" pitchFamily="34" charset="0"/>
                        </a:rPr>
                        <a:t>1.2.1</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2CC"/>
                    </a:solidFill>
                  </a:tcPr>
                </a:tc>
                <a:tc>
                  <a:txBody>
                    <a:bodyPr/>
                    <a:lstStyle/>
                    <a:p>
                      <a:pPr algn="l" fontAlgn="ctr"/>
                      <a:r>
                        <a:rPr lang="en-MY" sz="1000" b="0" i="0" u="none" strike="noStrike">
                          <a:solidFill>
                            <a:srgbClr val="000000"/>
                          </a:solidFill>
                          <a:effectLst/>
                          <a:latin typeface="Arial" panose="020B0604020202020204" pitchFamily="34" charset="0"/>
                        </a:rPr>
                        <a:t>Configure CI/CD Pipeline</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2CC"/>
                    </a:solidFill>
                  </a:tcPr>
                </a:tc>
                <a:tc>
                  <a:txBody>
                    <a:bodyPr/>
                    <a:lstStyle/>
                    <a:p>
                      <a:pPr algn="ctr" fontAlgn="ctr"/>
                      <a:r>
                        <a:rPr lang="en-MY" sz="1000" b="0" i="0" u="none" strike="noStrike">
                          <a:solidFill>
                            <a:srgbClr val="000000"/>
                          </a:solidFill>
                          <a:effectLst/>
                          <a:latin typeface="Arial" panose="020B0604020202020204" pitchFamily="34" charset="0"/>
                        </a:rPr>
                        <a:t>Execution</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2CC"/>
                    </a:solidFill>
                  </a:tcPr>
                </a:tc>
                <a:tc>
                  <a:txBody>
                    <a:bodyPr/>
                    <a:lstStyle/>
                    <a:p>
                      <a:pPr algn="ctr" fontAlgn="ctr"/>
                      <a:r>
                        <a:rPr lang="en-MY" sz="1000" b="0" i="0" u="none" strike="noStrike">
                          <a:solidFill>
                            <a:srgbClr val="000000"/>
                          </a:solidFill>
                          <a:effectLst/>
                          <a:latin typeface="Arial" panose="020B0604020202020204" pitchFamily="34" charset="0"/>
                        </a:rPr>
                        <a:t>1 month</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2CC"/>
                    </a:solidFill>
                  </a:tcPr>
                </a:tc>
                <a:tc>
                  <a:txBody>
                    <a:bodyPr/>
                    <a:lstStyle/>
                    <a:p>
                      <a:pPr algn="ctr" fontAlgn="ctr"/>
                      <a:r>
                        <a:rPr lang="en-MY" sz="1000" b="0" i="0" u="none" strike="noStrike">
                          <a:solidFill>
                            <a:srgbClr val="000000"/>
                          </a:solidFill>
                          <a:effectLst/>
                          <a:latin typeface="Arial" panose="020B0604020202020204" pitchFamily="34" charset="0"/>
                        </a:rPr>
                        <a:t>1.1.3</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2CC"/>
                    </a:solidFill>
                  </a:tcPr>
                </a:tc>
                <a:tc>
                  <a:txBody>
                    <a:bodyPr/>
                    <a:lstStyle/>
                    <a:p>
                      <a:pPr algn="ctr" fontAlgn="ctr"/>
                      <a:r>
                        <a:rPr lang="en-MY" sz="1000" b="0" i="0" u="none" strike="noStrike">
                          <a:solidFill>
                            <a:srgbClr val="000000"/>
                          </a:solidFill>
                          <a:effectLst/>
                          <a:latin typeface="Arial" panose="020B0604020202020204" pitchFamily="34" charset="0"/>
                        </a:rPr>
                        <a:t>Month 1</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2CC"/>
                    </a:solidFill>
                  </a:tcPr>
                </a:tc>
                <a:tc>
                  <a:txBody>
                    <a:bodyPr/>
                    <a:lstStyle/>
                    <a:p>
                      <a:pPr algn="ctr" fontAlgn="ctr"/>
                      <a:r>
                        <a:rPr lang="en-MY" sz="1000" b="0" i="0" u="none" strike="noStrike">
                          <a:solidFill>
                            <a:srgbClr val="000000"/>
                          </a:solidFill>
                          <a:effectLst/>
                          <a:latin typeface="Arial" panose="020B0604020202020204" pitchFamily="34" charset="0"/>
                        </a:rPr>
                        <a:t>Month 1</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2CC"/>
                    </a:solidFill>
                  </a:tcPr>
                </a:tc>
                <a:tc>
                  <a:txBody>
                    <a:bodyPr/>
                    <a:lstStyle/>
                    <a:p>
                      <a:pPr algn="ctr" fontAlgn="ctr"/>
                      <a:r>
                        <a:rPr lang="en-MY" sz="1000" b="1" i="0" u="none" strike="noStrike">
                          <a:solidFill>
                            <a:srgbClr val="833C00"/>
                          </a:solidFill>
                          <a:effectLst/>
                          <a:latin typeface="Arial" panose="020B0604020202020204" pitchFamily="34" charset="0"/>
                        </a:rPr>
                        <a:t>Yes</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CE4D6"/>
                    </a:solidFill>
                  </a:tcPr>
                </a:tc>
                <a:extLst>
                  <a:ext uri="{0D108BD9-81ED-4DB2-BD59-A6C34878D82A}">
                    <a16:rowId xmlns:a16="http://schemas.microsoft.com/office/drawing/2014/main" val="169109615"/>
                  </a:ext>
                </a:extLst>
              </a:tr>
              <a:tr h="396743">
                <a:tc>
                  <a:txBody>
                    <a:bodyPr/>
                    <a:lstStyle/>
                    <a:p>
                      <a:pPr algn="ctr" fontAlgn="ctr"/>
                      <a:r>
                        <a:rPr lang="en-MY" sz="1000" b="0" i="0" u="none" strike="noStrike">
                          <a:solidFill>
                            <a:srgbClr val="000000"/>
                          </a:solidFill>
                          <a:effectLst/>
                          <a:latin typeface="Arial" panose="020B0604020202020204" pitchFamily="34" charset="0"/>
                        </a:rPr>
                        <a:t>1.2.2</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2CC"/>
                    </a:solidFill>
                  </a:tcPr>
                </a:tc>
                <a:tc>
                  <a:txBody>
                    <a:bodyPr/>
                    <a:lstStyle/>
                    <a:p>
                      <a:pPr algn="l" fontAlgn="ctr"/>
                      <a:r>
                        <a:rPr lang="en-US" sz="1000" b="0" i="0" u="none" strike="noStrike">
                          <a:solidFill>
                            <a:srgbClr val="000000"/>
                          </a:solidFill>
                          <a:effectLst/>
                          <a:latin typeface="Arial" panose="020B0604020202020204" pitchFamily="34" charset="0"/>
                        </a:rPr>
                        <a:t>Integrate Core Banking &amp; API Layers</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2CC"/>
                    </a:solidFill>
                  </a:tcPr>
                </a:tc>
                <a:tc>
                  <a:txBody>
                    <a:bodyPr/>
                    <a:lstStyle/>
                    <a:p>
                      <a:pPr algn="ctr" fontAlgn="ctr"/>
                      <a:r>
                        <a:rPr lang="en-MY" sz="1000" b="0" i="0" u="none" strike="noStrike">
                          <a:solidFill>
                            <a:srgbClr val="000000"/>
                          </a:solidFill>
                          <a:effectLst/>
                          <a:latin typeface="Arial" panose="020B0604020202020204" pitchFamily="34" charset="0"/>
                        </a:rPr>
                        <a:t>Execution</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2CC"/>
                    </a:solidFill>
                  </a:tcPr>
                </a:tc>
                <a:tc>
                  <a:txBody>
                    <a:bodyPr/>
                    <a:lstStyle/>
                    <a:p>
                      <a:pPr algn="ctr" fontAlgn="ctr"/>
                      <a:r>
                        <a:rPr lang="en-MY" sz="1000" b="0" i="0" u="none" strike="noStrike">
                          <a:solidFill>
                            <a:srgbClr val="000000"/>
                          </a:solidFill>
                          <a:effectLst/>
                          <a:latin typeface="Arial" panose="020B0604020202020204" pitchFamily="34" charset="0"/>
                        </a:rPr>
                        <a:t>4 months</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2CC"/>
                    </a:solidFill>
                  </a:tcPr>
                </a:tc>
                <a:tc>
                  <a:txBody>
                    <a:bodyPr/>
                    <a:lstStyle/>
                    <a:p>
                      <a:pPr algn="ctr" fontAlgn="ctr"/>
                      <a:r>
                        <a:rPr lang="en-MY" sz="1000" b="0" i="0" u="none" strike="noStrike">
                          <a:solidFill>
                            <a:srgbClr val="000000"/>
                          </a:solidFill>
                          <a:effectLst/>
                          <a:latin typeface="Arial" panose="020B0604020202020204" pitchFamily="34" charset="0"/>
                        </a:rPr>
                        <a:t>1.2.1</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2CC"/>
                    </a:solidFill>
                  </a:tcPr>
                </a:tc>
                <a:tc>
                  <a:txBody>
                    <a:bodyPr/>
                    <a:lstStyle/>
                    <a:p>
                      <a:pPr algn="ctr" fontAlgn="ctr"/>
                      <a:r>
                        <a:rPr lang="en-MY" sz="1000" b="0" i="0" u="none" strike="noStrike">
                          <a:solidFill>
                            <a:srgbClr val="000000"/>
                          </a:solidFill>
                          <a:effectLst/>
                          <a:latin typeface="Arial" panose="020B0604020202020204" pitchFamily="34" charset="0"/>
                        </a:rPr>
                        <a:t>Month 1</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2CC"/>
                    </a:solidFill>
                  </a:tcPr>
                </a:tc>
                <a:tc>
                  <a:txBody>
                    <a:bodyPr/>
                    <a:lstStyle/>
                    <a:p>
                      <a:pPr algn="ctr" fontAlgn="ctr"/>
                      <a:r>
                        <a:rPr lang="en-MY" sz="1000" b="0" i="0" u="none" strike="noStrike">
                          <a:solidFill>
                            <a:srgbClr val="000000"/>
                          </a:solidFill>
                          <a:effectLst/>
                          <a:latin typeface="Arial" panose="020B0604020202020204" pitchFamily="34" charset="0"/>
                        </a:rPr>
                        <a:t>Month 5</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2CC"/>
                    </a:solidFill>
                  </a:tcPr>
                </a:tc>
                <a:tc>
                  <a:txBody>
                    <a:bodyPr/>
                    <a:lstStyle/>
                    <a:p>
                      <a:pPr algn="ctr" fontAlgn="ctr"/>
                      <a:r>
                        <a:rPr lang="en-MY" sz="1000" b="1" i="0" u="none" strike="noStrike">
                          <a:solidFill>
                            <a:srgbClr val="833C00"/>
                          </a:solidFill>
                          <a:effectLst/>
                          <a:latin typeface="Arial" panose="020B0604020202020204" pitchFamily="34" charset="0"/>
                        </a:rPr>
                        <a:t>Yes</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CE4D6"/>
                    </a:solidFill>
                  </a:tcPr>
                </a:tc>
                <a:extLst>
                  <a:ext uri="{0D108BD9-81ED-4DB2-BD59-A6C34878D82A}">
                    <a16:rowId xmlns:a16="http://schemas.microsoft.com/office/drawing/2014/main" val="403304022"/>
                  </a:ext>
                </a:extLst>
              </a:tr>
              <a:tr h="396743">
                <a:tc>
                  <a:txBody>
                    <a:bodyPr/>
                    <a:lstStyle/>
                    <a:p>
                      <a:pPr algn="ctr" fontAlgn="ctr"/>
                      <a:r>
                        <a:rPr lang="en-MY" sz="1000" b="0" i="0" u="none" strike="noStrike">
                          <a:solidFill>
                            <a:srgbClr val="000000"/>
                          </a:solidFill>
                          <a:effectLst/>
                          <a:latin typeface="Arial" panose="020B0604020202020204" pitchFamily="34" charset="0"/>
                        </a:rPr>
                        <a:t>1.2.3</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2CC"/>
                    </a:solidFill>
                  </a:tcPr>
                </a:tc>
                <a:tc>
                  <a:txBody>
                    <a:bodyPr/>
                    <a:lstStyle/>
                    <a:p>
                      <a:pPr algn="l" fontAlgn="ctr"/>
                      <a:r>
                        <a:rPr lang="en-MY" sz="1000" b="0" i="0" u="none" strike="noStrike">
                          <a:solidFill>
                            <a:srgbClr val="000000"/>
                          </a:solidFill>
                          <a:effectLst/>
                          <a:latin typeface="Arial" panose="020B0604020202020204" pitchFamily="34" charset="0"/>
                        </a:rPr>
                        <a:t>Test Compliance (KYC/AML/PCI-DSS)</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2CC"/>
                    </a:solidFill>
                  </a:tcPr>
                </a:tc>
                <a:tc>
                  <a:txBody>
                    <a:bodyPr/>
                    <a:lstStyle/>
                    <a:p>
                      <a:pPr algn="ctr" fontAlgn="ctr"/>
                      <a:r>
                        <a:rPr lang="en-MY" sz="1000" b="0" i="0" u="none" strike="noStrike">
                          <a:solidFill>
                            <a:srgbClr val="000000"/>
                          </a:solidFill>
                          <a:effectLst/>
                          <a:latin typeface="Arial" panose="020B0604020202020204" pitchFamily="34" charset="0"/>
                        </a:rPr>
                        <a:t>Execution</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2CC"/>
                    </a:solidFill>
                  </a:tcPr>
                </a:tc>
                <a:tc>
                  <a:txBody>
                    <a:bodyPr/>
                    <a:lstStyle/>
                    <a:p>
                      <a:pPr algn="ctr" fontAlgn="ctr"/>
                      <a:r>
                        <a:rPr lang="en-MY" sz="1000" b="0" i="0" u="none" strike="noStrike">
                          <a:solidFill>
                            <a:srgbClr val="000000"/>
                          </a:solidFill>
                          <a:effectLst/>
                          <a:latin typeface="Arial" panose="020B0604020202020204" pitchFamily="34" charset="0"/>
                        </a:rPr>
                        <a:t>2 months</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2CC"/>
                    </a:solidFill>
                  </a:tcPr>
                </a:tc>
                <a:tc>
                  <a:txBody>
                    <a:bodyPr/>
                    <a:lstStyle/>
                    <a:p>
                      <a:pPr algn="ctr" fontAlgn="ctr"/>
                      <a:r>
                        <a:rPr lang="en-MY" sz="1000" b="0" i="0" u="none" strike="noStrike">
                          <a:solidFill>
                            <a:srgbClr val="000000"/>
                          </a:solidFill>
                          <a:effectLst/>
                          <a:latin typeface="Arial" panose="020B0604020202020204" pitchFamily="34" charset="0"/>
                        </a:rPr>
                        <a:t>1.2.2</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2CC"/>
                    </a:solidFill>
                  </a:tcPr>
                </a:tc>
                <a:tc>
                  <a:txBody>
                    <a:bodyPr/>
                    <a:lstStyle/>
                    <a:p>
                      <a:pPr algn="ctr" fontAlgn="ctr"/>
                      <a:r>
                        <a:rPr lang="en-MY" sz="1000" b="0" i="0" u="none" strike="noStrike">
                          <a:solidFill>
                            <a:srgbClr val="000000"/>
                          </a:solidFill>
                          <a:effectLst/>
                          <a:latin typeface="Arial" panose="020B0604020202020204" pitchFamily="34" charset="0"/>
                        </a:rPr>
                        <a:t>Month 5</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2CC"/>
                    </a:solidFill>
                  </a:tcPr>
                </a:tc>
                <a:tc>
                  <a:txBody>
                    <a:bodyPr/>
                    <a:lstStyle/>
                    <a:p>
                      <a:pPr algn="ctr" fontAlgn="ctr"/>
                      <a:r>
                        <a:rPr lang="en-MY" sz="1000" b="0" i="0" u="none" strike="noStrike">
                          <a:solidFill>
                            <a:srgbClr val="000000"/>
                          </a:solidFill>
                          <a:effectLst/>
                          <a:latin typeface="Arial" panose="020B0604020202020204" pitchFamily="34" charset="0"/>
                        </a:rPr>
                        <a:t>Month 6.5</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2CC"/>
                    </a:solidFill>
                  </a:tcPr>
                </a:tc>
                <a:tc>
                  <a:txBody>
                    <a:bodyPr/>
                    <a:lstStyle/>
                    <a:p>
                      <a:pPr algn="ctr" fontAlgn="ctr"/>
                      <a:r>
                        <a:rPr lang="en-MY" sz="1000" b="1" i="0" u="none" strike="noStrike">
                          <a:solidFill>
                            <a:srgbClr val="833C00"/>
                          </a:solidFill>
                          <a:effectLst/>
                          <a:latin typeface="Arial" panose="020B0604020202020204" pitchFamily="34" charset="0"/>
                        </a:rPr>
                        <a:t>Yes</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CE4D6"/>
                    </a:solidFill>
                  </a:tcPr>
                </a:tc>
                <a:extLst>
                  <a:ext uri="{0D108BD9-81ED-4DB2-BD59-A6C34878D82A}">
                    <a16:rowId xmlns:a16="http://schemas.microsoft.com/office/drawing/2014/main" val="1604940122"/>
                  </a:ext>
                </a:extLst>
              </a:tr>
              <a:tr h="396743">
                <a:tc>
                  <a:txBody>
                    <a:bodyPr/>
                    <a:lstStyle/>
                    <a:p>
                      <a:pPr algn="ctr" fontAlgn="ctr"/>
                      <a:r>
                        <a:rPr lang="en-MY" sz="1000" b="0" i="0" u="none" strike="noStrike">
                          <a:solidFill>
                            <a:srgbClr val="000000"/>
                          </a:solidFill>
                          <a:effectLst/>
                          <a:latin typeface="Arial" panose="020B0604020202020204" pitchFamily="34" charset="0"/>
                        </a:rPr>
                        <a:t>1.3.1</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2EFDA"/>
                    </a:solidFill>
                  </a:tcPr>
                </a:tc>
                <a:tc>
                  <a:txBody>
                    <a:bodyPr/>
                    <a:lstStyle/>
                    <a:p>
                      <a:pPr algn="l" fontAlgn="ctr"/>
                      <a:r>
                        <a:rPr lang="en-MY" sz="1000" b="0" i="0" u="none" strike="noStrike">
                          <a:solidFill>
                            <a:srgbClr val="000000"/>
                          </a:solidFill>
                          <a:effectLst/>
                          <a:latin typeface="Arial" panose="020B0604020202020204" pitchFamily="34" charset="0"/>
                        </a:rPr>
                        <a:t>Deploy to Production</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2EFDA"/>
                    </a:solidFill>
                  </a:tcPr>
                </a:tc>
                <a:tc>
                  <a:txBody>
                    <a:bodyPr/>
                    <a:lstStyle/>
                    <a:p>
                      <a:pPr algn="ctr" fontAlgn="ctr"/>
                      <a:r>
                        <a:rPr lang="en-MY" sz="1000" b="0" i="0" u="none" strike="noStrike">
                          <a:solidFill>
                            <a:srgbClr val="000000"/>
                          </a:solidFill>
                          <a:effectLst/>
                          <a:latin typeface="Arial" panose="020B0604020202020204" pitchFamily="34" charset="0"/>
                        </a:rPr>
                        <a:t>Closure</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2EFDA"/>
                    </a:solidFill>
                  </a:tcPr>
                </a:tc>
                <a:tc>
                  <a:txBody>
                    <a:bodyPr/>
                    <a:lstStyle/>
                    <a:p>
                      <a:pPr algn="ctr" fontAlgn="ctr"/>
                      <a:r>
                        <a:rPr lang="en-MY" sz="1000" b="0" i="0" u="none" strike="noStrike">
                          <a:solidFill>
                            <a:srgbClr val="000000"/>
                          </a:solidFill>
                          <a:effectLst/>
                          <a:latin typeface="Arial" panose="020B0604020202020204" pitchFamily="34" charset="0"/>
                        </a:rPr>
                        <a:t>2 weeks</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2EFDA"/>
                    </a:solidFill>
                  </a:tcPr>
                </a:tc>
                <a:tc>
                  <a:txBody>
                    <a:bodyPr/>
                    <a:lstStyle/>
                    <a:p>
                      <a:pPr algn="ctr" fontAlgn="ctr"/>
                      <a:r>
                        <a:rPr lang="en-MY" sz="1000" b="0" i="0" u="none" strike="noStrike">
                          <a:solidFill>
                            <a:srgbClr val="000000"/>
                          </a:solidFill>
                          <a:effectLst/>
                          <a:latin typeface="Arial" panose="020B0604020202020204" pitchFamily="34" charset="0"/>
                        </a:rPr>
                        <a:t>1.2.3</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2EFDA"/>
                    </a:solidFill>
                  </a:tcPr>
                </a:tc>
                <a:tc>
                  <a:txBody>
                    <a:bodyPr/>
                    <a:lstStyle/>
                    <a:p>
                      <a:pPr algn="ctr" fontAlgn="ctr"/>
                      <a:r>
                        <a:rPr lang="en-MY" sz="1000" b="0" i="0" u="none" strike="noStrike">
                          <a:solidFill>
                            <a:srgbClr val="000000"/>
                          </a:solidFill>
                          <a:effectLst/>
                          <a:latin typeface="Arial" panose="020B0604020202020204" pitchFamily="34" charset="0"/>
                        </a:rPr>
                        <a:t>Month 6.5</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2EFDA"/>
                    </a:solidFill>
                  </a:tcPr>
                </a:tc>
                <a:tc>
                  <a:txBody>
                    <a:bodyPr/>
                    <a:lstStyle/>
                    <a:p>
                      <a:pPr algn="ctr" fontAlgn="ctr"/>
                      <a:r>
                        <a:rPr lang="en-MY" sz="1000" b="0" i="0" u="none" strike="noStrike">
                          <a:solidFill>
                            <a:srgbClr val="000000"/>
                          </a:solidFill>
                          <a:effectLst/>
                          <a:latin typeface="Arial" panose="020B0604020202020204" pitchFamily="34" charset="0"/>
                        </a:rPr>
                        <a:t>Month 7</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2EFDA"/>
                    </a:solidFill>
                  </a:tcPr>
                </a:tc>
                <a:tc>
                  <a:txBody>
                    <a:bodyPr/>
                    <a:lstStyle/>
                    <a:p>
                      <a:pPr algn="ctr" fontAlgn="ctr"/>
                      <a:r>
                        <a:rPr lang="en-MY" sz="1000" b="1" i="0" u="none" strike="noStrike">
                          <a:solidFill>
                            <a:srgbClr val="833C00"/>
                          </a:solidFill>
                          <a:effectLst/>
                          <a:latin typeface="Arial" panose="020B0604020202020204" pitchFamily="34" charset="0"/>
                        </a:rPr>
                        <a:t>Yes</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CE4D6"/>
                    </a:solidFill>
                  </a:tcPr>
                </a:tc>
                <a:extLst>
                  <a:ext uri="{0D108BD9-81ED-4DB2-BD59-A6C34878D82A}">
                    <a16:rowId xmlns:a16="http://schemas.microsoft.com/office/drawing/2014/main" val="3194513748"/>
                  </a:ext>
                </a:extLst>
              </a:tr>
              <a:tr h="396743">
                <a:tc>
                  <a:txBody>
                    <a:bodyPr/>
                    <a:lstStyle/>
                    <a:p>
                      <a:pPr algn="ctr" fontAlgn="ctr"/>
                      <a:r>
                        <a:rPr lang="en-MY" sz="1000" b="0" i="0" u="none" strike="noStrike">
                          <a:solidFill>
                            <a:srgbClr val="000000"/>
                          </a:solidFill>
                          <a:effectLst/>
                          <a:latin typeface="Arial" panose="020B0604020202020204" pitchFamily="34" charset="0"/>
                        </a:rPr>
                        <a:t>1.3.2</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2EFDA"/>
                    </a:solidFill>
                  </a:tcPr>
                </a:tc>
                <a:tc>
                  <a:txBody>
                    <a:bodyPr/>
                    <a:lstStyle/>
                    <a:p>
                      <a:pPr algn="l" fontAlgn="ctr"/>
                      <a:r>
                        <a:rPr lang="en-MY" sz="1000" b="0" i="0" u="none" strike="noStrike">
                          <a:solidFill>
                            <a:srgbClr val="000000"/>
                          </a:solidFill>
                          <a:effectLst/>
                          <a:latin typeface="Arial" panose="020B0604020202020204" pitchFamily="34" charset="0"/>
                        </a:rPr>
                        <a:t>Conduct User Training</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2EFDA"/>
                    </a:solidFill>
                  </a:tcPr>
                </a:tc>
                <a:tc>
                  <a:txBody>
                    <a:bodyPr/>
                    <a:lstStyle/>
                    <a:p>
                      <a:pPr algn="ctr" fontAlgn="ctr"/>
                      <a:r>
                        <a:rPr lang="en-MY" sz="1000" b="0" i="0" u="none" strike="noStrike">
                          <a:solidFill>
                            <a:srgbClr val="000000"/>
                          </a:solidFill>
                          <a:effectLst/>
                          <a:latin typeface="Arial" panose="020B0604020202020204" pitchFamily="34" charset="0"/>
                        </a:rPr>
                        <a:t>Closure</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2EFDA"/>
                    </a:solidFill>
                  </a:tcPr>
                </a:tc>
                <a:tc>
                  <a:txBody>
                    <a:bodyPr/>
                    <a:lstStyle/>
                    <a:p>
                      <a:pPr algn="ctr" fontAlgn="ctr"/>
                      <a:r>
                        <a:rPr lang="en-MY" sz="1000" b="0" i="0" u="none" strike="noStrike">
                          <a:solidFill>
                            <a:srgbClr val="000000"/>
                          </a:solidFill>
                          <a:effectLst/>
                          <a:latin typeface="Arial" panose="020B0604020202020204" pitchFamily="34" charset="0"/>
                        </a:rPr>
                        <a:t>3 weeks</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2EFDA"/>
                    </a:solidFill>
                  </a:tcPr>
                </a:tc>
                <a:tc>
                  <a:txBody>
                    <a:bodyPr/>
                    <a:lstStyle/>
                    <a:p>
                      <a:pPr algn="ctr" fontAlgn="ctr"/>
                      <a:r>
                        <a:rPr lang="en-MY" sz="1000" b="0" i="0" u="none" strike="noStrike">
                          <a:solidFill>
                            <a:srgbClr val="000000"/>
                          </a:solidFill>
                          <a:effectLst/>
                          <a:latin typeface="Arial" panose="020B0604020202020204" pitchFamily="34" charset="0"/>
                        </a:rPr>
                        <a:t>1.3.1</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2EFDA"/>
                    </a:solidFill>
                  </a:tcPr>
                </a:tc>
                <a:tc>
                  <a:txBody>
                    <a:bodyPr/>
                    <a:lstStyle/>
                    <a:p>
                      <a:pPr algn="ctr" fontAlgn="ctr"/>
                      <a:r>
                        <a:rPr lang="en-MY" sz="1000" b="0" i="0" u="none" strike="noStrike">
                          <a:solidFill>
                            <a:srgbClr val="000000"/>
                          </a:solidFill>
                          <a:effectLst/>
                          <a:latin typeface="Arial" panose="020B0604020202020204" pitchFamily="34" charset="0"/>
                        </a:rPr>
                        <a:t>Month 7</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2EFDA"/>
                    </a:solidFill>
                  </a:tcPr>
                </a:tc>
                <a:tc>
                  <a:txBody>
                    <a:bodyPr/>
                    <a:lstStyle/>
                    <a:p>
                      <a:pPr algn="ctr" fontAlgn="ctr"/>
                      <a:r>
                        <a:rPr lang="en-MY" sz="1000" b="0" i="0" u="none" strike="noStrike">
                          <a:solidFill>
                            <a:srgbClr val="000000"/>
                          </a:solidFill>
                          <a:effectLst/>
                          <a:latin typeface="Arial" panose="020B0604020202020204" pitchFamily="34" charset="0"/>
                        </a:rPr>
                        <a:t>Month 7.75</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2EFDA"/>
                    </a:solidFill>
                  </a:tcPr>
                </a:tc>
                <a:tc>
                  <a:txBody>
                    <a:bodyPr/>
                    <a:lstStyle/>
                    <a:p>
                      <a:pPr algn="ctr" fontAlgn="ctr"/>
                      <a:r>
                        <a:rPr lang="en-MY" sz="1000" b="0" i="0" u="none" strike="noStrike">
                          <a:solidFill>
                            <a:srgbClr val="000000"/>
                          </a:solidFill>
                          <a:effectLst/>
                          <a:latin typeface="Arial" panose="020B0604020202020204" pitchFamily="34" charset="0"/>
                        </a:rPr>
                        <a:t>No</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2EFDA"/>
                    </a:solidFill>
                  </a:tcPr>
                </a:tc>
                <a:extLst>
                  <a:ext uri="{0D108BD9-81ED-4DB2-BD59-A6C34878D82A}">
                    <a16:rowId xmlns:a16="http://schemas.microsoft.com/office/drawing/2014/main" val="2474513235"/>
                  </a:ext>
                </a:extLst>
              </a:tr>
              <a:tr h="396743">
                <a:tc>
                  <a:txBody>
                    <a:bodyPr/>
                    <a:lstStyle/>
                    <a:p>
                      <a:pPr algn="ctr" fontAlgn="ctr"/>
                      <a:r>
                        <a:rPr lang="en-MY" sz="1000" b="0" i="0" u="none" strike="noStrike">
                          <a:solidFill>
                            <a:srgbClr val="000000"/>
                          </a:solidFill>
                          <a:effectLst/>
                          <a:latin typeface="Arial" panose="020B0604020202020204" pitchFamily="34" charset="0"/>
                        </a:rPr>
                        <a:t>1.3.3</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2EFDA"/>
                    </a:solidFill>
                  </a:tcPr>
                </a:tc>
                <a:tc>
                  <a:txBody>
                    <a:bodyPr/>
                    <a:lstStyle/>
                    <a:p>
                      <a:pPr algn="l" fontAlgn="ctr"/>
                      <a:r>
                        <a:rPr lang="en-MY" sz="1000" b="0" i="0" u="none" strike="noStrike">
                          <a:solidFill>
                            <a:srgbClr val="000000"/>
                          </a:solidFill>
                          <a:effectLst/>
                          <a:latin typeface="Arial" panose="020B0604020202020204" pitchFamily="34" charset="0"/>
                        </a:rPr>
                        <a:t>Perform Handover to Operations</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2EFDA"/>
                    </a:solidFill>
                  </a:tcPr>
                </a:tc>
                <a:tc>
                  <a:txBody>
                    <a:bodyPr/>
                    <a:lstStyle/>
                    <a:p>
                      <a:pPr algn="ctr" fontAlgn="ctr"/>
                      <a:r>
                        <a:rPr lang="en-MY" sz="1000" b="0" i="0" u="none" strike="noStrike">
                          <a:solidFill>
                            <a:srgbClr val="000000"/>
                          </a:solidFill>
                          <a:effectLst/>
                          <a:latin typeface="Arial" panose="020B0604020202020204" pitchFamily="34" charset="0"/>
                        </a:rPr>
                        <a:t>Closure</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2EFDA"/>
                    </a:solidFill>
                  </a:tcPr>
                </a:tc>
                <a:tc>
                  <a:txBody>
                    <a:bodyPr/>
                    <a:lstStyle/>
                    <a:p>
                      <a:pPr algn="ctr" fontAlgn="ctr"/>
                      <a:r>
                        <a:rPr lang="en-MY" sz="1000" b="0" i="0" u="none" strike="noStrike">
                          <a:solidFill>
                            <a:srgbClr val="000000"/>
                          </a:solidFill>
                          <a:effectLst/>
                          <a:latin typeface="Arial" panose="020B0604020202020204" pitchFamily="34" charset="0"/>
                        </a:rPr>
                        <a:t>2 weeks</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2EFDA"/>
                    </a:solidFill>
                  </a:tcPr>
                </a:tc>
                <a:tc>
                  <a:txBody>
                    <a:bodyPr/>
                    <a:lstStyle/>
                    <a:p>
                      <a:pPr algn="ctr" fontAlgn="ctr"/>
                      <a:r>
                        <a:rPr lang="en-MY" sz="1000" b="0" i="0" u="none" strike="noStrike">
                          <a:solidFill>
                            <a:srgbClr val="000000"/>
                          </a:solidFill>
                          <a:effectLst/>
                          <a:latin typeface="Arial" panose="020B0604020202020204" pitchFamily="34" charset="0"/>
                        </a:rPr>
                        <a:t>1.3.1, 1.3.2</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2EFDA"/>
                    </a:solidFill>
                  </a:tcPr>
                </a:tc>
                <a:tc>
                  <a:txBody>
                    <a:bodyPr/>
                    <a:lstStyle/>
                    <a:p>
                      <a:pPr algn="ctr" fontAlgn="ctr"/>
                      <a:r>
                        <a:rPr lang="en-MY" sz="1000" b="0" i="0" u="none" strike="noStrike">
                          <a:solidFill>
                            <a:srgbClr val="000000"/>
                          </a:solidFill>
                          <a:effectLst/>
                          <a:latin typeface="Arial" panose="020B0604020202020204" pitchFamily="34" charset="0"/>
                        </a:rPr>
                        <a:t>Month 7.75</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2EFDA"/>
                    </a:solidFill>
                  </a:tcPr>
                </a:tc>
                <a:tc>
                  <a:txBody>
                    <a:bodyPr/>
                    <a:lstStyle/>
                    <a:p>
                      <a:pPr algn="ctr" fontAlgn="ctr"/>
                      <a:r>
                        <a:rPr lang="en-MY" sz="1000" b="0" i="0" u="none" strike="noStrike">
                          <a:solidFill>
                            <a:srgbClr val="000000"/>
                          </a:solidFill>
                          <a:effectLst/>
                          <a:latin typeface="Arial" panose="020B0604020202020204" pitchFamily="34" charset="0"/>
                        </a:rPr>
                        <a:t>Month 8.5</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2EFDA"/>
                    </a:solidFill>
                  </a:tcPr>
                </a:tc>
                <a:tc>
                  <a:txBody>
                    <a:bodyPr/>
                    <a:lstStyle/>
                    <a:p>
                      <a:pPr algn="ctr" fontAlgn="ctr"/>
                      <a:r>
                        <a:rPr lang="en-MY" sz="1000" b="1" i="0" u="none" strike="noStrike" dirty="0">
                          <a:solidFill>
                            <a:srgbClr val="833C00"/>
                          </a:solidFill>
                          <a:effectLst/>
                          <a:latin typeface="Arial" panose="020B0604020202020204" pitchFamily="34" charset="0"/>
                        </a:rPr>
                        <a:t>Yes</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CE4D6"/>
                    </a:solidFill>
                  </a:tcPr>
                </a:tc>
                <a:extLst>
                  <a:ext uri="{0D108BD9-81ED-4DB2-BD59-A6C34878D82A}">
                    <a16:rowId xmlns:a16="http://schemas.microsoft.com/office/drawing/2014/main" val="2315875879"/>
                  </a:ext>
                </a:extLst>
              </a:tr>
            </a:tbl>
          </a:graphicData>
        </a:graphic>
      </p:graphicFrame>
    </p:spTree>
    <p:extLst>
      <p:ext uri="{BB962C8B-B14F-4D97-AF65-F5344CB8AC3E}">
        <p14:creationId xmlns:p14="http://schemas.microsoft.com/office/powerpoint/2010/main" val="129268342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B80060-D74F-6F0F-9636-61DC4B1AED5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7C72172-AC1F-3AB7-78EE-10BF4008100D}"/>
              </a:ext>
            </a:extLst>
          </p:cNvPr>
          <p:cNvSpPr>
            <a:spLocks noGrp="1"/>
          </p:cNvSpPr>
          <p:nvPr>
            <p:ph type="title"/>
          </p:nvPr>
        </p:nvSpPr>
        <p:spPr>
          <a:xfrm>
            <a:off x="572756" y="133943"/>
            <a:ext cx="9813446" cy="850726"/>
          </a:xfrm>
        </p:spPr>
        <p:txBody>
          <a:bodyPr>
            <a:noAutofit/>
          </a:bodyPr>
          <a:lstStyle/>
          <a:p>
            <a:r>
              <a:rPr lang="en-US" sz="3200" dirty="0"/>
              <a:t>Project Planning and Risk Analysis</a:t>
            </a:r>
          </a:p>
        </p:txBody>
      </p:sp>
      <p:sp>
        <p:nvSpPr>
          <p:cNvPr id="8" name="Content Placeholder 4">
            <a:extLst>
              <a:ext uri="{FF2B5EF4-FFF2-40B4-BE49-F238E27FC236}">
                <a16:creationId xmlns:a16="http://schemas.microsoft.com/office/drawing/2014/main" id="{33B50135-4B3C-1F31-9594-890C0102F91C}"/>
              </a:ext>
            </a:extLst>
          </p:cNvPr>
          <p:cNvSpPr txBox="1">
            <a:spLocks/>
          </p:cNvSpPr>
          <p:nvPr/>
        </p:nvSpPr>
        <p:spPr>
          <a:xfrm>
            <a:off x="573087" y="1216025"/>
            <a:ext cx="10659485" cy="4503738"/>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b="1" dirty="0"/>
              <a:t>SWOT </a:t>
            </a:r>
            <a:r>
              <a:rPr lang="en-US" sz="2400" b="1" dirty="0" smtClean="0"/>
              <a:t>Analysis</a:t>
            </a:r>
            <a:endParaRPr lang="en-US" sz="1800" dirty="0">
              <a:highlight>
                <a:srgbClr val="FFFF00"/>
              </a:highlight>
              <a:cs typeface="Arial"/>
            </a:endParaRPr>
          </a:p>
          <a:p>
            <a:pPr marL="0" indent="0">
              <a:buFont typeface="Arial" panose="020B0604020202020204" pitchFamily="34" charset="0"/>
              <a:buNone/>
            </a:pPr>
            <a:endParaRPr lang="en-US" sz="2400" b="1" dirty="0"/>
          </a:p>
        </p:txBody>
      </p:sp>
      <p:graphicFrame>
        <p:nvGraphicFramePr>
          <p:cNvPr id="3" name="Table 2"/>
          <p:cNvGraphicFramePr>
            <a:graphicFrameLocks noGrp="1"/>
          </p:cNvGraphicFramePr>
          <p:nvPr>
            <p:extLst>
              <p:ext uri="{D42A27DB-BD31-4B8C-83A1-F6EECF244321}">
                <p14:modId xmlns:p14="http://schemas.microsoft.com/office/powerpoint/2010/main" val="2199861136"/>
              </p:ext>
            </p:extLst>
          </p:nvPr>
        </p:nvGraphicFramePr>
        <p:xfrm>
          <a:off x="678424" y="1872774"/>
          <a:ext cx="10638504" cy="4756654"/>
        </p:xfrm>
        <a:graphic>
          <a:graphicData uri="http://schemas.openxmlformats.org/drawingml/2006/table">
            <a:tbl>
              <a:tblPr firstRow="1" firstCol="1" bandRow="1"/>
              <a:tblGrid>
                <a:gridCol w="5319252">
                  <a:extLst>
                    <a:ext uri="{9D8B030D-6E8A-4147-A177-3AD203B41FA5}">
                      <a16:colId xmlns:a16="http://schemas.microsoft.com/office/drawing/2014/main" val="1788482242"/>
                    </a:ext>
                  </a:extLst>
                </a:gridCol>
                <a:gridCol w="5319252">
                  <a:extLst>
                    <a:ext uri="{9D8B030D-6E8A-4147-A177-3AD203B41FA5}">
                      <a16:colId xmlns:a16="http://schemas.microsoft.com/office/drawing/2014/main" val="3327369873"/>
                    </a:ext>
                  </a:extLst>
                </a:gridCol>
              </a:tblGrid>
              <a:tr h="544447">
                <a:tc>
                  <a:txBody>
                    <a:bodyPr/>
                    <a:lstStyle/>
                    <a:p>
                      <a:pPr algn="ctr">
                        <a:spcAft>
                          <a:spcPts val="0"/>
                        </a:spcAft>
                      </a:pPr>
                      <a:r>
                        <a:rPr lang="en-MY" sz="1300" b="1">
                          <a:solidFill>
                            <a:srgbClr val="FFFFFF"/>
                          </a:solidFill>
                          <a:effectLst/>
                          <a:latin typeface="Arial" panose="020B0604020202020204" pitchFamily="34" charset="0"/>
                          <a:ea typeface="Arial" panose="020B0604020202020204" pitchFamily="34" charset="0"/>
                        </a:rPr>
                        <a:t>STRENGTHS</a:t>
                      </a:r>
                      <a:endParaRPr lang="en-MY" sz="1100">
                        <a:effectLst/>
                        <a:latin typeface="Arial" panose="020B0604020202020204" pitchFamily="34" charset="0"/>
                        <a:ea typeface="Arial" panose="020B0604020202020204" pitchFamily="34" charset="0"/>
                      </a:endParaRPr>
                    </a:p>
                  </a:txBody>
                  <a:tcPr marL="95250" marR="95250" marT="63500" marB="6350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7A4C"/>
                    </a:solidFill>
                  </a:tcPr>
                </a:tc>
                <a:tc>
                  <a:txBody>
                    <a:bodyPr/>
                    <a:lstStyle/>
                    <a:p>
                      <a:pPr algn="ctr">
                        <a:spcAft>
                          <a:spcPts val="0"/>
                        </a:spcAft>
                      </a:pPr>
                      <a:r>
                        <a:rPr lang="en-MY" sz="1300" b="1">
                          <a:solidFill>
                            <a:srgbClr val="FFFFFF"/>
                          </a:solidFill>
                          <a:effectLst/>
                          <a:latin typeface="Arial" panose="020B0604020202020204" pitchFamily="34" charset="0"/>
                          <a:ea typeface="Arial" panose="020B0604020202020204" pitchFamily="34" charset="0"/>
                        </a:rPr>
                        <a:t>WEAKNESSES</a:t>
                      </a:r>
                      <a:endParaRPr lang="en-MY" sz="1100">
                        <a:effectLst/>
                        <a:latin typeface="Arial" panose="020B0604020202020204" pitchFamily="34" charset="0"/>
                        <a:ea typeface="Arial" panose="020B0604020202020204" pitchFamily="34" charset="0"/>
                      </a:endParaRPr>
                    </a:p>
                  </a:txBody>
                  <a:tcPr marL="95250" marR="95250" marT="63500" marB="6350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C0392B"/>
                    </a:solidFill>
                  </a:tcPr>
                </a:tc>
                <a:extLst>
                  <a:ext uri="{0D108BD9-81ED-4DB2-BD59-A6C34878D82A}">
                    <a16:rowId xmlns:a16="http://schemas.microsoft.com/office/drawing/2014/main" val="3620647891"/>
                  </a:ext>
                </a:extLst>
              </a:tr>
              <a:tr h="1616327">
                <a:tc>
                  <a:txBody>
                    <a:bodyPr/>
                    <a:lstStyle/>
                    <a:p>
                      <a:pPr>
                        <a:spcAft>
                          <a:spcPts val="0"/>
                        </a:spcAft>
                      </a:pPr>
                      <a:r>
                        <a:rPr lang="en-MY" sz="1400" dirty="0">
                          <a:effectLst/>
                          <a:latin typeface="Arial" panose="020B0604020202020204" pitchFamily="34" charset="0"/>
                          <a:ea typeface="Arial" panose="020B0604020202020204" pitchFamily="34" charset="0"/>
                        </a:rPr>
                        <a:t>• Experienced DevOps team with CI/CD expertise</a:t>
                      </a:r>
                    </a:p>
                    <a:p>
                      <a:pPr>
                        <a:spcAft>
                          <a:spcPts val="0"/>
                        </a:spcAft>
                      </a:pPr>
                      <a:r>
                        <a:rPr lang="en-MY" sz="1400" dirty="0">
                          <a:effectLst/>
                          <a:latin typeface="Arial" panose="020B0604020202020204" pitchFamily="34" charset="0"/>
                          <a:ea typeface="Arial" panose="020B0604020202020204" pitchFamily="34" charset="0"/>
                        </a:rPr>
                        <a:t>• Strong CTO/CIO sponsorship ensuring executive alignment</a:t>
                      </a:r>
                    </a:p>
                    <a:p>
                      <a:pPr>
                        <a:spcAft>
                          <a:spcPts val="0"/>
                        </a:spcAft>
                      </a:pPr>
                      <a:r>
                        <a:rPr lang="en-MY" sz="1400" dirty="0">
                          <a:effectLst/>
                          <a:latin typeface="Arial" panose="020B0604020202020204" pitchFamily="34" charset="0"/>
                          <a:ea typeface="Arial" panose="020B0604020202020204" pitchFamily="34" charset="0"/>
                        </a:rPr>
                        <a:t>• Secured cloud partnerships with established vendors (AWS/Azure/GCP)</a:t>
                      </a:r>
                    </a:p>
                    <a:p>
                      <a:pPr>
                        <a:spcAft>
                          <a:spcPts val="0"/>
                        </a:spcAft>
                      </a:pPr>
                      <a:r>
                        <a:rPr lang="en-MY" sz="1400" dirty="0">
                          <a:effectLst/>
                          <a:latin typeface="Arial" panose="020B0604020202020204" pitchFamily="34" charset="0"/>
                          <a:ea typeface="Arial" panose="020B0604020202020204" pitchFamily="34" charset="0"/>
                        </a:rPr>
                        <a:t>• Existing regulatory compliance knowledge within the CCO team</a:t>
                      </a:r>
                    </a:p>
                    <a:p>
                      <a:pPr>
                        <a:spcAft>
                          <a:spcPts val="0"/>
                        </a:spcAft>
                      </a:pPr>
                      <a:r>
                        <a:rPr lang="en-MY" sz="1400" dirty="0">
                          <a:effectLst/>
                          <a:latin typeface="Arial" panose="020B0604020202020204" pitchFamily="34" charset="0"/>
                          <a:ea typeface="Arial" panose="020B0604020202020204" pitchFamily="34" charset="0"/>
                        </a:rPr>
                        <a:t>• Active stakeholder engagement across all business units</a:t>
                      </a:r>
                    </a:p>
                  </a:txBody>
                  <a:tcPr marL="95250" marR="95250" marT="63500" marB="6350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AF7EF"/>
                    </a:solidFill>
                  </a:tcPr>
                </a:tc>
                <a:tc>
                  <a:txBody>
                    <a:bodyPr/>
                    <a:lstStyle/>
                    <a:p>
                      <a:pPr>
                        <a:spcAft>
                          <a:spcPts val="0"/>
                        </a:spcAft>
                      </a:pPr>
                      <a:r>
                        <a:rPr lang="en-MY" sz="1400" dirty="0">
                          <a:effectLst/>
                          <a:latin typeface="Arial" panose="020B0604020202020204" pitchFamily="34" charset="0"/>
                          <a:ea typeface="Arial" panose="020B0604020202020204" pitchFamily="34" charset="0"/>
                        </a:rPr>
                        <a:t>• Legacy system integration risk with </a:t>
                      </a:r>
                      <a:r>
                        <a:rPr lang="en-MY" sz="1400" dirty="0" err="1">
                          <a:effectLst/>
                          <a:latin typeface="Arial" panose="020B0604020202020204" pitchFamily="34" charset="0"/>
                          <a:ea typeface="Arial" panose="020B0604020202020204" pitchFamily="34" charset="0"/>
                        </a:rPr>
                        <a:t>siloed</a:t>
                      </a:r>
                      <a:r>
                        <a:rPr lang="en-MY" sz="1400" dirty="0">
                          <a:effectLst/>
                          <a:latin typeface="Arial" panose="020B0604020202020204" pitchFamily="34" charset="0"/>
                          <a:ea typeface="Arial" panose="020B0604020202020204" pitchFamily="34" charset="0"/>
                        </a:rPr>
                        <a:t> databases</a:t>
                      </a:r>
                    </a:p>
                    <a:p>
                      <a:pPr>
                        <a:spcAft>
                          <a:spcPts val="0"/>
                        </a:spcAft>
                      </a:pPr>
                      <a:r>
                        <a:rPr lang="en-MY" sz="1400" dirty="0">
                          <a:effectLst/>
                          <a:latin typeface="Arial" panose="020B0604020202020204" pitchFamily="34" charset="0"/>
                          <a:ea typeface="Arial" panose="020B0604020202020204" pitchFamily="34" charset="0"/>
                        </a:rPr>
                        <a:t>• Skill silos across teams — limited cross-functional cloud expertise</a:t>
                      </a:r>
                    </a:p>
                    <a:p>
                      <a:pPr>
                        <a:spcAft>
                          <a:spcPts val="0"/>
                        </a:spcAft>
                      </a:pPr>
                      <a:r>
                        <a:rPr lang="en-MY" sz="1400" dirty="0">
                          <a:effectLst/>
                          <a:latin typeface="Arial" panose="020B0604020202020204" pitchFamily="34" charset="0"/>
                          <a:ea typeface="Arial" panose="020B0604020202020204" pitchFamily="34" charset="0"/>
                        </a:rPr>
                        <a:t>• Compliance complexity across KYC, AML, PCI-DSS, and GDPR simultaneously</a:t>
                      </a:r>
                    </a:p>
                    <a:p>
                      <a:pPr>
                        <a:spcAft>
                          <a:spcPts val="0"/>
                        </a:spcAft>
                      </a:pPr>
                      <a:r>
                        <a:rPr lang="en-MY" sz="1400" dirty="0">
                          <a:effectLst/>
                          <a:latin typeface="Arial" panose="020B0604020202020204" pitchFamily="34" charset="0"/>
                          <a:ea typeface="Arial" panose="020B0604020202020204" pitchFamily="34" charset="0"/>
                        </a:rPr>
                        <a:t>• Batch-processing architecture causing real-time data gaps</a:t>
                      </a:r>
                    </a:p>
                    <a:p>
                      <a:pPr>
                        <a:spcAft>
                          <a:spcPts val="0"/>
                        </a:spcAft>
                      </a:pPr>
                      <a:r>
                        <a:rPr lang="en-MY" sz="1400" dirty="0">
                          <a:effectLst/>
                          <a:latin typeface="Arial" panose="020B0604020202020204" pitchFamily="34" charset="0"/>
                          <a:ea typeface="Arial" panose="020B0604020202020204" pitchFamily="34" charset="0"/>
                        </a:rPr>
                        <a:t>• Potential resource constraints during peak business periods</a:t>
                      </a:r>
                    </a:p>
                  </a:txBody>
                  <a:tcPr marL="95250" marR="95250" marT="63500" marB="6350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DEDEC"/>
                    </a:solidFill>
                  </a:tcPr>
                </a:tc>
                <a:extLst>
                  <a:ext uri="{0D108BD9-81ED-4DB2-BD59-A6C34878D82A}">
                    <a16:rowId xmlns:a16="http://schemas.microsoft.com/office/drawing/2014/main" val="1578881397"/>
                  </a:ext>
                </a:extLst>
              </a:tr>
              <a:tr h="544447">
                <a:tc>
                  <a:txBody>
                    <a:bodyPr/>
                    <a:lstStyle/>
                    <a:p>
                      <a:pPr algn="ctr">
                        <a:spcAft>
                          <a:spcPts val="0"/>
                        </a:spcAft>
                      </a:pPr>
                      <a:r>
                        <a:rPr lang="en-MY" sz="1300" b="1">
                          <a:solidFill>
                            <a:srgbClr val="FFFFFF"/>
                          </a:solidFill>
                          <a:effectLst/>
                          <a:latin typeface="Arial" panose="020B0604020202020204" pitchFamily="34" charset="0"/>
                          <a:ea typeface="Arial" panose="020B0604020202020204" pitchFamily="34" charset="0"/>
                        </a:rPr>
                        <a:t>OPPORTUNITIES</a:t>
                      </a:r>
                      <a:endParaRPr lang="en-MY" sz="1100">
                        <a:effectLst/>
                        <a:latin typeface="Arial" panose="020B0604020202020204" pitchFamily="34" charset="0"/>
                        <a:ea typeface="Arial" panose="020B0604020202020204" pitchFamily="34" charset="0"/>
                      </a:endParaRPr>
                    </a:p>
                  </a:txBody>
                  <a:tcPr marL="95250" marR="95250" marT="63500" marB="6350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5276"/>
                    </a:solidFill>
                  </a:tcPr>
                </a:tc>
                <a:tc>
                  <a:txBody>
                    <a:bodyPr/>
                    <a:lstStyle/>
                    <a:p>
                      <a:pPr algn="ctr">
                        <a:spcAft>
                          <a:spcPts val="0"/>
                        </a:spcAft>
                      </a:pPr>
                      <a:r>
                        <a:rPr lang="en-MY" sz="1300" b="1" dirty="0">
                          <a:solidFill>
                            <a:srgbClr val="FFFFFF"/>
                          </a:solidFill>
                          <a:effectLst/>
                          <a:latin typeface="Arial" panose="020B0604020202020204" pitchFamily="34" charset="0"/>
                          <a:ea typeface="Arial" panose="020B0604020202020204" pitchFamily="34" charset="0"/>
                        </a:rPr>
                        <a:t>THREATS</a:t>
                      </a:r>
                      <a:endParaRPr lang="en-MY" sz="1100" dirty="0">
                        <a:effectLst/>
                        <a:latin typeface="Arial" panose="020B0604020202020204" pitchFamily="34" charset="0"/>
                        <a:ea typeface="Arial" panose="020B0604020202020204" pitchFamily="34" charset="0"/>
                      </a:endParaRPr>
                    </a:p>
                  </a:txBody>
                  <a:tcPr marL="95250" marR="95250" marT="63500" marB="6350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784212"/>
                    </a:solidFill>
                  </a:tcPr>
                </a:tc>
                <a:extLst>
                  <a:ext uri="{0D108BD9-81ED-4DB2-BD59-A6C34878D82A}">
                    <a16:rowId xmlns:a16="http://schemas.microsoft.com/office/drawing/2014/main" val="1008415594"/>
                  </a:ext>
                </a:extLst>
              </a:tr>
              <a:tr h="1616327">
                <a:tc>
                  <a:txBody>
                    <a:bodyPr/>
                    <a:lstStyle/>
                    <a:p>
                      <a:pPr>
                        <a:spcAft>
                          <a:spcPts val="0"/>
                        </a:spcAft>
                      </a:pPr>
                      <a:r>
                        <a:rPr lang="en-MY" sz="1400" dirty="0">
                          <a:effectLst/>
                          <a:latin typeface="Arial" panose="020B0604020202020204" pitchFamily="34" charset="0"/>
                          <a:ea typeface="Arial" panose="020B0604020202020204" pitchFamily="34" charset="0"/>
                        </a:rPr>
                        <a:t>• Real-time banking capabilities to improve customer experience and NPS</a:t>
                      </a:r>
                    </a:p>
                    <a:p>
                      <a:pPr>
                        <a:spcAft>
                          <a:spcPts val="0"/>
                        </a:spcAft>
                      </a:pPr>
                      <a:r>
                        <a:rPr lang="en-MY" sz="1400" dirty="0">
                          <a:effectLst/>
                          <a:latin typeface="Arial" panose="020B0604020202020204" pitchFamily="34" charset="0"/>
                          <a:ea typeface="Arial" panose="020B0604020202020204" pitchFamily="34" charset="0"/>
                        </a:rPr>
                        <a:t>• Advanced fraud detection using AI/ML to reduce fraud losses</a:t>
                      </a:r>
                    </a:p>
                    <a:p>
                      <a:pPr>
                        <a:spcAft>
                          <a:spcPts val="0"/>
                        </a:spcAft>
                      </a:pPr>
                      <a:r>
                        <a:rPr lang="en-MY" sz="1400" dirty="0">
                          <a:effectLst/>
                          <a:latin typeface="Arial" panose="020B0604020202020204" pitchFamily="34" charset="0"/>
                          <a:ea typeface="Arial" panose="020B0604020202020204" pitchFamily="34" charset="0"/>
                        </a:rPr>
                        <a:t>• Regulatory technology (</a:t>
                      </a:r>
                      <a:r>
                        <a:rPr lang="en-MY" sz="1400" dirty="0" err="1">
                          <a:effectLst/>
                          <a:latin typeface="Arial" panose="020B0604020202020204" pitchFamily="34" charset="0"/>
                          <a:ea typeface="Arial" panose="020B0604020202020204" pitchFamily="34" charset="0"/>
                        </a:rPr>
                        <a:t>regtech</a:t>
                      </a:r>
                      <a:r>
                        <a:rPr lang="en-MY" sz="1400" dirty="0">
                          <a:effectLst/>
                          <a:latin typeface="Arial" panose="020B0604020202020204" pitchFamily="34" charset="0"/>
                          <a:ea typeface="Arial" panose="020B0604020202020204" pitchFamily="34" charset="0"/>
                        </a:rPr>
                        <a:t>) adoption to streamline compliance reporting</a:t>
                      </a:r>
                    </a:p>
                    <a:p>
                      <a:pPr>
                        <a:spcAft>
                          <a:spcPts val="0"/>
                        </a:spcAft>
                      </a:pPr>
                      <a:r>
                        <a:rPr lang="en-MY" sz="1400" dirty="0">
                          <a:effectLst/>
                          <a:latin typeface="Arial" panose="020B0604020202020204" pitchFamily="34" charset="0"/>
                          <a:ea typeface="Arial" panose="020B0604020202020204" pitchFamily="34" charset="0"/>
                        </a:rPr>
                        <a:t>• Competitive differentiation through faster </a:t>
                      </a:r>
                      <a:r>
                        <a:rPr lang="en-MY" sz="1400" dirty="0" err="1">
                          <a:effectLst/>
                          <a:latin typeface="Arial" panose="020B0604020202020204" pitchFamily="34" charset="0"/>
                          <a:ea typeface="Arial" panose="020B0604020202020204" pitchFamily="34" charset="0"/>
                        </a:rPr>
                        <a:t>onboarding</a:t>
                      </a:r>
                      <a:r>
                        <a:rPr lang="en-MY" sz="1400" dirty="0">
                          <a:effectLst/>
                          <a:latin typeface="Arial" panose="020B0604020202020204" pitchFamily="34" charset="0"/>
                          <a:ea typeface="Arial" panose="020B0604020202020204" pitchFamily="34" charset="0"/>
                        </a:rPr>
                        <a:t> and loan processing</a:t>
                      </a:r>
                    </a:p>
                    <a:p>
                      <a:pPr>
                        <a:spcAft>
                          <a:spcPts val="0"/>
                        </a:spcAft>
                      </a:pPr>
                      <a:r>
                        <a:rPr lang="en-MY" sz="1400" dirty="0">
                          <a:effectLst/>
                          <a:latin typeface="Arial" panose="020B0604020202020204" pitchFamily="34" charset="0"/>
                          <a:ea typeface="Arial" panose="020B0604020202020204" pitchFamily="34" charset="0"/>
                        </a:rPr>
                        <a:t>• Data-driven decision-making via centralized analytics dashboards</a:t>
                      </a:r>
                    </a:p>
                  </a:txBody>
                  <a:tcPr marL="95250" marR="95250" marT="63500" marB="6350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BF5FB"/>
                    </a:solidFill>
                  </a:tcPr>
                </a:tc>
                <a:tc>
                  <a:txBody>
                    <a:bodyPr/>
                    <a:lstStyle/>
                    <a:p>
                      <a:pPr>
                        <a:spcAft>
                          <a:spcPts val="0"/>
                        </a:spcAft>
                      </a:pPr>
                      <a:r>
                        <a:rPr lang="en-MY" sz="1400" dirty="0">
                          <a:effectLst/>
                          <a:latin typeface="Arial" panose="020B0604020202020204" pitchFamily="34" charset="0"/>
                          <a:ea typeface="Arial" panose="020B0604020202020204" pitchFamily="34" charset="0"/>
                        </a:rPr>
                        <a:t>• Third-party API dependencies creating SLA and integration risks</a:t>
                      </a:r>
                    </a:p>
                    <a:p>
                      <a:pPr>
                        <a:spcAft>
                          <a:spcPts val="0"/>
                        </a:spcAft>
                      </a:pPr>
                      <a:r>
                        <a:rPr lang="en-MY" sz="1400" dirty="0">
                          <a:effectLst/>
                          <a:latin typeface="Arial" panose="020B0604020202020204" pitchFamily="34" charset="0"/>
                          <a:ea typeface="Arial" panose="020B0604020202020204" pitchFamily="34" charset="0"/>
                        </a:rPr>
                        <a:t>• Fintech competition offering faster digital banking alternatives</a:t>
                      </a:r>
                    </a:p>
                    <a:p>
                      <a:pPr>
                        <a:spcAft>
                          <a:spcPts val="0"/>
                        </a:spcAft>
                      </a:pPr>
                      <a:r>
                        <a:rPr lang="en-MY" sz="1400" dirty="0">
                          <a:effectLst/>
                          <a:latin typeface="Arial" panose="020B0604020202020204" pitchFamily="34" charset="0"/>
                          <a:ea typeface="Arial" panose="020B0604020202020204" pitchFamily="34" charset="0"/>
                        </a:rPr>
                        <a:t>• Audit </a:t>
                      </a:r>
                      <a:r>
                        <a:rPr lang="en-MY" sz="1400" dirty="0" err="1">
                          <a:effectLst/>
                          <a:latin typeface="Arial" panose="020B0604020202020204" pitchFamily="34" charset="0"/>
                          <a:ea typeface="Arial" panose="020B0604020202020204" pitchFamily="34" charset="0"/>
                        </a:rPr>
                        <a:t>nonconformance</a:t>
                      </a:r>
                      <a:r>
                        <a:rPr lang="en-MY" sz="1400" dirty="0">
                          <a:effectLst/>
                          <a:latin typeface="Arial" panose="020B0604020202020204" pitchFamily="34" charset="0"/>
                          <a:ea typeface="Arial" panose="020B0604020202020204" pitchFamily="34" charset="0"/>
                        </a:rPr>
                        <a:t> risk during active system transition phases</a:t>
                      </a:r>
                    </a:p>
                    <a:p>
                      <a:pPr>
                        <a:spcAft>
                          <a:spcPts val="0"/>
                        </a:spcAft>
                      </a:pPr>
                      <a:r>
                        <a:rPr lang="en-MY" sz="1400" dirty="0">
                          <a:effectLst/>
                          <a:latin typeface="Arial" panose="020B0604020202020204" pitchFamily="34" charset="0"/>
                          <a:ea typeface="Arial" panose="020B0604020202020204" pitchFamily="34" charset="0"/>
                        </a:rPr>
                        <a:t>• Cybersecurity threats during cloud migration windows</a:t>
                      </a:r>
                    </a:p>
                    <a:p>
                      <a:pPr>
                        <a:spcAft>
                          <a:spcPts val="0"/>
                        </a:spcAft>
                      </a:pPr>
                      <a:r>
                        <a:rPr lang="en-MY" sz="1400" dirty="0">
                          <a:effectLst/>
                          <a:latin typeface="Arial" panose="020B0604020202020204" pitchFamily="34" charset="0"/>
                          <a:ea typeface="Arial" panose="020B0604020202020204" pitchFamily="34" charset="0"/>
                        </a:rPr>
                        <a:t>• Regulatory mandate changes that could invalidate compliance designs</a:t>
                      </a:r>
                    </a:p>
                  </a:txBody>
                  <a:tcPr marL="95250" marR="95250" marT="63500" marB="6350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EF9E7"/>
                    </a:solidFill>
                  </a:tcPr>
                </a:tc>
                <a:extLst>
                  <a:ext uri="{0D108BD9-81ED-4DB2-BD59-A6C34878D82A}">
                    <a16:rowId xmlns:a16="http://schemas.microsoft.com/office/drawing/2014/main" val="651219317"/>
                  </a:ext>
                </a:extLst>
              </a:tr>
            </a:tbl>
          </a:graphicData>
        </a:graphic>
      </p:graphicFrame>
    </p:spTree>
    <p:extLst>
      <p:ext uri="{BB962C8B-B14F-4D97-AF65-F5344CB8AC3E}">
        <p14:creationId xmlns:p14="http://schemas.microsoft.com/office/powerpoint/2010/main" val="83450757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F39B8-7AB2-EB91-4E48-1A7499F585B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01CAF43-CF6B-6F56-6FBD-F59F16C982A4}"/>
              </a:ext>
            </a:extLst>
          </p:cNvPr>
          <p:cNvSpPr>
            <a:spLocks noGrp="1"/>
          </p:cNvSpPr>
          <p:nvPr>
            <p:ph type="title"/>
          </p:nvPr>
        </p:nvSpPr>
        <p:spPr>
          <a:xfrm>
            <a:off x="572756" y="133943"/>
            <a:ext cx="9813446" cy="850726"/>
          </a:xfrm>
        </p:spPr>
        <p:txBody>
          <a:bodyPr>
            <a:noAutofit/>
          </a:bodyPr>
          <a:lstStyle/>
          <a:p>
            <a:r>
              <a:rPr lang="en-US" sz="3200" dirty="0"/>
              <a:t>Project Planning and Risk Analysis</a:t>
            </a:r>
          </a:p>
        </p:txBody>
      </p:sp>
      <p:sp>
        <p:nvSpPr>
          <p:cNvPr id="8" name="Content Placeholder 4">
            <a:extLst>
              <a:ext uri="{FF2B5EF4-FFF2-40B4-BE49-F238E27FC236}">
                <a16:creationId xmlns:a16="http://schemas.microsoft.com/office/drawing/2014/main" id="{60CB1FF5-FBC0-D6B7-0DAA-BD6FE1419F58}"/>
              </a:ext>
            </a:extLst>
          </p:cNvPr>
          <p:cNvSpPr txBox="1">
            <a:spLocks/>
          </p:cNvSpPr>
          <p:nvPr/>
        </p:nvSpPr>
        <p:spPr>
          <a:xfrm>
            <a:off x="573087" y="1216025"/>
            <a:ext cx="10659485" cy="4503738"/>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b="1" dirty="0"/>
              <a:t>Risk </a:t>
            </a:r>
            <a:r>
              <a:rPr lang="en-US" sz="2400" b="1" dirty="0" smtClean="0"/>
              <a:t>Register</a:t>
            </a:r>
          </a:p>
          <a:p>
            <a:pPr marL="0" indent="0">
              <a:buFont typeface="Arial" panose="020B0604020202020204" pitchFamily="34" charset="0"/>
              <a:buNone/>
            </a:pPr>
            <a:endParaRPr lang="en-US" sz="2400" b="1" dirty="0"/>
          </a:p>
        </p:txBody>
      </p:sp>
      <p:graphicFrame>
        <p:nvGraphicFramePr>
          <p:cNvPr id="3" name="Table 2"/>
          <p:cNvGraphicFramePr>
            <a:graphicFrameLocks noGrp="1"/>
          </p:cNvGraphicFramePr>
          <p:nvPr>
            <p:extLst>
              <p:ext uri="{D42A27DB-BD31-4B8C-83A1-F6EECF244321}">
                <p14:modId xmlns:p14="http://schemas.microsoft.com/office/powerpoint/2010/main" val="4099585711"/>
              </p:ext>
            </p:extLst>
          </p:nvPr>
        </p:nvGraphicFramePr>
        <p:xfrm>
          <a:off x="838199" y="1838632"/>
          <a:ext cx="10515602" cy="4424518"/>
        </p:xfrm>
        <a:graphic>
          <a:graphicData uri="http://schemas.openxmlformats.org/drawingml/2006/table">
            <a:tbl>
              <a:tblPr/>
              <a:tblGrid>
                <a:gridCol w="395919">
                  <a:extLst>
                    <a:ext uri="{9D8B030D-6E8A-4147-A177-3AD203B41FA5}">
                      <a16:colId xmlns:a16="http://schemas.microsoft.com/office/drawing/2014/main" val="4026204422"/>
                    </a:ext>
                  </a:extLst>
                </a:gridCol>
                <a:gridCol w="1045225">
                  <a:extLst>
                    <a:ext uri="{9D8B030D-6E8A-4147-A177-3AD203B41FA5}">
                      <a16:colId xmlns:a16="http://schemas.microsoft.com/office/drawing/2014/main" val="4285267065"/>
                    </a:ext>
                  </a:extLst>
                </a:gridCol>
                <a:gridCol w="570123">
                  <a:extLst>
                    <a:ext uri="{9D8B030D-6E8A-4147-A177-3AD203B41FA5}">
                      <a16:colId xmlns:a16="http://schemas.microsoft.com/office/drawing/2014/main" val="2129571283"/>
                    </a:ext>
                  </a:extLst>
                </a:gridCol>
                <a:gridCol w="1306532">
                  <a:extLst>
                    <a:ext uri="{9D8B030D-6E8A-4147-A177-3AD203B41FA5}">
                      <a16:colId xmlns:a16="http://schemas.microsoft.com/office/drawing/2014/main" val="3176782315"/>
                    </a:ext>
                  </a:extLst>
                </a:gridCol>
                <a:gridCol w="1306532">
                  <a:extLst>
                    <a:ext uri="{9D8B030D-6E8A-4147-A177-3AD203B41FA5}">
                      <a16:colId xmlns:a16="http://schemas.microsoft.com/office/drawing/2014/main" val="302236046"/>
                    </a:ext>
                  </a:extLst>
                </a:gridCol>
                <a:gridCol w="1393634">
                  <a:extLst>
                    <a:ext uri="{9D8B030D-6E8A-4147-A177-3AD203B41FA5}">
                      <a16:colId xmlns:a16="http://schemas.microsoft.com/office/drawing/2014/main" val="222065383"/>
                    </a:ext>
                  </a:extLst>
                </a:gridCol>
                <a:gridCol w="570123">
                  <a:extLst>
                    <a:ext uri="{9D8B030D-6E8A-4147-A177-3AD203B41FA5}">
                      <a16:colId xmlns:a16="http://schemas.microsoft.com/office/drawing/2014/main" val="3684784825"/>
                    </a:ext>
                  </a:extLst>
                </a:gridCol>
                <a:gridCol w="522613">
                  <a:extLst>
                    <a:ext uri="{9D8B030D-6E8A-4147-A177-3AD203B41FA5}">
                      <a16:colId xmlns:a16="http://schemas.microsoft.com/office/drawing/2014/main" val="1005368211"/>
                    </a:ext>
                  </a:extLst>
                </a:gridCol>
                <a:gridCol w="570123">
                  <a:extLst>
                    <a:ext uri="{9D8B030D-6E8A-4147-A177-3AD203B41FA5}">
                      <a16:colId xmlns:a16="http://schemas.microsoft.com/office/drawing/2014/main" val="599190156"/>
                    </a:ext>
                  </a:extLst>
                </a:gridCol>
                <a:gridCol w="1306532">
                  <a:extLst>
                    <a:ext uri="{9D8B030D-6E8A-4147-A177-3AD203B41FA5}">
                      <a16:colId xmlns:a16="http://schemas.microsoft.com/office/drawing/2014/main" val="4268913069"/>
                    </a:ext>
                  </a:extLst>
                </a:gridCol>
                <a:gridCol w="1528246">
                  <a:extLst>
                    <a:ext uri="{9D8B030D-6E8A-4147-A177-3AD203B41FA5}">
                      <a16:colId xmlns:a16="http://schemas.microsoft.com/office/drawing/2014/main" val="1017297954"/>
                    </a:ext>
                  </a:extLst>
                </a:gridCol>
              </a:tblGrid>
              <a:tr h="504058">
                <a:tc>
                  <a:txBody>
                    <a:bodyPr/>
                    <a:lstStyle/>
                    <a:p>
                      <a:pPr algn="ctr" fontAlgn="ctr"/>
                      <a:r>
                        <a:rPr lang="en-MY" sz="800" b="1" i="0" u="none" strike="noStrike" dirty="0">
                          <a:solidFill>
                            <a:srgbClr val="FFFFFF"/>
                          </a:solidFill>
                          <a:effectLst/>
                          <a:latin typeface="Arial" panose="020B0604020202020204" pitchFamily="34" charset="0"/>
                        </a:rPr>
                        <a:t>Risk</a:t>
                      </a:r>
                      <a:br>
                        <a:rPr lang="en-MY" sz="800" b="1" i="0" u="none" strike="noStrike" dirty="0">
                          <a:solidFill>
                            <a:srgbClr val="FFFFFF"/>
                          </a:solidFill>
                          <a:effectLst/>
                          <a:latin typeface="Arial" panose="020B0604020202020204" pitchFamily="34" charset="0"/>
                        </a:rPr>
                      </a:br>
                      <a:r>
                        <a:rPr lang="en-MY" sz="800" b="1" i="0" u="none" strike="noStrike" dirty="0">
                          <a:solidFill>
                            <a:srgbClr val="FFFFFF"/>
                          </a:solidFill>
                          <a:effectLst/>
                          <a:latin typeface="Arial" panose="020B0604020202020204" pitchFamily="34" charset="0"/>
                        </a:rPr>
                        <a:t>ID</a:t>
                      </a:r>
                    </a:p>
                  </a:txBody>
                  <a:tcPr marL="3959" marR="3959" marT="3959"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3864"/>
                    </a:solidFill>
                  </a:tcPr>
                </a:tc>
                <a:tc>
                  <a:txBody>
                    <a:bodyPr/>
                    <a:lstStyle/>
                    <a:p>
                      <a:pPr algn="ctr" fontAlgn="ctr"/>
                      <a:r>
                        <a:rPr lang="en-MY" sz="800" b="1" i="0" u="none" strike="noStrike" dirty="0">
                          <a:solidFill>
                            <a:srgbClr val="FFFFFF"/>
                          </a:solidFill>
                          <a:effectLst/>
                          <a:latin typeface="Arial" panose="020B0604020202020204" pitchFamily="34" charset="0"/>
                        </a:rPr>
                        <a:t>Risk Title</a:t>
                      </a:r>
                    </a:p>
                  </a:txBody>
                  <a:tcPr marL="3959" marR="3959" marT="3959"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3864"/>
                    </a:solidFill>
                  </a:tcPr>
                </a:tc>
                <a:tc>
                  <a:txBody>
                    <a:bodyPr/>
                    <a:lstStyle/>
                    <a:p>
                      <a:pPr algn="ctr" fontAlgn="ctr"/>
                      <a:r>
                        <a:rPr lang="en-MY" sz="800" b="1" i="0" u="none" strike="noStrike" dirty="0">
                          <a:solidFill>
                            <a:srgbClr val="FFFFFF"/>
                          </a:solidFill>
                          <a:effectLst/>
                          <a:latin typeface="Arial" panose="020B0604020202020204" pitchFamily="34" charset="0"/>
                        </a:rPr>
                        <a:t>Category</a:t>
                      </a:r>
                    </a:p>
                  </a:txBody>
                  <a:tcPr marL="3959" marR="3959" marT="3959"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3864"/>
                    </a:solidFill>
                  </a:tcPr>
                </a:tc>
                <a:tc>
                  <a:txBody>
                    <a:bodyPr/>
                    <a:lstStyle/>
                    <a:p>
                      <a:pPr algn="ctr" fontAlgn="ctr"/>
                      <a:r>
                        <a:rPr lang="en-MY" sz="800" b="1" i="0" u="none" strike="noStrike" dirty="0">
                          <a:solidFill>
                            <a:srgbClr val="FFFFFF"/>
                          </a:solidFill>
                          <a:effectLst/>
                          <a:latin typeface="Arial" panose="020B0604020202020204" pitchFamily="34" charset="0"/>
                        </a:rPr>
                        <a:t>Cause</a:t>
                      </a:r>
                    </a:p>
                  </a:txBody>
                  <a:tcPr marL="3959" marR="3959" marT="3959"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3864"/>
                    </a:solidFill>
                  </a:tcPr>
                </a:tc>
                <a:tc>
                  <a:txBody>
                    <a:bodyPr/>
                    <a:lstStyle/>
                    <a:p>
                      <a:pPr algn="ctr" fontAlgn="ctr"/>
                      <a:r>
                        <a:rPr lang="en-MY" sz="800" b="1" i="0" u="none" strike="noStrike">
                          <a:solidFill>
                            <a:srgbClr val="FFFFFF"/>
                          </a:solidFill>
                          <a:effectLst/>
                          <a:latin typeface="Arial" panose="020B0604020202020204" pitchFamily="34" charset="0"/>
                        </a:rPr>
                        <a:t>Event</a:t>
                      </a:r>
                    </a:p>
                  </a:txBody>
                  <a:tcPr marL="3959" marR="3959" marT="3959"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3864"/>
                    </a:solidFill>
                  </a:tcPr>
                </a:tc>
                <a:tc>
                  <a:txBody>
                    <a:bodyPr/>
                    <a:lstStyle/>
                    <a:p>
                      <a:pPr algn="ctr" fontAlgn="ctr"/>
                      <a:r>
                        <a:rPr lang="en-MY" sz="800" b="1" i="0" u="none" strike="noStrike">
                          <a:solidFill>
                            <a:srgbClr val="FFFFFF"/>
                          </a:solidFill>
                          <a:effectLst/>
                          <a:latin typeface="Arial" panose="020B0604020202020204" pitchFamily="34" charset="0"/>
                        </a:rPr>
                        <a:t>Impact Description</a:t>
                      </a:r>
                    </a:p>
                  </a:txBody>
                  <a:tcPr marL="3959" marR="3959" marT="3959"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3864"/>
                    </a:solidFill>
                  </a:tcPr>
                </a:tc>
                <a:tc>
                  <a:txBody>
                    <a:bodyPr/>
                    <a:lstStyle/>
                    <a:p>
                      <a:pPr algn="ctr" fontAlgn="ctr"/>
                      <a:r>
                        <a:rPr lang="en-MY" sz="800" b="1" i="0" u="none" strike="noStrike">
                          <a:solidFill>
                            <a:srgbClr val="FFFFFF"/>
                          </a:solidFill>
                          <a:effectLst/>
                          <a:latin typeface="Arial" panose="020B0604020202020204" pitchFamily="34" charset="0"/>
                        </a:rPr>
                        <a:t>Probability</a:t>
                      </a:r>
                      <a:br>
                        <a:rPr lang="en-MY" sz="800" b="1" i="0" u="none" strike="noStrike">
                          <a:solidFill>
                            <a:srgbClr val="FFFFFF"/>
                          </a:solidFill>
                          <a:effectLst/>
                          <a:latin typeface="Arial" panose="020B0604020202020204" pitchFamily="34" charset="0"/>
                        </a:rPr>
                      </a:br>
                      <a:r>
                        <a:rPr lang="en-MY" sz="800" b="1" i="0" u="none" strike="noStrike">
                          <a:solidFill>
                            <a:srgbClr val="FFFFFF"/>
                          </a:solidFill>
                          <a:effectLst/>
                          <a:latin typeface="Arial" panose="020B0604020202020204" pitchFamily="34" charset="0"/>
                        </a:rPr>
                        <a:t>(1–5)</a:t>
                      </a:r>
                    </a:p>
                  </a:txBody>
                  <a:tcPr marL="3959" marR="3959" marT="3959"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3864"/>
                    </a:solidFill>
                  </a:tcPr>
                </a:tc>
                <a:tc>
                  <a:txBody>
                    <a:bodyPr/>
                    <a:lstStyle/>
                    <a:p>
                      <a:pPr algn="ctr" fontAlgn="ctr"/>
                      <a:r>
                        <a:rPr lang="en-MY" sz="800" b="1" i="0" u="none" strike="noStrike">
                          <a:solidFill>
                            <a:srgbClr val="FFFFFF"/>
                          </a:solidFill>
                          <a:effectLst/>
                          <a:latin typeface="Arial" panose="020B0604020202020204" pitchFamily="34" charset="0"/>
                        </a:rPr>
                        <a:t>Impact</a:t>
                      </a:r>
                      <a:br>
                        <a:rPr lang="en-MY" sz="800" b="1" i="0" u="none" strike="noStrike">
                          <a:solidFill>
                            <a:srgbClr val="FFFFFF"/>
                          </a:solidFill>
                          <a:effectLst/>
                          <a:latin typeface="Arial" panose="020B0604020202020204" pitchFamily="34" charset="0"/>
                        </a:rPr>
                      </a:br>
                      <a:r>
                        <a:rPr lang="en-MY" sz="800" b="1" i="0" u="none" strike="noStrike">
                          <a:solidFill>
                            <a:srgbClr val="FFFFFF"/>
                          </a:solidFill>
                          <a:effectLst/>
                          <a:latin typeface="Arial" panose="020B0604020202020204" pitchFamily="34" charset="0"/>
                        </a:rPr>
                        <a:t>(1–5)</a:t>
                      </a:r>
                    </a:p>
                  </a:txBody>
                  <a:tcPr marL="3959" marR="3959" marT="3959"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3864"/>
                    </a:solidFill>
                  </a:tcPr>
                </a:tc>
                <a:tc>
                  <a:txBody>
                    <a:bodyPr/>
                    <a:lstStyle/>
                    <a:p>
                      <a:pPr algn="ctr" fontAlgn="ctr"/>
                      <a:r>
                        <a:rPr lang="en-MY" sz="800" b="1" i="0" u="none" strike="noStrike">
                          <a:solidFill>
                            <a:srgbClr val="FFFFFF"/>
                          </a:solidFill>
                          <a:effectLst/>
                          <a:latin typeface="Arial" panose="020B0604020202020204" pitchFamily="34" charset="0"/>
                        </a:rPr>
                        <a:t>Risk Score</a:t>
                      </a:r>
                      <a:br>
                        <a:rPr lang="en-MY" sz="800" b="1" i="0" u="none" strike="noStrike">
                          <a:solidFill>
                            <a:srgbClr val="FFFFFF"/>
                          </a:solidFill>
                          <a:effectLst/>
                          <a:latin typeface="Arial" panose="020B0604020202020204" pitchFamily="34" charset="0"/>
                        </a:rPr>
                      </a:br>
                      <a:r>
                        <a:rPr lang="en-MY" sz="800" b="1" i="0" u="none" strike="noStrike">
                          <a:solidFill>
                            <a:srgbClr val="FFFFFF"/>
                          </a:solidFill>
                          <a:effectLst/>
                          <a:latin typeface="Arial" panose="020B0604020202020204" pitchFamily="34" charset="0"/>
                        </a:rPr>
                        <a:t>(P × I)</a:t>
                      </a:r>
                    </a:p>
                  </a:txBody>
                  <a:tcPr marL="3959" marR="3959" marT="3959"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3864"/>
                    </a:solidFill>
                  </a:tcPr>
                </a:tc>
                <a:tc>
                  <a:txBody>
                    <a:bodyPr/>
                    <a:lstStyle/>
                    <a:p>
                      <a:pPr algn="ctr" fontAlgn="ctr"/>
                      <a:r>
                        <a:rPr lang="en-MY" sz="800" b="1" i="0" u="none" strike="noStrike">
                          <a:solidFill>
                            <a:srgbClr val="FFFFFF"/>
                          </a:solidFill>
                          <a:effectLst/>
                          <a:latin typeface="Arial" panose="020B0604020202020204" pitchFamily="34" charset="0"/>
                        </a:rPr>
                        <a:t>Trigger / Early Warning Sign</a:t>
                      </a:r>
                    </a:p>
                  </a:txBody>
                  <a:tcPr marL="3959" marR="3959" marT="3959"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3864"/>
                    </a:solidFill>
                  </a:tcPr>
                </a:tc>
                <a:tc>
                  <a:txBody>
                    <a:bodyPr/>
                    <a:lstStyle/>
                    <a:p>
                      <a:pPr algn="ctr" fontAlgn="ctr"/>
                      <a:r>
                        <a:rPr lang="en-MY" sz="800" b="1" i="0" u="none" strike="noStrike">
                          <a:solidFill>
                            <a:srgbClr val="FFFFFF"/>
                          </a:solidFill>
                          <a:effectLst/>
                          <a:latin typeface="Arial" panose="020B0604020202020204" pitchFamily="34" charset="0"/>
                        </a:rPr>
                        <a:t>Response Strategy</a:t>
                      </a:r>
                    </a:p>
                  </a:txBody>
                  <a:tcPr marL="3959" marR="3959" marT="3959"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3864"/>
                    </a:solidFill>
                  </a:tcPr>
                </a:tc>
                <a:extLst>
                  <a:ext uri="{0D108BD9-81ED-4DB2-BD59-A6C34878D82A}">
                    <a16:rowId xmlns:a16="http://schemas.microsoft.com/office/drawing/2014/main" val="313556196"/>
                  </a:ext>
                </a:extLst>
              </a:tr>
              <a:tr h="980115">
                <a:tc>
                  <a:txBody>
                    <a:bodyPr/>
                    <a:lstStyle/>
                    <a:p>
                      <a:pPr algn="ctr" fontAlgn="t"/>
                      <a:r>
                        <a:rPr lang="en-MY" sz="800" b="0" i="0" u="none" strike="noStrike">
                          <a:solidFill>
                            <a:srgbClr val="000000"/>
                          </a:solidFill>
                          <a:effectLst/>
                          <a:latin typeface="Arial" panose="020B0604020202020204" pitchFamily="34" charset="0"/>
                        </a:rPr>
                        <a:t>R1</a:t>
                      </a:r>
                    </a:p>
                  </a:txBody>
                  <a:tcPr marL="3959" marR="3959" marT="3959" marB="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BD0"/>
                    </a:solidFill>
                  </a:tcPr>
                </a:tc>
                <a:tc>
                  <a:txBody>
                    <a:bodyPr/>
                    <a:lstStyle/>
                    <a:p>
                      <a:pPr algn="l" fontAlgn="t"/>
                      <a:r>
                        <a:rPr lang="en-MY" sz="800" b="0" i="0" u="none" strike="noStrike">
                          <a:solidFill>
                            <a:srgbClr val="000000"/>
                          </a:solidFill>
                          <a:effectLst/>
                          <a:latin typeface="Arial" panose="020B0604020202020204" pitchFamily="34" charset="0"/>
                        </a:rPr>
                        <a:t>KYC API SLA Violation</a:t>
                      </a:r>
                    </a:p>
                  </a:txBody>
                  <a:tcPr marL="3959" marR="3959" marT="3959" marB="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BD0"/>
                    </a:solidFill>
                  </a:tcPr>
                </a:tc>
                <a:tc>
                  <a:txBody>
                    <a:bodyPr/>
                    <a:lstStyle/>
                    <a:p>
                      <a:pPr algn="ctr" fontAlgn="t"/>
                      <a:r>
                        <a:rPr lang="en-MY" sz="800" b="1" i="0" u="none" strike="noStrike">
                          <a:solidFill>
                            <a:srgbClr val="FFFFFF"/>
                          </a:solidFill>
                          <a:effectLst/>
                          <a:latin typeface="Arial" panose="020B0604020202020204" pitchFamily="34" charset="0"/>
                        </a:rPr>
                        <a:t>Threat</a:t>
                      </a:r>
                    </a:p>
                  </a:txBody>
                  <a:tcPr marL="3959" marR="3959" marT="3959" marB="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980B9"/>
                    </a:solidFill>
                  </a:tcPr>
                </a:tc>
                <a:tc>
                  <a:txBody>
                    <a:bodyPr/>
                    <a:lstStyle/>
                    <a:p>
                      <a:pPr algn="l" fontAlgn="t"/>
                      <a:r>
                        <a:rPr lang="en-US" sz="800" b="0" i="0" u="none" strike="noStrike" dirty="0">
                          <a:solidFill>
                            <a:srgbClr val="000000"/>
                          </a:solidFill>
                          <a:effectLst/>
                          <a:latin typeface="Arial" panose="020B0604020202020204" pitchFamily="34" charset="0"/>
                        </a:rPr>
                        <a:t>Third-party provider latency or service downtime</a:t>
                      </a:r>
                    </a:p>
                  </a:txBody>
                  <a:tcPr marL="3959" marR="3959" marT="3959" marB="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BD0"/>
                    </a:solidFill>
                  </a:tcPr>
                </a:tc>
                <a:tc>
                  <a:txBody>
                    <a:bodyPr/>
                    <a:lstStyle/>
                    <a:p>
                      <a:pPr algn="l" fontAlgn="t"/>
                      <a:r>
                        <a:rPr lang="en-US" sz="800" b="0" i="0" u="none" strike="noStrike" dirty="0">
                          <a:solidFill>
                            <a:srgbClr val="000000"/>
                          </a:solidFill>
                          <a:effectLst/>
                          <a:latin typeface="Arial" panose="020B0604020202020204" pitchFamily="34" charset="0"/>
                        </a:rPr>
                        <a:t>Delay in customer onboarding and account activation</a:t>
                      </a:r>
                    </a:p>
                  </a:txBody>
                  <a:tcPr marL="3959" marR="3959" marT="3959" marB="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BD0"/>
                    </a:solidFill>
                  </a:tcPr>
                </a:tc>
                <a:tc>
                  <a:txBody>
                    <a:bodyPr/>
                    <a:lstStyle/>
                    <a:p>
                      <a:pPr algn="l" fontAlgn="t"/>
                      <a:r>
                        <a:rPr lang="en-US" sz="800" b="0" i="0" u="none" strike="noStrike" dirty="0">
                          <a:solidFill>
                            <a:srgbClr val="000000"/>
                          </a:solidFill>
                          <a:effectLst/>
                          <a:latin typeface="Arial" panose="020B0604020202020204" pitchFamily="34" charset="0"/>
                        </a:rPr>
                        <a:t>Compliance risk, reputational damage, customer churn</a:t>
                      </a:r>
                    </a:p>
                  </a:txBody>
                  <a:tcPr marL="3959" marR="3959" marT="3959" marB="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BD0"/>
                    </a:solidFill>
                  </a:tcPr>
                </a:tc>
                <a:tc>
                  <a:txBody>
                    <a:bodyPr/>
                    <a:lstStyle/>
                    <a:p>
                      <a:pPr algn="ctr" fontAlgn="t"/>
                      <a:r>
                        <a:rPr lang="en-MY" sz="800" b="0" i="0" u="none" strike="noStrike" dirty="0">
                          <a:solidFill>
                            <a:srgbClr val="000000"/>
                          </a:solidFill>
                          <a:effectLst/>
                          <a:latin typeface="Arial" panose="020B0604020202020204" pitchFamily="34" charset="0"/>
                        </a:rPr>
                        <a:t>4</a:t>
                      </a:r>
                    </a:p>
                  </a:txBody>
                  <a:tcPr marL="3959" marR="3959" marT="3959" marB="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BD0"/>
                    </a:solidFill>
                  </a:tcPr>
                </a:tc>
                <a:tc>
                  <a:txBody>
                    <a:bodyPr/>
                    <a:lstStyle/>
                    <a:p>
                      <a:pPr algn="ctr" fontAlgn="t"/>
                      <a:r>
                        <a:rPr lang="en-MY" sz="800" b="0" i="0" u="none" strike="noStrike">
                          <a:solidFill>
                            <a:srgbClr val="000000"/>
                          </a:solidFill>
                          <a:effectLst/>
                          <a:latin typeface="Arial" panose="020B0604020202020204" pitchFamily="34" charset="0"/>
                        </a:rPr>
                        <a:t>5</a:t>
                      </a:r>
                    </a:p>
                  </a:txBody>
                  <a:tcPr marL="3959" marR="3959" marT="3959" marB="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BD0"/>
                    </a:solidFill>
                  </a:tcPr>
                </a:tc>
                <a:tc>
                  <a:txBody>
                    <a:bodyPr/>
                    <a:lstStyle/>
                    <a:p>
                      <a:pPr algn="ctr" fontAlgn="t"/>
                      <a:r>
                        <a:rPr lang="en-MY" sz="900" b="1" i="0" u="none" strike="noStrike">
                          <a:solidFill>
                            <a:srgbClr val="FFFFFF"/>
                          </a:solidFill>
                          <a:effectLst/>
                          <a:latin typeface="Arial" panose="020B0604020202020204" pitchFamily="34" charset="0"/>
                        </a:rPr>
                        <a:t>20</a:t>
                      </a:r>
                    </a:p>
                  </a:txBody>
                  <a:tcPr marL="3959" marR="3959" marT="3959" marB="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0392B"/>
                    </a:solidFill>
                  </a:tcPr>
                </a:tc>
                <a:tc>
                  <a:txBody>
                    <a:bodyPr/>
                    <a:lstStyle/>
                    <a:p>
                      <a:pPr algn="l" fontAlgn="t"/>
                      <a:r>
                        <a:rPr lang="en-US" sz="800" b="0" i="0" u="none" strike="noStrike">
                          <a:solidFill>
                            <a:srgbClr val="000000"/>
                          </a:solidFill>
                          <a:effectLst/>
                          <a:latin typeface="Arial" panose="020B0604020202020204" pitchFamily="34" charset="0"/>
                        </a:rPr>
                        <a:t>Missed onboarding logs or delayed provider API response beyond SLA threshold</a:t>
                      </a:r>
                    </a:p>
                  </a:txBody>
                  <a:tcPr marL="3959" marR="3959" marT="3959" marB="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BD0"/>
                    </a:solidFill>
                  </a:tcPr>
                </a:tc>
                <a:tc>
                  <a:txBody>
                    <a:bodyPr/>
                    <a:lstStyle/>
                    <a:p>
                      <a:pPr algn="l" fontAlgn="t"/>
                      <a:r>
                        <a:rPr lang="en-US" sz="800" b="0" i="0" u="none" strike="noStrike">
                          <a:solidFill>
                            <a:srgbClr val="000000"/>
                          </a:solidFill>
                          <a:effectLst/>
                          <a:latin typeface="Arial" panose="020B0604020202020204" pitchFamily="34" charset="0"/>
                        </a:rPr>
                        <a:t>Implement provider SLA monitoring with automated escalation matrix; establish fallback identity verification provider</a:t>
                      </a:r>
                    </a:p>
                  </a:txBody>
                  <a:tcPr marL="3959" marR="3959" marT="3959" marB="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BD0"/>
                    </a:solidFill>
                  </a:tcPr>
                </a:tc>
                <a:extLst>
                  <a:ext uri="{0D108BD9-81ED-4DB2-BD59-A6C34878D82A}">
                    <a16:rowId xmlns:a16="http://schemas.microsoft.com/office/drawing/2014/main" val="3642196017"/>
                  </a:ext>
                </a:extLst>
              </a:tr>
              <a:tr h="980115">
                <a:tc>
                  <a:txBody>
                    <a:bodyPr/>
                    <a:lstStyle/>
                    <a:p>
                      <a:pPr algn="ctr" fontAlgn="t"/>
                      <a:r>
                        <a:rPr lang="en-MY" sz="800" b="0" i="0" u="none" strike="noStrike">
                          <a:solidFill>
                            <a:srgbClr val="000000"/>
                          </a:solidFill>
                          <a:effectLst/>
                          <a:latin typeface="Arial" panose="020B0604020202020204" pitchFamily="34" charset="0"/>
                        </a:rPr>
                        <a:t>R2</a:t>
                      </a:r>
                    </a:p>
                  </a:txBody>
                  <a:tcPr marL="3959" marR="3959" marT="3959" marB="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BD0"/>
                    </a:solidFill>
                  </a:tcPr>
                </a:tc>
                <a:tc>
                  <a:txBody>
                    <a:bodyPr/>
                    <a:lstStyle/>
                    <a:p>
                      <a:pPr algn="l" fontAlgn="t"/>
                      <a:r>
                        <a:rPr lang="en-MY" sz="800" b="0" i="0" u="none" strike="noStrike">
                          <a:solidFill>
                            <a:srgbClr val="000000"/>
                          </a:solidFill>
                          <a:effectLst/>
                          <a:latin typeface="Arial" panose="020B0604020202020204" pitchFamily="34" charset="0"/>
                        </a:rPr>
                        <a:t>Legacy System Integration Failure</a:t>
                      </a:r>
                    </a:p>
                  </a:txBody>
                  <a:tcPr marL="3959" marR="3959" marT="3959" marB="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BD0"/>
                    </a:solidFill>
                  </a:tcPr>
                </a:tc>
                <a:tc>
                  <a:txBody>
                    <a:bodyPr/>
                    <a:lstStyle/>
                    <a:p>
                      <a:pPr algn="ctr" fontAlgn="t"/>
                      <a:r>
                        <a:rPr lang="en-MY" sz="800" b="1" i="0" u="none" strike="noStrike">
                          <a:solidFill>
                            <a:srgbClr val="FFFFFF"/>
                          </a:solidFill>
                          <a:effectLst/>
                          <a:latin typeface="Arial" panose="020B0604020202020204" pitchFamily="34" charset="0"/>
                        </a:rPr>
                        <a:t>Threat</a:t>
                      </a:r>
                    </a:p>
                  </a:txBody>
                  <a:tcPr marL="3959" marR="3959" marT="3959" marB="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980B9"/>
                    </a:solidFill>
                  </a:tcPr>
                </a:tc>
                <a:tc>
                  <a:txBody>
                    <a:bodyPr/>
                    <a:lstStyle/>
                    <a:p>
                      <a:pPr algn="l" fontAlgn="t"/>
                      <a:r>
                        <a:rPr lang="en-US" sz="800" b="0" i="0" u="none" strike="noStrike">
                          <a:solidFill>
                            <a:srgbClr val="000000"/>
                          </a:solidFill>
                          <a:effectLst/>
                          <a:latin typeface="Arial" panose="020B0604020202020204" pitchFamily="34" charset="0"/>
                        </a:rPr>
                        <a:t>Outdated APIs and schema mismatches between legacy and modern systems</a:t>
                      </a:r>
                    </a:p>
                  </a:txBody>
                  <a:tcPr marL="3959" marR="3959" marT="3959" marB="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BD0"/>
                    </a:solidFill>
                  </a:tcPr>
                </a:tc>
                <a:tc>
                  <a:txBody>
                    <a:bodyPr/>
                    <a:lstStyle/>
                    <a:p>
                      <a:pPr algn="l" fontAlgn="t"/>
                      <a:r>
                        <a:rPr lang="en-US" sz="800" b="0" i="0" u="none" strike="noStrike">
                          <a:solidFill>
                            <a:srgbClr val="000000"/>
                          </a:solidFill>
                          <a:effectLst/>
                          <a:latin typeface="Arial" panose="020B0604020202020204" pitchFamily="34" charset="0"/>
                        </a:rPr>
                        <a:t>Transactional errors, data inconsistency, or data loss during migration</a:t>
                      </a:r>
                    </a:p>
                  </a:txBody>
                  <a:tcPr marL="3959" marR="3959" marT="3959" marB="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BD0"/>
                    </a:solidFill>
                  </a:tcPr>
                </a:tc>
                <a:tc>
                  <a:txBody>
                    <a:bodyPr/>
                    <a:lstStyle/>
                    <a:p>
                      <a:pPr algn="l" fontAlgn="t"/>
                      <a:r>
                        <a:rPr lang="en-US" sz="800" b="0" i="0" u="none" strike="noStrike">
                          <a:solidFill>
                            <a:srgbClr val="000000"/>
                          </a:solidFill>
                          <a:effectLst/>
                          <a:latin typeface="Arial" panose="020B0604020202020204" pitchFamily="34" charset="0"/>
                        </a:rPr>
                        <a:t>Project delay, rollback required, additional cost, potential compliance exposure</a:t>
                      </a:r>
                    </a:p>
                  </a:txBody>
                  <a:tcPr marL="3959" marR="3959" marT="3959" marB="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BD0"/>
                    </a:solidFill>
                  </a:tcPr>
                </a:tc>
                <a:tc>
                  <a:txBody>
                    <a:bodyPr/>
                    <a:lstStyle/>
                    <a:p>
                      <a:pPr algn="ctr" fontAlgn="t"/>
                      <a:r>
                        <a:rPr lang="en-MY" sz="800" b="0" i="0" u="none" strike="noStrike" dirty="0">
                          <a:solidFill>
                            <a:srgbClr val="000000"/>
                          </a:solidFill>
                          <a:effectLst/>
                          <a:latin typeface="Arial" panose="020B0604020202020204" pitchFamily="34" charset="0"/>
                        </a:rPr>
                        <a:t>4</a:t>
                      </a:r>
                    </a:p>
                  </a:txBody>
                  <a:tcPr marL="3959" marR="3959" marT="3959" marB="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BD0"/>
                    </a:solidFill>
                  </a:tcPr>
                </a:tc>
                <a:tc>
                  <a:txBody>
                    <a:bodyPr/>
                    <a:lstStyle/>
                    <a:p>
                      <a:pPr algn="ctr" fontAlgn="t"/>
                      <a:r>
                        <a:rPr lang="en-MY" sz="800" b="0" i="0" u="none" strike="noStrike" dirty="0">
                          <a:solidFill>
                            <a:srgbClr val="000000"/>
                          </a:solidFill>
                          <a:effectLst/>
                          <a:latin typeface="Arial" panose="020B0604020202020204" pitchFamily="34" charset="0"/>
                        </a:rPr>
                        <a:t>4</a:t>
                      </a:r>
                    </a:p>
                  </a:txBody>
                  <a:tcPr marL="3959" marR="3959" marT="3959" marB="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BD0"/>
                    </a:solidFill>
                  </a:tcPr>
                </a:tc>
                <a:tc>
                  <a:txBody>
                    <a:bodyPr/>
                    <a:lstStyle/>
                    <a:p>
                      <a:pPr algn="ctr" fontAlgn="t"/>
                      <a:r>
                        <a:rPr lang="en-MY" sz="900" b="1" i="0" u="none" strike="noStrike" dirty="0">
                          <a:solidFill>
                            <a:srgbClr val="FFFFFF"/>
                          </a:solidFill>
                          <a:effectLst/>
                          <a:latin typeface="Arial" panose="020B0604020202020204" pitchFamily="34" charset="0"/>
                        </a:rPr>
                        <a:t>16</a:t>
                      </a:r>
                    </a:p>
                  </a:txBody>
                  <a:tcPr marL="3959" marR="3959" marT="3959" marB="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0392B"/>
                    </a:solidFill>
                  </a:tcPr>
                </a:tc>
                <a:tc>
                  <a:txBody>
                    <a:bodyPr/>
                    <a:lstStyle/>
                    <a:p>
                      <a:pPr algn="l" fontAlgn="t"/>
                      <a:r>
                        <a:rPr lang="en-US" sz="800" b="0" i="0" u="none" strike="noStrike">
                          <a:solidFill>
                            <a:srgbClr val="000000"/>
                          </a:solidFill>
                          <a:effectLst/>
                          <a:latin typeface="Arial" panose="020B0604020202020204" pitchFamily="34" charset="0"/>
                        </a:rPr>
                        <a:t>Failed data validation checks between legacy and modern system environments</a:t>
                      </a:r>
                    </a:p>
                  </a:txBody>
                  <a:tcPr marL="3959" marR="3959" marT="3959" marB="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BD0"/>
                    </a:solidFill>
                  </a:tcPr>
                </a:tc>
                <a:tc>
                  <a:txBody>
                    <a:bodyPr/>
                    <a:lstStyle/>
                    <a:p>
                      <a:pPr algn="l" fontAlgn="t"/>
                      <a:r>
                        <a:rPr lang="en-US" sz="800" b="0" i="0" u="none" strike="noStrike">
                          <a:solidFill>
                            <a:srgbClr val="000000"/>
                          </a:solidFill>
                          <a:effectLst/>
                          <a:latin typeface="Arial" panose="020B0604020202020204" pitchFamily="34" charset="0"/>
                        </a:rPr>
                        <a:t>Conduct sandbox integration tests and version control audits; enforce phased cutover with parallel-run validation</a:t>
                      </a:r>
                    </a:p>
                  </a:txBody>
                  <a:tcPr marL="3959" marR="3959" marT="3959" marB="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BD0"/>
                    </a:solidFill>
                  </a:tcPr>
                </a:tc>
                <a:extLst>
                  <a:ext uri="{0D108BD9-81ED-4DB2-BD59-A6C34878D82A}">
                    <a16:rowId xmlns:a16="http://schemas.microsoft.com/office/drawing/2014/main" val="3220546577"/>
                  </a:ext>
                </a:extLst>
              </a:tr>
              <a:tr h="980115">
                <a:tc>
                  <a:txBody>
                    <a:bodyPr/>
                    <a:lstStyle/>
                    <a:p>
                      <a:pPr algn="ctr" fontAlgn="t"/>
                      <a:r>
                        <a:rPr lang="en-MY" sz="800" b="0" i="0" u="none" strike="noStrike">
                          <a:solidFill>
                            <a:srgbClr val="000000"/>
                          </a:solidFill>
                          <a:effectLst/>
                          <a:latin typeface="Arial" panose="020B0604020202020204" pitchFamily="34" charset="0"/>
                        </a:rPr>
                        <a:t>R3</a:t>
                      </a:r>
                    </a:p>
                  </a:txBody>
                  <a:tcPr marL="3959" marR="3959" marT="3959" marB="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BD0"/>
                    </a:solidFill>
                  </a:tcPr>
                </a:tc>
                <a:tc>
                  <a:txBody>
                    <a:bodyPr/>
                    <a:lstStyle/>
                    <a:p>
                      <a:pPr algn="l" fontAlgn="t"/>
                      <a:r>
                        <a:rPr lang="en-MY" sz="800" b="0" i="0" u="none" strike="noStrike">
                          <a:solidFill>
                            <a:srgbClr val="000000"/>
                          </a:solidFill>
                          <a:effectLst/>
                          <a:latin typeface="Arial" panose="020B0604020202020204" pitchFamily="34" charset="0"/>
                        </a:rPr>
                        <a:t>CI/CD Pipeline Breakdown</a:t>
                      </a:r>
                    </a:p>
                  </a:txBody>
                  <a:tcPr marL="3959" marR="3959" marT="3959" marB="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BD0"/>
                    </a:solidFill>
                  </a:tcPr>
                </a:tc>
                <a:tc>
                  <a:txBody>
                    <a:bodyPr/>
                    <a:lstStyle/>
                    <a:p>
                      <a:pPr algn="ctr" fontAlgn="t"/>
                      <a:r>
                        <a:rPr lang="en-MY" sz="800" b="1" i="0" u="none" strike="noStrike">
                          <a:solidFill>
                            <a:srgbClr val="FFFFFF"/>
                          </a:solidFill>
                          <a:effectLst/>
                          <a:latin typeface="Arial" panose="020B0604020202020204" pitchFamily="34" charset="0"/>
                        </a:rPr>
                        <a:t>Threat</a:t>
                      </a:r>
                    </a:p>
                  </a:txBody>
                  <a:tcPr marL="3959" marR="3959" marT="3959" marB="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980B9"/>
                    </a:solidFill>
                  </a:tcPr>
                </a:tc>
                <a:tc>
                  <a:txBody>
                    <a:bodyPr/>
                    <a:lstStyle/>
                    <a:p>
                      <a:pPr algn="l" fontAlgn="t"/>
                      <a:r>
                        <a:rPr lang="en-US" sz="800" b="0" i="0" u="none" strike="noStrike">
                          <a:solidFill>
                            <a:srgbClr val="000000"/>
                          </a:solidFill>
                          <a:effectLst/>
                          <a:latin typeface="Arial" panose="020B0604020202020204" pitchFamily="34" charset="0"/>
                        </a:rPr>
                        <a:t>Inadequate rollback automation or pipeline misconfiguration</a:t>
                      </a:r>
                    </a:p>
                  </a:txBody>
                  <a:tcPr marL="3959" marR="3959" marT="3959" marB="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BD0"/>
                    </a:solidFill>
                  </a:tcPr>
                </a:tc>
                <a:tc>
                  <a:txBody>
                    <a:bodyPr/>
                    <a:lstStyle/>
                    <a:p>
                      <a:pPr algn="l" fontAlgn="t"/>
                      <a:r>
                        <a:rPr lang="en-US" sz="800" b="0" i="0" u="none" strike="noStrike" dirty="0">
                          <a:solidFill>
                            <a:srgbClr val="000000"/>
                          </a:solidFill>
                          <a:effectLst/>
                          <a:latin typeface="Arial" panose="020B0604020202020204" pitchFamily="34" charset="0"/>
                        </a:rPr>
                        <a:t>Deployment failure causing production outage or failed sprint releases</a:t>
                      </a:r>
                    </a:p>
                  </a:txBody>
                  <a:tcPr marL="3959" marR="3959" marT="3959" marB="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BD0"/>
                    </a:solidFill>
                  </a:tcPr>
                </a:tc>
                <a:tc>
                  <a:txBody>
                    <a:bodyPr/>
                    <a:lstStyle/>
                    <a:p>
                      <a:pPr algn="l" fontAlgn="t"/>
                      <a:r>
                        <a:rPr lang="en-US" sz="800" b="0" i="0" u="none" strike="noStrike">
                          <a:solidFill>
                            <a:srgbClr val="000000"/>
                          </a:solidFill>
                          <a:effectLst/>
                          <a:latin typeface="Arial" panose="020B0604020202020204" pitchFamily="34" charset="0"/>
                        </a:rPr>
                        <a:t>System downtime, failed sprint releases, SLA breach on 99.9% uptime commitment</a:t>
                      </a:r>
                    </a:p>
                  </a:txBody>
                  <a:tcPr marL="3959" marR="3959" marT="3959" marB="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BD0"/>
                    </a:solidFill>
                  </a:tcPr>
                </a:tc>
                <a:tc>
                  <a:txBody>
                    <a:bodyPr/>
                    <a:lstStyle/>
                    <a:p>
                      <a:pPr algn="ctr" fontAlgn="t"/>
                      <a:r>
                        <a:rPr lang="en-MY" sz="800" b="0" i="0" u="none" strike="noStrike">
                          <a:solidFill>
                            <a:srgbClr val="000000"/>
                          </a:solidFill>
                          <a:effectLst/>
                          <a:latin typeface="Arial" panose="020B0604020202020204" pitchFamily="34" charset="0"/>
                        </a:rPr>
                        <a:t>3</a:t>
                      </a:r>
                    </a:p>
                  </a:txBody>
                  <a:tcPr marL="3959" marR="3959" marT="3959" marB="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BD0"/>
                    </a:solidFill>
                  </a:tcPr>
                </a:tc>
                <a:tc>
                  <a:txBody>
                    <a:bodyPr/>
                    <a:lstStyle/>
                    <a:p>
                      <a:pPr algn="ctr" fontAlgn="t"/>
                      <a:r>
                        <a:rPr lang="en-MY" sz="800" b="0" i="0" u="none" strike="noStrike">
                          <a:solidFill>
                            <a:srgbClr val="000000"/>
                          </a:solidFill>
                          <a:effectLst/>
                          <a:latin typeface="Arial" panose="020B0604020202020204" pitchFamily="34" charset="0"/>
                        </a:rPr>
                        <a:t>3</a:t>
                      </a:r>
                    </a:p>
                  </a:txBody>
                  <a:tcPr marL="3959" marR="3959" marT="3959" marB="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BD0"/>
                    </a:solidFill>
                  </a:tcPr>
                </a:tc>
                <a:tc>
                  <a:txBody>
                    <a:bodyPr/>
                    <a:lstStyle/>
                    <a:p>
                      <a:pPr algn="ctr" fontAlgn="t"/>
                      <a:r>
                        <a:rPr lang="en-MY" sz="900" b="1" i="0" u="none" strike="noStrike" dirty="0">
                          <a:solidFill>
                            <a:srgbClr val="FFFFFF"/>
                          </a:solidFill>
                          <a:effectLst/>
                          <a:latin typeface="Arial" panose="020B0604020202020204" pitchFamily="34" charset="0"/>
                        </a:rPr>
                        <a:t>9</a:t>
                      </a:r>
                    </a:p>
                  </a:txBody>
                  <a:tcPr marL="3959" marR="3959" marT="3959" marB="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67E22"/>
                    </a:solidFill>
                  </a:tcPr>
                </a:tc>
                <a:tc>
                  <a:txBody>
                    <a:bodyPr/>
                    <a:lstStyle/>
                    <a:p>
                      <a:pPr algn="l" fontAlgn="t"/>
                      <a:r>
                        <a:rPr lang="en-US" sz="800" b="0" i="0" u="none" strike="noStrike" dirty="0">
                          <a:solidFill>
                            <a:srgbClr val="000000"/>
                          </a:solidFill>
                          <a:effectLst/>
                          <a:latin typeface="Arial" panose="020B0604020202020204" pitchFamily="34" charset="0"/>
                        </a:rPr>
                        <a:t>Build errors, test failures, or unresponsive staging environments detected during CI/CD run</a:t>
                      </a:r>
                    </a:p>
                  </a:txBody>
                  <a:tcPr marL="3959" marR="3959" marT="3959" marB="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BD0"/>
                    </a:solidFill>
                  </a:tcPr>
                </a:tc>
                <a:tc>
                  <a:txBody>
                    <a:bodyPr/>
                    <a:lstStyle/>
                    <a:p>
                      <a:pPr algn="l" fontAlgn="t"/>
                      <a:r>
                        <a:rPr lang="en-US" sz="800" b="0" i="0" u="none" strike="noStrike">
                          <a:solidFill>
                            <a:srgbClr val="000000"/>
                          </a:solidFill>
                          <a:effectLst/>
                          <a:latin typeface="Arial" panose="020B0604020202020204" pitchFamily="34" charset="0"/>
                        </a:rPr>
                        <a:t>Enhance automated rollback scripts; add pre-deployment quality gates and canary deployment validation</a:t>
                      </a:r>
                    </a:p>
                  </a:txBody>
                  <a:tcPr marL="3959" marR="3959" marT="3959" marB="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BD0"/>
                    </a:solidFill>
                  </a:tcPr>
                </a:tc>
                <a:extLst>
                  <a:ext uri="{0D108BD9-81ED-4DB2-BD59-A6C34878D82A}">
                    <a16:rowId xmlns:a16="http://schemas.microsoft.com/office/drawing/2014/main" val="2860940452"/>
                  </a:ext>
                </a:extLst>
              </a:tr>
              <a:tr h="980115">
                <a:tc>
                  <a:txBody>
                    <a:bodyPr/>
                    <a:lstStyle/>
                    <a:p>
                      <a:pPr algn="ctr" fontAlgn="t"/>
                      <a:r>
                        <a:rPr lang="en-MY" sz="800" b="0" i="0" u="none" strike="noStrike">
                          <a:solidFill>
                            <a:srgbClr val="000000"/>
                          </a:solidFill>
                          <a:effectLst/>
                          <a:latin typeface="Arial" panose="020B0604020202020204" pitchFamily="34" charset="0"/>
                        </a:rPr>
                        <a:t>R4</a:t>
                      </a:r>
                    </a:p>
                  </a:txBody>
                  <a:tcPr marL="3959" marR="3959" marT="3959" marB="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D5F5E3"/>
                    </a:solidFill>
                  </a:tcPr>
                </a:tc>
                <a:tc>
                  <a:txBody>
                    <a:bodyPr/>
                    <a:lstStyle/>
                    <a:p>
                      <a:pPr algn="l" fontAlgn="t"/>
                      <a:r>
                        <a:rPr lang="en-MY" sz="800" b="0" i="0" u="none" strike="noStrike">
                          <a:solidFill>
                            <a:srgbClr val="000000"/>
                          </a:solidFill>
                          <a:effectLst/>
                          <a:latin typeface="Arial" panose="020B0604020202020204" pitchFamily="34" charset="0"/>
                        </a:rPr>
                        <a:t>Positive Stakeholder Adoption</a:t>
                      </a:r>
                    </a:p>
                  </a:txBody>
                  <a:tcPr marL="3959" marR="3959" marT="3959" marB="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D5F5E3"/>
                    </a:solidFill>
                  </a:tcPr>
                </a:tc>
                <a:tc>
                  <a:txBody>
                    <a:bodyPr/>
                    <a:lstStyle/>
                    <a:p>
                      <a:pPr algn="ctr" fontAlgn="t"/>
                      <a:r>
                        <a:rPr lang="en-MY" sz="800" b="1" i="0" u="none" strike="noStrike">
                          <a:solidFill>
                            <a:srgbClr val="FFFFFF"/>
                          </a:solidFill>
                          <a:effectLst/>
                          <a:latin typeface="Arial" panose="020B0604020202020204" pitchFamily="34" charset="0"/>
                        </a:rPr>
                        <a:t>Opportunity</a:t>
                      </a:r>
                    </a:p>
                  </a:txBody>
                  <a:tcPr marL="3959" marR="3959" marT="3959" marB="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BC9C"/>
                    </a:solidFill>
                  </a:tcPr>
                </a:tc>
                <a:tc>
                  <a:txBody>
                    <a:bodyPr/>
                    <a:lstStyle/>
                    <a:p>
                      <a:pPr algn="l" fontAlgn="t"/>
                      <a:r>
                        <a:rPr lang="en-US" sz="800" b="0" i="0" u="none" strike="noStrike">
                          <a:solidFill>
                            <a:srgbClr val="000000"/>
                          </a:solidFill>
                          <a:effectLst/>
                          <a:latin typeface="Arial" panose="020B0604020202020204" pitchFamily="34" charset="0"/>
                        </a:rPr>
                        <a:t>Intuitive UX workflows, dashboards, and effective change management</a:t>
                      </a:r>
                    </a:p>
                  </a:txBody>
                  <a:tcPr marL="3959" marR="3959" marT="3959" marB="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D5F5E3"/>
                    </a:solidFill>
                  </a:tcPr>
                </a:tc>
                <a:tc>
                  <a:txBody>
                    <a:bodyPr/>
                    <a:lstStyle/>
                    <a:p>
                      <a:pPr algn="l" fontAlgn="t"/>
                      <a:r>
                        <a:rPr lang="en-US" sz="800" b="0" i="0" u="none" strike="noStrike">
                          <a:solidFill>
                            <a:srgbClr val="000000"/>
                          </a:solidFill>
                          <a:effectLst/>
                          <a:latin typeface="Arial" panose="020B0604020202020204" pitchFamily="34" charset="0"/>
                        </a:rPr>
                        <a:t>Increased staff and customer engagement with the new digital platform</a:t>
                      </a:r>
                    </a:p>
                  </a:txBody>
                  <a:tcPr marL="3959" marR="3959" marT="3959" marB="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D5F5E3"/>
                    </a:solidFill>
                  </a:tcPr>
                </a:tc>
                <a:tc>
                  <a:txBody>
                    <a:bodyPr/>
                    <a:lstStyle/>
                    <a:p>
                      <a:pPr algn="l" fontAlgn="t"/>
                      <a:r>
                        <a:rPr lang="en-US" sz="800" b="0" i="0" u="none" strike="noStrike">
                          <a:solidFill>
                            <a:srgbClr val="000000"/>
                          </a:solidFill>
                          <a:effectLst/>
                          <a:latin typeface="Arial" panose="020B0604020202020204" pitchFamily="34" charset="0"/>
                        </a:rPr>
                        <a:t>Accelerated feedback loops, smoother rollout, higher NPS, reduced training cycles</a:t>
                      </a:r>
                    </a:p>
                  </a:txBody>
                  <a:tcPr marL="3959" marR="3959" marT="3959" marB="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D5F5E3"/>
                    </a:solidFill>
                  </a:tcPr>
                </a:tc>
                <a:tc>
                  <a:txBody>
                    <a:bodyPr/>
                    <a:lstStyle/>
                    <a:p>
                      <a:pPr algn="ctr" fontAlgn="t"/>
                      <a:r>
                        <a:rPr lang="en-MY" sz="800" b="0" i="0" u="none" strike="noStrike">
                          <a:solidFill>
                            <a:srgbClr val="000000"/>
                          </a:solidFill>
                          <a:effectLst/>
                          <a:latin typeface="Arial" panose="020B0604020202020204" pitchFamily="34" charset="0"/>
                        </a:rPr>
                        <a:t>2</a:t>
                      </a:r>
                    </a:p>
                  </a:txBody>
                  <a:tcPr marL="3959" marR="3959" marT="3959" marB="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D5F5E3"/>
                    </a:solidFill>
                  </a:tcPr>
                </a:tc>
                <a:tc>
                  <a:txBody>
                    <a:bodyPr/>
                    <a:lstStyle/>
                    <a:p>
                      <a:pPr algn="ctr" fontAlgn="t"/>
                      <a:r>
                        <a:rPr lang="en-MY" sz="800" b="0" i="0" u="none" strike="noStrike">
                          <a:solidFill>
                            <a:srgbClr val="000000"/>
                          </a:solidFill>
                          <a:effectLst/>
                          <a:latin typeface="Arial" panose="020B0604020202020204" pitchFamily="34" charset="0"/>
                        </a:rPr>
                        <a:t>4</a:t>
                      </a:r>
                    </a:p>
                  </a:txBody>
                  <a:tcPr marL="3959" marR="3959" marT="3959" marB="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D5F5E3"/>
                    </a:solidFill>
                  </a:tcPr>
                </a:tc>
                <a:tc>
                  <a:txBody>
                    <a:bodyPr/>
                    <a:lstStyle/>
                    <a:p>
                      <a:pPr algn="ctr" fontAlgn="t"/>
                      <a:r>
                        <a:rPr lang="en-MY" sz="900" b="1" i="0" u="none" strike="noStrike">
                          <a:solidFill>
                            <a:srgbClr val="FFFFFF"/>
                          </a:solidFill>
                          <a:effectLst/>
                          <a:latin typeface="Arial" panose="020B0604020202020204" pitchFamily="34" charset="0"/>
                        </a:rPr>
                        <a:t>8</a:t>
                      </a:r>
                    </a:p>
                  </a:txBody>
                  <a:tcPr marL="3959" marR="3959" marT="3959" marB="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7AE60"/>
                    </a:solidFill>
                  </a:tcPr>
                </a:tc>
                <a:tc>
                  <a:txBody>
                    <a:bodyPr/>
                    <a:lstStyle/>
                    <a:p>
                      <a:pPr algn="l" fontAlgn="t"/>
                      <a:r>
                        <a:rPr lang="en-US" sz="800" b="0" i="0" u="none" strike="noStrike" dirty="0">
                          <a:solidFill>
                            <a:srgbClr val="000000"/>
                          </a:solidFill>
                          <a:effectLst/>
                          <a:latin typeface="Arial" panose="020B0604020202020204" pitchFamily="34" charset="0"/>
                        </a:rPr>
                        <a:t>Early user feedback praising UX design and positive adoption metrics from sandbox testing</a:t>
                      </a:r>
                    </a:p>
                  </a:txBody>
                  <a:tcPr marL="3959" marR="3959" marT="3959" marB="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D5F5E3"/>
                    </a:solidFill>
                  </a:tcPr>
                </a:tc>
                <a:tc>
                  <a:txBody>
                    <a:bodyPr/>
                    <a:lstStyle/>
                    <a:p>
                      <a:pPr algn="l" fontAlgn="t"/>
                      <a:r>
                        <a:rPr lang="en-US" sz="800" b="0" i="0" u="none" strike="noStrike" dirty="0">
                          <a:solidFill>
                            <a:srgbClr val="000000"/>
                          </a:solidFill>
                          <a:effectLst/>
                          <a:latin typeface="Arial" panose="020B0604020202020204" pitchFamily="34" charset="0"/>
                        </a:rPr>
                        <a:t>Highlight success stories internally; promote adoption features through champions </a:t>
                      </a:r>
                      <a:r>
                        <a:rPr lang="en-US" sz="800" b="0" i="0" u="none" strike="noStrike" dirty="0" err="1">
                          <a:solidFill>
                            <a:srgbClr val="000000"/>
                          </a:solidFill>
                          <a:effectLst/>
                          <a:latin typeface="Arial" panose="020B0604020202020204" pitchFamily="34" charset="0"/>
                        </a:rPr>
                        <a:t>programme</a:t>
                      </a:r>
                      <a:r>
                        <a:rPr lang="en-US" sz="800" b="0" i="0" u="none" strike="noStrike" dirty="0">
                          <a:solidFill>
                            <a:srgbClr val="000000"/>
                          </a:solidFill>
                          <a:effectLst/>
                          <a:latin typeface="Arial" panose="020B0604020202020204" pitchFamily="34" charset="0"/>
                        </a:rPr>
                        <a:t> and recognition of early adopters</a:t>
                      </a:r>
                    </a:p>
                  </a:txBody>
                  <a:tcPr marL="3959" marR="3959" marT="3959" marB="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D5F5E3"/>
                    </a:solidFill>
                  </a:tcPr>
                </a:tc>
                <a:extLst>
                  <a:ext uri="{0D108BD9-81ED-4DB2-BD59-A6C34878D82A}">
                    <a16:rowId xmlns:a16="http://schemas.microsoft.com/office/drawing/2014/main" val="2883726386"/>
                  </a:ext>
                </a:extLst>
              </a:tr>
            </a:tbl>
          </a:graphicData>
        </a:graphic>
      </p:graphicFrame>
    </p:spTree>
    <p:extLst>
      <p:ext uri="{BB962C8B-B14F-4D97-AF65-F5344CB8AC3E}">
        <p14:creationId xmlns:p14="http://schemas.microsoft.com/office/powerpoint/2010/main" val="18099813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D095BE-F368-F1CC-0F28-131C3BFAF34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EFEF843-8AD6-985A-8C10-FB184AF9749B}"/>
              </a:ext>
            </a:extLst>
          </p:cNvPr>
          <p:cNvSpPr>
            <a:spLocks noGrp="1"/>
          </p:cNvSpPr>
          <p:nvPr>
            <p:ph type="title"/>
          </p:nvPr>
        </p:nvSpPr>
        <p:spPr>
          <a:xfrm>
            <a:off x="572756" y="133943"/>
            <a:ext cx="9813446" cy="850726"/>
          </a:xfrm>
        </p:spPr>
        <p:txBody>
          <a:bodyPr>
            <a:noAutofit/>
          </a:bodyPr>
          <a:lstStyle/>
          <a:p>
            <a:r>
              <a:rPr lang="en-US" sz="3200" dirty="0"/>
              <a:t>Project Planning and Risk Analysis</a:t>
            </a:r>
          </a:p>
        </p:txBody>
      </p:sp>
      <p:sp>
        <p:nvSpPr>
          <p:cNvPr id="8" name="Content Placeholder 4">
            <a:extLst>
              <a:ext uri="{FF2B5EF4-FFF2-40B4-BE49-F238E27FC236}">
                <a16:creationId xmlns:a16="http://schemas.microsoft.com/office/drawing/2014/main" id="{5461BD33-D8F8-4077-88C1-4380676CC1BC}"/>
              </a:ext>
            </a:extLst>
          </p:cNvPr>
          <p:cNvSpPr txBox="1">
            <a:spLocks/>
          </p:cNvSpPr>
          <p:nvPr/>
        </p:nvSpPr>
        <p:spPr>
          <a:xfrm>
            <a:off x="573087" y="1216025"/>
            <a:ext cx="10659485" cy="4503738"/>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b="1" dirty="0"/>
              <a:t>Risk </a:t>
            </a:r>
            <a:r>
              <a:rPr lang="en-US" sz="2400" b="1" dirty="0" smtClean="0"/>
              <a:t>Matrix</a:t>
            </a:r>
          </a:p>
          <a:p>
            <a:pPr marL="0" indent="0">
              <a:buFont typeface="Arial" panose="020B0604020202020204" pitchFamily="34" charset="0"/>
              <a:buNone/>
            </a:pPr>
            <a:endParaRPr lang="en-US" sz="2400" b="1" dirty="0"/>
          </a:p>
        </p:txBody>
      </p:sp>
      <p:graphicFrame>
        <p:nvGraphicFramePr>
          <p:cNvPr id="3" name="Table 2"/>
          <p:cNvGraphicFramePr>
            <a:graphicFrameLocks noGrp="1"/>
          </p:cNvGraphicFramePr>
          <p:nvPr>
            <p:extLst>
              <p:ext uri="{D42A27DB-BD31-4B8C-83A1-F6EECF244321}">
                <p14:modId xmlns:p14="http://schemas.microsoft.com/office/powerpoint/2010/main" val="1523156572"/>
              </p:ext>
            </p:extLst>
          </p:nvPr>
        </p:nvGraphicFramePr>
        <p:xfrm>
          <a:off x="668591" y="1799301"/>
          <a:ext cx="10658169" cy="4091118"/>
        </p:xfrm>
        <a:graphic>
          <a:graphicData uri="http://schemas.openxmlformats.org/drawingml/2006/table">
            <a:tbl>
              <a:tblPr/>
              <a:tblGrid>
                <a:gridCol w="1608780">
                  <a:extLst>
                    <a:ext uri="{9D8B030D-6E8A-4147-A177-3AD203B41FA5}">
                      <a16:colId xmlns:a16="http://schemas.microsoft.com/office/drawing/2014/main" val="1481109322"/>
                    </a:ext>
                  </a:extLst>
                </a:gridCol>
                <a:gridCol w="3016462">
                  <a:extLst>
                    <a:ext uri="{9D8B030D-6E8A-4147-A177-3AD203B41FA5}">
                      <a16:colId xmlns:a16="http://schemas.microsoft.com/office/drawing/2014/main" val="4253277210"/>
                    </a:ext>
                  </a:extLst>
                </a:gridCol>
                <a:gridCol w="1407683">
                  <a:extLst>
                    <a:ext uri="{9D8B030D-6E8A-4147-A177-3AD203B41FA5}">
                      <a16:colId xmlns:a16="http://schemas.microsoft.com/office/drawing/2014/main" val="3805532587"/>
                    </a:ext>
                  </a:extLst>
                </a:gridCol>
                <a:gridCol w="1407683">
                  <a:extLst>
                    <a:ext uri="{9D8B030D-6E8A-4147-A177-3AD203B41FA5}">
                      <a16:colId xmlns:a16="http://schemas.microsoft.com/office/drawing/2014/main" val="2812054057"/>
                    </a:ext>
                  </a:extLst>
                </a:gridCol>
                <a:gridCol w="1005488">
                  <a:extLst>
                    <a:ext uri="{9D8B030D-6E8A-4147-A177-3AD203B41FA5}">
                      <a16:colId xmlns:a16="http://schemas.microsoft.com/office/drawing/2014/main" val="2546215259"/>
                    </a:ext>
                  </a:extLst>
                </a:gridCol>
                <a:gridCol w="1005488">
                  <a:extLst>
                    <a:ext uri="{9D8B030D-6E8A-4147-A177-3AD203B41FA5}">
                      <a16:colId xmlns:a16="http://schemas.microsoft.com/office/drawing/2014/main" val="3091675229"/>
                    </a:ext>
                  </a:extLst>
                </a:gridCol>
                <a:gridCol w="1206585">
                  <a:extLst>
                    <a:ext uri="{9D8B030D-6E8A-4147-A177-3AD203B41FA5}">
                      <a16:colId xmlns:a16="http://schemas.microsoft.com/office/drawing/2014/main" val="4132944046"/>
                    </a:ext>
                  </a:extLst>
                </a:gridCol>
              </a:tblGrid>
              <a:tr h="330040">
                <a:tc gridSpan="7">
                  <a:txBody>
                    <a:bodyPr/>
                    <a:lstStyle/>
                    <a:p>
                      <a:pPr algn="ctr" fontAlgn="ctr"/>
                      <a:r>
                        <a:rPr lang="en-MY" sz="1300" b="1" i="0" u="none" strike="noStrike">
                          <a:solidFill>
                            <a:srgbClr val="FFFFFF"/>
                          </a:solidFill>
                          <a:effectLst/>
                          <a:latin typeface="Arial" panose="020B0604020202020204" pitchFamily="34" charset="0"/>
                        </a:rPr>
                        <a:t>THREAT MATRIX  (Probability × Impact)</a:t>
                      </a:r>
                    </a:p>
                  </a:txBody>
                  <a:tcPr marL="6350" marR="6350" marT="6350" marB="0" anchor="ctr">
                    <a:lnL>
                      <a:noFill/>
                    </a:lnL>
                    <a:lnR>
                      <a:noFill/>
                    </a:lnR>
                    <a:lnT>
                      <a:noFill/>
                    </a:lnT>
                    <a:lnB w="6350" cap="flat" cmpd="sng" algn="ctr">
                      <a:solidFill>
                        <a:srgbClr val="CCCCCC"/>
                      </a:solidFill>
                      <a:prstDash val="solid"/>
                      <a:round/>
                      <a:headEnd type="none" w="med" len="med"/>
                      <a:tailEnd type="none" w="med" len="med"/>
                    </a:lnB>
                    <a:solidFill>
                      <a:srgbClr val="C0392B"/>
                    </a:solidFill>
                  </a:tcPr>
                </a:tc>
                <a:tc hMerge="1">
                  <a:txBody>
                    <a:bodyPr/>
                    <a:lstStyle/>
                    <a:p>
                      <a:endParaRPr lang="en-MY"/>
                    </a:p>
                  </a:txBody>
                  <a:tcPr/>
                </a:tc>
                <a:tc hMerge="1">
                  <a:txBody>
                    <a:bodyPr/>
                    <a:lstStyle/>
                    <a:p>
                      <a:endParaRPr lang="en-MY"/>
                    </a:p>
                  </a:txBody>
                  <a:tcPr/>
                </a:tc>
                <a:tc hMerge="1">
                  <a:txBody>
                    <a:bodyPr/>
                    <a:lstStyle/>
                    <a:p>
                      <a:endParaRPr lang="en-MY"/>
                    </a:p>
                  </a:txBody>
                  <a:tcPr/>
                </a:tc>
                <a:tc hMerge="1">
                  <a:txBody>
                    <a:bodyPr/>
                    <a:lstStyle/>
                    <a:p>
                      <a:endParaRPr lang="en-MY"/>
                    </a:p>
                  </a:txBody>
                  <a:tcPr/>
                </a:tc>
                <a:tc hMerge="1">
                  <a:txBody>
                    <a:bodyPr/>
                    <a:lstStyle/>
                    <a:p>
                      <a:endParaRPr lang="en-MY"/>
                    </a:p>
                  </a:txBody>
                  <a:tcPr/>
                </a:tc>
                <a:tc hMerge="1">
                  <a:txBody>
                    <a:bodyPr/>
                    <a:lstStyle/>
                    <a:p>
                      <a:endParaRPr lang="en-MY"/>
                    </a:p>
                  </a:txBody>
                  <a:tcPr/>
                </a:tc>
                <a:extLst>
                  <a:ext uri="{0D108BD9-81ED-4DB2-BD59-A6C34878D82A}">
                    <a16:rowId xmlns:a16="http://schemas.microsoft.com/office/drawing/2014/main" val="755740691"/>
                  </a:ext>
                </a:extLst>
              </a:tr>
              <a:tr h="735713">
                <a:tc>
                  <a:txBody>
                    <a:bodyPr/>
                    <a:lstStyle/>
                    <a:p>
                      <a:pPr algn="ctr" fontAlgn="ctr"/>
                      <a:r>
                        <a:rPr lang="en-MY" sz="900" b="1" i="0" u="none" strike="noStrike">
                          <a:solidFill>
                            <a:srgbClr val="FFFFFF"/>
                          </a:solidFill>
                          <a:effectLst/>
                          <a:latin typeface="Arial" panose="020B0604020202020204" pitchFamily="34" charset="0"/>
                        </a:rPr>
                        <a:t>Probability ↓  /  Impact →</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3864"/>
                    </a:solidFill>
                  </a:tcPr>
                </a:tc>
                <a:tc>
                  <a:txBody>
                    <a:bodyPr/>
                    <a:lstStyle/>
                    <a:p>
                      <a:pPr algn="ctr" fontAlgn="ctr"/>
                      <a:r>
                        <a:rPr lang="en-MY" sz="900" b="1" i="0" u="none" strike="noStrike">
                          <a:solidFill>
                            <a:srgbClr val="FFFFFF"/>
                          </a:solidFill>
                          <a:effectLst/>
                          <a:latin typeface="Arial" panose="020B0604020202020204" pitchFamily="34" charset="0"/>
                        </a:rPr>
                        <a:t>Impact 1</a:t>
                      </a:r>
                      <a:br>
                        <a:rPr lang="en-MY" sz="900" b="1" i="0" u="none" strike="noStrike">
                          <a:solidFill>
                            <a:srgbClr val="FFFFFF"/>
                          </a:solidFill>
                          <a:effectLst/>
                          <a:latin typeface="Arial" panose="020B0604020202020204" pitchFamily="34" charset="0"/>
                        </a:rPr>
                      </a:br>
                      <a:r>
                        <a:rPr lang="en-MY" sz="900" b="1" i="0" u="none" strike="noStrike">
                          <a:solidFill>
                            <a:srgbClr val="FFFFFF"/>
                          </a:solidFill>
                          <a:effectLst/>
                          <a:latin typeface="Arial" panose="020B0604020202020204" pitchFamily="34" charset="0"/>
                        </a:rPr>
                        <a:t>(Minor)</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3864"/>
                    </a:solidFill>
                  </a:tcPr>
                </a:tc>
                <a:tc>
                  <a:txBody>
                    <a:bodyPr/>
                    <a:lstStyle/>
                    <a:p>
                      <a:pPr algn="ctr" fontAlgn="ctr"/>
                      <a:r>
                        <a:rPr lang="en-MY" sz="900" b="1" i="0" u="none" strike="noStrike">
                          <a:solidFill>
                            <a:srgbClr val="FFFFFF"/>
                          </a:solidFill>
                          <a:effectLst/>
                          <a:latin typeface="Arial" panose="020B0604020202020204" pitchFamily="34" charset="0"/>
                        </a:rPr>
                        <a:t>Impact 2</a:t>
                      </a:r>
                      <a:br>
                        <a:rPr lang="en-MY" sz="900" b="1" i="0" u="none" strike="noStrike">
                          <a:solidFill>
                            <a:srgbClr val="FFFFFF"/>
                          </a:solidFill>
                          <a:effectLst/>
                          <a:latin typeface="Arial" panose="020B0604020202020204" pitchFamily="34" charset="0"/>
                        </a:rPr>
                      </a:br>
                      <a:r>
                        <a:rPr lang="en-MY" sz="900" b="1" i="0" u="none" strike="noStrike">
                          <a:solidFill>
                            <a:srgbClr val="FFFFFF"/>
                          </a:solidFill>
                          <a:effectLst/>
                          <a:latin typeface="Arial" panose="020B0604020202020204" pitchFamily="34" charset="0"/>
                        </a:rPr>
                        <a:t>(Low)</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3864"/>
                    </a:solidFill>
                  </a:tcPr>
                </a:tc>
                <a:tc>
                  <a:txBody>
                    <a:bodyPr/>
                    <a:lstStyle/>
                    <a:p>
                      <a:pPr algn="ctr" fontAlgn="ctr"/>
                      <a:r>
                        <a:rPr lang="en-MY" sz="900" b="1" i="0" u="none" strike="noStrike">
                          <a:solidFill>
                            <a:srgbClr val="FFFFFF"/>
                          </a:solidFill>
                          <a:effectLst/>
                          <a:latin typeface="Arial" panose="020B0604020202020204" pitchFamily="34" charset="0"/>
                        </a:rPr>
                        <a:t>Impact 3</a:t>
                      </a:r>
                      <a:br>
                        <a:rPr lang="en-MY" sz="900" b="1" i="0" u="none" strike="noStrike">
                          <a:solidFill>
                            <a:srgbClr val="FFFFFF"/>
                          </a:solidFill>
                          <a:effectLst/>
                          <a:latin typeface="Arial" panose="020B0604020202020204" pitchFamily="34" charset="0"/>
                        </a:rPr>
                      </a:br>
                      <a:r>
                        <a:rPr lang="en-MY" sz="900" b="1" i="0" u="none" strike="noStrike">
                          <a:solidFill>
                            <a:srgbClr val="FFFFFF"/>
                          </a:solidFill>
                          <a:effectLst/>
                          <a:latin typeface="Arial" panose="020B0604020202020204" pitchFamily="34" charset="0"/>
                        </a:rPr>
                        <a:t>(Moderate)</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3864"/>
                    </a:solidFill>
                  </a:tcPr>
                </a:tc>
                <a:tc>
                  <a:txBody>
                    <a:bodyPr/>
                    <a:lstStyle/>
                    <a:p>
                      <a:pPr algn="ctr" fontAlgn="ctr"/>
                      <a:r>
                        <a:rPr lang="en-MY" sz="900" b="1" i="0" u="none" strike="noStrike">
                          <a:solidFill>
                            <a:srgbClr val="FFFFFF"/>
                          </a:solidFill>
                          <a:effectLst/>
                          <a:latin typeface="Arial" panose="020B0604020202020204" pitchFamily="34" charset="0"/>
                        </a:rPr>
                        <a:t>Impact 4</a:t>
                      </a:r>
                      <a:br>
                        <a:rPr lang="en-MY" sz="900" b="1" i="0" u="none" strike="noStrike">
                          <a:solidFill>
                            <a:srgbClr val="FFFFFF"/>
                          </a:solidFill>
                          <a:effectLst/>
                          <a:latin typeface="Arial" panose="020B0604020202020204" pitchFamily="34" charset="0"/>
                        </a:rPr>
                      </a:br>
                      <a:r>
                        <a:rPr lang="en-MY" sz="900" b="1" i="0" u="none" strike="noStrike">
                          <a:solidFill>
                            <a:srgbClr val="FFFFFF"/>
                          </a:solidFill>
                          <a:effectLst/>
                          <a:latin typeface="Arial" panose="020B0604020202020204" pitchFamily="34" charset="0"/>
                        </a:rPr>
                        <a:t>(High)</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3864"/>
                    </a:solidFill>
                  </a:tcPr>
                </a:tc>
                <a:tc>
                  <a:txBody>
                    <a:bodyPr/>
                    <a:lstStyle/>
                    <a:p>
                      <a:pPr algn="ctr" fontAlgn="ctr"/>
                      <a:r>
                        <a:rPr lang="en-MY" sz="900" b="1" i="0" u="none" strike="noStrike">
                          <a:solidFill>
                            <a:srgbClr val="FFFFFF"/>
                          </a:solidFill>
                          <a:effectLst/>
                          <a:latin typeface="Arial" panose="020B0604020202020204" pitchFamily="34" charset="0"/>
                        </a:rPr>
                        <a:t>Impact 5</a:t>
                      </a:r>
                      <a:br>
                        <a:rPr lang="en-MY" sz="900" b="1" i="0" u="none" strike="noStrike">
                          <a:solidFill>
                            <a:srgbClr val="FFFFFF"/>
                          </a:solidFill>
                          <a:effectLst/>
                          <a:latin typeface="Arial" panose="020B0604020202020204" pitchFamily="34" charset="0"/>
                        </a:rPr>
                      </a:br>
                      <a:r>
                        <a:rPr lang="en-MY" sz="900" b="1" i="0" u="none" strike="noStrike">
                          <a:solidFill>
                            <a:srgbClr val="FFFFFF"/>
                          </a:solidFill>
                          <a:effectLst/>
                          <a:latin typeface="Arial" panose="020B0604020202020204" pitchFamily="34" charset="0"/>
                        </a:rPr>
                        <a:t>(Critical)</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3864"/>
                    </a:solidFill>
                  </a:tcPr>
                </a:tc>
                <a:tc>
                  <a:txBody>
                    <a:bodyPr/>
                    <a:lstStyle/>
                    <a:p>
                      <a:pPr algn="l" fontAlgn="b"/>
                      <a:endParaRPr lang="en-MY" sz="1100" b="0" i="0" u="none" strike="noStrike">
                        <a:solidFill>
                          <a:srgbClr val="000000"/>
                        </a:solidFill>
                        <a:effectLst/>
                        <a:latin typeface="Calibri" panose="020F0502020204030204" pitchFamily="34" charset="0"/>
                      </a:endParaRPr>
                    </a:p>
                  </a:txBody>
                  <a:tcPr marL="6350" marR="6350" marT="6350" marB="0" anchor="b">
                    <a:lnL w="6350" cap="flat" cmpd="sng" algn="ctr">
                      <a:solidFill>
                        <a:srgbClr val="CCCCCC"/>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1210695354"/>
                  </a:ext>
                </a:extLst>
              </a:tr>
              <a:tr h="605073">
                <a:tc>
                  <a:txBody>
                    <a:bodyPr/>
                    <a:lstStyle/>
                    <a:p>
                      <a:pPr algn="ctr" fontAlgn="ctr"/>
                      <a:r>
                        <a:rPr lang="en-MY" sz="900" b="1" i="0" u="none" strike="noStrike">
                          <a:solidFill>
                            <a:srgbClr val="FFFFFF"/>
                          </a:solidFill>
                          <a:effectLst/>
                          <a:latin typeface="Arial" panose="020B0604020202020204" pitchFamily="34" charset="0"/>
                        </a:rPr>
                        <a:t>Prob 5</a:t>
                      </a:r>
                      <a:br>
                        <a:rPr lang="en-MY" sz="900" b="1" i="0" u="none" strike="noStrike">
                          <a:solidFill>
                            <a:srgbClr val="FFFFFF"/>
                          </a:solidFill>
                          <a:effectLst/>
                          <a:latin typeface="Arial" panose="020B0604020202020204" pitchFamily="34" charset="0"/>
                        </a:rPr>
                      </a:br>
                      <a:r>
                        <a:rPr lang="en-MY" sz="900" b="1" i="0" u="none" strike="noStrike">
                          <a:solidFill>
                            <a:srgbClr val="FFFFFF"/>
                          </a:solidFill>
                          <a:effectLst/>
                          <a:latin typeface="Arial" panose="020B0604020202020204" pitchFamily="34" charset="0"/>
                        </a:rPr>
                        <a:t>(Almost Certain)</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3864"/>
                    </a:solidFill>
                  </a:tcPr>
                </a:tc>
                <a:tc>
                  <a:txBody>
                    <a:bodyPr/>
                    <a:lstStyle/>
                    <a:p>
                      <a:pPr algn="ctr" fontAlgn="ctr"/>
                      <a:r>
                        <a:rPr lang="en-MY" sz="900" b="0" i="0" u="none" strike="noStrike">
                          <a:solidFill>
                            <a:srgbClr val="000000"/>
                          </a:solidFill>
                          <a:effectLst/>
                          <a:latin typeface="Arial" panose="020B0604020202020204" pitchFamily="34" charset="0"/>
                        </a:rPr>
                        <a:t>Score: 5</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1C40F"/>
                    </a:solidFill>
                  </a:tcPr>
                </a:tc>
                <a:tc>
                  <a:txBody>
                    <a:bodyPr/>
                    <a:lstStyle/>
                    <a:p>
                      <a:pPr algn="ctr" fontAlgn="ctr"/>
                      <a:r>
                        <a:rPr lang="en-MY" sz="900" b="0" i="0" u="none" strike="noStrike">
                          <a:solidFill>
                            <a:srgbClr val="FFFFFF"/>
                          </a:solidFill>
                          <a:effectLst/>
                          <a:latin typeface="Arial" panose="020B0604020202020204" pitchFamily="34" charset="0"/>
                        </a:rPr>
                        <a:t>Score: 10</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67E22"/>
                    </a:solidFill>
                  </a:tcPr>
                </a:tc>
                <a:tc>
                  <a:txBody>
                    <a:bodyPr/>
                    <a:lstStyle/>
                    <a:p>
                      <a:pPr algn="ctr" fontAlgn="ctr"/>
                      <a:r>
                        <a:rPr lang="en-MY" sz="900" b="0" i="0" u="none" strike="noStrike">
                          <a:solidFill>
                            <a:srgbClr val="FFFFFF"/>
                          </a:solidFill>
                          <a:effectLst/>
                          <a:latin typeface="Arial" panose="020B0604020202020204" pitchFamily="34" charset="0"/>
                        </a:rPr>
                        <a:t>Score: 15</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0392B"/>
                    </a:solidFill>
                  </a:tcPr>
                </a:tc>
                <a:tc>
                  <a:txBody>
                    <a:bodyPr/>
                    <a:lstStyle/>
                    <a:p>
                      <a:pPr algn="ctr" fontAlgn="ctr"/>
                      <a:r>
                        <a:rPr lang="en-MY" sz="900" b="0" i="0" u="none" strike="noStrike">
                          <a:solidFill>
                            <a:srgbClr val="FFFFFF"/>
                          </a:solidFill>
                          <a:effectLst/>
                          <a:latin typeface="Arial" panose="020B0604020202020204" pitchFamily="34" charset="0"/>
                        </a:rPr>
                        <a:t>Score: 20</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0392B"/>
                    </a:solidFill>
                  </a:tcPr>
                </a:tc>
                <a:tc>
                  <a:txBody>
                    <a:bodyPr/>
                    <a:lstStyle/>
                    <a:p>
                      <a:pPr algn="ctr" fontAlgn="ctr"/>
                      <a:r>
                        <a:rPr lang="en-MY" sz="900" b="0" i="0" u="none" strike="noStrike">
                          <a:solidFill>
                            <a:srgbClr val="FFFFFF"/>
                          </a:solidFill>
                          <a:effectLst/>
                          <a:latin typeface="Arial" panose="020B0604020202020204" pitchFamily="34" charset="0"/>
                        </a:rPr>
                        <a:t>Score: 25</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0392B"/>
                    </a:solidFill>
                  </a:tcPr>
                </a:tc>
                <a:tc>
                  <a:txBody>
                    <a:bodyPr/>
                    <a:lstStyle/>
                    <a:p>
                      <a:pPr algn="l" fontAlgn="b"/>
                      <a:endParaRPr lang="en-MY" sz="1100" b="0" i="0" u="none" strike="noStrike">
                        <a:solidFill>
                          <a:srgbClr val="000000"/>
                        </a:solidFill>
                        <a:effectLst/>
                        <a:latin typeface="Calibri" panose="020F0502020204030204" pitchFamily="34" charset="0"/>
                      </a:endParaRPr>
                    </a:p>
                  </a:txBody>
                  <a:tcPr marL="6350" marR="6350" marT="6350" marB="0" anchor="b">
                    <a:lnL w="6350" cap="flat" cmpd="sng" algn="ctr">
                      <a:solidFill>
                        <a:srgbClr val="CCCCCC"/>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188768110"/>
                  </a:ext>
                </a:extLst>
              </a:tr>
              <a:tr h="605073">
                <a:tc>
                  <a:txBody>
                    <a:bodyPr/>
                    <a:lstStyle/>
                    <a:p>
                      <a:pPr algn="ctr" fontAlgn="ctr"/>
                      <a:r>
                        <a:rPr lang="en-MY" sz="900" b="1" i="0" u="none" strike="noStrike">
                          <a:solidFill>
                            <a:srgbClr val="FFFFFF"/>
                          </a:solidFill>
                          <a:effectLst/>
                          <a:latin typeface="Arial" panose="020B0604020202020204" pitchFamily="34" charset="0"/>
                        </a:rPr>
                        <a:t>Prob 4</a:t>
                      </a:r>
                      <a:br>
                        <a:rPr lang="en-MY" sz="900" b="1" i="0" u="none" strike="noStrike">
                          <a:solidFill>
                            <a:srgbClr val="FFFFFF"/>
                          </a:solidFill>
                          <a:effectLst/>
                          <a:latin typeface="Arial" panose="020B0604020202020204" pitchFamily="34" charset="0"/>
                        </a:rPr>
                      </a:br>
                      <a:r>
                        <a:rPr lang="en-MY" sz="900" b="1" i="0" u="none" strike="noStrike">
                          <a:solidFill>
                            <a:srgbClr val="FFFFFF"/>
                          </a:solidFill>
                          <a:effectLst/>
                          <a:latin typeface="Arial" panose="020B0604020202020204" pitchFamily="34" charset="0"/>
                        </a:rPr>
                        <a:t>(Likely)</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3864"/>
                    </a:solidFill>
                  </a:tcPr>
                </a:tc>
                <a:tc>
                  <a:txBody>
                    <a:bodyPr/>
                    <a:lstStyle/>
                    <a:p>
                      <a:pPr algn="ctr" fontAlgn="ctr"/>
                      <a:r>
                        <a:rPr lang="en-MY" sz="900" b="0" i="0" u="none" strike="noStrike">
                          <a:solidFill>
                            <a:srgbClr val="000000"/>
                          </a:solidFill>
                          <a:effectLst/>
                          <a:latin typeface="Arial" panose="020B0604020202020204" pitchFamily="34" charset="0"/>
                        </a:rPr>
                        <a:t>Score: 4</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1C40F"/>
                    </a:solidFill>
                  </a:tcPr>
                </a:tc>
                <a:tc>
                  <a:txBody>
                    <a:bodyPr/>
                    <a:lstStyle/>
                    <a:p>
                      <a:pPr algn="ctr" fontAlgn="ctr"/>
                      <a:r>
                        <a:rPr lang="en-MY" sz="900" b="0" i="0" u="none" strike="noStrike">
                          <a:solidFill>
                            <a:srgbClr val="000000"/>
                          </a:solidFill>
                          <a:effectLst/>
                          <a:latin typeface="Arial" panose="020B0604020202020204" pitchFamily="34" charset="0"/>
                        </a:rPr>
                        <a:t>Score: 8</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1C40F"/>
                    </a:solidFill>
                  </a:tcPr>
                </a:tc>
                <a:tc>
                  <a:txBody>
                    <a:bodyPr/>
                    <a:lstStyle/>
                    <a:p>
                      <a:pPr algn="ctr" fontAlgn="ctr"/>
                      <a:r>
                        <a:rPr lang="en-MY" sz="900" b="0" i="0" u="none" strike="noStrike">
                          <a:solidFill>
                            <a:srgbClr val="FFFFFF"/>
                          </a:solidFill>
                          <a:effectLst/>
                          <a:latin typeface="Arial" panose="020B0604020202020204" pitchFamily="34" charset="0"/>
                        </a:rPr>
                        <a:t>Score: 12</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67E22"/>
                    </a:solidFill>
                  </a:tcPr>
                </a:tc>
                <a:tc>
                  <a:txBody>
                    <a:bodyPr/>
                    <a:lstStyle/>
                    <a:p>
                      <a:pPr algn="ctr" fontAlgn="ctr"/>
                      <a:r>
                        <a:rPr lang="en-MY" sz="900" b="1" i="0" u="none" strike="noStrike">
                          <a:solidFill>
                            <a:srgbClr val="FFFFFF"/>
                          </a:solidFill>
                          <a:effectLst/>
                          <a:latin typeface="Arial" panose="020B0604020202020204" pitchFamily="34" charset="0"/>
                        </a:rPr>
                        <a:t>Score: 16</a:t>
                      </a:r>
                      <a:br>
                        <a:rPr lang="en-MY" sz="900" b="1" i="0" u="none" strike="noStrike">
                          <a:solidFill>
                            <a:srgbClr val="FFFFFF"/>
                          </a:solidFill>
                          <a:effectLst/>
                          <a:latin typeface="Arial" panose="020B0604020202020204" pitchFamily="34" charset="0"/>
                        </a:rPr>
                      </a:br>
                      <a:r>
                        <a:rPr lang="en-MY" sz="900" b="1" i="0" u="none" strike="noStrike">
                          <a:solidFill>
                            <a:srgbClr val="FFFFFF"/>
                          </a:solidFill>
                          <a:effectLst/>
                          <a:latin typeface="Arial" panose="020B0604020202020204" pitchFamily="34" charset="0"/>
                        </a:rPr>
                        <a:t>R2</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0392B"/>
                    </a:solidFill>
                  </a:tcPr>
                </a:tc>
                <a:tc>
                  <a:txBody>
                    <a:bodyPr/>
                    <a:lstStyle/>
                    <a:p>
                      <a:pPr algn="ctr" fontAlgn="ctr"/>
                      <a:r>
                        <a:rPr lang="en-MY" sz="900" b="1" i="0" u="none" strike="noStrike">
                          <a:solidFill>
                            <a:srgbClr val="FFFFFF"/>
                          </a:solidFill>
                          <a:effectLst/>
                          <a:latin typeface="Arial" panose="020B0604020202020204" pitchFamily="34" charset="0"/>
                        </a:rPr>
                        <a:t>Score: 20</a:t>
                      </a:r>
                      <a:br>
                        <a:rPr lang="en-MY" sz="900" b="1" i="0" u="none" strike="noStrike">
                          <a:solidFill>
                            <a:srgbClr val="FFFFFF"/>
                          </a:solidFill>
                          <a:effectLst/>
                          <a:latin typeface="Arial" panose="020B0604020202020204" pitchFamily="34" charset="0"/>
                        </a:rPr>
                      </a:br>
                      <a:r>
                        <a:rPr lang="en-MY" sz="900" b="1" i="0" u="none" strike="noStrike">
                          <a:solidFill>
                            <a:srgbClr val="FFFFFF"/>
                          </a:solidFill>
                          <a:effectLst/>
                          <a:latin typeface="Arial" panose="020B0604020202020204" pitchFamily="34" charset="0"/>
                        </a:rPr>
                        <a:t>R1</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0392B"/>
                    </a:solidFill>
                  </a:tcPr>
                </a:tc>
                <a:tc>
                  <a:txBody>
                    <a:bodyPr/>
                    <a:lstStyle/>
                    <a:p>
                      <a:pPr algn="l" fontAlgn="b"/>
                      <a:endParaRPr lang="en-MY" sz="1100" b="0" i="0" u="none" strike="noStrike">
                        <a:solidFill>
                          <a:srgbClr val="000000"/>
                        </a:solidFill>
                        <a:effectLst/>
                        <a:latin typeface="Calibri" panose="020F0502020204030204" pitchFamily="34" charset="0"/>
                      </a:endParaRPr>
                    </a:p>
                  </a:txBody>
                  <a:tcPr marL="6350" marR="6350" marT="6350" marB="0" anchor="b">
                    <a:lnL w="6350" cap="flat" cmpd="sng" algn="ctr">
                      <a:solidFill>
                        <a:srgbClr val="CCCCCC"/>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2743243566"/>
                  </a:ext>
                </a:extLst>
              </a:tr>
              <a:tr h="605073">
                <a:tc>
                  <a:txBody>
                    <a:bodyPr/>
                    <a:lstStyle/>
                    <a:p>
                      <a:pPr algn="ctr" fontAlgn="ctr"/>
                      <a:r>
                        <a:rPr lang="en-MY" sz="900" b="1" i="0" u="none" strike="noStrike">
                          <a:solidFill>
                            <a:srgbClr val="FFFFFF"/>
                          </a:solidFill>
                          <a:effectLst/>
                          <a:latin typeface="Arial" panose="020B0604020202020204" pitchFamily="34" charset="0"/>
                        </a:rPr>
                        <a:t>Prob 3</a:t>
                      </a:r>
                      <a:br>
                        <a:rPr lang="en-MY" sz="900" b="1" i="0" u="none" strike="noStrike">
                          <a:solidFill>
                            <a:srgbClr val="FFFFFF"/>
                          </a:solidFill>
                          <a:effectLst/>
                          <a:latin typeface="Arial" panose="020B0604020202020204" pitchFamily="34" charset="0"/>
                        </a:rPr>
                      </a:br>
                      <a:r>
                        <a:rPr lang="en-MY" sz="900" b="1" i="0" u="none" strike="noStrike">
                          <a:solidFill>
                            <a:srgbClr val="FFFFFF"/>
                          </a:solidFill>
                          <a:effectLst/>
                          <a:latin typeface="Arial" panose="020B0604020202020204" pitchFamily="34" charset="0"/>
                        </a:rPr>
                        <a:t>(Possible)</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3864"/>
                    </a:solidFill>
                  </a:tcPr>
                </a:tc>
                <a:tc>
                  <a:txBody>
                    <a:bodyPr/>
                    <a:lstStyle/>
                    <a:p>
                      <a:pPr algn="ctr" fontAlgn="ctr"/>
                      <a:r>
                        <a:rPr lang="en-MY" sz="900" b="0" i="0" u="none" strike="noStrike">
                          <a:solidFill>
                            <a:srgbClr val="000000"/>
                          </a:solidFill>
                          <a:effectLst/>
                          <a:latin typeface="Arial" panose="020B0604020202020204" pitchFamily="34" charset="0"/>
                        </a:rPr>
                        <a:t>Score: 3</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A9DFBF"/>
                    </a:solidFill>
                  </a:tcPr>
                </a:tc>
                <a:tc>
                  <a:txBody>
                    <a:bodyPr/>
                    <a:lstStyle/>
                    <a:p>
                      <a:pPr algn="ctr" fontAlgn="ctr"/>
                      <a:r>
                        <a:rPr lang="en-MY" sz="900" b="0" i="0" u="none" strike="noStrike">
                          <a:solidFill>
                            <a:srgbClr val="000000"/>
                          </a:solidFill>
                          <a:effectLst/>
                          <a:latin typeface="Arial" panose="020B0604020202020204" pitchFamily="34" charset="0"/>
                        </a:rPr>
                        <a:t>Score: 6</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1C40F"/>
                    </a:solidFill>
                  </a:tcPr>
                </a:tc>
                <a:tc>
                  <a:txBody>
                    <a:bodyPr/>
                    <a:lstStyle/>
                    <a:p>
                      <a:pPr algn="ctr" fontAlgn="ctr"/>
                      <a:r>
                        <a:rPr lang="en-MY" sz="900" b="1" i="0" u="none" strike="noStrike">
                          <a:solidFill>
                            <a:srgbClr val="FFFFFF"/>
                          </a:solidFill>
                          <a:effectLst/>
                          <a:latin typeface="Arial" panose="020B0604020202020204" pitchFamily="34" charset="0"/>
                        </a:rPr>
                        <a:t>Score: 9</a:t>
                      </a:r>
                      <a:br>
                        <a:rPr lang="en-MY" sz="900" b="1" i="0" u="none" strike="noStrike">
                          <a:solidFill>
                            <a:srgbClr val="FFFFFF"/>
                          </a:solidFill>
                          <a:effectLst/>
                          <a:latin typeface="Arial" panose="020B0604020202020204" pitchFamily="34" charset="0"/>
                        </a:rPr>
                      </a:br>
                      <a:r>
                        <a:rPr lang="en-MY" sz="900" b="1" i="0" u="none" strike="noStrike">
                          <a:solidFill>
                            <a:srgbClr val="FFFFFF"/>
                          </a:solidFill>
                          <a:effectLst/>
                          <a:latin typeface="Arial" panose="020B0604020202020204" pitchFamily="34" charset="0"/>
                        </a:rPr>
                        <a:t>R3</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67E22"/>
                    </a:solidFill>
                  </a:tcPr>
                </a:tc>
                <a:tc>
                  <a:txBody>
                    <a:bodyPr/>
                    <a:lstStyle/>
                    <a:p>
                      <a:pPr algn="ctr" fontAlgn="ctr"/>
                      <a:r>
                        <a:rPr lang="en-MY" sz="900" b="0" i="0" u="none" strike="noStrike">
                          <a:solidFill>
                            <a:srgbClr val="FFFFFF"/>
                          </a:solidFill>
                          <a:effectLst/>
                          <a:latin typeface="Arial" panose="020B0604020202020204" pitchFamily="34" charset="0"/>
                        </a:rPr>
                        <a:t>Score: 12</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67E22"/>
                    </a:solidFill>
                  </a:tcPr>
                </a:tc>
                <a:tc>
                  <a:txBody>
                    <a:bodyPr/>
                    <a:lstStyle/>
                    <a:p>
                      <a:pPr algn="ctr" fontAlgn="ctr"/>
                      <a:r>
                        <a:rPr lang="en-MY" sz="900" b="0" i="0" u="none" strike="noStrike">
                          <a:solidFill>
                            <a:srgbClr val="FFFFFF"/>
                          </a:solidFill>
                          <a:effectLst/>
                          <a:latin typeface="Arial" panose="020B0604020202020204" pitchFamily="34" charset="0"/>
                        </a:rPr>
                        <a:t>Score: 15</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0392B"/>
                    </a:solidFill>
                  </a:tcPr>
                </a:tc>
                <a:tc>
                  <a:txBody>
                    <a:bodyPr/>
                    <a:lstStyle/>
                    <a:p>
                      <a:pPr algn="l" fontAlgn="b"/>
                      <a:endParaRPr lang="en-MY" sz="1100" b="0" i="0" u="none" strike="noStrike">
                        <a:solidFill>
                          <a:srgbClr val="000000"/>
                        </a:solidFill>
                        <a:effectLst/>
                        <a:latin typeface="Calibri" panose="020F0502020204030204" pitchFamily="34" charset="0"/>
                      </a:endParaRPr>
                    </a:p>
                  </a:txBody>
                  <a:tcPr marL="6350" marR="6350" marT="6350" marB="0" anchor="b">
                    <a:lnL w="6350" cap="flat" cmpd="sng" algn="ctr">
                      <a:solidFill>
                        <a:srgbClr val="CCCCCC"/>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2960998804"/>
                  </a:ext>
                </a:extLst>
              </a:tr>
              <a:tr h="605073">
                <a:tc>
                  <a:txBody>
                    <a:bodyPr/>
                    <a:lstStyle/>
                    <a:p>
                      <a:pPr algn="ctr" fontAlgn="ctr"/>
                      <a:r>
                        <a:rPr lang="en-MY" sz="900" b="1" i="0" u="none" strike="noStrike">
                          <a:solidFill>
                            <a:srgbClr val="FFFFFF"/>
                          </a:solidFill>
                          <a:effectLst/>
                          <a:latin typeface="Arial" panose="020B0604020202020204" pitchFamily="34" charset="0"/>
                        </a:rPr>
                        <a:t>Prob 2</a:t>
                      </a:r>
                      <a:br>
                        <a:rPr lang="en-MY" sz="900" b="1" i="0" u="none" strike="noStrike">
                          <a:solidFill>
                            <a:srgbClr val="FFFFFF"/>
                          </a:solidFill>
                          <a:effectLst/>
                          <a:latin typeface="Arial" panose="020B0604020202020204" pitchFamily="34" charset="0"/>
                        </a:rPr>
                      </a:br>
                      <a:r>
                        <a:rPr lang="en-MY" sz="900" b="1" i="0" u="none" strike="noStrike">
                          <a:solidFill>
                            <a:srgbClr val="FFFFFF"/>
                          </a:solidFill>
                          <a:effectLst/>
                          <a:latin typeface="Arial" panose="020B0604020202020204" pitchFamily="34" charset="0"/>
                        </a:rPr>
                        <a:t>(Unlikely)</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3864"/>
                    </a:solidFill>
                  </a:tcPr>
                </a:tc>
                <a:tc>
                  <a:txBody>
                    <a:bodyPr/>
                    <a:lstStyle/>
                    <a:p>
                      <a:pPr algn="ctr" fontAlgn="ctr"/>
                      <a:r>
                        <a:rPr lang="en-MY" sz="900" b="0" i="0" u="none" strike="noStrike">
                          <a:solidFill>
                            <a:srgbClr val="000000"/>
                          </a:solidFill>
                          <a:effectLst/>
                          <a:latin typeface="Arial" panose="020B0604020202020204" pitchFamily="34" charset="0"/>
                        </a:rPr>
                        <a:t>Score: 2</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A9DFBF"/>
                    </a:solidFill>
                  </a:tcPr>
                </a:tc>
                <a:tc>
                  <a:txBody>
                    <a:bodyPr/>
                    <a:lstStyle/>
                    <a:p>
                      <a:pPr algn="ctr" fontAlgn="ctr"/>
                      <a:r>
                        <a:rPr lang="en-MY" sz="900" b="0" i="0" u="none" strike="noStrike">
                          <a:solidFill>
                            <a:srgbClr val="000000"/>
                          </a:solidFill>
                          <a:effectLst/>
                          <a:latin typeface="Arial" panose="020B0604020202020204" pitchFamily="34" charset="0"/>
                        </a:rPr>
                        <a:t>Score: 4</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1C40F"/>
                    </a:solidFill>
                  </a:tcPr>
                </a:tc>
                <a:tc>
                  <a:txBody>
                    <a:bodyPr/>
                    <a:lstStyle/>
                    <a:p>
                      <a:pPr algn="ctr" fontAlgn="ctr"/>
                      <a:r>
                        <a:rPr lang="en-MY" sz="900" b="0" i="0" u="none" strike="noStrike">
                          <a:solidFill>
                            <a:srgbClr val="000000"/>
                          </a:solidFill>
                          <a:effectLst/>
                          <a:latin typeface="Arial" panose="020B0604020202020204" pitchFamily="34" charset="0"/>
                        </a:rPr>
                        <a:t>Score: 6</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1C40F"/>
                    </a:solidFill>
                  </a:tcPr>
                </a:tc>
                <a:tc>
                  <a:txBody>
                    <a:bodyPr/>
                    <a:lstStyle/>
                    <a:p>
                      <a:pPr algn="ctr" fontAlgn="ctr"/>
                      <a:r>
                        <a:rPr lang="en-MY" sz="900" b="0" i="0" u="none" strike="noStrike">
                          <a:solidFill>
                            <a:srgbClr val="000000"/>
                          </a:solidFill>
                          <a:effectLst/>
                          <a:latin typeface="Arial" panose="020B0604020202020204" pitchFamily="34" charset="0"/>
                        </a:rPr>
                        <a:t>Score: 8</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1C40F"/>
                    </a:solidFill>
                  </a:tcPr>
                </a:tc>
                <a:tc>
                  <a:txBody>
                    <a:bodyPr/>
                    <a:lstStyle/>
                    <a:p>
                      <a:pPr algn="ctr" fontAlgn="ctr"/>
                      <a:r>
                        <a:rPr lang="en-MY" sz="900" b="1" i="0" u="none" strike="noStrike">
                          <a:solidFill>
                            <a:srgbClr val="FFFFFF"/>
                          </a:solidFill>
                          <a:effectLst/>
                          <a:latin typeface="Arial" panose="020B0604020202020204" pitchFamily="34" charset="0"/>
                        </a:rPr>
                        <a:t>Score: 10</a:t>
                      </a:r>
                      <a:br>
                        <a:rPr lang="en-MY" sz="900" b="1" i="0" u="none" strike="noStrike">
                          <a:solidFill>
                            <a:srgbClr val="FFFFFF"/>
                          </a:solidFill>
                          <a:effectLst/>
                          <a:latin typeface="Arial" panose="020B0604020202020204" pitchFamily="34" charset="0"/>
                        </a:rPr>
                      </a:br>
                      <a:r>
                        <a:rPr lang="en-MY" sz="900" b="1" i="0" u="none" strike="noStrike">
                          <a:solidFill>
                            <a:srgbClr val="FFFFFF"/>
                          </a:solidFill>
                          <a:effectLst/>
                          <a:latin typeface="Arial" panose="020B0604020202020204" pitchFamily="34" charset="0"/>
                        </a:rPr>
                        <a:t>R5, R6</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67E22"/>
                    </a:solidFill>
                  </a:tcPr>
                </a:tc>
                <a:tc>
                  <a:txBody>
                    <a:bodyPr/>
                    <a:lstStyle/>
                    <a:p>
                      <a:pPr algn="l" fontAlgn="b"/>
                      <a:endParaRPr lang="en-MY" sz="1100" b="0" i="0" u="none" strike="noStrike">
                        <a:solidFill>
                          <a:srgbClr val="000000"/>
                        </a:solidFill>
                        <a:effectLst/>
                        <a:latin typeface="Calibri" panose="020F0502020204030204" pitchFamily="34" charset="0"/>
                      </a:endParaRPr>
                    </a:p>
                  </a:txBody>
                  <a:tcPr marL="6350" marR="6350" marT="6350" marB="0" anchor="b">
                    <a:lnL w="6350" cap="flat" cmpd="sng" algn="ctr">
                      <a:solidFill>
                        <a:srgbClr val="CCCCCC"/>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156090947"/>
                  </a:ext>
                </a:extLst>
              </a:tr>
              <a:tr h="605073">
                <a:tc>
                  <a:txBody>
                    <a:bodyPr/>
                    <a:lstStyle/>
                    <a:p>
                      <a:pPr algn="ctr" fontAlgn="ctr"/>
                      <a:r>
                        <a:rPr lang="en-MY" sz="900" b="1" i="0" u="none" strike="noStrike">
                          <a:solidFill>
                            <a:srgbClr val="FFFFFF"/>
                          </a:solidFill>
                          <a:effectLst/>
                          <a:latin typeface="Arial" panose="020B0604020202020204" pitchFamily="34" charset="0"/>
                        </a:rPr>
                        <a:t>Prob 1</a:t>
                      </a:r>
                      <a:br>
                        <a:rPr lang="en-MY" sz="900" b="1" i="0" u="none" strike="noStrike">
                          <a:solidFill>
                            <a:srgbClr val="FFFFFF"/>
                          </a:solidFill>
                          <a:effectLst/>
                          <a:latin typeface="Arial" panose="020B0604020202020204" pitchFamily="34" charset="0"/>
                        </a:rPr>
                      </a:br>
                      <a:r>
                        <a:rPr lang="en-MY" sz="900" b="1" i="0" u="none" strike="noStrike">
                          <a:solidFill>
                            <a:srgbClr val="FFFFFF"/>
                          </a:solidFill>
                          <a:effectLst/>
                          <a:latin typeface="Arial" panose="020B0604020202020204" pitchFamily="34" charset="0"/>
                        </a:rPr>
                        <a:t>(Rare)</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3864"/>
                    </a:solidFill>
                  </a:tcPr>
                </a:tc>
                <a:tc>
                  <a:txBody>
                    <a:bodyPr/>
                    <a:lstStyle/>
                    <a:p>
                      <a:pPr algn="ctr" fontAlgn="ctr"/>
                      <a:r>
                        <a:rPr lang="en-MY" sz="900" b="0" i="0" u="none" strike="noStrike">
                          <a:solidFill>
                            <a:srgbClr val="000000"/>
                          </a:solidFill>
                          <a:effectLst/>
                          <a:latin typeface="Arial" panose="020B0604020202020204" pitchFamily="34" charset="0"/>
                        </a:rPr>
                        <a:t>Score: 1</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A9DFBF"/>
                    </a:solidFill>
                  </a:tcPr>
                </a:tc>
                <a:tc>
                  <a:txBody>
                    <a:bodyPr/>
                    <a:lstStyle/>
                    <a:p>
                      <a:pPr algn="ctr" fontAlgn="ctr"/>
                      <a:r>
                        <a:rPr lang="en-MY" sz="900" b="0" i="0" u="none" strike="noStrike">
                          <a:solidFill>
                            <a:srgbClr val="000000"/>
                          </a:solidFill>
                          <a:effectLst/>
                          <a:latin typeface="Arial" panose="020B0604020202020204" pitchFamily="34" charset="0"/>
                        </a:rPr>
                        <a:t>Score: 2</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A9DFBF"/>
                    </a:solidFill>
                  </a:tcPr>
                </a:tc>
                <a:tc>
                  <a:txBody>
                    <a:bodyPr/>
                    <a:lstStyle/>
                    <a:p>
                      <a:pPr algn="ctr" fontAlgn="ctr"/>
                      <a:r>
                        <a:rPr lang="en-MY" sz="900" b="0" i="0" u="none" strike="noStrike">
                          <a:solidFill>
                            <a:srgbClr val="000000"/>
                          </a:solidFill>
                          <a:effectLst/>
                          <a:latin typeface="Arial" panose="020B0604020202020204" pitchFamily="34" charset="0"/>
                        </a:rPr>
                        <a:t>Score: 3</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A9DFBF"/>
                    </a:solidFill>
                  </a:tcPr>
                </a:tc>
                <a:tc>
                  <a:txBody>
                    <a:bodyPr/>
                    <a:lstStyle/>
                    <a:p>
                      <a:pPr algn="ctr" fontAlgn="ctr"/>
                      <a:r>
                        <a:rPr lang="en-MY" sz="900" b="0" i="0" u="none" strike="noStrike">
                          <a:solidFill>
                            <a:srgbClr val="000000"/>
                          </a:solidFill>
                          <a:effectLst/>
                          <a:latin typeface="Arial" panose="020B0604020202020204" pitchFamily="34" charset="0"/>
                        </a:rPr>
                        <a:t>Score: 4</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1C40F"/>
                    </a:solidFill>
                  </a:tcPr>
                </a:tc>
                <a:tc>
                  <a:txBody>
                    <a:bodyPr/>
                    <a:lstStyle/>
                    <a:p>
                      <a:pPr algn="ctr" fontAlgn="ctr"/>
                      <a:r>
                        <a:rPr lang="en-MY" sz="900" b="0" i="0" u="none" strike="noStrike">
                          <a:solidFill>
                            <a:srgbClr val="000000"/>
                          </a:solidFill>
                          <a:effectLst/>
                          <a:latin typeface="Arial" panose="020B0604020202020204" pitchFamily="34" charset="0"/>
                        </a:rPr>
                        <a:t>Score: 5</a:t>
                      </a:r>
                    </a:p>
                  </a:txBody>
                  <a:tcPr marL="6350" marR="6350" marT="635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1C40F"/>
                    </a:solidFill>
                  </a:tcPr>
                </a:tc>
                <a:tc>
                  <a:txBody>
                    <a:bodyPr/>
                    <a:lstStyle/>
                    <a:p>
                      <a:pPr algn="l" fontAlgn="b"/>
                      <a:endParaRPr lang="en-MY" sz="1100" b="0" i="0" u="none" strike="noStrike" dirty="0">
                        <a:solidFill>
                          <a:srgbClr val="000000"/>
                        </a:solidFill>
                        <a:effectLst/>
                        <a:latin typeface="Calibri" panose="020F0502020204030204" pitchFamily="34" charset="0"/>
                      </a:endParaRPr>
                    </a:p>
                  </a:txBody>
                  <a:tcPr marL="6350" marR="6350" marT="6350" marB="0" anchor="b">
                    <a:lnL w="6350" cap="flat" cmpd="sng" algn="ctr">
                      <a:solidFill>
                        <a:srgbClr val="CCCCCC"/>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527164404"/>
                  </a:ext>
                </a:extLst>
              </a:tr>
            </a:tbl>
          </a:graphicData>
        </a:graphic>
      </p:graphicFrame>
    </p:spTree>
    <p:extLst>
      <p:ext uri="{BB962C8B-B14F-4D97-AF65-F5344CB8AC3E}">
        <p14:creationId xmlns:p14="http://schemas.microsoft.com/office/powerpoint/2010/main" val="422360430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411DA2-75E9-7D39-6BD5-301FDF9B257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7F91FB2-1776-F084-C1ED-75B4378B16F2}"/>
              </a:ext>
            </a:extLst>
          </p:cNvPr>
          <p:cNvSpPr>
            <a:spLocks noGrp="1"/>
          </p:cNvSpPr>
          <p:nvPr>
            <p:ph type="title"/>
          </p:nvPr>
        </p:nvSpPr>
        <p:spPr>
          <a:xfrm>
            <a:off x="572756" y="133943"/>
            <a:ext cx="9813446" cy="850726"/>
          </a:xfrm>
        </p:spPr>
        <p:txBody>
          <a:bodyPr>
            <a:noAutofit/>
          </a:bodyPr>
          <a:lstStyle/>
          <a:p>
            <a:r>
              <a:rPr lang="en-US" sz="3200" dirty="0"/>
              <a:t>Process Modeling</a:t>
            </a:r>
          </a:p>
        </p:txBody>
      </p:sp>
      <p:sp>
        <p:nvSpPr>
          <p:cNvPr id="8" name="Content Placeholder 4">
            <a:extLst>
              <a:ext uri="{FF2B5EF4-FFF2-40B4-BE49-F238E27FC236}">
                <a16:creationId xmlns:a16="http://schemas.microsoft.com/office/drawing/2014/main" id="{272E9F1D-20A5-5EDA-6D2E-C59D716D80F2}"/>
              </a:ext>
            </a:extLst>
          </p:cNvPr>
          <p:cNvSpPr txBox="1">
            <a:spLocks/>
          </p:cNvSpPr>
          <p:nvPr/>
        </p:nvSpPr>
        <p:spPr>
          <a:xfrm>
            <a:off x="573087" y="1216025"/>
            <a:ext cx="10659485" cy="4503738"/>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b="1" dirty="0"/>
              <a:t>Core banking process </a:t>
            </a:r>
            <a:r>
              <a:rPr lang="en-US" sz="2400" b="1" dirty="0" smtClean="0"/>
              <a:t>flowchart</a:t>
            </a:r>
          </a:p>
          <a:p>
            <a:pPr marL="0" indent="0">
              <a:buFont typeface="Arial" panose="020B0604020202020204" pitchFamily="34" charset="0"/>
              <a:buNone/>
            </a:pPr>
            <a:endParaRPr lang="en-US" sz="2400" b="1" dirty="0"/>
          </a:p>
        </p:txBody>
      </p:sp>
      <p:graphicFrame>
        <p:nvGraphicFramePr>
          <p:cNvPr id="3" name="Table 2"/>
          <p:cNvGraphicFramePr>
            <a:graphicFrameLocks noGrp="1"/>
          </p:cNvGraphicFramePr>
          <p:nvPr>
            <p:extLst>
              <p:ext uri="{D42A27DB-BD31-4B8C-83A1-F6EECF244321}">
                <p14:modId xmlns:p14="http://schemas.microsoft.com/office/powerpoint/2010/main" val="165408313"/>
              </p:ext>
            </p:extLst>
          </p:nvPr>
        </p:nvGraphicFramePr>
        <p:xfrm>
          <a:off x="678426" y="1718271"/>
          <a:ext cx="10953135" cy="4566047"/>
        </p:xfrm>
        <a:graphic>
          <a:graphicData uri="http://schemas.openxmlformats.org/drawingml/2006/table">
            <a:tbl>
              <a:tblPr/>
              <a:tblGrid>
                <a:gridCol w="10953135">
                  <a:extLst>
                    <a:ext uri="{9D8B030D-6E8A-4147-A177-3AD203B41FA5}">
                      <a16:colId xmlns:a16="http://schemas.microsoft.com/office/drawing/2014/main" val="2907166845"/>
                    </a:ext>
                  </a:extLst>
                </a:gridCol>
              </a:tblGrid>
              <a:tr h="171378">
                <a:tc>
                  <a:txBody>
                    <a:bodyPr/>
                    <a:lstStyle/>
                    <a:p>
                      <a:pPr algn="ctr">
                        <a:spcAft>
                          <a:spcPts val="0"/>
                        </a:spcAft>
                      </a:pPr>
                      <a:r>
                        <a:rPr lang="en-MY" sz="600" b="1">
                          <a:solidFill>
                            <a:srgbClr val="FFFFFF"/>
                          </a:solidFill>
                          <a:effectLst/>
                          <a:latin typeface="Arial" panose="020B0604020202020204" pitchFamily="34" charset="0"/>
                          <a:ea typeface="Arial" panose="020B0604020202020204" pitchFamily="34" charset="0"/>
                        </a:rPr>
                        <a:t>START: Customer Initiates Account Request</a:t>
                      </a:r>
                      <a:endParaRPr lang="en-MY" sz="600">
                        <a:effectLst/>
                        <a:latin typeface="Arial" panose="020B0604020202020204" pitchFamily="34" charset="0"/>
                        <a:ea typeface="Arial" panose="020B0604020202020204" pitchFamily="34" charset="0"/>
                      </a:endParaRPr>
                    </a:p>
                  </a:txBody>
                  <a:tcPr marL="55733" marR="55733" marT="41800" marB="4180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3864"/>
                    </a:solidFill>
                  </a:tcPr>
                </a:tc>
                <a:extLst>
                  <a:ext uri="{0D108BD9-81ED-4DB2-BD59-A6C34878D82A}">
                    <a16:rowId xmlns:a16="http://schemas.microsoft.com/office/drawing/2014/main" val="141163105"/>
                  </a:ext>
                </a:extLst>
              </a:tr>
              <a:tr h="83599">
                <a:tc>
                  <a:txBody>
                    <a:bodyPr/>
                    <a:lstStyle/>
                    <a:p>
                      <a:pPr algn="ctr">
                        <a:spcAft>
                          <a:spcPts val="0"/>
                        </a:spcAft>
                      </a:pPr>
                      <a:r>
                        <a:rPr lang="en-MY" sz="500">
                          <a:solidFill>
                            <a:srgbClr val="777777"/>
                          </a:solidFill>
                          <a:effectLst/>
                          <a:latin typeface="Arial" panose="020B0604020202020204" pitchFamily="34" charset="0"/>
                          <a:ea typeface="Arial" panose="020B0604020202020204" pitchFamily="34" charset="0"/>
                        </a:rPr>
                        <a:t>▼</a:t>
                      </a:r>
                      <a:endParaRPr lang="en-MY" sz="600">
                        <a:effectLst/>
                        <a:latin typeface="Arial" panose="020B0604020202020204" pitchFamily="34" charset="0"/>
                        <a:ea typeface="Arial" panose="020B0604020202020204" pitchFamily="34" charset="0"/>
                      </a:endParaRPr>
                    </a:p>
                  </a:txBody>
                  <a:tcPr marL="0" marR="0" marT="0" marB="0">
                    <a:lnL>
                      <a:noFill/>
                    </a:lnL>
                    <a:lnR>
                      <a:noFill/>
                    </a:lnR>
                    <a:lnT w="12700" cap="flat" cmpd="sng" algn="ctr">
                      <a:solidFill>
                        <a:srgbClr val="CCCCCC"/>
                      </a:solidFill>
                      <a:prstDash val="solid"/>
                      <a:round/>
                      <a:headEnd type="none" w="med" len="med"/>
                      <a:tailEnd type="none" w="med" len="med"/>
                    </a:lnT>
                    <a:lnB>
                      <a:noFill/>
                    </a:lnB>
                  </a:tcPr>
                </a:tc>
                <a:extLst>
                  <a:ext uri="{0D108BD9-81ED-4DB2-BD59-A6C34878D82A}">
                    <a16:rowId xmlns:a16="http://schemas.microsoft.com/office/drawing/2014/main" val="1408629739"/>
                  </a:ext>
                </a:extLst>
              </a:tr>
              <a:tr h="267517">
                <a:tc>
                  <a:txBody>
                    <a:bodyPr/>
                    <a:lstStyle/>
                    <a:p>
                      <a:pPr algn="ctr">
                        <a:spcAft>
                          <a:spcPts val="300"/>
                        </a:spcAft>
                      </a:pPr>
                      <a:r>
                        <a:rPr lang="en-MY" sz="600" b="1" dirty="0">
                          <a:solidFill>
                            <a:srgbClr val="FFFFFF"/>
                          </a:solidFill>
                          <a:effectLst/>
                          <a:latin typeface="Arial" panose="020B0604020202020204" pitchFamily="34" charset="0"/>
                          <a:ea typeface="Arial" panose="020B0604020202020204" pitchFamily="34" charset="0"/>
                        </a:rPr>
                        <a:t>Customer Logs In or Registers on Portal</a:t>
                      </a:r>
                      <a:endParaRPr lang="en-MY" sz="600" dirty="0">
                        <a:effectLst/>
                        <a:latin typeface="Arial" panose="020B0604020202020204" pitchFamily="34" charset="0"/>
                        <a:ea typeface="Arial" panose="020B0604020202020204" pitchFamily="34" charset="0"/>
                      </a:endParaRPr>
                    </a:p>
                    <a:p>
                      <a:pPr algn="ctr">
                        <a:spcAft>
                          <a:spcPts val="0"/>
                        </a:spcAft>
                      </a:pPr>
                      <a:r>
                        <a:rPr lang="en-MY" sz="500" i="1" dirty="0">
                          <a:solidFill>
                            <a:srgbClr val="DDDDDD"/>
                          </a:solidFill>
                          <a:effectLst/>
                          <a:latin typeface="Arial" panose="020B0604020202020204" pitchFamily="34" charset="0"/>
                          <a:ea typeface="Arial" panose="020B0604020202020204" pitchFamily="34" charset="0"/>
                        </a:rPr>
                        <a:t>Web / Mobile App</a:t>
                      </a:r>
                      <a:endParaRPr lang="en-MY" sz="600" dirty="0">
                        <a:effectLst/>
                        <a:latin typeface="Arial" panose="020B0604020202020204" pitchFamily="34" charset="0"/>
                        <a:ea typeface="Arial" panose="020B0604020202020204" pitchFamily="34" charset="0"/>
                      </a:endParaRPr>
                    </a:p>
                  </a:txBody>
                  <a:tcPr marL="55733" marR="55733" marT="41800" marB="4180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a:noFill/>
                    </a:lnT>
                    <a:lnB w="12700" cap="flat" cmpd="sng" algn="ctr">
                      <a:solidFill>
                        <a:srgbClr val="CCCCCC"/>
                      </a:solidFill>
                      <a:prstDash val="solid"/>
                      <a:round/>
                      <a:headEnd type="none" w="med" len="med"/>
                      <a:tailEnd type="none" w="med" len="med"/>
                    </a:lnB>
                    <a:solidFill>
                      <a:srgbClr val="1A7A4A"/>
                    </a:solidFill>
                  </a:tcPr>
                </a:tc>
                <a:extLst>
                  <a:ext uri="{0D108BD9-81ED-4DB2-BD59-A6C34878D82A}">
                    <a16:rowId xmlns:a16="http://schemas.microsoft.com/office/drawing/2014/main" val="3930475718"/>
                  </a:ext>
                </a:extLst>
              </a:tr>
              <a:tr h="83599">
                <a:tc>
                  <a:txBody>
                    <a:bodyPr/>
                    <a:lstStyle/>
                    <a:p>
                      <a:pPr algn="ctr">
                        <a:spcAft>
                          <a:spcPts val="0"/>
                        </a:spcAft>
                      </a:pPr>
                      <a:r>
                        <a:rPr lang="en-MY" sz="500">
                          <a:solidFill>
                            <a:srgbClr val="777777"/>
                          </a:solidFill>
                          <a:effectLst/>
                          <a:latin typeface="Arial" panose="020B0604020202020204" pitchFamily="34" charset="0"/>
                          <a:ea typeface="Arial" panose="020B0604020202020204" pitchFamily="34" charset="0"/>
                        </a:rPr>
                        <a:t>▼</a:t>
                      </a:r>
                      <a:endParaRPr lang="en-MY" sz="600">
                        <a:effectLst/>
                        <a:latin typeface="Arial" panose="020B0604020202020204" pitchFamily="34" charset="0"/>
                        <a:ea typeface="Arial" panose="020B0604020202020204" pitchFamily="34" charset="0"/>
                      </a:endParaRPr>
                    </a:p>
                  </a:txBody>
                  <a:tcPr marL="0" marR="0" marT="0" marB="0">
                    <a:lnL>
                      <a:noFill/>
                    </a:lnL>
                    <a:lnR>
                      <a:noFill/>
                    </a:lnR>
                    <a:lnT w="12700" cap="flat" cmpd="sng" algn="ctr">
                      <a:solidFill>
                        <a:srgbClr val="CCCCCC"/>
                      </a:solidFill>
                      <a:prstDash val="solid"/>
                      <a:round/>
                      <a:headEnd type="none" w="med" len="med"/>
                      <a:tailEnd type="none" w="med" len="med"/>
                    </a:lnT>
                    <a:lnB>
                      <a:noFill/>
                    </a:lnB>
                  </a:tcPr>
                </a:tc>
                <a:extLst>
                  <a:ext uri="{0D108BD9-81ED-4DB2-BD59-A6C34878D82A}">
                    <a16:rowId xmlns:a16="http://schemas.microsoft.com/office/drawing/2014/main" val="3530771794"/>
                  </a:ext>
                </a:extLst>
              </a:tr>
              <a:tr h="267517">
                <a:tc>
                  <a:txBody>
                    <a:bodyPr/>
                    <a:lstStyle/>
                    <a:p>
                      <a:pPr algn="ctr">
                        <a:spcAft>
                          <a:spcPts val="300"/>
                        </a:spcAft>
                      </a:pPr>
                      <a:r>
                        <a:rPr lang="en-MY" sz="600" b="1">
                          <a:solidFill>
                            <a:srgbClr val="FFFFFF"/>
                          </a:solidFill>
                          <a:effectLst/>
                          <a:latin typeface="Arial" panose="020B0604020202020204" pitchFamily="34" charset="0"/>
                          <a:ea typeface="Arial" panose="020B0604020202020204" pitchFamily="34" charset="0"/>
                        </a:rPr>
                        <a:t>Select Account Type &amp; Preferred Branch</a:t>
                      </a:r>
                      <a:endParaRPr lang="en-MY" sz="600">
                        <a:effectLst/>
                        <a:latin typeface="Arial" panose="020B0604020202020204" pitchFamily="34" charset="0"/>
                        <a:ea typeface="Arial" panose="020B0604020202020204" pitchFamily="34" charset="0"/>
                      </a:endParaRPr>
                    </a:p>
                    <a:p>
                      <a:pPr algn="ctr">
                        <a:spcAft>
                          <a:spcPts val="0"/>
                        </a:spcAft>
                      </a:pPr>
                      <a:r>
                        <a:rPr lang="en-MY" sz="500" i="1">
                          <a:solidFill>
                            <a:srgbClr val="DDDDDD"/>
                          </a:solidFill>
                          <a:effectLst/>
                          <a:latin typeface="Arial" panose="020B0604020202020204" pitchFamily="34" charset="0"/>
                          <a:ea typeface="Arial" panose="020B0604020202020204" pitchFamily="34" charset="0"/>
                        </a:rPr>
                        <a:t>Savings / Current / Business</a:t>
                      </a:r>
                      <a:endParaRPr lang="en-MY" sz="600">
                        <a:effectLst/>
                        <a:latin typeface="Arial" panose="020B0604020202020204" pitchFamily="34" charset="0"/>
                        <a:ea typeface="Arial" panose="020B0604020202020204" pitchFamily="34" charset="0"/>
                      </a:endParaRPr>
                    </a:p>
                  </a:txBody>
                  <a:tcPr marL="55733" marR="55733" marT="41800" marB="4180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a:noFill/>
                    </a:lnT>
                    <a:lnB w="12700" cap="flat" cmpd="sng" algn="ctr">
                      <a:solidFill>
                        <a:srgbClr val="CCCCCC"/>
                      </a:solidFill>
                      <a:prstDash val="solid"/>
                      <a:round/>
                      <a:headEnd type="none" w="med" len="med"/>
                      <a:tailEnd type="none" w="med" len="med"/>
                    </a:lnB>
                    <a:solidFill>
                      <a:srgbClr val="1A7A4A"/>
                    </a:solidFill>
                  </a:tcPr>
                </a:tc>
                <a:extLst>
                  <a:ext uri="{0D108BD9-81ED-4DB2-BD59-A6C34878D82A}">
                    <a16:rowId xmlns:a16="http://schemas.microsoft.com/office/drawing/2014/main" val="1106131856"/>
                  </a:ext>
                </a:extLst>
              </a:tr>
              <a:tr h="83599">
                <a:tc>
                  <a:txBody>
                    <a:bodyPr/>
                    <a:lstStyle/>
                    <a:p>
                      <a:pPr algn="ctr">
                        <a:spcAft>
                          <a:spcPts val="0"/>
                        </a:spcAft>
                      </a:pPr>
                      <a:r>
                        <a:rPr lang="en-MY" sz="500">
                          <a:solidFill>
                            <a:srgbClr val="777777"/>
                          </a:solidFill>
                          <a:effectLst/>
                          <a:latin typeface="Arial" panose="020B0604020202020204" pitchFamily="34" charset="0"/>
                          <a:ea typeface="Arial" panose="020B0604020202020204" pitchFamily="34" charset="0"/>
                        </a:rPr>
                        <a:t>▼</a:t>
                      </a:r>
                      <a:endParaRPr lang="en-MY" sz="600">
                        <a:effectLst/>
                        <a:latin typeface="Arial" panose="020B0604020202020204" pitchFamily="34" charset="0"/>
                        <a:ea typeface="Arial" panose="020B0604020202020204" pitchFamily="34" charset="0"/>
                      </a:endParaRPr>
                    </a:p>
                  </a:txBody>
                  <a:tcPr marL="0" marR="0" marT="0" marB="0">
                    <a:lnL>
                      <a:noFill/>
                    </a:lnL>
                    <a:lnR>
                      <a:noFill/>
                    </a:lnR>
                    <a:lnT w="12700" cap="flat" cmpd="sng" algn="ctr">
                      <a:solidFill>
                        <a:srgbClr val="CCCCCC"/>
                      </a:solidFill>
                      <a:prstDash val="solid"/>
                      <a:round/>
                      <a:headEnd type="none" w="med" len="med"/>
                      <a:tailEnd type="none" w="med" len="med"/>
                    </a:lnT>
                    <a:lnB>
                      <a:noFill/>
                    </a:lnB>
                  </a:tcPr>
                </a:tc>
                <a:extLst>
                  <a:ext uri="{0D108BD9-81ED-4DB2-BD59-A6C34878D82A}">
                    <a16:rowId xmlns:a16="http://schemas.microsoft.com/office/drawing/2014/main" val="2612878696"/>
                  </a:ext>
                </a:extLst>
              </a:tr>
              <a:tr h="171378">
                <a:tc>
                  <a:txBody>
                    <a:bodyPr/>
                    <a:lstStyle/>
                    <a:p>
                      <a:pPr algn="ctr">
                        <a:spcAft>
                          <a:spcPts val="0"/>
                        </a:spcAft>
                      </a:pPr>
                      <a:r>
                        <a:rPr lang="en-MY" sz="600" b="1">
                          <a:solidFill>
                            <a:srgbClr val="FFFFFF"/>
                          </a:solidFill>
                          <a:effectLst/>
                          <a:latin typeface="Arial" panose="020B0604020202020204" pitchFamily="34" charset="0"/>
                          <a:ea typeface="Arial" panose="020B0604020202020204" pitchFamily="34" charset="0"/>
                        </a:rPr>
                        <a:t>◆  ◆  Is the Customer an Existing User?</a:t>
                      </a:r>
                      <a:endParaRPr lang="en-MY" sz="600">
                        <a:effectLst/>
                        <a:latin typeface="Arial" panose="020B0604020202020204" pitchFamily="34" charset="0"/>
                        <a:ea typeface="Arial" panose="020B0604020202020204" pitchFamily="34" charset="0"/>
                      </a:endParaRPr>
                    </a:p>
                  </a:txBody>
                  <a:tcPr marL="55733" marR="55733" marT="41800" marB="4180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a:noFill/>
                    </a:lnT>
                    <a:lnB w="12700" cap="flat" cmpd="sng" algn="ctr">
                      <a:solidFill>
                        <a:srgbClr val="CCCCCC"/>
                      </a:solidFill>
                      <a:prstDash val="solid"/>
                      <a:round/>
                      <a:headEnd type="none" w="med" len="med"/>
                      <a:tailEnd type="none" w="med" len="med"/>
                    </a:lnB>
                    <a:solidFill>
                      <a:srgbClr val="B7950B"/>
                    </a:solidFill>
                  </a:tcPr>
                </a:tc>
                <a:extLst>
                  <a:ext uri="{0D108BD9-81ED-4DB2-BD59-A6C34878D82A}">
                    <a16:rowId xmlns:a16="http://schemas.microsoft.com/office/drawing/2014/main" val="1511465998"/>
                  </a:ext>
                </a:extLst>
              </a:tr>
              <a:tr h="83599">
                <a:tc>
                  <a:txBody>
                    <a:bodyPr/>
                    <a:lstStyle/>
                    <a:p>
                      <a:pPr algn="ctr">
                        <a:spcAft>
                          <a:spcPts val="0"/>
                        </a:spcAft>
                      </a:pPr>
                      <a:r>
                        <a:rPr lang="en-MY" sz="500" b="1" dirty="0">
                          <a:solidFill>
                            <a:srgbClr val="1A7A4A"/>
                          </a:solidFill>
                          <a:effectLst/>
                          <a:latin typeface="Arial" panose="020B0604020202020204" pitchFamily="34" charset="0"/>
                          <a:ea typeface="Arial" panose="020B0604020202020204" pitchFamily="34" charset="0"/>
                        </a:rPr>
                        <a:t>YES </a:t>
                      </a:r>
                      <a:r>
                        <a:rPr lang="en-MY" sz="500" dirty="0">
                          <a:solidFill>
                            <a:srgbClr val="777777"/>
                          </a:solidFill>
                          <a:effectLst/>
                          <a:latin typeface="Arial" panose="020B0604020202020204" pitchFamily="34" charset="0"/>
                          <a:ea typeface="Arial" panose="020B0604020202020204" pitchFamily="34" charset="0"/>
                        </a:rPr>
                        <a:t>▼</a:t>
                      </a:r>
                      <a:endParaRPr lang="en-MY" sz="600" dirty="0">
                        <a:effectLst/>
                        <a:latin typeface="Arial" panose="020B0604020202020204" pitchFamily="34" charset="0"/>
                        <a:ea typeface="Arial" panose="020B0604020202020204" pitchFamily="34" charset="0"/>
                      </a:endParaRPr>
                    </a:p>
                  </a:txBody>
                  <a:tcPr marL="0" marR="0" marT="0" marB="0">
                    <a:lnL>
                      <a:noFill/>
                    </a:lnL>
                    <a:lnR>
                      <a:noFill/>
                    </a:lnR>
                    <a:lnT w="12700" cap="flat" cmpd="sng" algn="ctr">
                      <a:solidFill>
                        <a:srgbClr val="CCCCCC"/>
                      </a:solidFill>
                      <a:prstDash val="solid"/>
                      <a:round/>
                      <a:headEnd type="none" w="med" len="med"/>
                      <a:tailEnd type="none" w="med" len="med"/>
                    </a:lnT>
                    <a:lnB>
                      <a:noFill/>
                    </a:lnB>
                  </a:tcPr>
                </a:tc>
                <a:extLst>
                  <a:ext uri="{0D108BD9-81ED-4DB2-BD59-A6C34878D82A}">
                    <a16:rowId xmlns:a16="http://schemas.microsoft.com/office/drawing/2014/main" val="536999909"/>
                  </a:ext>
                </a:extLst>
              </a:tr>
              <a:tr h="267517">
                <a:tc>
                  <a:txBody>
                    <a:bodyPr/>
                    <a:lstStyle/>
                    <a:p>
                      <a:pPr algn="ctr">
                        <a:spcAft>
                          <a:spcPts val="300"/>
                        </a:spcAft>
                      </a:pPr>
                      <a:r>
                        <a:rPr lang="en-MY" sz="600" b="1" dirty="0">
                          <a:solidFill>
                            <a:srgbClr val="FFFFFF"/>
                          </a:solidFill>
                          <a:effectLst/>
                          <a:latin typeface="Arial" panose="020B0604020202020204" pitchFamily="34" charset="0"/>
                          <a:ea typeface="Arial" panose="020B0604020202020204" pitchFamily="34" charset="0"/>
                        </a:rPr>
                        <a:t>Upload KYC Documents</a:t>
                      </a:r>
                      <a:endParaRPr lang="en-MY" sz="600" dirty="0">
                        <a:effectLst/>
                        <a:latin typeface="Arial" panose="020B0604020202020204" pitchFamily="34" charset="0"/>
                        <a:ea typeface="Arial" panose="020B0604020202020204" pitchFamily="34" charset="0"/>
                      </a:endParaRPr>
                    </a:p>
                    <a:p>
                      <a:pPr algn="ctr">
                        <a:spcAft>
                          <a:spcPts val="0"/>
                        </a:spcAft>
                      </a:pPr>
                      <a:r>
                        <a:rPr lang="en-MY" sz="500" i="1" dirty="0">
                          <a:solidFill>
                            <a:srgbClr val="DDDDDD"/>
                          </a:solidFill>
                          <a:effectLst/>
                          <a:latin typeface="Arial" panose="020B0604020202020204" pitchFamily="34" charset="0"/>
                          <a:ea typeface="Arial" panose="020B0604020202020204" pitchFamily="34" charset="0"/>
                        </a:rPr>
                        <a:t>Passport / National ID / Proof of Address</a:t>
                      </a:r>
                      <a:endParaRPr lang="en-MY" sz="600" dirty="0">
                        <a:effectLst/>
                        <a:latin typeface="Arial" panose="020B0604020202020204" pitchFamily="34" charset="0"/>
                        <a:ea typeface="Arial" panose="020B0604020202020204" pitchFamily="34" charset="0"/>
                      </a:endParaRPr>
                    </a:p>
                  </a:txBody>
                  <a:tcPr marL="55733" marR="55733" marT="41800" marB="4180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a:noFill/>
                    </a:lnT>
                    <a:lnB w="12700" cap="flat" cmpd="sng" algn="ctr">
                      <a:solidFill>
                        <a:srgbClr val="CCCCCC"/>
                      </a:solidFill>
                      <a:prstDash val="solid"/>
                      <a:round/>
                      <a:headEnd type="none" w="med" len="med"/>
                      <a:tailEnd type="none" w="med" len="med"/>
                    </a:lnB>
                    <a:solidFill>
                      <a:srgbClr val="1A7A4A"/>
                    </a:solidFill>
                  </a:tcPr>
                </a:tc>
                <a:extLst>
                  <a:ext uri="{0D108BD9-81ED-4DB2-BD59-A6C34878D82A}">
                    <a16:rowId xmlns:a16="http://schemas.microsoft.com/office/drawing/2014/main" val="345752212"/>
                  </a:ext>
                </a:extLst>
              </a:tr>
              <a:tr h="83599">
                <a:tc>
                  <a:txBody>
                    <a:bodyPr/>
                    <a:lstStyle/>
                    <a:p>
                      <a:pPr algn="ctr">
                        <a:spcAft>
                          <a:spcPts val="0"/>
                        </a:spcAft>
                      </a:pPr>
                      <a:r>
                        <a:rPr lang="en-MY" sz="500">
                          <a:solidFill>
                            <a:srgbClr val="777777"/>
                          </a:solidFill>
                          <a:effectLst/>
                          <a:latin typeface="Arial" panose="020B0604020202020204" pitchFamily="34" charset="0"/>
                          <a:ea typeface="Arial" panose="020B0604020202020204" pitchFamily="34" charset="0"/>
                        </a:rPr>
                        <a:t>▼</a:t>
                      </a:r>
                      <a:endParaRPr lang="en-MY" sz="600">
                        <a:effectLst/>
                        <a:latin typeface="Arial" panose="020B0604020202020204" pitchFamily="34" charset="0"/>
                        <a:ea typeface="Arial" panose="020B0604020202020204" pitchFamily="34" charset="0"/>
                      </a:endParaRPr>
                    </a:p>
                  </a:txBody>
                  <a:tcPr marL="0" marR="0" marT="0" marB="0">
                    <a:lnL>
                      <a:noFill/>
                    </a:lnL>
                    <a:lnR>
                      <a:noFill/>
                    </a:lnR>
                    <a:lnT w="12700" cap="flat" cmpd="sng" algn="ctr">
                      <a:solidFill>
                        <a:srgbClr val="CCCCCC"/>
                      </a:solidFill>
                      <a:prstDash val="solid"/>
                      <a:round/>
                      <a:headEnd type="none" w="med" len="med"/>
                      <a:tailEnd type="none" w="med" len="med"/>
                    </a:lnT>
                    <a:lnB>
                      <a:noFill/>
                    </a:lnB>
                  </a:tcPr>
                </a:tc>
                <a:extLst>
                  <a:ext uri="{0D108BD9-81ED-4DB2-BD59-A6C34878D82A}">
                    <a16:rowId xmlns:a16="http://schemas.microsoft.com/office/drawing/2014/main" val="3177385048"/>
                  </a:ext>
                </a:extLst>
              </a:tr>
              <a:tr h="267517">
                <a:tc>
                  <a:txBody>
                    <a:bodyPr/>
                    <a:lstStyle/>
                    <a:p>
                      <a:pPr algn="ctr">
                        <a:spcAft>
                          <a:spcPts val="300"/>
                        </a:spcAft>
                      </a:pPr>
                      <a:r>
                        <a:rPr lang="en-MY" sz="600" b="1">
                          <a:solidFill>
                            <a:srgbClr val="FFFFFF"/>
                          </a:solidFill>
                          <a:effectLst/>
                          <a:latin typeface="Arial" panose="020B0604020202020204" pitchFamily="34" charset="0"/>
                          <a:ea typeface="Arial" panose="020B0604020202020204" pitchFamily="34" charset="0"/>
                        </a:rPr>
                        <a:t>System Validates Document Format (OCR)</a:t>
                      </a:r>
                      <a:endParaRPr lang="en-MY" sz="600">
                        <a:effectLst/>
                        <a:latin typeface="Arial" panose="020B0604020202020204" pitchFamily="34" charset="0"/>
                        <a:ea typeface="Arial" panose="020B0604020202020204" pitchFamily="34" charset="0"/>
                      </a:endParaRPr>
                    </a:p>
                    <a:p>
                      <a:pPr algn="ctr">
                        <a:spcAft>
                          <a:spcPts val="0"/>
                        </a:spcAft>
                      </a:pPr>
                      <a:r>
                        <a:rPr lang="en-MY" sz="500" i="1">
                          <a:solidFill>
                            <a:srgbClr val="DDDDDD"/>
                          </a:solidFill>
                          <a:effectLst/>
                          <a:latin typeface="Arial" panose="020B0604020202020204" pitchFamily="34" charset="0"/>
                          <a:ea typeface="Arial" panose="020B0604020202020204" pitchFamily="34" charset="0"/>
                        </a:rPr>
                        <a:t>Automated Format Check</a:t>
                      </a:r>
                      <a:endParaRPr lang="en-MY" sz="600">
                        <a:effectLst/>
                        <a:latin typeface="Arial" panose="020B0604020202020204" pitchFamily="34" charset="0"/>
                        <a:ea typeface="Arial" panose="020B0604020202020204" pitchFamily="34" charset="0"/>
                      </a:endParaRPr>
                    </a:p>
                  </a:txBody>
                  <a:tcPr marL="55733" marR="55733" marT="41800" marB="4180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a:noFill/>
                    </a:lnT>
                    <a:lnB w="12700" cap="flat" cmpd="sng" algn="ctr">
                      <a:solidFill>
                        <a:srgbClr val="CCCCCC"/>
                      </a:solidFill>
                      <a:prstDash val="solid"/>
                      <a:round/>
                      <a:headEnd type="none" w="med" len="med"/>
                      <a:tailEnd type="none" w="med" len="med"/>
                    </a:lnB>
                    <a:solidFill>
                      <a:srgbClr val="2E75B6"/>
                    </a:solidFill>
                  </a:tcPr>
                </a:tc>
                <a:extLst>
                  <a:ext uri="{0D108BD9-81ED-4DB2-BD59-A6C34878D82A}">
                    <a16:rowId xmlns:a16="http://schemas.microsoft.com/office/drawing/2014/main" val="2649565573"/>
                  </a:ext>
                </a:extLst>
              </a:tr>
              <a:tr h="83599">
                <a:tc>
                  <a:txBody>
                    <a:bodyPr/>
                    <a:lstStyle/>
                    <a:p>
                      <a:pPr algn="ctr">
                        <a:spcAft>
                          <a:spcPts val="0"/>
                        </a:spcAft>
                      </a:pPr>
                      <a:r>
                        <a:rPr lang="en-MY" sz="500">
                          <a:solidFill>
                            <a:srgbClr val="777777"/>
                          </a:solidFill>
                          <a:effectLst/>
                          <a:latin typeface="Arial" panose="020B0604020202020204" pitchFamily="34" charset="0"/>
                          <a:ea typeface="Arial" panose="020B0604020202020204" pitchFamily="34" charset="0"/>
                        </a:rPr>
                        <a:t>▼</a:t>
                      </a:r>
                      <a:endParaRPr lang="en-MY" sz="600">
                        <a:effectLst/>
                        <a:latin typeface="Arial" panose="020B0604020202020204" pitchFamily="34" charset="0"/>
                        <a:ea typeface="Arial" panose="020B0604020202020204" pitchFamily="34" charset="0"/>
                      </a:endParaRPr>
                    </a:p>
                  </a:txBody>
                  <a:tcPr marL="0" marR="0" marT="0" marB="0">
                    <a:lnL>
                      <a:noFill/>
                    </a:lnL>
                    <a:lnR>
                      <a:noFill/>
                    </a:lnR>
                    <a:lnT w="12700" cap="flat" cmpd="sng" algn="ctr">
                      <a:solidFill>
                        <a:srgbClr val="CCCCCC"/>
                      </a:solidFill>
                      <a:prstDash val="solid"/>
                      <a:round/>
                      <a:headEnd type="none" w="med" len="med"/>
                      <a:tailEnd type="none" w="med" len="med"/>
                    </a:lnT>
                    <a:lnB>
                      <a:noFill/>
                    </a:lnB>
                  </a:tcPr>
                </a:tc>
                <a:extLst>
                  <a:ext uri="{0D108BD9-81ED-4DB2-BD59-A6C34878D82A}">
                    <a16:rowId xmlns:a16="http://schemas.microsoft.com/office/drawing/2014/main" val="257519057"/>
                  </a:ext>
                </a:extLst>
              </a:tr>
              <a:tr h="171378">
                <a:tc>
                  <a:txBody>
                    <a:bodyPr/>
                    <a:lstStyle/>
                    <a:p>
                      <a:pPr algn="ctr">
                        <a:spcAft>
                          <a:spcPts val="0"/>
                        </a:spcAft>
                      </a:pPr>
                      <a:r>
                        <a:rPr lang="en-MY" sz="600" b="1">
                          <a:solidFill>
                            <a:srgbClr val="FFFFFF"/>
                          </a:solidFill>
                          <a:effectLst/>
                          <a:latin typeface="Arial" panose="020B0604020202020204" pitchFamily="34" charset="0"/>
                          <a:ea typeface="Arial" panose="020B0604020202020204" pitchFamily="34" charset="0"/>
                        </a:rPr>
                        <a:t>◆  ◆  Are Documents Valid &amp; Legible?</a:t>
                      </a:r>
                      <a:endParaRPr lang="en-MY" sz="600">
                        <a:effectLst/>
                        <a:latin typeface="Arial" panose="020B0604020202020204" pitchFamily="34" charset="0"/>
                        <a:ea typeface="Arial" panose="020B0604020202020204" pitchFamily="34" charset="0"/>
                      </a:endParaRPr>
                    </a:p>
                  </a:txBody>
                  <a:tcPr marL="55733" marR="55733" marT="41800" marB="4180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a:noFill/>
                    </a:lnT>
                    <a:lnB w="12700" cap="flat" cmpd="sng" algn="ctr">
                      <a:solidFill>
                        <a:srgbClr val="CCCCCC"/>
                      </a:solidFill>
                      <a:prstDash val="solid"/>
                      <a:round/>
                      <a:headEnd type="none" w="med" len="med"/>
                      <a:tailEnd type="none" w="med" len="med"/>
                    </a:lnB>
                    <a:solidFill>
                      <a:srgbClr val="B7950B"/>
                    </a:solidFill>
                  </a:tcPr>
                </a:tc>
                <a:extLst>
                  <a:ext uri="{0D108BD9-81ED-4DB2-BD59-A6C34878D82A}">
                    <a16:rowId xmlns:a16="http://schemas.microsoft.com/office/drawing/2014/main" val="3153904570"/>
                  </a:ext>
                </a:extLst>
              </a:tr>
              <a:tr h="83599">
                <a:tc>
                  <a:txBody>
                    <a:bodyPr/>
                    <a:lstStyle/>
                    <a:p>
                      <a:pPr algn="ctr">
                        <a:spcAft>
                          <a:spcPts val="0"/>
                        </a:spcAft>
                      </a:pPr>
                      <a:r>
                        <a:rPr lang="en-MY" sz="500" b="1">
                          <a:solidFill>
                            <a:srgbClr val="1A7A4A"/>
                          </a:solidFill>
                          <a:effectLst/>
                          <a:latin typeface="Arial" panose="020B0604020202020204" pitchFamily="34" charset="0"/>
                          <a:ea typeface="Arial" panose="020B0604020202020204" pitchFamily="34" charset="0"/>
                        </a:rPr>
                        <a:t>YES </a:t>
                      </a:r>
                      <a:r>
                        <a:rPr lang="en-MY" sz="500">
                          <a:solidFill>
                            <a:srgbClr val="777777"/>
                          </a:solidFill>
                          <a:effectLst/>
                          <a:latin typeface="Arial" panose="020B0604020202020204" pitchFamily="34" charset="0"/>
                          <a:ea typeface="Arial" panose="020B0604020202020204" pitchFamily="34" charset="0"/>
                        </a:rPr>
                        <a:t>▼</a:t>
                      </a:r>
                      <a:endParaRPr lang="en-MY" sz="600">
                        <a:effectLst/>
                        <a:latin typeface="Arial" panose="020B0604020202020204" pitchFamily="34" charset="0"/>
                        <a:ea typeface="Arial" panose="020B0604020202020204" pitchFamily="34" charset="0"/>
                      </a:endParaRPr>
                    </a:p>
                  </a:txBody>
                  <a:tcPr marL="0" marR="0" marT="0" marB="0">
                    <a:lnL>
                      <a:noFill/>
                    </a:lnL>
                    <a:lnR>
                      <a:noFill/>
                    </a:lnR>
                    <a:lnT w="12700" cap="flat" cmpd="sng" algn="ctr">
                      <a:solidFill>
                        <a:srgbClr val="CCCCCC"/>
                      </a:solidFill>
                      <a:prstDash val="solid"/>
                      <a:round/>
                      <a:headEnd type="none" w="med" len="med"/>
                      <a:tailEnd type="none" w="med" len="med"/>
                    </a:lnT>
                    <a:lnB>
                      <a:noFill/>
                    </a:lnB>
                  </a:tcPr>
                </a:tc>
                <a:extLst>
                  <a:ext uri="{0D108BD9-81ED-4DB2-BD59-A6C34878D82A}">
                    <a16:rowId xmlns:a16="http://schemas.microsoft.com/office/drawing/2014/main" val="1160577542"/>
                  </a:ext>
                </a:extLst>
              </a:tr>
              <a:tr h="267517">
                <a:tc>
                  <a:txBody>
                    <a:bodyPr/>
                    <a:lstStyle/>
                    <a:p>
                      <a:pPr algn="ctr">
                        <a:spcAft>
                          <a:spcPts val="300"/>
                        </a:spcAft>
                      </a:pPr>
                      <a:r>
                        <a:rPr lang="en-MY" sz="600" b="1">
                          <a:solidFill>
                            <a:srgbClr val="FFFFFF"/>
                          </a:solidFill>
                          <a:effectLst/>
                          <a:latin typeface="Arial" panose="020B0604020202020204" pitchFamily="34" charset="0"/>
                          <a:ea typeface="Arial" panose="020B0604020202020204" pitchFamily="34" charset="0"/>
                        </a:rPr>
                        <a:t>AML Screening &amp; Sanctions Watchlist Check</a:t>
                      </a:r>
                      <a:endParaRPr lang="en-MY" sz="600">
                        <a:effectLst/>
                        <a:latin typeface="Arial" panose="020B0604020202020204" pitchFamily="34" charset="0"/>
                        <a:ea typeface="Arial" panose="020B0604020202020204" pitchFamily="34" charset="0"/>
                      </a:endParaRPr>
                    </a:p>
                    <a:p>
                      <a:pPr algn="ctr">
                        <a:spcAft>
                          <a:spcPts val="0"/>
                        </a:spcAft>
                      </a:pPr>
                      <a:r>
                        <a:rPr lang="en-MY" sz="500" i="1">
                          <a:solidFill>
                            <a:srgbClr val="DDDDDD"/>
                          </a:solidFill>
                          <a:effectLst/>
                          <a:latin typeface="Arial" panose="020B0604020202020204" pitchFamily="34" charset="0"/>
                          <a:ea typeface="Arial" panose="020B0604020202020204" pitchFamily="34" charset="0"/>
                        </a:rPr>
                        <a:t>Compliance Engine</a:t>
                      </a:r>
                      <a:endParaRPr lang="en-MY" sz="600">
                        <a:effectLst/>
                        <a:latin typeface="Arial" panose="020B0604020202020204" pitchFamily="34" charset="0"/>
                        <a:ea typeface="Arial" panose="020B0604020202020204" pitchFamily="34" charset="0"/>
                      </a:endParaRPr>
                    </a:p>
                  </a:txBody>
                  <a:tcPr marL="55733" marR="55733" marT="41800" marB="4180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a:noFill/>
                    </a:lnT>
                    <a:lnB w="12700" cap="flat" cmpd="sng" algn="ctr">
                      <a:solidFill>
                        <a:srgbClr val="CCCCCC"/>
                      </a:solidFill>
                      <a:prstDash val="solid"/>
                      <a:round/>
                      <a:headEnd type="none" w="med" len="med"/>
                      <a:tailEnd type="none" w="med" len="med"/>
                    </a:lnB>
                    <a:solidFill>
                      <a:srgbClr val="2E75B6"/>
                    </a:solidFill>
                  </a:tcPr>
                </a:tc>
                <a:extLst>
                  <a:ext uri="{0D108BD9-81ED-4DB2-BD59-A6C34878D82A}">
                    <a16:rowId xmlns:a16="http://schemas.microsoft.com/office/drawing/2014/main" val="300961726"/>
                  </a:ext>
                </a:extLst>
              </a:tr>
              <a:tr h="83599">
                <a:tc>
                  <a:txBody>
                    <a:bodyPr/>
                    <a:lstStyle/>
                    <a:p>
                      <a:pPr algn="ctr">
                        <a:spcAft>
                          <a:spcPts val="0"/>
                        </a:spcAft>
                      </a:pPr>
                      <a:r>
                        <a:rPr lang="en-MY" sz="500">
                          <a:solidFill>
                            <a:srgbClr val="777777"/>
                          </a:solidFill>
                          <a:effectLst/>
                          <a:latin typeface="Arial" panose="020B0604020202020204" pitchFamily="34" charset="0"/>
                          <a:ea typeface="Arial" panose="020B0604020202020204" pitchFamily="34" charset="0"/>
                        </a:rPr>
                        <a:t>▼</a:t>
                      </a:r>
                      <a:endParaRPr lang="en-MY" sz="600">
                        <a:effectLst/>
                        <a:latin typeface="Arial" panose="020B0604020202020204" pitchFamily="34" charset="0"/>
                        <a:ea typeface="Arial" panose="020B0604020202020204" pitchFamily="34" charset="0"/>
                      </a:endParaRPr>
                    </a:p>
                  </a:txBody>
                  <a:tcPr marL="0" marR="0" marT="0" marB="0">
                    <a:lnL>
                      <a:noFill/>
                    </a:lnL>
                    <a:lnR>
                      <a:noFill/>
                    </a:lnR>
                    <a:lnT w="12700" cap="flat" cmpd="sng" algn="ctr">
                      <a:solidFill>
                        <a:srgbClr val="CCCCCC"/>
                      </a:solidFill>
                      <a:prstDash val="solid"/>
                      <a:round/>
                      <a:headEnd type="none" w="med" len="med"/>
                      <a:tailEnd type="none" w="med" len="med"/>
                    </a:lnT>
                    <a:lnB>
                      <a:noFill/>
                    </a:lnB>
                  </a:tcPr>
                </a:tc>
                <a:extLst>
                  <a:ext uri="{0D108BD9-81ED-4DB2-BD59-A6C34878D82A}">
                    <a16:rowId xmlns:a16="http://schemas.microsoft.com/office/drawing/2014/main" val="3552736105"/>
                  </a:ext>
                </a:extLst>
              </a:tr>
              <a:tr h="267517">
                <a:tc>
                  <a:txBody>
                    <a:bodyPr/>
                    <a:lstStyle/>
                    <a:p>
                      <a:pPr algn="ctr">
                        <a:spcAft>
                          <a:spcPts val="300"/>
                        </a:spcAft>
                      </a:pPr>
                      <a:r>
                        <a:rPr lang="en-MY" sz="600" b="1">
                          <a:solidFill>
                            <a:srgbClr val="FFFFFF"/>
                          </a:solidFill>
                          <a:effectLst/>
                          <a:latin typeface="Arial" panose="020B0604020202020204" pitchFamily="34" charset="0"/>
                          <a:ea typeface="Arial" panose="020B0604020202020204" pitchFamily="34" charset="0"/>
                        </a:rPr>
                        <a:t>Credit Bureau API — Credit Score Check</a:t>
                      </a:r>
                      <a:endParaRPr lang="en-MY" sz="600">
                        <a:effectLst/>
                        <a:latin typeface="Arial" panose="020B0604020202020204" pitchFamily="34" charset="0"/>
                        <a:ea typeface="Arial" panose="020B0604020202020204" pitchFamily="34" charset="0"/>
                      </a:endParaRPr>
                    </a:p>
                    <a:p>
                      <a:pPr algn="ctr">
                        <a:spcAft>
                          <a:spcPts val="0"/>
                        </a:spcAft>
                      </a:pPr>
                      <a:r>
                        <a:rPr lang="en-MY" sz="500" i="1">
                          <a:solidFill>
                            <a:srgbClr val="DDDDDD"/>
                          </a:solidFill>
                          <a:effectLst/>
                          <a:latin typeface="Arial" panose="020B0604020202020204" pitchFamily="34" charset="0"/>
                          <a:ea typeface="Arial" panose="020B0604020202020204" pitchFamily="34" charset="0"/>
                        </a:rPr>
                        <a:t>Third-Party API</a:t>
                      </a:r>
                      <a:endParaRPr lang="en-MY" sz="600">
                        <a:effectLst/>
                        <a:latin typeface="Arial" panose="020B0604020202020204" pitchFamily="34" charset="0"/>
                        <a:ea typeface="Arial" panose="020B0604020202020204" pitchFamily="34" charset="0"/>
                      </a:endParaRPr>
                    </a:p>
                  </a:txBody>
                  <a:tcPr marL="55733" marR="55733" marT="41800" marB="4180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a:noFill/>
                    </a:lnT>
                    <a:lnB w="12700" cap="flat" cmpd="sng" algn="ctr">
                      <a:solidFill>
                        <a:srgbClr val="CCCCCC"/>
                      </a:solidFill>
                      <a:prstDash val="solid"/>
                      <a:round/>
                      <a:headEnd type="none" w="med" len="med"/>
                      <a:tailEnd type="none" w="med" len="med"/>
                    </a:lnB>
                    <a:solidFill>
                      <a:srgbClr val="2E75B6"/>
                    </a:solidFill>
                  </a:tcPr>
                </a:tc>
                <a:extLst>
                  <a:ext uri="{0D108BD9-81ED-4DB2-BD59-A6C34878D82A}">
                    <a16:rowId xmlns:a16="http://schemas.microsoft.com/office/drawing/2014/main" val="1419666281"/>
                  </a:ext>
                </a:extLst>
              </a:tr>
              <a:tr h="83599">
                <a:tc>
                  <a:txBody>
                    <a:bodyPr/>
                    <a:lstStyle/>
                    <a:p>
                      <a:pPr algn="ctr">
                        <a:spcAft>
                          <a:spcPts val="0"/>
                        </a:spcAft>
                      </a:pPr>
                      <a:r>
                        <a:rPr lang="en-MY" sz="500">
                          <a:solidFill>
                            <a:srgbClr val="777777"/>
                          </a:solidFill>
                          <a:effectLst/>
                          <a:latin typeface="Arial" panose="020B0604020202020204" pitchFamily="34" charset="0"/>
                          <a:ea typeface="Arial" panose="020B0604020202020204" pitchFamily="34" charset="0"/>
                        </a:rPr>
                        <a:t>▼</a:t>
                      </a:r>
                      <a:endParaRPr lang="en-MY" sz="600">
                        <a:effectLst/>
                        <a:latin typeface="Arial" panose="020B0604020202020204" pitchFamily="34" charset="0"/>
                        <a:ea typeface="Arial" panose="020B0604020202020204" pitchFamily="34" charset="0"/>
                      </a:endParaRPr>
                    </a:p>
                  </a:txBody>
                  <a:tcPr marL="0" marR="0" marT="0" marB="0">
                    <a:lnL>
                      <a:noFill/>
                    </a:lnL>
                    <a:lnR>
                      <a:noFill/>
                    </a:lnR>
                    <a:lnT w="12700" cap="flat" cmpd="sng" algn="ctr">
                      <a:solidFill>
                        <a:srgbClr val="CCCCCC"/>
                      </a:solidFill>
                      <a:prstDash val="solid"/>
                      <a:round/>
                      <a:headEnd type="none" w="med" len="med"/>
                      <a:tailEnd type="none" w="med" len="med"/>
                    </a:lnT>
                    <a:lnB>
                      <a:noFill/>
                    </a:lnB>
                  </a:tcPr>
                </a:tc>
                <a:extLst>
                  <a:ext uri="{0D108BD9-81ED-4DB2-BD59-A6C34878D82A}">
                    <a16:rowId xmlns:a16="http://schemas.microsoft.com/office/drawing/2014/main" val="145790641"/>
                  </a:ext>
                </a:extLst>
              </a:tr>
              <a:tr h="171378">
                <a:tc>
                  <a:txBody>
                    <a:bodyPr/>
                    <a:lstStyle/>
                    <a:p>
                      <a:pPr algn="ctr">
                        <a:spcAft>
                          <a:spcPts val="0"/>
                        </a:spcAft>
                      </a:pPr>
                      <a:r>
                        <a:rPr lang="en-MY" sz="600" b="1">
                          <a:solidFill>
                            <a:srgbClr val="FFFFFF"/>
                          </a:solidFill>
                          <a:effectLst/>
                          <a:latin typeface="Arial" panose="020B0604020202020204" pitchFamily="34" charset="0"/>
                          <a:ea typeface="Arial" panose="020B0604020202020204" pitchFamily="34" charset="0"/>
                        </a:rPr>
                        <a:t>◆  ◆  KYC Verified &amp; Credit Score Acceptable?</a:t>
                      </a:r>
                      <a:endParaRPr lang="en-MY" sz="600">
                        <a:effectLst/>
                        <a:latin typeface="Arial" panose="020B0604020202020204" pitchFamily="34" charset="0"/>
                        <a:ea typeface="Arial" panose="020B0604020202020204" pitchFamily="34" charset="0"/>
                      </a:endParaRPr>
                    </a:p>
                  </a:txBody>
                  <a:tcPr marL="55733" marR="55733" marT="41800" marB="4180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a:noFill/>
                    </a:lnT>
                    <a:lnB w="12700" cap="flat" cmpd="sng" algn="ctr">
                      <a:solidFill>
                        <a:srgbClr val="CCCCCC"/>
                      </a:solidFill>
                      <a:prstDash val="solid"/>
                      <a:round/>
                      <a:headEnd type="none" w="med" len="med"/>
                      <a:tailEnd type="none" w="med" len="med"/>
                    </a:lnB>
                    <a:solidFill>
                      <a:srgbClr val="B7950B"/>
                    </a:solidFill>
                  </a:tcPr>
                </a:tc>
                <a:extLst>
                  <a:ext uri="{0D108BD9-81ED-4DB2-BD59-A6C34878D82A}">
                    <a16:rowId xmlns:a16="http://schemas.microsoft.com/office/drawing/2014/main" val="2898129108"/>
                  </a:ext>
                </a:extLst>
              </a:tr>
              <a:tr h="83599">
                <a:tc>
                  <a:txBody>
                    <a:bodyPr/>
                    <a:lstStyle/>
                    <a:p>
                      <a:pPr algn="ctr">
                        <a:spcAft>
                          <a:spcPts val="0"/>
                        </a:spcAft>
                      </a:pPr>
                      <a:r>
                        <a:rPr lang="en-MY" sz="500" b="1">
                          <a:solidFill>
                            <a:srgbClr val="1A7A4A"/>
                          </a:solidFill>
                          <a:effectLst/>
                          <a:latin typeface="Arial" panose="020B0604020202020204" pitchFamily="34" charset="0"/>
                          <a:ea typeface="Arial" panose="020B0604020202020204" pitchFamily="34" charset="0"/>
                        </a:rPr>
                        <a:t>YES </a:t>
                      </a:r>
                      <a:r>
                        <a:rPr lang="en-MY" sz="500">
                          <a:solidFill>
                            <a:srgbClr val="777777"/>
                          </a:solidFill>
                          <a:effectLst/>
                          <a:latin typeface="Arial" panose="020B0604020202020204" pitchFamily="34" charset="0"/>
                          <a:ea typeface="Arial" panose="020B0604020202020204" pitchFamily="34" charset="0"/>
                        </a:rPr>
                        <a:t>▼</a:t>
                      </a:r>
                      <a:endParaRPr lang="en-MY" sz="600">
                        <a:effectLst/>
                        <a:latin typeface="Arial" panose="020B0604020202020204" pitchFamily="34" charset="0"/>
                        <a:ea typeface="Arial" panose="020B0604020202020204" pitchFamily="34" charset="0"/>
                      </a:endParaRPr>
                    </a:p>
                  </a:txBody>
                  <a:tcPr marL="0" marR="0" marT="0" marB="0">
                    <a:lnL>
                      <a:noFill/>
                    </a:lnL>
                    <a:lnR>
                      <a:noFill/>
                    </a:lnR>
                    <a:lnT w="12700" cap="flat" cmpd="sng" algn="ctr">
                      <a:solidFill>
                        <a:srgbClr val="CCCCCC"/>
                      </a:solidFill>
                      <a:prstDash val="solid"/>
                      <a:round/>
                      <a:headEnd type="none" w="med" len="med"/>
                      <a:tailEnd type="none" w="med" len="med"/>
                    </a:lnT>
                    <a:lnB>
                      <a:noFill/>
                    </a:lnB>
                  </a:tcPr>
                </a:tc>
                <a:extLst>
                  <a:ext uri="{0D108BD9-81ED-4DB2-BD59-A6C34878D82A}">
                    <a16:rowId xmlns:a16="http://schemas.microsoft.com/office/drawing/2014/main" val="1580521543"/>
                  </a:ext>
                </a:extLst>
              </a:tr>
              <a:tr h="267517">
                <a:tc>
                  <a:txBody>
                    <a:bodyPr/>
                    <a:lstStyle/>
                    <a:p>
                      <a:pPr algn="ctr">
                        <a:spcAft>
                          <a:spcPts val="300"/>
                        </a:spcAft>
                      </a:pPr>
                      <a:r>
                        <a:rPr lang="en-MY" sz="600" b="1">
                          <a:solidFill>
                            <a:srgbClr val="FFFFFF"/>
                          </a:solidFill>
                          <a:effectLst/>
                          <a:latin typeface="Arial" panose="020B0604020202020204" pitchFamily="34" charset="0"/>
                          <a:ea typeface="Arial" panose="020B0604020202020204" pitchFamily="34" charset="0"/>
                        </a:rPr>
                        <a:t>Create Customer Account</a:t>
                      </a:r>
                      <a:endParaRPr lang="en-MY" sz="600">
                        <a:effectLst/>
                        <a:latin typeface="Arial" panose="020B0604020202020204" pitchFamily="34" charset="0"/>
                        <a:ea typeface="Arial" panose="020B0604020202020204" pitchFamily="34" charset="0"/>
                      </a:endParaRPr>
                    </a:p>
                    <a:p>
                      <a:pPr algn="ctr">
                        <a:spcAft>
                          <a:spcPts val="0"/>
                        </a:spcAft>
                      </a:pPr>
                      <a:r>
                        <a:rPr lang="en-MY" sz="500" i="1">
                          <a:solidFill>
                            <a:srgbClr val="DDDDDD"/>
                          </a:solidFill>
                          <a:effectLst/>
                          <a:latin typeface="Arial" panose="020B0604020202020204" pitchFamily="34" charset="0"/>
                          <a:ea typeface="Arial" panose="020B0604020202020204" pitchFamily="34" charset="0"/>
                        </a:rPr>
                        <a:t>Assign Account Number &amp; RBAC</a:t>
                      </a:r>
                      <a:endParaRPr lang="en-MY" sz="600">
                        <a:effectLst/>
                        <a:latin typeface="Arial" panose="020B0604020202020204" pitchFamily="34" charset="0"/>
                        <a:ea typeface="Arial" panose="020B0604020202020204" pitchFamily="34" charset="0"/>
                      </a:endParaRPr>
                    </a:p>
                  </a:txBody>
                  <a:tcPr marL="55733" marR="55733" marT="41800" marB="4180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a:noFill/>
                    </a:lnT>
                    <a:lnB w="12700" cap="flat" cmpd="sng" algn="ctr">
                      <a:solidFill>
                        <a:srgbClr val="CCCCCC"/>
                      </a:solidFill>
                      <a:prstDash val="solid"/>
                      <a:round/>
                      <a:headEnd type="none" w="med" len="med"/>
                      <a:tailEnd type="none" w="med" len="med"/>
                    </a:lnB>
                    <a:solidFill>
                      <a:srgbClr val="1A7A4A"/>
                    </a:solidFill>
                  </a:tcPr>
                </a:tc>
                <a:extLst>
                  <a:ext uri="{0D108BD9-81ED-4DB2-BD59-A6C34878D82A}">
                    <a16:rowId xmlns:a16="http://schemas.microsoft.com/office/drawing/2014/main" val="487795141"/>
                  </a:ext>
                </a:extLst>
              </a:tr>
              <a:tr h="83599">
                <a:tc>
                  <a:txBody>
                    <a:bodyPr/>
                    <a:lstStyle/>
                    <a:p>
                      <a:pPr algn="ctr">
                        <a:spcAft>
                          <a:spcPts val="0"/>
                        </a:spcAft>
                      </a:pPr>
                      <a:r>
                        <a:rPr lang="en-MY" sz="500">
                          <a:solidFill>
                            <a:srgbClr val="777777"/>
                          </a:solidFill>
                          <a:effectLst/>
                          <a:latin typeface="Arial" panose="020B0604020202020204" pitchFamily="34" charset="0"/>
                          <a:ea typeface="Arial" panose="020B0604020202020204" pitchFamily="34" charset="0"/>
                        </a:rPr>
                        <a:t>▼</a:t>
                      </a:r>
                      <a:endParaRPr lang="en-MY" sz="600">
                        <a:effectLst/>
                        <a:latin typeface="Arial" panose="020B0604020202020204" pitchFamily="34" charset="0"/>
                        <a:ea typeface="Arial" panose="020B0604020202020204" pitchFamily="34" charset="0"/>
                      </a:endParaRPr>
                    </a:p>
                  </a:txBody>
                  <a:tcPr marL="0" marR="0" marT="0" marB="0">
                    <a:lnL>
                      <a:noFill/>
                    </a:lnL>
                    <a:lnR>
                      <a:noFill/>
                    </a:lnR>
                    <a:lnT w="12700" cap="flat" cmpd="sng" algn="ctr">
                      <a:solidFill>
                        <a:srgbClr val="CCCCCC"/>
                      </a:solidFill>
                      <a:prstDash val="solid"/>
                      <a:round/>
                      <a:headEnd type="none" w="med" len="med"/>
                      <a:tailEnd type="none" w="med" len="med"/>
                    </a:lnT>
                    <a:lnB>
                      <a:noFill/>
                    </a:lnB>
                  </a:tcPr>
                </a:tc>
                <a:extLst>
                  <a:ext uri="{0D108BD9-81ED-4DB2-BD59-A6C34878D82A}">
                    <a16:rowId xmlns:a16="http://schemas.microsoft.com/office/drawing/2014/main" val="686853838"/>
                  </a:ext>
                </a:extLst>
              </a:tr>
              <a:tr h="267517">
                <a:tc>
                  <a:txBody>
                    <a:bodyPr/>
                    <a:lstStyle/>
                    <a:p>
                      <a:pPr algn="ctr">
                        <a:spcAft>
                          <a:spcPts val="300"/>
                        </a:spcAft>
                      </a:pPr>
                      <a:r>
                        <a:rPr lang="en-MY" sz="600" b="1">
                          <a:solidFill>
                            <a:srgbClr val="FFFFFF"/>
                          </a:solidFill>
                          <a:effectLst/>
                          <a:latin typeface="Arial" panose="020B0604020202020204" pitchFamily="34" charset="0"/>
                          <a:ea typeface="Arial" panose="020B0604020202020204" pitchFamily="34" charset="0"/>
                        </a:rPr>
                        <a:t>Update Centralized Data Warehouse (Real-Time)</a:t>
                      </a:r>
                      <a:endParaRPr lang="en-MY" sz="600">
                        <a:effectLst/>
                        <a:latin typeface="Arial" panose="020B0604020202020204" pitchFamily="34" charset="0"/>
                        <a:ea typeface="Arial" panose="020B0604020202020204" pitchFamily="34" charset="0"/>
                      </a:endParaRPr>
                    </a:p>
                    <a:p>
                      <a:pPr algn="ctr">
                        <a:spcAft>
                          <a:spcPts val="0"/>
                        </a:spcAft>
                      </a:pPr>
                      <a:r>
                        <a:rPr lang="en-MY" sz="500" i="1">
                          <a:solidFill>
                            <a:srgbClr val="DDDDDD"/>
                          </a:solidFill>
                          <a:effectLst/>
                          <a:latin typeface="Arial" panose="020B0604020202020204" pitchFamily="34" charset="0"/>
                          <a:ea typeface="Arial" panose="020B0604020202020204" pitchFamily="34" charset="0"/>
                        </a:rPr>
                        <a:t>Analytics &amp; Audit Log Triggered</a:t>
                      </a:r>
                      <a:endParaRPr lang="en-MY" sz="600">
                        <a:effectLst/>
                        <a:latin typeface="Arial" panose="020B0604020202020204" pitchFamily="34" charset="0"/>
                        <a:ea typeface="Arial" panose="020B0604020202020204" pitchFamily="34" charset="0"/>
                      </a:endParaRPr>
                    </a:p>
                  </a:txBody>
                  <a:tcPr marL="55733" marR="55733" marT="41800" marB="4180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a:noFill/>
                    </a:lnT>
                    <a:lnB w="12700" cap="flat" cmpd="sng" algn="ctr">
                      <a:solidFill>
                        <a:srgbClr val="CCCCCC"/>
                      </a:solidFill>
                      <a:prstDash val="solid"/>
                      <a:round/>
                      <a:headEnd type="none" w="med" len="med"/>
                      <a:tailEnd type="none" w="med" len="med"/>
                    </a:lnB>
                    <a:solidFill>
                      <a:srgbClr val="2E75B6"/>
                    </a:solidFill>
                  </a:tcPr>
                </a:tc>
                <a:extLst>
                  <a:ext uri="{0D108BD9-81ED-4DB2-BD59-A6C34878D82A}">
                    <a16:rowId xmlns:a16="http://schemas.microsoft.com/office/drawing/2014/main" val="2896660552"/>
                  </a:ext>
                </a:extLst>
              </a:tr>
              <a:tr h="83599">
                <a:tc>
                  <a:txBody>
                    <a:bodyPr/>
                    <a:lstStyle/>
                    <a:p>
                      <a:pPr algn="ctr">
                        <a:spcAft>
                          <a:spcPts val="0"/>
                        </a:spcAft>
                      </a:pPr>
                      <a:r>
                        <a:rPr lang="en-MY" sz="500">
                          <a:solidFill>
                            <a:srgbClr val="777777"/>
                          </a:solidFill>
                          <a:effectLst/>
                          <a:latin typeface="Arial" panose="020B0604020202020204" pitchFamily="34" charset="0"/>
                          <a:ea typeface="Arial" panose="020B0604020202020204" pitchFamily="34" charset="0"/>
                        </a:rPr>
                        <a:t>▼</a:t>
                      </a:r>
                      <a:endParaRPr lang="en-MY" sz="600">
                        <a:effectLst/>
                        <a:latin typeface="Arial" panose="020B0604020202020204" pitchFamily="34" charset="0"/>
                        <a:ea typeface="Arial" panose="020B0604020202020204" pitchFamily="34" charset="0"/>
                      </a:endParaRPr>
                    </a:p>
                  </a:txBody>
                  <a:tcPr marL="0" marR="0" marT="0" marB="0">
                    <a:lnL>
                      <a:noFill/>
                    </a:lnL>
                    <a:lnR>
                      <a:noFill/>
                    </a:lnR>
                    <a:lnT w="12700" cap="flat" cmpd="sng" algn="ctr">
                      <a:solidFill>
                        <a:srgbClr val="CCCCCC"/>
                      </a:solidFill>
                      <a:prstDash val="solid"/>
                      <a:round/>
                      <a:headEnd type="none" w="med" len="med"/>
                      <a:tailEnd type="none" w="med" len="med"/>
                    </a:lnT>
                    <a:lnB>
                      <a:noFill/>
                    </a:lnB>
                  </a:tcPr>
                </a:tc>
                <a:extLst>
                  <a:ext uri="{0D108BD9-81ED-4DB2-BD59-A6C34878D82A}">
                    <a16:rowId xmlns:a16="http://schemas.microsoft.com/office/drawing/2014/main" val="2292403261"/>
                  </a:ext>
                </a:extLst>
              </a:tr>
              <a:tr h="267517">
                <a:tc>
                  <a:txBody>
                    <a:bodyPr/>
                    <a:lstStyle/>
                    <a:p>
                      <a:pPr algn="ctr">
                        <a:spcAft>
                          <a:spcPts val="300"/>
                        </a:spcAft>
                      </a:pPr>
                      <a:r>
                        <a:rPr lang="en-MY" sz="600" b="1">
                          <a:solidFill>
                            <a:srgbClr val="FFFFFF"/>
                          </a:solidFill>
                          <a:effectLst/>
                          <a:latin typeface="Arial" panose="020B0604020202020204" pitchFamily="34" charset="0"/>
                          <a:ea typeface="Arial" panose="020B0604020202020204" pitchFamily="34" charset="0"/>
                        </a:rPr>
                        <a:t>Send Confirmation: Email &amp; SMS Notification</a:t>
                      </a:r>
                      <a:endParaRPr lang="en-MY" sz="600">
                        <a:effectLst/>
                        <a:latin typeface="Arial" panose="020B0604020202020204" pitchFamily="34" charset="0"/>
                        <a:ea typeface="Arial" panose="020B0604020202020204" pitchFamily="34" charset="0"/>
                      </a:endParaRPr>
                    </a:p>
                    <a:p>
                      <a:pPr algn="ctr">
                        <a:spcAft>
                          <a:spcPts val="0"/>
                        </a:spcAft>
                      </a:pPr>
                      <a:r>
                        <a:rPr lang="en-MY" sz="500" i="1">
                          <a:solidFill>
                            <a:srgbClr val="DDDDDD"/>
                          </a:solidFill>
                          <a:effectLst/>
                          <a:latin typeface="Arial" panose="020B0604020202020204" pitchFamily="34" charset="0"/>
                          <a:ea typeface="Arial" panose="020B0604020202020204" pitchFamily="34" charset="0"/>
                        </a:rPr>
                        <a:t>Account Credentials &amp; Login Link</a:t>
                      </a:r>
                      <a:endParaRPr lang="en-MY" sz="600">
                        <a:effectLst/>
                        <a:latin typeface="Arial" panose="020B0604020202020204" pitchFamily="34" charset="0"/>
                        <a:ea typeface="Arial" panose="020B0604020202020204" pitchFamily="34" charset="0"/>
                      </a:endParaRPr>
                    </a:p>
                  </a:txBody>
                  <a:tcPr marL="55733" marR="55733" marT="41800" marB="4180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a:noFill/>
                    </a:lnT>
                    <a:lnB w="12700" cap="flat" cmpd="sng" algn="ctr">
                      <a:solidFill>
                        <a:srgbClr val="CCCCCC"/>
                      </a:solidFill>
                      <a:prstDash val="solid"/>
                      <a:round/>
                      <a:headEnd type="none" w="med" len="med"/>
                      <a:tailEnd type="none" w="med" len="med"/>
                    </a:lnB>
                    <a:solidFill>
                      <a:srgbClr val="1A7A4A"/>
                    </a:solidFill>
                  </a:tcPr>
                </a:tc>
                <a:extLst>
                  <a:ext uri="{0D108BD9-81ED-4DB2-BD59-A6C34878D82A}">
                    <a16:rowId xmlns:a16="http://schemas.microsoft.com/office/drawing/2014/main" val="3376896741"/>
                  </a:ext>
                </a:extLst>
              </a:tr>
              <a:tr h="83599">
                <a:tc>
                  <a:txBody>
                    <a:bodyPr/>
                    <a:lstStyle/>
                    <a:p>
                      <a:pPr algn="ctr">
                        <a:spcAft>
                          <a:spcPts val="0"/>
                        </a:spcAft>
                      </a:pPr>
                      <a:r>
                        <a:rPr lang="en-MY" sz="500">
                          <a:solidFill>
                            <a:srgbClr val="777777"/>
                          </a:solidFill>
                          <a:effectLst/>
                          <a:latin typeface="Arial" panose="020B0604020202020204" pitchFamily="34" charset="0"/>
                          <a:ea typeface="Arial" panose="020B0604020202020204" pitchFamily="34" charset="0"/>
                        </a:rPr>
                        <a:t>▼</a:t>
                      </a:r>
                      <a:endParaRPr lang="en-MY" sz="600">
                        <a:effectLst/>
                        <a:latin typeface="Arial" panose="020B0604020202020204" pitchFamily="34" charset="0"/>
                        <a:ea typeface="Arial" panose="020B0604020202020204" pitchFamily="34" charset="0"/>
                      </a:endParaRPr>
                    </a:p>
                  </a:txBody>
                  <a:tcPr marL="0" marR="0" marT="0" marB="0">
                    <a:lnL>
                      <a:noFill/>
                    </a:lnL>
                    <a:lnR>
                      <a:noFill/>
                    </a:lnR>
                    <a:lnT w="12700" cap="flat" cmpd="sng" algn="ctr">
                      <a:solidFill>
                        <a:srgbClr val="CCCCCC"/>
                      </a:solidFill>
                      <a:prstDash val="solid"/>
                      <a:round/>
                      <a:headEnd type="none" w="med" len="med"/>
                      <a:tailEnd type="none" w="med" len="med"/>
                    </a:lnT>
                    <a:lnB>
                      <a:noFill/>
                    </a:lnB>
                  </a:tcPr>
                </a:tc>
                <a:extLst>
                  <a:ext uri="{0D108BD9-81ED-4DB2-BD59-A6C34878D82A}">
                    <a16:rowId xmlns:a16="http://schemas.microsoft.com/office/drawing/2014/main" val="1248507512"/>
                  </a:ext>
                </a:extLst>
              </a:tr>
              <a:tr h="171378">
                <a:tc>
                  <a:txBody>
                    <a:bodyPr/>
                    <a:lstStyle/>
                    <a:p>
                      <a:pPr algn="ctr">
                        <a:spcAft>
                          <a:spcPts val="0"/>
                        </a:spcAft>
                      </a:pPr>
                      <a:r>
                        <a:rPr lang="en-MY" sz="600" b="1" dirty="0">
                          <a:solidFill>
                            <a:srgbClr val="FFFFFF"/>
                          </a:solidFill>
                          <a:effectLst/>
                          <a:latin typeface="Arial" panose="020B0604020202020204" pitchFamily="34" charset="0"/>
                          <a:ea typeface="Arial" panose="020B0604020202020204" pitchFamily="34" charset="0"/>
                        </a:rPr>
                        <a:t>END: Account Active — </a:t>
                      </a:r>
                      <a:r>
                        <a:rPr lang="en-MY" sz="600" b="1" dirty="0" err="1">
                          <a:solidFill>
                            <a:srgbClr val="FFFFFF"/>
                          </a:solidFill>
                          <a:effectLst/>
                          <a:latin typeface="Arial" panose="020B0604020202020204" pitchFamily="34" charset="0"/>
                          <a:ea typeface="Arial" panose="020B0604020202020204" pitchFamily="34" charset="0"/>
                        </a:rPr>
                        <a:t>Onboarding</a:t>
                      </a:r>
                      <a:r>
                        <a:rPr lang="en-MY" sz="600" b="1" dirty="0">
                          <a:solidFill>
                            <a:srgbClr val="FFFFFF"/>
                          </a:solidFill>
                          <a:effectLst/>
                          <a:latin typeface="Arial" panose="020B0604020202020204" pitchFamily="34" charset="0"/>
                          <a:ea typeface="Arial" panose="020B0604020202020204" pitchFamily="34" charset="0"/>
                        </a:rPr>
                        <a:t> Complete</a:t>
                      </a:r>
                      <a:endParaRPr lang="en-MY" sz="600" dirty="0">
                        <a:effectLst/>
                        <a:latin typeface="Arial" panose="020B0604020202020204" pitchFamily="34" charset="0"/>
                        <a:ea typeface="Arial" panose="020B0604020202020204" pitchFamily="34" charset="0"/>
                      </a:endParaRPr>
                    </a:p>
                  </a:txBody>
                  <a:tcPr marL="55733" marR="55733" marT="41800" marB="4180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a:noFill/>
                    </a:lnT>
                    <a:lnB w="12700" cap="flat" cmpd="sng" algn="ctr">
                      <a:solidFill>
                        <a:srgbClr val="CCCCCC"/>
                      </a:solidFill>
                      <a:prstDash val="solid"/>
                      <a:round/>
                      <a:headEnd type="none" w="med" len="med"/>
                      <a:tailEnd type="none" w="med" len="med"/>
                    </a:lnB>
                    <a:solidFill>
                      <a:srgbClr val="1F3864"/>
                    </a:solidFill>
                  </a:tcPr>
                </a:tc>
                <a:extLst>
                  <a:ext uri="{0D108BD9-81ED-4DB2-BD59-A6C34878D82A}">
                    <a16:rowId xmlns:a16="http://schemas.microsoft.com/office/drawing/2014/main" val="287701421"/>
                  </a:ext>
                </a:extLst>
              </a:tr>
            </a:tbl>
          </a:graphicData>
        </a:graphic>
      </p:graphicFrame>
    </p:spTree>
    <p:extLst>
      <p:ext uri="{BB962C8B-B14F-4D97-AF65-F5344CB8AC3E}">
        <p14:creationId xmlns:p14="http://schemas.microsoft.com/office/powerpoint/2010/main" val="1690680625"/>
      </p:ext>
    </p:extLst>
  </p:cSld>
  <p:clrMapOvr>
    <a:masterClrMapping/>
  </p:clrMapOvr>
  <p:timing>
    <p:tnLst>
      <p:par>
        <p:cTn id="1" dur="indefinite" restart="never" nodeType="tmRoot"/>
      </p:par>
    </p:tnLst>
  </p:timing>
  <p:extLst mod="1">
    <p:ext uri="{6950BFC3-D8DA-4A85-94F7-54DA5524770B}">
      <p188:commentRel xmlns="" xmlns:p188="http://schemas.microsoft.com/office/powerpoint/2018/8/main" r:id="rId2"/>
    </p:ext>
  </p:extLs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382485-25DF-4D9E-F3E9-B30F74C1432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E69C2D8-3835-BF53-2997-CFD41CB525FC}"/>
              </a:ext>
            </a:extLst>
          </p:cNvPr>
          <p:cNvSpPr>
            <a:spLocks noGrp="1"/>
          </p:cNvSpPr>
          <p:nvPr>
            <p:ph type="title"/>
          </p:nvPr>
        </p:nvSpPr>
        <p:spPr>
          <a:xfrm>
            <a:off x="572756" y="133943"/>
            <a:ext cx="9813446" cy="850726"/>
          </a:xfrm>
        </p:spPr>
        <p:txBody>
          <a:bodyPr>
            <a:noAutofit/>
          </a:bodyPr>
          <a:lstStyle/>
          <a:p>
            <a:r>
              <a:rPr lang="en-US" sz="3200" dirty="0"/>
              <a:t>System Design</a:t>
            </a:r>
          </a:p>
        </p:txBody>
      </p:sp>
      <p:sp>
        <p:nvSpPr>
          <p:cNvPr id="8" name="Content Placeholder 4">
            <a:extLst>
              <a:ext uri="{FF2B5EF4-FFF2-40B4-BE49-F238E27FC236}">
                <a16:creationId xmlns:a16="http://schemas.microsoft.com/office/drawing/2014/main" id="{DB049CFC-0239-E617-90F7-4A261297D600}"/>
              </a:ext>
            </a:extLst>
          </p:cNvPr>
          <p:cNvSpPr txBox="1">
            <a:spLocks/>
          </p:cNvSpPr>
          <p:nvPr/>
        </p:nvSpPr>
        <p:spPr>
          <a:xfrm>
            <a:off x="573087" y="1216025"/>
            <a:ext cx="10659485" cy="4909472"/>
          </a:xfrm>
          <a:prstGeom prst="rect">
            <a:avLst/>
          </a:prstGeom>
        </p:spPr>
        <p:txBody>
          <a:bodyPr vert="horz" lIns="91440" tIns="45720" rIns="91440" bIns="45720" rtlCol="0" anchor="t">
            <a:normAutofit fontScale="4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900" b="1" dirty="0"/>
              <a:t>Data Flow Diagram (DFD), </a:t>
            </a:r>
            <a:r>
              <a:rPr lang="en-US" sz="2900" b="1" dirty="0">
                <a:solidFill>
                  <a:srgbClr val="111620"/>
                </a:solidFill>
              </a:rPr>
              <a:t>Use Case and Sequence diagrams</a:t>
            </a:r>
            <a:endParaRPr lang="en-US" sz="2900" b="1" dirty="0">
              <a:solidFill>
                <a:srgbClr val="111620"/>
              </a:solidFill>
              <a:cs typeface="Arial"/>
            </a:endParaRPr>
          </a:p>
          <a:p>
            <a:pPr marL="0" indent="0">
              <a:buNone/>
            </a:pPr>
            <a:r>
              <a:rPr lang="en-MY" dirty="0"/>
              <a:t>┌────────────────────────────────────────────────────────────────────────────────┐ │                          EXTERNAL DATA SOURCES (Blue)                          │ ├────────────────────────────────────────────────────────────────────────────────┤ │                                                                                │ │  ┌─────────────┐  ┌─────────────┐  ┌─────────────┐  ┌─────────────┐          │ │  │    CRM      │  │    Loan     │  │    Core     │  │ Transaction │          │ │  │   System    │  │ Management  │  │   Banking   │  │    Logs     │          │ │  └──────┬──────┘  └──────┬──────┘  └──────┬──────┘  └──────┬──────┘          │ │         │                │                │                │                  │ │         │ Customer Data  │ Loan Data      │ Account Data   │ </a:t>
            </a:r>
            <a:r>
              <a:rPr lang="en-MY" dirty="0" err="1"/>
              <a:t>Txn</a:t>
            </a:r>
            <a:r>
              <a:rPr lang="en-MY" dirty="0"/>
              <a:t> Data        │ │         │                │                │                │                  │ └─────────┼────────────────┼────────────────┼────────────────┼──────────────────┘           │                │                │                │           │                │                │                │           ▼                ▼                ▼                ▼ ┌────────────────────────────────────────────────────────────────────────────────┐ │                        ETL PIPELINE: EXTRACT (Green)                           │ ├────────────────────────────────────────────────────────────────────────────────┤ │                                                                                │ │  ┌────────────────────────────────────────────────────────────────────────┐   │ │  │  EXTRACT: Pull data from each source system                            │   │ │  │  • Incremental extraction using CDC (Change Data Capture)              │   │ │  │  • Encrypted in transit (TLS 1.3)                                      │   │ │  │  • Audit: Log ETL timestamp for each batch extraction                  │   │ │  └────────────────────────────────────────────────────────────────────────┘   │ └────────────────────────────────────────────────────┬───────────────────────────┘                                                      │                                                      ▼ ┌────────────────────────────────────────────────────────────────────────────────┐ │                    DATA VALIDATION CHECKPOINT (Diamond)                        │ ├────────────────────────────────────────────────────────────────────────────────┤ │  ◇  Validate data quality: check for nulls, duplicates, referential integrity │ │  ◇  Compliance Check: PII data identified and tagged (GDPR requirement)       │ │  ◇  Audit: Record validation results and error counts                         │ └────────────────────────────────────────────────────┬───────────────────────────┘                                                      │                                                      ▼ ┌────────────────────────────────────────────────────────────────────────────────┐ │ </a:t>
            </a:r>
            <a:endParaRPr lang="en-US" dirty="0"/>
          </a:p>
        </p:txBody>
      </p:sp>
    </p:spTree>
    <p:extLst>
      <p:ext uri="{BB962C8B-B14F-4D97-AF65-F5344CB8AC3E}">
        <p14:creationId xmlns:p14="http://schemas.microsoft.com/office/powerpoint/2010/main" val="218548248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F4029-BD49-0B12-677E-7CB7A292E6F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D23D89A-BBAA-408C-0CCD-31610E3D910C}"/>
              </a:ext>
            </a:extLst>
          </p:cNvPr>
          <p:cNvSpPr>
            <a:spLocks noGrp="1"/>
          </p:cNvSpPr>
          <p:nvPr>
            <p:ph type="title"/>
          </p:nvPr>
        </p:nvSpPr>
        <p:spPr>
          <a:xfrm>
            <a:off x="572756" y="133943"/>
            <a:ext cx="9813446" cy="850726"/>
          </a:xfrm>
        </p:spPr>
        <p:txBody>
          <a:bodyPr>
            <a:noAutofit/>
          </a:bodyPr>
          <a:lstStyle/>
          <a:p>
            <a:r>
              <a:rPr lang="en-US" sz="3200" dirty="0">
                <a:solidFill>
                  <a:srgbClr val="00539A"/>
                </a:solidFill>
                <a:latin typeface="Arial Bold"/>
                <a:cs typeface="Arial Bold"/>
              </a:rPr>
              <a:t>Proof of Concept (PoC)</a:t>
            </a:r>
            <a:endParaRPr lang="en-US" dirty="0"/>
          </a:p>
        </p:txBody>
      </p:sp>
      <p:sp>
        <p:nvSpPr>
          <p:cNvPr id="8" name="Content Placeholder 4">
            <a:extLst>
              <a:ext uri="{FF2B5EF4-FFF2-40B4-BE49-F238E27FC236}">
                <a16:creationId xmlns:a16="http://schemas.microsoft.com/office/drawing/2014/main" id="{ADD21A90-2949-64C5-5B7F-3467C985E63C}"/>
              </a:ext>
            </a:extLst>
          </p:cNvPr>
          <p:cNvSpPr txBox="1">
            <a:spLocks/>
          </p:cNvSpPr>
          <p:nvPr/>
        </p:nvSpPr>
        <p:spPr>
          <a:xfrm>
            <a:off x="573087" y="1216025"/>
            <a:ext cx="10659485" cy="4503738"/>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dirty="0">
                <a:solidFill>
                  <a:srgbClr val="111620"/>
                </a:solidFill>
              </a:rPr>
              <a:t>PoC objective and </a:t>
            </a:r>
            <a:r>
              <a:rPr lang="en-US" sz="2400" b="1" dirty="0" smtClean="0">
                <a:solidFill>
                  <a:srgbClr val="111620"/>
                </a:solidFill>
              </a:rPr>
              <a:t>scope</a:t>
            </a:r>
          </a:p>
          <a:p>
            <a:pPr marL="0" indent="0">
              <a:buNone/>
            </a:pPr>
            <a:endParaRPr lang="en-US" dirty="0"/>
          </a:p>
        </p:txBody>
      </p:sp>
      <p:graphicFrame>
        <p:nvGraphicFramePr>
          <p:cNvPr id="3" name="Table 2"/>
          <p:cNvGraphicFramePr>
            <a:graphicFrameLocks noGrp="1"/>
          </p:cNvGraphicFramePr>
          <p:nvPr>
            <p:extLst>
              <p:ext uri="{D42A27DB-BD31-4B8C-83A1-F6EECF244321}">
                <p14:modId xmlns:p14="http://schemas.microsoft.com/office/powerpoint/2010/main" val="599850918"/>
              </p:ext>
            </p:extLst>
          </p:nvPr>
        </p:nvGraphicFramePr>
        <p:xfrm>
          <a:off x="658761" y="1956594"/>
          <a:ext cx="10874478" cy="4363720"/>
        </p:xfrm>
        <a:graphic>
          <a:graphicData uri="http://schemas.openxmlformats.org/drawingml/2006/table">
            <a:tbl>
              <a:tblPr/>
              <a:tblGrid>
                <a:gridCol w="2788328">
                  <a:extLst>
                    <a:ext uri="{9D8B030D-6E8A-4147-A177-3AD203B41FA5}">
                      <a16:colId xmlns:a16="http://schemas.microsoft.com/office/drawing/2014/main" val="885797996"/>
                    </a:ext>
                  </a:extLst>
                </a:gridCol>
                <a:gridCol w="8086150">
                  <a:extLst>
                    <a:ext uri="{9D8B030D-6E8A-4147-A177-3AD203B41FA5}">
                      <a16:colId xmlns:a16="http://schemas.microsoft.com/office/drawing/2014/main" val="427494978"/>
                    </a:ext>
                  </a:extLst>
                </a:gridCol>
              </a:tblGrid>
              <a:tr h="0">
                <a:tc>
                  <a:txBody>
                    <a:bodyPr/>
                    <a:lstStyle/>
                    <a:p>
                      <a:pPr>
                        <a:spcAft>
                          <a:spcPts val="0"/>
                        </a:spcAft>
                      </a:pPr>
                      <a:r>
                        <a:rPr lang="en-MY" sz="1400" b="1">
                          <a:solidFill>
                            <a:srgbClr val="FFFFFF"/>
                          </a:solidFill>
                          <a:effectLst/>
                          <a:latin typeface="Arial" panose="020B0604020202020204" pitchFamily="34" charset="0"/>
                          <a:ea typeface="Arial" panose="020B0604020202020204" pitchFamily="34" charset="0"/>
                        </a:rPr>
                        <a:t>Section</a:t>
                      </a:r>
                      <a:endParaRPr lang="en-MY" sz="1400">
                        <a:effectLst/>
                        <a:latin typeface="Arial" panose="020B0604020202020204" pitchFamily="34" charset="0"/>
                        <a:ea typeface="Arial" panose="020B0604020202020204" pitchFamily="34" charset="0"/>
                      </a:endParaRPr>
                    </a:p>
                  </a:txBody>
                  <a:tcPr marL="76200" marR="76200" marT="63500" marB="63500" anchor="ctr">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1F3864"/>
                    </a:solidFill>
                  </a:tcPr>
                </a:tc>
                <a:tc>
                  <a:txBody>
                    <a:bodyPr/>
                    <a:lstStyle/>
                    <a:p>
                      <a:pPr>
                        <a:spcAft>
                          <a:spcPts val="0"/>
                        </a:spcAft>
                      </a:pPr>
                      <a:r>
                        <a:rPr lang="en-MY" sz="1400" b="1">
                          <a:solidFill>
                            <a:srgbClr val="FFFFFF"/>
                          </a:solidFill>
                          <a:effectLst/>
                          <a:latin typeface="Arial" panose="020B0604020202020204" pitchFamily="34" charset="0"/>
                          <a:ea typeface="Arial" panose="020B0604020202020204" pitchFamily="34" charset="0"/>
                        </a:rPr>
                        <a:t>Description</a:t>
                      </a:r>
                      <a:endParaRPr lang="en-MY" sz="1400">
                        <a:effectLst/>
                        <a:latin typeface="Arial" panose="020B0604020202020204" pitchFamily="34" charset="0"/>
                        <a:ea typeface="Arial" panose="020B0604020202020204" pitchFamily="34" charset="0"/>
                      </a:endParaRPr>
                    </a:p>
                  </a:txBody>
                  <a:tcPr marL="76200" marR="76200" marT="63500" marB="63500" anchor="ctr">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1F3864"/>
                    </a:solidFill>
                  </a:tcPr>
                </a:tc>
                <a:extLst>
                  <a:ext uri="{0D108BD9-81ED-4DB2-BD59-A6C34878D82A}">
                    <a16:rowId xmlns:a16="http://schemas.microsoft.com/office/drawing/2014/main" val="713576483"/>
                  </a:ext>
                </a:extLst>
              </a:tr>
              <a:tr h="0">
                <a:tc>
                  <a:txBody>
                    <a:bodyPr/>
                    <a:lstStyle/>
                    <a:p>
                      <a:pPr>
                        <a:spcAft>
                          <a:spcPts val="0"/>
                        </a:spcAft>
                      </a:pPr>
                      <a:r>
                        <a:rPr lang="en-MY" sz="1400" b="1">
                          <a:effectLst/>
                          <a:latin typeface="Arial" panose="020B0604020202020204" pitchFamily="34" charset="0"/>
                          <a:ea typeface="Arial" panose="020B0604020202020204" pitchFamily="34" charset="0"/>
                        </a:rPr>
                        <a:t>PoC Objective</a:t>
                      </a:r>
                      <a:endParaRPr lang="en-MY" sz="1400">
                        <a:effectLst/>
                        <a:latin typeface="Arial" panose="020B0604020202020204" pitchFamily="34" charset="0"/>
                        <a:ea typeface="Arial" panose="020B0604020202020204" pitchFamily="34" charset="0"/>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FFFFFF"/>
                    </a:solidFill>
                  </a:tcPr>
                </a:tc>
                <a:tc>
                  <a:txBody>
                    <a:bodyPr/>
                    <a:lstStyle/>
                    <a:p>
                      <a:pPr>
                        <a:spcAft>
                          <a:spcPts val="0"/>
                        </a:spcAft>
                      </a:pPr>
                      <a:r>
                        <a:rPr lang="en-MY" sz="1400">
                          <a:effectLst/>
                          <a:latin typeface="Arial" panose="020B0604020202020204" pitchFamily="34" charset="0"/>
                          <a:ea typeface="Arial" panose="020B0604020202020204" pitchFamily="34" charset="0"/>
                        </a:rPr>
                        <a:t>Validate microservice deployment feasibility by testing an event processing pipeline using Apache Kafka and data synchronization between PostgreSQL and IBM Cloud Object Storage.</a:t>
                      </a: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FFFFFF"/>
                    </a:solidFill>
                  </a:tcPr>
                </a:tc>
                <a:extLst>
                  <a:ext uri="{0D108BD9-81ED-4DB2-BD59-A6C34878D82A}">
                    <a16:rowId xmlns:a16="http://schemas.microsoft.com/office/drawing/2014/main" val="1700302787"/>
                  </a:ext>
                </a:extLst>
              </a:tr>
              <a:tr h="0">
                <a:tc>
                  <a:txBody>
                    <a:bodyPr/>
                    <a:lstStyle/>
                    <a:p>
                      <a:pPr>
                        <a:spcAft>
                          <a:spcPts val="0"/>
                        </a:spcAft>
                      </a:pPr>
                      <a:r>
                        <a:rPr lang="en-MY" sz="1400" b="1">
                          <a:effectLst/>
                          <a:latin typeface="Arial" panose="020B0604020202020204" pitchFamily="34" charset="0"/>
                          <a:ea typeface="Arial" panose="020B0604020202020204" pitchFamily="34" charset="0"/>
                        </a:rPr>
                        <a:t>Scope (In)</a:t>
                      </a:r>
                      <a:endParaRPr lang="en-MY" sz="1400">
                        <a:effectLst/>
                        <a:latin typeface="Arial" panose="020B0604020202020204" pitchFamily="34" charset="0"/>
                        <a:ea typeface="Arial" panose="020B0604020202020204" pitchFamily="34" charset="0"/>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EAF2FB"/>
                    </a:solidFill>
                  </a:tcPr>
                </a:tc>
                <a:tc>
                  <a:txBody>
                    <a:bodyPr/>
                    <a:lstStyle/>
                    <a:p>
                      <a:pPr>
                        <a:spcAft>
                          <a:spcPts val="0"/>
                        </a:spcAft>
                      </a:pPr>
                      <a:r>
                        <a:rPr lang="en-MY" sz="1400">
                          <a:effectLst/>
                          <a:latin typeface="Arial" panose="020B0604020202020204" pitchFamily="34" charset="0"/>
                          <a:ea typeface="Arial" panose="020B0604020202020204" pitchFamily="34" charset="0"/>
                        </a:rPr>
                        <a:t>Containerized Spring Boot microservice deployment via Docker; Kafka topic creation and message publishing; PostgreSQL event_log table writes; REST API endpoint validation via Postman; Cloud console connectivity check.</a:t>
                      </a: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EAF2FB"/>
                    </a:solidFill>
                  </a:tcPr>
                </a:tc>
                <a:extLst>
                  <a:ext uri="{0D108BD9-81ED-4DB2-BD59-A6C34878D82A}">
                    <a16:rowId xmlns:a16="http://schemas.microsoft.com/office/drawing/2014/main" val="2689232392"/>
                  </a:ext>
                </a:extLst>
              </a:tr>
              <a:tr h="0">
                <a:tc>
                  <a:txBody>
                    <a:bodyPr/>
                    <a:lstStyle/>
                    <a:p>
                      <a:pPr>
                        <a:spcAft>
                          <a:spcPts val="0"/>
                        </a:spcAft>
                      </a:pPr>
                      <a:r>
                        <a:rPr lang="en-MY" sz="1400" b="1">
                          <a:effectLst/>
                          <a:latin typeface="Arial" panose="020B0604020202020204" pitchFamily="34" charset="0"/>
                          <a:ea typeface="Arial" panose="020B0604020202020204" pitchFamily="34" charset="0"/>
                        </a:rPr>
                        <a:t>Scope (Out)</a:t>
                      </a:r>
                      <a:endParaRPr lang="en-MY" sz="1400">
                        <a:effectLst/>
                        <a:latin typeface="Arial" panose="020B0604020202020204" pitchFamily="34" charset="0"/>
                        <a:ea typeface="Arial" panose="020B0604020202020204" pitchFamily="34" charset="0"/>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FFFFFF"/>
                    </a:solidFill>
                  </a:tcPr>
                </a:tc>
                <a:tc>
                  <a:txBody>
                    <a:bodyPr/>
                    <a:lstStyle/>
                    <a:p>
                      <a:pPr>
                        <a:spcAft>
                          <a:spcPts val="0"/>
                        </a:spcAft>
                      </a:pPr>
                      <a:r>
                        <a:rPr lang="en-MY" sz="1400">
                          <a:effectLst/>
                          <a:latin typeface="Arial" panose="020B0604020202020204" pitchFamily="34" charset="0"/>
                          <a:ea typeface="Arial" panose="020B0604020202020204" pitchFamily="34" charset="0"/>
                        </a:rPr>
                        <a:t>Production-level data volumes; live PCI-DSS cardholder environments; full OAuth 2.0 implementation; multi-region failover testing; mobile app integration.</a:t>
                      </a: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FFFFFF"/>
                    </a:solidFill>
                  </a:tcPr>
                </a:tc>
                <a:extLst>
                  <a:ext uri="{0D108BD9-81ED-4DB2-BD59-A6C34878D82A}">
                    <a16:rowId xmlns:a16="http://schemas.microsoft.com/office/drawing/2014/main" val="1962475319"/>
                  </a:ext>
                </a:extLst>
              </a:tr>
              <a:tr h="0">
                <a:tc>
                  <a:txBody>
                    <a:bodyPr/>
                    <a:lstStyle/>
                    <a:p>
                      <a:pPr>
                        <a:spcAft>
                          <a:spcPts val="0"/>
                        </a:spcAft>
                      </a:pPr>
                      <a:r>
                        <a:rPr lang="en-MY" sz="1400" b="1">
                          <a:effectLst/>
                          <a:latin typeface="Arial" panose="020B0604020202020204" pitchFamily="34" charset="0"/>
                          <a:ea typeface="Arial" panose="020B0604020202020204" pitchFamily="34" charset="0"/>
                        </a:rPr>
                        <a:t>Success Criteria</a:t>
                      </a:r>
                      <a:endParaRPr lang="en-MY" sz="1400">
                        <a:effectLst/>
                        <a:latin typeface="Arial" panose="020B0604020202020204" pitchFamily="34" charset="0"/>
                        <a:ea typeface="Arial" panose="020B0604020202020204" pitchFamily="34" charset="0"/>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EAF2FB"/>
                    </a:solidFill>
                  </a:tcPr>
                </a:tc>
                <a:tc>
                  <a:txBody>
                    <a:bodyPr/>
                    <a:lstStyle/>
                    <a:p>
                      <a:pPr>
                        <a:spcAft>
                          <a:spcPts val="0"/>
                        </a:spcAft>
                      </a:pPr>
                      <a:r>
                        <a:rPr lang="en-MY" sz="1400">
                          <a:effectLst/>
                          <a:latin typeface="Arial" panose="020B0604020202020204" pitchFamily="34" charset="0"/>
                          <a:ea typeface="Arial" panose="020B0604020202020204" pitchFamily="34" charset="0"/>
                        </a:rPr>
                        <a:t>API response latency &lt; 2 seconds; Kafka message delivery confirmed within 150ms; 100% message delivery (no loss); PostgreSQL writes confirmed; container boot time &lt; 60 seconds; all API endpoints return expected HTTP status codes.</a:t>
                      </a: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EAF2FB"/>
                    </a:solidFill>
                  </a:tcPr>
                </a:tc>
                <a:extLst>
                  <a:ext uri="{0D108BD9-81ED-4DB2-BD59-A6C34878D82A}">
                    <a16:rowId xmlns:a16="http://schemas.microsoft.com/office/drawing/2014/main" val="3440180298"/>
                  </a:ext>
                </a:extLst>
              </a:tr>
              <a:tr h="0">
                <a:tc>
                  <a:txBody>
                    <a:bodyPr/>
                    <a:lstStyle/>
                    <a:p>
                      <a:pPr>
                        <a:spcAft>
                          <a:spcPts val="0"/>
                        </a:spcAft>
                      </a:pPr>
                      <a:r>
                        <a:rPr lang="en-MY" sz="1400" b="1">
                          <a:effectLst/>
                          <a:latin typeface="Arial" panose="020B0604020202020204" pitchFamily="34" charset="0"/>
                          <a:ea typeface="Arial" panose="020B0604020202020204" pitchFamily="34" charset="0"/>
                        </a:rPr>
                        <a:t>Selected Use Cases</a:t>
                      </a:r>
                      <a:endParaRPr lang="en-MY" sz="1400">
                        <a:effectLst/>
                        <a:latin typeface="Arial" panose="020B0604020202020204" pitchFamily="34" charset="0"/>
                        <a:ea typeface="Arial" panose="020B0604020202020204" pitchFamily="34" charset="0"/>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FFFFFF"/>
                    </a:solidFill>
                  </a:tcPr>
                </a:tc>
                <a:tc>
                  <a:txBody>
                    <a:bodyPr/>
                    <a:lstStyle/>
                    <a:p>
                      <a:pPr>
                        <a:spcAft>
                          <a:spcPts val="0"/>
                        </a:spcAft>
                      </a:pPr>
                      <a:r>
                        <a:rPr lang="en-MY" sz="1400">
                          <a:effectLst/>
                          <a:latin typeface="Arial" panose="020B0604020202020204" pitchFamily="34" charset="0"/>
                          <a:ea typeface="Arial" panose="020B0604020202020204" pitchFamily="34" charset="0"/>
                        </a:rPr>
                        <a:t>1. Real-time fraud detection event flow 2. API integration with external audit bureau (Credit Bureau API) 3. Containerized microservice deployment (Auth, Loan, Onboarding) 4. Data synchronization between PostgreSQL and cloud object storage</a:t>
                      </a: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FFFFFF"/>
                    </a:solidFill>
                  </a:tcPr>
                </a:tc>
                <a:extLst>
                  <a:ext uri="{0D108BD9-81ED-4DB2-BD59-A6C34878D82A}">
                    <a16:rowId xmlns:a16="http://schemas.microsoft.com/office/drawing/2014/main" val="925506748"/>
                  </a:ext>
                </a:extLst>
              </a:tr>
              <a:tr h="0">
                <a:tc>
                  <a:txBody>
                    <a:bodyPr/>
                    <a:lstStyle/>
                    <a:p>
                      <a:pPr>
                        <a:spcAft>
                          <a:spcPts val="0"/>
                        </a:spcAft>
                      </a:pPr>
                      <a:r>
                        <a:rPr lang="en-MY" sz="1400" b="1">
                          <a:effectLst/>
                          <a:latin typeface="Arial" panose="020B0604020202020204" pitchFamily="34" charset="0"/>
                          <a:ea typeface="Arial" panose="020B0604020202020204" pitchFamily="34" charset="0"/>
                        </a:rPr>
                        <a:t>Assumptions</a:t>
                      </a:r>
                      <a:endParaRPr lang="en-MY" sz="1400">
                        <a:effectLst/>
                        <a:latin typeface="Arial" panose="020B0604020202020204" pitchFamily="34" charset="0"/>
                        <a:ea typeface="Arial" panose="020B0604020202020204" pitchFamily="34" charset="0"/>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EAF2FB"/>
                    </a:solidFill>
                  </a:tcPr>
                </a:tc>
                <a:tc>
                  <a:txBody>
                    <a:bodyPr/>
                    <a:lstStyle/>
                    <a:p>
                      <a:pPr>
                        <a:spcAft>
                          <a:spcPts val="0"/>
                        </a:spcAft>
                      </a:pPr>
                      <a:r>
                        <a:rPr lang="en-MY" sz="1400" dirty="0">
                          <a:effectLst/>
                          <a:latin typeface="Arial" panose="020B0604020202020204" pitchFamily="34" charset="0"/>
                          <a:ea typeface="Arial" panose="020B0604020202020204" pitchFamily="34" charset="0"/>
                        </a:rPr>
                        <a:t>Sandbox environment with sample datasets only; mock API keys used for third-party credit bureau integration; Docker Desktop available on local dev machines; IBM Cloud or AWS free-tier access provisioned; 100 events/sec simulated load (not production-scale).</a:t>
                      </a: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EAF2FB"/>
                    </a:solidFill>
                  </a:tcPr>
                </a:tc>
                <a:extLst>
                  <a:ext uri="{0D108BD9-81ED-4DB2-BD59-A6C34878D82A}">
                    <a16:rowId xmlns:a16="http://schemas.microsoft.com/office/drawing/2014/main" val="300441271"/>
                  </a:ext>
                </a:extLst>
              </a:tr>
            </a:tbl>
          </a:graphicData>
        </a:graphic>
      </p:graphicFrame>
    </p:spTree>
    <p:extLst>
      <p:ext uri="{BB962C8B-B14F-4D97-AF65-F5344CB8AC3E}">
        <p14:creationId xmlns:p14="http://schemas.microsoft.com/office/powerpoint/2010/main" val="423896884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8875E1-8117-CD39-C176-4A6FB1DF116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ED2E4E7-A5E7-7D3E-7282-76C7FFF9F4F0}"/>
              </a:ext>
            </a:extLst>
          </p:cNvPr>
          <p:cNvSpPr>
            <a:spLocks noGrp="1"/>
          </p:cNvSpPr>
          <p:nvPr>
            <p:ph type="title"/>
          </p:nvPr>
        </p:nvSpPr>
        <p:spPr>
          <a:xfrm>
            <a:off x="572756" y="133943"/>
            <a:ext cx="9813446" cy="850726"/>
          </a:xfrm>
        </p:spPr>
        <p:txBody>
          <a:bodyPr>
            <a:noAutofit/>
          </a:bodyPr>
          <a:lstStyle/>
          <a:p>
            <a:r>
              <a:rPr lang="en-US" sz="3200" dirty="0">
                <a:solidFill>
                  <a:srgbClr val="00539A"/>
                </a:solidFill>
                <a:latin typeface="Arial Bold"/>
                <a:cs typeface="Arial Bold"/>
              </a:rPr>
              <a:t>Proof of Concept (PoC)</a:t>
            </a:r>
            <a:endParaRPr lang="en-US" dirty="0"/>
          </a:p>
        </p:txBody>
      </p:sp>
      <p:sp>
        <p:nvSpPr>
          <p:cNvPr id="8" name="Content Placeholder 4">
            <a:extLst>
              <a:ext uri="{FF2B5EF4-FFF2-40B4-BE49-F238E27FC236}">
                <a16:creationId xmlns:a16="http://schemas.microsoft.com/office/drawing/2014/main" id="{099B7162-7D75-D20D-2B5C-099DFE9F376B}"/>
              </a:ext>
            </a:extLst>
          </p:cNvPr>
          <p:cNvSpPr txBox="1">
            <a:spLocks/>
          </p:cNvSpPr>
          <p:nvPr/>
        </p:nvSpPr>
        <p:spPr>
          <a:xfrm>
            <a:off x="573087" y="1216025"/>
            <a:ext cx="10659485" cy="4503738"/>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dirty="0">
                <a:solidFill>
                  <a:srgbClr val="111620"/>
                </a:solidFill>
                <a:ea typeface="+mn-lt"/>
                <a:cs typeface="+mn-lt"/>
              </a:rPr>
              <a:t>PoC setup and tools</a:t>
            </a:r>
            <a:endParaRPr lang="en-US" dirty="0"/>
          </a:p>
          <a:p>
            <a:pPr marL="0" indent="0">
              <a:buNone/>
            </a:pPr>
            <a:endParaRPr lang="en-US" sz="1800" dirty="0">
              <a:highlight>
                <a:srgbClr val="FFFF00"/>
              </a:highlight>
              <a:ea typeface="+mn-lt"/>
              <a:cs typeface="+mn-lt"/>
            </a:endParaRPr>
          </a:p>
        </p:txBody>
      </p:sp>
      <p:graphicFrame>
        <p:nvGraphicFramePr>
          <p:cNvPr id="3" name="Table 2"/>
          <p:cNvGraphicFramePr>
            <a:graphicFrameLocks noGrp="1"/>
          </p:cNvGraphicFramePr>
          <p:nvPr>
            <p:extLst>
              <p:ext uri="{D42A27DB-BD31-4B8C-83A1-F6EECF244321}">
                <p14:modId xmlns:p14="http://schemas.microsoft.com/office/powerpoint/2010/main" val="845397032"/>
              </p:ext>
            </p:extLst>
          </p:nvPr>
        </p:nvGraphicFramePr>
        <p:xfrm>
          <a:off x="698091" y="1799302"/>
          <a:ext cx="10609005" cy="4066017"/>
        </p:xfrm>
        <a:graphic>
          <a:graphicData uri="http://schemas.openxmlformats.org/drawingml/2006/table">
            <a:tbl>
              <a:tblPr/>
              <a:tblGrid>
                <a:gridCol w="2380226">
                  <a:extLst>
                    <a:ext uri="{9D8B030D-6E8A-4147-A177-3AD203B41FA5}">
                      <a16:colId xmlns:a16="http://schemas.microsoft.com/office/drawing/2014/main" val="250596397"/>
                    </a:ext>
                  </a:extLst>
                </a:gridCol>
                <a:gridCol w="2380226">
                  <a:extLst>
                    <a:ext uri="{9D8B030D-6E8A-4147-A177-3AD203B41FA5}">
                      <a16:colId xmlns:a16="http://schemas.microsoft.com/office/drawing/2014/main" val="3449712723"/>
                    </a:ext>
                  </a:extLst>
                </a:gridCol>
                <a:gridCol w="1768167">
                  <a:extLst>
                    <a:ext uri="{9D8B030D-6E8A-4147-A177-3AD203B41FA5}">
                      <a16:colId xmlns:a16="http://schemas.microsoft.com/office/drawing/2014/main" val="1892721735"/>
                    </a:ext>
                  </a:extLst>
                </a:gridCol>
                <a:gridCol w="2380226">
                  <a:extLst>
                    <a:ext uri="{9D8B030D-6E8A-4147-A177-3AD203B41FA5}">
                      <a16:colId xmlns:a16="http://schemas.microsoft.com/office/drawing/2014/main" val="3873317472"/>
                    </a:ext>
                  </a:extLst>
                </a:gridCol>
                <a:gridCol w="1700160">
                  <a:extLst>
                    <a:ext uri="{9D8B030D-6E8A-4147-A177-3AD203B41FA5}">
                      <a16:colId xmlns:a16="http://schemas.microsoft.com/office/drawing/2014/main" val="842844908"/>
                    </a:ext>
                  </a:extLst>
                </a:gridCol>
              </a:tblGrid>
              <a:tr h="319121">
                <a:tc>
                  <a:txBody>
                    <a:bodyPr/>
                    <a:lstStyle/>
                    <a:p>
                      <a:pPr>
                        <a:spcAft>
                          <a:spcPts val="0"/>
                        </a:spcAft>
                      </a:pPr>
                      <a:r>
                        <a:rPr lang="en-MY" sz="1400" b="1">
                          <a:solidFill>
                            <a:srgbClr val="FFFFFF"/>
                          </a:solidFill>
                          <a:effectLst/>
                          <a:latin typeface="Arial" panose="020B0604020202020204" pitchFamily="34" charset="0"/>
                          <a:ea typeface="Arial" panose="020B0604020202020204" pitchFamily="34" charset="0"/>
                        </a:rPr>
                        <a:t>Component</a:t>
                      </a:r>
                      <a:endParaRPr lang="en-MY" sz="1400">
                        <a:effectLst/>
                        <a:latin typeface="Arial" panose="020B0604020202020204" pitchFamily="34" charset="0"/>
                        <a:ea typeface="Arial" panose="020B0604020202020204" pitchFamily="34" charset="0"/>
                      </a:endParaRPr>
                    </a:p>
                  </a:txBody>
                  <a:tcPr marL="76200" marR="76200" marT="63500" marB="63500" anchor="ctr">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1F3864"/>
                    </a:solidFill>
                  </a:tcPr>
                </a:tc>
                <a:tc>
                  <a:txBody>
                    <a:bodyPr/>
                    <a:lstStyle/>
                    <a:p>
                      <a:pPr>
                        <a:spcAft>
                          <a:spcPts val="0"/>
                        </a:spcAft>
                      </a:pPr>
                      <a:r>
                        <a:rPr lang="en-MY" sz="1400" b="1">
                          <a:solidFill>
                            <a:srgbClr val="FFFFFF"/>
                          </a:solidFill>
                          <a:effectLst/>
                          <a:latin typeface="Arial" panose="020B0604020202020204" pitchFamily="34" charset="0"/>
                          <a:ea typeface="Arial" panose="020B0604020202020204" pitchFamily="34" charset="0"/>
                        </a:rPr>
                        <a:t>Technology</a:t>
                      </a:r>
                      <a:endParaRPr lang="en-MY" sz="1400">
                        <a:effectLst/>
                        <a:latin typeface="Arial" panose="020B0604020202020204" pitchFamily="34" charset="0"/>
                        <a:ea typeface="Arial" panose="020B0604020202020204" pitchFamily="34" charset="0"/>
                      </a:endParaRPr>
                    </a:p>
                  </a:txBody>
                  <a:tcPr marL="76200" marR="76200" marT="63500" marB="63500" anchor="ctr">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1F3864"/>
                    </a:solidFill>
                  </a:tcPr>
                </a:tc>
                <a:tc>
                  <a:txBody>
                    <a:bodyPr/>
                    <a:lstStyle/>
                    <a:p>
                      <a:pPr>
                        <a:spcAft>
                          <a:spcPts val="0"/>
                        </a:spcAft>
                      </a:pPr>
                      <a:r>
                        <a:rPr lang="en-MY" sz="1400" b="1">
                          <a:solidFill>
                            <a:srgbClr val="FFFFFF"/>
                          </a:solidFill>
                          <a:effectLst/>
                          <a:latin typeface="Arial" panose="020B0604020202020204" pitchFamily="34" charset="0"/>
                          <a:ea typeface="Arial" panose="020B0604020202020204" pitchFamily="34" charset="0"/>
                        </a:rPr>
                        <a:t>Version</a:t>
                      </a:r>
                      <a:endParaRPr lang="en-MY" sz="1400">
                        <a:effectLst/>
                        <a:latin typeface="Arial" panose="020B0604020202020204" pitchFamily="34" charset="0"/>
                        <a:ea typeface="Arial" panose="020B0604020202020204" pitchFamily="34" charset="0"/>
                      </a:endParaRPr>
                    </a:p>
                  </a:txBody>
                  <a:tcPr marL="76200" marR="76200" marT="63500" marB="63500" anchor="ctr">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1F3864"/>
                    </a:solidFill>
                  </a:tcPr>
                </a:tc>
                <a:tc>
                  <a:txBody>
                    <a:bodyPr/>
                    <a:lstStyle/>
                    <a:p>
                      <a:pPr>
                        <a:spcAft>
                          <a:spcPts val="0"/>
                        </a:spcAft>
                      </a:pPr>
                      <a:r>
                        <a:rPr lang="en-MY" sz="1400" b="1">
                          <a:solidFill>
                            <a:srgbClr val="FFFFFF"/>
                          </a:solidFill>
                          <a:effectLst/>
                          <a:latin typeface="Arial" panose="020B0604020202020204" pitchFamily="34" charset="0"/>
                          <a:ea typeface="Arial" panose="020B0604020202020204" pitchFamily="34" charset="0"/>
                        </a:rPr>
                        <a:t>Setup Method</a:t>
                      </a:r>
                      <a:endParaRPr lang="en-MY" sz="1400">
                        <a:effectLst/>
                        <a:latin typeface="Arial" panose="020B0604020202020204" pitchFamily="34" charset="0"/>
                        <a:ea typeface="Arial" panose="020B0604020202020204" pitchFamily="34" charset="0"/>
                      </a:endParaRPr>
                    </a:p>
                  </a:txBody>
                  <a:tcPr marL="76200" marR="76200" marT="63500" marB="63500" anchor="ctr">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1F3864"/>
                    </a:solidFill>
                  </a:tcPr>
                </a:tc>
                <a:tc>
                  <a:txBody>
                    <a:bodyPr/>
                    <a:lstStyle/>
                    <a:p>
                      <a:pPr>
                        <a:spcAft>
                          <a:spcPts val="0"/>
                        </a:spcAft>
                      </a:pPr>
                      <a:r>
                        <a:rPr lang="en-MY" sz="1400" b="1">
                          <a:solidFill>
                            <a:srgbClr val="FFFFFF"/>
                          </a:solidFill>
                          <a:effectLst/>
                          <a:latin typeface="Arial" panose="020B0604020202020204" pitchFamily="34" charset="0"/>
                          <a:ea typeface="Arial" panose="020B0604020202020204" pitchFamily="34" charset="0"/>
                        </a:rPr>
                        <a:t>Notes</a:t>
                      </a:r>
                      <a:endParaRPr lang="en-MY" sz="1400">
                        <a:effectLst/>
                        <a:latin typeface="Arial" panose="020B0604020202020204" pitchFamily="34" charset="0"/>
                        <a:ea typeface="Arial" panose="020B0604020202020204" pitchFamily="34" charset="0"/>
                      </a:endParaRPr>
                    </a:p>
                  </a:txBody>
                  <a:tcPr marL="76200" marR="76200" marT="63500" marB="63500" anchor="ctr">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1F3864"/>
                    </a:solidFill>
                  </a:tcPr>
                </a:tc>
                <a:extLst>
                  <a:ext uri="{0D108BD9-81ED-4DB2-BD59-A6C34878D82A}">
                    <a16:rowId xmlns:a16="http://schemas.microsoft.com/office/drawing/2014/main" val="1110536204"/>
                  </a:ext>
                </a:extLst>
              </a:tr>
              <a:tr h="464177">
                <a:tc>
                  <a:txBody>
                    <a:bodyPr/>
                    <a:lstStyle/>
                    <a:p>
                      <a:pPr>
                        <a:spcAft>
                          <a:spcPts val="0"/>
                        </a:spcAft>
                      </a:pPr>
                      <a:r>
                        <a:rPr lang="en-MY" sz="1400">
                          <a:effectLst/>
                          <a:latin typeface="Arial" panose="020B0604020202020204" pitchFamily="34" charset="0"/>
                          <a:ea typeface="Arial" panose="020B0604020202020204" pitchFamily="34" charset="0"/>
                        </a:rPr>
                        <a:t>Microservice</a:t>
                      </a: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FFFFFF"/>
                    </a:solidFill>
                  </a:tcPr>
                </a:tc>
                <a:tc>
                  <a:txBody>
                    <a:bodyPr/>
                    <a:lstStyle/>
                    <a:p>
                      <a:pPr>
                        <a:spcAft>
                          <a:spcPts val="0"/>
                        </a:spcAft>
                      </a:pPr>
                      <a:r>
                        <a:rPr lang="en-MY" sz="1400">
                          <a:effectLst/>
                          <a:latin typeface="Arial" panose="020B0604020202020204" pitchFamily="34" charset="0"/>
                          <a:ea typeface="Arial" panose="020B0604020202020204" pitchFamily="34" charset="0"/>
                        </a:rPr>
                        <a:t>Spring Boot</a:t>
                      </a: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FFFFFF"/>
                    </a:solidFill>
                  </a:tcPr>
                </a:tc>
                <a:tc>
                  <a:txBody>
                    <a:bodyPr/>
                    <a:lstStyle/>
                    <a:p>
                      <a:pPr>
                        <a:spcAft>
                          <a:spcPts val="0"/>
                        </a:spcAft>
                      </a:pPr>
                      <a:r>
                        <a:rPr lang="en-MY" sz="1400">
                          <a:effectLst/>
                          <a:latin typeface="Arial" panose="020B0604020202020204" pitchFamily="34" charset="0"/>
                          <a:ea typeface="Arial" panose="020B0604020202020204" pitchFamily="34" charset="0"/>
                        </a:rPr>
                        <a:t>3.2.x</a:t>
                      </a: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FFFFFF"/>
                    </a:solidFill>
                  </a:tcPr>
                </a:tc>
                <a:tc>
                  <a:txBody>
                    <a:bodyPr/>
                    <a:lstStyle/>
                    <a:p>
                      <a:pPr>
                        <a:spcAft>
                          <a:spcPts val="0"/>
                        </a:spcAft>
                      </a:pPr>
                      <a:r>
                        <a:rPr lang="en-MY" sz="1400">
                          <a:effectLst/>
                          <a:latin typeface="Arial" panose="020B0604020202020204" pitchFamily="34" charset="0"/>
                          <a:ea typeface="Arial" panose="020B0604020202020204" pitchFamily="34" charset="0"/>
                        </a:rPr>
                        <a:t>Containerized via Docker</a:t>
                      </a: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FFFFFF"/>
                    </a:solidFill>
                  </a:tcPr>
                </a:tc>
                <a:tc>
                  <a:txBody>
                    <a:bodyPr/>
                    <a:lstStyle/>
                    <a:p>
                      <a:pPr>
                        <a:spcAft>
                          <a:spcPts val="0"/>
                        </a:spcAft>
                      </a:pPr>
                      <a:r>
                        <a:rPr lang="en-MY" sz="1400">
                          <a:effectLst/>
                          <a:latin typeface="Arial" panose="020B0604020202020204" pitchFamily="34" charset="0"/>
                          <a:ea typeface="Arial" panose="020B0604020202020204" pitchFamily="34" charset="0"/>
                        </a:rPr>
                        <a:t>Runs on port 8080</a:t>
                      </a: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FFFFFF"/>
                    </a:solidFill>
                  </a:tcPr>
                </a:tc>
                <a:extLst>
                  <a:ext uri="{0D108BD9-81ED-4DB2-BD59-A6C34878D82A}">
                    <a16:rowId xmlns:a16="http://schemas.microsoft.com/office/drawing/2014/main" val="4024420605"/>
                  </a:ext>
                </a:extLst>
              </a:tr>
              <a:tr h="464177">
                <a:tc>
                  <a:txBody>
                    <a:bodyPr/>
                    <a:lstStyle/>
                    <a:p>
                      <a:pPr>
                        <a:spcAft>
                          <a:spcPts val="0"/>
                        </a:spcAft>
                      </a:pPr>
                      <a:r>
                        <a:rPr lang="en-MY" sz="1400">
                          <a:effectLst/>
                          <a:latin typeface="Arial" panose="020B0604020202020204" pitchFamily="34" charset="0"/>
                          <a:ea typeface="Arial" panose="020B0604020202020204" pitchFamily="34" charset="0"/>
                        </a:rPr>
                        <a:t>Event Broker</a:t>
                      </a: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EAF2FB"/>
                    </a:solidFill>
                  </a:tcPr>
                </a:tc>
                <a:tc>
                  <a:txBody>
                    <a:bodyPr/>
                    <a:lstStyle/>
                    <a:p>
                      <a:pPr>
                        <a:spcAft>
                          <a:spcPts val="0"/>
                        </a:spcAft>
                      </a:pPr>
                      <a:r>
                        <a:rPr lang="en-MY" sz="1400">
                          <a:effectLst/>
                          <a:latin typeface="Arial" panose="020B0604020202020204" pitchFamily="34" charset="0"/>
                          <a:ea typeface="Arial" panose="020B0604020202020204" pitchFamily="34" charset="0"/>
                        </a:rPr>
                        <a:t>Apache Kafka</a:t>
                      </a: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EAF2FB"/>
                    </a:solidFill>
                  </a:tcPr>
                </a:tc>
                <a:tc>
                  <a:txBody>
                    <a:bodyPr/>
                    <a:lstStyle/>
                    <a:p>
                      <a:pPr>
                        <a:spcAft>
                          <a:spcPts val="0"/>
                        </a:spcAft>
                      </a:pPr>
                      <a:r>
                        <a:rPr lang="en-MY" sz="1400">
                          <a:effectLst/>
                          <a:latin typeface="Arial" panose="020B0604020202020204" pitchFamily="34" charset="0"/>
                          <a:ea typeface="Arial" panose="020B0604020202020204" pitchFamily="34" charset="0"/>
                        </a:rPr>
                        <a:t>3.6.x</a:t>
                      </a: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EAF2FB"/>
                    </a:solidFill>
                  </a:tcPr>
                </a:tc>
                <a:tc>
                  <a:txBody>
                    <a:bodyPr/>
                    <a:lstStyle/>
                    <a:p>
                      <a:pPr>
                        <a:spcAft>
                          <a:spcPts val="0"/>
                        </a:spcAft>
                      </a:pPr>
                      <a:r>
                        <a:rPr lang="en-MY" sz="1400">
                          <a:effectLst/>
                          <a:latin typeface="Arial" panose="020B0604020202020204" pitchFamily="34" charset="0"/>
                          <a:ea typeface="Arial" panose="020B0604020202020204" pitchFamily="34" charset="0"/>
                        </a:rPr>
                        <a:t>Docker Compose</a:t>
                      </a: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EAF2FB"/>
                    </a:solidFill>
                  </a:tcPr>
                </a:tc>
                <a:tc>
                  <a:txBody>
                    <a:bodyPr/>
                    <a:lstStyle/>
                    <a:p>
                      <a:pPr>
                        <a:spcAft>
                          <a:spcPts val="0"/>
                        </a:spcAft>
                      </a:pPr>
                      <a:r>
                        <a:rPr lang="en-MY" sz="1400">
                          <a:effectLst/>
                          <a:latin typeface="Arial" panose="020B0604020202020204" pitchFamily="34" charset="0"/>
                          <a:ea typeface="Arial" panose="020B0604020202020204" pitchFamily="34" charset="0"/>
                        </a:rPr>
                        <a:t>Topic: fraud-events</a:t>
                      </a: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EAF2FB"/>
                    </a:solidFill>
                  </a:tcPr>
                </a:tc>
                <a:extLst>
                  <a:ext uri="{0D108BD9-81ED-4DB2-BD59-A6C34878D82A}">
                    <a16:rowId xmlns:a16="http://schemas.microsoft.com/office/drawing/2014/main" val="2112437422"/>
                  </a:ext>
                </a:extLst>
              </a:tr>
              <a:tr h="464177">
                <a:tc>
                  <a:txBody>
                    <a:bodyPr/>
                    <a:lstStyle/>
                    <a:p>
                      <a:pPr>
                        <a:spcAft>
                          <a:spcPts val="0"/>
                        </a:spcAft>
                      </a:pPr>
                      <a:r>
                        <a:rPr lang="en-MY" sz="1400">
                          <a:effectLst/>
                          <a:latin typeface="Arial" panose="020B0604020202020204" pitchFamily="34" charset="0"/>
                          <a:ea typeface="Arial" panose="020B0604020202020204" pitchFamily="34" charset="0"/>
                        </a:rPr>
                        <a:t>Database</a:t>
                      </a: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FFFFFF"/>
                    </a:solidFill>
                  </a:tcPr>
                </a:tc>
                <a:tc>
                  <a:txBody>
                    <a:bodyPr/>
                    <a:lstStyle/>
                    <a:p>
                      <a:pPr>
                        <a:spcAft>
                          <a:spcPts val="0"/>
                        </a:spcAft>
                      </a:pPr>
                      <a:r>
                        <a:rPr lang="en-MY" sz="1400" dirty="0">
                          <a:effectLst/>
                          <a:latin typeface="Arial" panose="020B0604020202020204" pitchFamily="34" charset="0"/>
                          <a:ea typeface="Arial" panose="020B0604020202020204" pitchFamily="34" charset="0"/>
                        </a:rPr>
                        <a:t>PostgreSQL</a:t>
                      </a: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FFFFFF"/>
                    </a:solidFill>
                  </a:tcPr>
                </a:tc>
                <a:tc>
                  <a:txBody>
                    <a:bodyPr/>
                    <a:lstStyle/>
                    <a:p>
                      <a:pPr>
                        <a:spcAft>
                          <a:spcPts val="0"/>
                        </a:spcAft>
                      </a:pPr>
                      <a:r>
                        <a:rPr lang="en-MY" sz="1400">
                          <a:effectLst/>
                          <a:latin typeface="Arial" panose="020B0604020202020204" pitchFamily="34" charset="0"/>
                          <a:ea typeface="Arial" panose="020B0604020202020204" pitchFamily="34" charset="0"/>
                        </a:rPr>
                        <a:t>15.x</a:t>
                      </a: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FFFFFF"/>
                    </a:solidFill>
                  </a:tcPr>
                </a:tc>
                <a:tc>
                  <a:txBody>
                    <a:bodyPr/>
                    <a:lstStyle/>
                    <a:p>
                      <a:pPr>
                        <a:spcAft>
                          <a:spcPts val="0"/>
                        </a:spcAft>
                      </a:pPr>
                      <a:r>
                        <a:rPr lang="en-MY" sz="1400">
                          <a:effectLst/>
                          <a:latin typeface="Arial" panose="020B0604020202020204" pitchFamily="34" charset="0"/>
                          <a:ea typeface="Arial" panose="020B0604020202020204" pitchFamily="34" charset="0"/>
                        </a:rPr>
                        <a:t>Docker container</a:t>
                      </a: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FFFFFF"/>
                    </a:solidFill>
                  </a:tcPr>
                </a:tc>
                <a:tc>
                  <a:txBody>
                    <a:bodyPr/>
                    <a:lstStyle/>
                    <a:p>
                      <a:pPr>
                        <a:spcAft>
                          <a:spcPts val="0"/>
                        </a:spcAft>
                      </a:pPr>
                      <a:r>
                        <a:rPr lang="en-MY" sz="1400">
                          <a:effectLst/>
                          <a:latin typeface="Arial" panose="020B0604020202020204" pitchFamily="34" charset="0"/>
                          <a:ea typeface="Arial" panose="020B0604020202020204" pitchFamily="34" charset="0"/>
                        </a:rPr>
                        <a:t>Table: event_log</a:t>
                      </a: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FFFFFF"/>
                    </a:solidFill>
                  </a:tcPr>
                </a:tc>
                <a:extLst>
                  <a:ext uri="{0D108BD9-81ED-4DB2-BD59-A6C34878D82A}">
                    <a16:rowId xmlns:a16="http://schemas.microsoft.com/office/drawing/2014/main" val="3888204005"/>
                  </a:ext>
                </a:extLst>
              </a:tr>
              <a:tr h="638243">
                <a:tc>
                  <a:txBody>
                    <a:bodyPr/>
                    <a:lstStyle/>
                    <a:p>
                      <a:pPr>
                        <a:spcAft>
                          <a:spcPts val="0"/>
                        </a:spcAft>
                      </a:pPr>
                      <a:r>
                        <a:rPr lang="en-MY" sz="1400">
                          <a:effectLst/>
                          <a:latin typeface="Arial" panose="020B0604020202020204" pitchFamily="34" charset="0"/>
                          <a:ea typeface="Arial" panose="020B0604020202020204" pitchFamily="34" charset="0"/>
                        </a:rPr>
                        <a:t>API Testing</a:t>
                      </a: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EAF2FB"/>
                    </a:solidFill>
                  </a:tcPr>
                </a:tc>
                <a:tc>
                  <a:txBody>
                    <a:bodyPr/>
                    <a:lstStyle/>
                    <a:p>
                      <a:pPr>
                        <a:spcAft>
                          <a:spcPts val="0"/>
                        </a:spcAft>
                      </a:pPr>
                      <a:r>
                        <a:rPr lang="en-MY" sz="1400">
                          <a:effectLst/>
                          <a:latin typeface="Arial" panose="020B0604020202020204" pitchFamily="34" charset="0"/>
                          <a:ea typeface="Arial" panose="020B0604020202020204" pitchFamily="34" charset="0"/>
                        </a:rPr>
                        <a:t>Postman</a:t>
                      </a: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EAF2FB"/>
                    </a:solidFill>
                  </a:tcPr>
                </a:tc>
                <a:tc>
                  <a:txBody>
                    <a:bodyPr/>
                    <a:lstStyle/>
                    <a:p>
                      <a:pPr>
                        <a:spcAft>
                          <a:spcPts val="0"/>
                        </a:spcAft>
                      </a:pPr>
                      <a:r>
                        <a:rPr lang="en-MY" sz="1400">
                          <a:effectLst/>
                          <a:latin typeface="Arial" panose="020B0604020202020204" pitchFamily="34" charset="0"/>
                          <a:ea typeface="Arial" panose="020B0604020202020204" pitchFamily="34" charset="0"/>
                        </a:rPr>
                        <a:t>10.x</a:t>
                      </a: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EAF2FB"/>
                    </a:solidFill>
                  </a:tcPr>
                </a:tc>
                <a:tc>
                  <a:txBody>
                    <a:bodyPr/>
                    <a:lstStyle/>
                    <a:p>
                      <a:pPr>
                        <a:spcAft>
                          <a:spcPts val="0"/>
                        </a:spcAft>
                      </a:pPr>
                      <a:r>
                        <a:rPr lang="en-MY" sz="1400">
                          <a:effectLst/>
                          <a:latin typeface="Arial" panose="020B0604020202020204" pitchFamily="34" charset="0"/>
                          <a:ea typeface="Arial" panose="020B0604020202020204" pitchFamily="34" charset="0"/>
                        </a:rPr>
                        <a:t>Local installation</a:t>
                      </a: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EAF2FB"/>
                    </a:solidFill>
                  </a:tcPr>
                </a:tc>
                <a:tc>
                  <a:txBody>
                    <a:bodyPr/>
                    <a:lstStyle/>
                    <a:p>
                      <a:pPr>
                        <a:spcAft>
                          <a:spcPts val="0"/>
                        </a:spcAft>
                      </a:pPr>
                      <a:r>
                        <a:rPr lang="en-MY" sz="1400">
                          <a:effectLst/>
                          <a:latin typeface="Arial" panose="020B0604020202020204" pitchFamily="34" charset="0"/>
                          <a:ea typeface="Arial" panose="020B0604020202020204" pitchFamily="34" charset="0"/>
                        </a:rPr>
                        <a:t>REST endpoint validation</a:t>
                      </a: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EAF2FB"/>
                    </a:solidFill>
                  </a:tcPr>
                </a:tc>
                <a:extLst>
                  <a:ext uri="{0D108BD9-81ED-4DB2-BD59-A6C34878D82A}">
                    <a16:rowId xmlns:a16="http://schemas.microsoft.com/office/drawing/2014/main" val="3987274699"/>
                  </a:ext>
                </a:extLst>
              </a:tr>
              <a:tr h="464177">
                <a:tc>
                  <a:txBody>
                    <a:bodyPr/>
                    <a:lstStyle/>
                    <a:p>
                      <a:pPr>
                        <a:spcAft>
                          <a:spcPts val="0"/>
                        </a:spcAft>
                      </a:pPr>
                      <a:r>
                        <a:rPr lang="en-MY" sz="1400">
                          <a:effectLst/>
                          <a:latin typeface="Arial" panose="020B0604020202020204" pitchFamily="34" charset="0"/>
                          <a:ea typeface="Arial" panose="020B0604020202020204" pitchFamily="34" charset="0"/>
                        </a:rPr>
                        <a:t>Container Runtime</a:t>
                      </a: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FFFFFF"/>
                    </a:solidFill>
                  </a:tcPr>
                </a:tc>
                <a:tc>
                  <a:txBody>
                    <a:bodyPr/>
                    <a:lstStyle/>
                    <a:p>
                      <a:pPr>
                        <a:spcAft>
                          <a:spcPts val="0"/>
                        </a:spcAft>
                      </a:pPr>
                      <a:r>
                        <a:rPr lang="en-MY" sz="1400">
                          <a:effectLst/>
                          <a:latin typeface="Arial" panose="020B0604020202020204" pitchFamily="34" charset="0"/>
                          <a:ea typeface="Arial" panose="020B0604020202020204" pitchFamily="34" charset="0"/>
                        </a:rPr>
                        <a:t>Docker Desktop</a:t>
                      </a: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FFFFFF"/>
                    </a:solidFill>
                  </a:tcPr>
                </a:tc>
                <a:tc>
                  <a:txBody>
                    <a:bodyPr/>
                    <a:lstStyle/>
                    <a:p>
                      <a:pPr>
                        <a:spcAft>
                          <a:spcPts val="0"/>
                        </a:spcAft>
                      </a:pPr>
                      <a:r>
                        <a:rPr lang="en-MY" sz="1400">
                          <a:effectLst/>
                          <a:latin typeface="Arial" panose="020B0604020202020204" pitchFamily="34" charset="0"/>
                          <a:ea typeface="Arial" panose="020B0604020202020204" pitchFamily="34" charset="0"/>
                        </a:rPr>
                        <a:t>25.x</a:t>
                      </a: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FFFFFF"/>
                    </a:solidFill>
                  </a:tcPr>
                </a:tc>
                <a:tc>
                  <a:txBody>
                    <a:bodyPr/>
                    <a:lstStyle/>
                    <a:p>
                      <a:pPr>
                        <a:spcAft>
                          <a:spcPts val="0"/>
                        </a:spcAft>
                      </a:pPr>
                      <a:r>
                        <a:rPr lang="en-MY" sz="1400">
                          <a:effectLst/>
                          <a:latin typeface="Arial" panose="020B0604020202020204" pitchFamily="34" charset="0"/>
                          <a:ea typeface="Arial" panose="020B0604020202020204" pitchFamily="34" charset="0"/>
                        </a:rPr>
                        <a:t>Local / IBM Cloud</a:t>
                      </a: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FFFFFF"/>
                    </a:solidFill>
                  </a:tcPr>
                </a:tc>
                <a:tc>
                  <a:txBody>
                    <a:bodyPr/>
                    <a:lstStyle/>
                    <a:p>
                      <a:pPr>
                        <a:spcAft>
                          <a:spcPts val="0"/>
                        </a:spcAft>
                      </a:pPr>
                      <a:r>
                        <a:rPr lang="en-MY" sz="1400">
                          <a:effectLst/>
                          <a:latin typeface="Arial" panose="020B0604020202020204" pitchFamily="34" charset="0"/>
                          <a:ea typeface="Arial" panose="020B0604020202020204" pitchFamily="34" charset="0"/>
                        </a:rPr>
                        <a:t>Kubernetes-ready images</a:t>
                      </a: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FFFFFF"/>
                    </a:solidFill>
                  </a:tcPr>
                </a:tc>
                <a:extLst>
                  <a:ext uri="{0D108BD9-81ED-4DB2-BD59-A6C34878D82A}">
                    <a16:rowId xmlns:a16="http://schemas.microsoft.com/office/drawing/2014/main" val="2826242094"/>
                  </a:ext>
                </a:extLst>
              </a:tr>
              <a:tr h="638243">
                <a:tc>
                  <a:txBody>
                    <a:bodyPr/>
                    <a:lstStyle/>
                    <a:p>
                      <a:pPr>
                        <a:spcAft>
                          <a:spcPts val="0"/>
                        </a:spcAft>
                      </a:pPr>
                      <a:r>
                        <a:rPr lang="en-MY" sz="1400">
                          <a:effectLst/>
                          <a:latin typeface="Arial" panose="020B0604020202020204" pitchFamily="34" charset="0"/>
                          <a:ea typeface="Arial" panose="020B0604020202020204" pitchFamily="34" charset="0"/>
                        </a:rPr>
                        <a:t>Cloud Console</a:t>
                      </a: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EAF2FB"/>
                    </a:solidFill>
                  </a:tcPr>
                </a:tc>
                <a:tc>
                  <a:txBody>
                    <a:bodyPr/>
                    <a:lstStyle/>
                    <a:p>
                      <a:pPr>
                        <a:spcAft>
                          <a:spcPts val="0"/>
                        </a:spcAft>
                      </a:pPr>
                      <a:r>
                        <a:rPr lang="en-MY" sz="1400">
                          <a:effectLst/>
                          <a:latin typeface="Arial" panose="020B0604020202020204" pitchFamily="34" charset="0"/>
                          <a:ea typeface="Arial" panose="020B0604020202020204" pitchFamily="34" charset="0"/>
                        </a:rPr>
                        <a:t>IBM Cloud / AWS Free Tier</a:t>
                      </a: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EAF2FB"/>
                    </a:solidFill>
                  </a:tcPr>
                </a:tc>
                <a:tc>
                  <a:txBody>
                    <a:bodyPr/>
                    <a:lstStyle/>
                    <a:p>
                      <a:pPr>
                        <a:spcAft>
                          <a:spcPts val="0"/>
                        </a:spcAft>
                      </a:pPr>
                      <a:r>
                        <a:rPr lang="en-MY" sz="1400">
                          <a:effectLst/>
                          <a:latin typeface="Arial" panose="020B0604020202020204" pitchFamily="34" charset="0"/>
                          <a:ea typeface="Arial" panose="020B0604020202020204" pitchFamily="34" charset="0"/>
                        </a:rPr>
                        <a:t>N/A</a:t>
                      </a: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EAF2FB"/>
                    </a:solidFill>
                  </a:tcPr>
                </a:tc>
                <a:tc>
                  <a:txBody>
                    <a:bodyPr/>
                    <a:lstStyle/>
                    <a:p>
                      <a:pPr>
                        <a:spcAft>
                          <a:spcPts val="0"/>
                        </a:spcAft>
                      </a:pPr>
                      <a:r>
                        <a:rPr lang="en-MY" sz="1400">
                          <a:effectLst/>
                          <a:latin typeface="Arial" panose="020B0604020202020204" pitchFamily="34" charset="0"/>
                          <a:ea typeface="Arial" panose="020B0604020202020204" pitchFamily="34" charset="0"/>
                        </a:rPr>
                        <a:t>Browser-based provisioning</a:t>
                      </a: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EAF2FB"/>
                    </a:solidFill>
                  </a:tcPr>
                </a:tc>
                <a:tc>
                  <a:txBody>
                    <a:bodyPr/>
                    <a:lstStyle/>
                    <a:p>
                      <a:pPr>
                        <a:spcAft>
                          <a:spcPts val="0"/>
                        </a:spcAft>
                      </a:pPr>
                      <a:r>
                        <a:rPr lang="en-MY" sz="1400">
                          <a:effectLst/>
                          <a:latin typeface="Arial" panose="020B0604020202020204" pitchFamily="34" charset="0"/>
                          <a:ea typeface="Arial" panose="020B0604020202020204" pitchFamily="34" charset="0"/>
                        </a:rPr>
                        <a:t>Object storage &amp; registry</a:t>
                      </a: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EAF2FB"/>
                    </a:solidFill>
                  </a:tcPr>
                </a:tc>
                <a:extLst>
                  <a:ext uri="{0D108BD9-81ED-4DB2-BD59-A6C34878D82A}">
                    <a16:rowId xmlns:a16="http://schemas.microsoft.com/office/drawing/2014/main" val="2924868181"/>
                  </a:ext>
                </a:extLst>
              </a:tr>
              <a:tr h="464177">
                <a:tc>
                  <a:txBody>
                    <a:bodyPr/>
                    <a:lstStyle/>
                    <a:p>
                      <a:pPr>
                        <a:spcAft>
                          <a:spcPts val="0"/>
                        </a:spcAft>
                      </a:pPr>
                      <a:r>
                        <a:rPr lang="en-MY" sz="1400">
                          <a:effectLst/>
                          <a:latin typeface="Arial" panose="020B0604020202020204" pitchFamily="34" charset="0"/>
                          <a:ea typeface="Arial" panose="020B0604020202020204" pitchFamily="34" charset="0"/>
                        </a:rPr>
                        <a:t>Monitoring</a:t>
                      </a: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FFFFFF"/>
                    </a:solidFill>
                  </a:tcPr>
                </a:tc>
                <a:tc>
                  <a:txBody>
                    <a:bodyPr/>
                    <a:lstStyle/>
                    <a:p>
                      <a:pPr>
                        <a:spcAft>
                          <a:spcPts val="0"/>
                        </a:spcAft>
                      </a:pPr>
                      <a:r>
                        <a:rPr lang="en-MY" sz="1400">
                          <a:effectLst/>
                          <a:latin typeface="Arial" panose="020B0604020202020204" pitchFamily="34" charset="0"/>
                          <a:ea typeface="Arial" panose="020B0604020202020204" pitchFamily="34" charset="0"/>
                        </a:rPr>
                        <a:t>Kafka CLI</a:t>
                      </a: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FFFFFF"/>
                    </a:solidFill>
                  </a:tcPr>
                </a:tc>
                <a:tc>
                  <a:txBody>
                    <a:bodyPr/>
                    <a:lstStyle/>
                    <a:p>
                      <a:pPr>
                        <a:spcAft>
                          <a:spcPts val="0"/>
                        </a:spcAft>
                      </a:pPr>
                      <a:r>
                        <a:rPr lang="en-MY" sz="1400">
                          <a:effectLst/>
                          <a:latin typeface="Arial" panose="020B0604020202020204" pitchFamily="34" charset="0"/>
                          <a:ea typeface="Arial" panose="020B0604020202020204" pitchFamily="34" charset="0"/>
                        </a:rPr>
                        <a:t>3.6.x</a:t>
                      </a: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FFFFFF"/>
                    </a:solidFill>
                  </a:tcPr>
                </a:tc>
                <a:tc>
                  <a:txBody>
                    <a:bodyPr/>
                    <a:lstStyle/>
                    <a:p>
                      <a:pPr>
                        <a:spcAft>
                          <a:spcPts val="0"/>
                        </a:spcAft>
                      </a:pPr>
                      <a:r>
                        <a:rPr lang="en-MY" sz="1400">
                          <a:effectLst/>
                          <a:latin typeface="Arial" panose="020B0604020202020204" pitchFamily="34" charset="0"/>
                          <a:ea typeface="Arial" panose="020B0604020202020204" pitchFamily="34" charset="0"/>
                        </a:rPr>
                        <a:t>Command line tools</a:t>
                      </a: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FFFFFF"/>
                    </a:solidFill>
                  </a:tcPr>
                </a:tc>
                <a:tc>
                  <a:txBody>
                    <a:bodyPr/>
                    <a:lstStyle/>
                    <a:p>
                      <a:pPr>
                        <a:spcAft>
                          <a:spcPts val="0"/>
                        </a:spcAft>
                      </a:pPr>
                      <a:r>
                        <a:rPr lang="en-MY" sz="1400" dirty="0">
                          <a:effectLst/>
                          <a:latin typeface="Arial" panose="020B0604020202020204" pitchFamily="34" charset="0"/>
                          <a:ea typeface="Arial" panose="020B0604020202020204" pitchFamily="34" charset="0"/>
                        </a:rPr>
                        <a:t>Consumer lag tracking</a:t>
                      </a: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FFFFFF"/>
                    </a:solidFill>
                  </a:tcPr>
                </a:tc>
                <a:extLst>
                  <a:ext uri="{0D108BD9-81ED-4DB2-BD59-A6C34878D82A}">
                    <a16:rowId xmlns:a16="http://schemas.microsoft.com/office/drawing/2014/main" val="3656637675"/>
                  </a:ext>
                </a:extLst>
              </a:tr>
            </a:tbl>
          </a:graphicData>
        </a:graphic>
      </p:graphicFrame>
    </p:spTree>
    <p:extLst>
      <p:ext uri="{BB962C8B-B14F-4D97-AF65-F5344CB8AC3E}">
        <p14:creationId xmlns:p14="http://schemas.microsoft.com/office/powerpoint/2010/main" val="38035255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61F451-092D-2E62-4F4D-F68AA0E0294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2E9EC90-59DB-18D1-CE16-46BF1BF71682}"/>
              </a:ext>
            </a:extLst>
          </p:cNvPr>
          <p:cNvSpPr>
            <a:spLocks noGrp="1"/>
          </p:cNvSpPr>
          <p:nvPr>
            <p:ph type="title"/>
          </p:nvPr>
        </p:nvSpPr>
        <p:spPr>
          <a:xfrm>
            <a:off x="572756" y="133943"/>
            <a:ext cx="9813446" cy="850726"/>
          </a:xfrm>
        </p:spPr>
        <p:txBody>
          <a:bodyPr>
            <a:noAutofit/>
          </a:bodyPr>
          <a:lstStyle/>
          <a:p>
            <a:r>
              <a:rPr lang="en-US" sz="3200" dirty="0">
                <a:solidFill>
                  <a:srgbClr val="00539A"/>
                </a:solidFill>
                <a:latin typeface="Arial Bold"/>
                <a:cs typeface="Arial Bold"/>
              </a:rPr>
              <a:t>Proof of Concept (PoC)</a:t>
            </a:r>
            <a:endParaRPr lang="en-US" dirty="0"/>
          </a:p>
        </p:txBody>
      </p:sp>
      <p:sp>
        <p:nvSpPr>
          <p:cNvPr id="8" name="Content Placeholder 4">
            <a:extLst>
              <a:ext uri="{FF2B5EF4-FFF2-40B4-BE49-F238E27FC236}">
                <a16:creationId xmlns:a16="http://schemas.microsoft.com/office/drawing/2014/main" id="{FB3A29F4-6013-B47C-5654-F2A830BCA049}"/>
              </a:ext>
            </a:extLst>
          </p:cNvPr>
          <p:cNvSpPr txBox="1">
            <a:spLocks/>
          </p:cNvSpPr>
          <p:nvPr/>
        </p:nvSpPr>
        <p:spPr>
          <a:xfrm>
            <a:off x="573087" y="1216025"/>
            <a:ext cx="10659485" cy="4503738"/>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dirty="0">
                <a:solidFill>
                  <a:srgbClr val="111620"/>
                </a:solidFill>
                <a:ea typeface="+mn-lt"/>
                <a:cs typeface="+mn-lt"/>
              </a:rPr>
              <a:t>Limitations and </a:t>
            </a:r>
            <a:r>
              <a:rPr lang="en-US" sz="2400" b="1" dirty="0" smtClean="0">
                <a:solidFill>
                  <a:srgbClr val="111620"/>
                </a:solidFill>
                <a:ea typeface="+mn-lt"/>
                <a:cs typeface="+mn-lt"/>
              </a:rPr>
              <a:t>recommendations</a:t>
            </a:r>
          </a:p>
          <a:p>
            <a:pPr marL="0" indent="0">
              <a:buNone/>
            </a:pPr>
            <a:endParaRPr lang="en-US" dirty="0"/>
          </a:p>
        </p:txBody>
      </p:sp>
      <p:graphicFrame>
        <p:nvGraphicFramePr>
          <p:cNvPr id="3" name="Table 2"/>
          <p:cNvGraphicFramePr>
            <a:graphicFrameLocks noGrp="1"/>
          </p:cNvGraphicFramePr>
          <p:nvPr>
            <p:extLst>
              <p:ext uri="{D42A27DB-BD31-4B8C-83A1-F6EECF244321}">
                <p14:modId xmlns:p14="http://schemas.microsoft.com/office/powerpoint/2010/main" val="2073529908"/>
              </p:ext>
            </p:extLst>
          </p:nvPr>
        </p:nvGraphicFramePr>
        <p:xfrm>
          <a:off x="668596" y="1828799"/>
          <a:ext cx="10687662" cy="4203395"/>
        </p:xfrm>
        <a:graphic>
          <a:graphicData uri="http://schemas.openxmlformats.org/drawingml/2006/table">
            <a:tbl>
              <a:tblPr/>
              <a:tblGrid>
                <a:gridCol w="2055320">
                  <a:extLst>
                    <a:ext uri="{9D8B030D-6E8A-4147-A177-3AD203B41FA5}">
                      <a16:colId xmlns:a16="http://schemas.microsoft.com/office/drawing/2014/main" val="1266052244"/>
                    </a:ext>
                  </a:extLst>
                </a:gridCol>
                <a:gridCol w="3082980">
                  <a:extLst>
                    <a:ext uri="{9D8B030D-6E8A-4147-A177-3AD203B41FA5}">
                      <a16:colId xmlns:a16="http://schemas.microsoft.com/office/drawing/2014/main" val="1295352096"/>
                    </a:ext>
                  </a:extLst>
                </a:gridCol>
                <a:gridCol w="1781276">
                  <a:extLst>
                    <a:ext uri="{9D8B030D-6E8A-4147-A177-3AD203B41FA5}">
                      <a16:colId xmlns:a16="http://schemas.microsoft.com/office/drawing/2014/main" val="4010241988"/>
                    </a:ext>
                  </a:extLst>
                </a:gridCol>
                <a:gridCol w="3768086">
                  <a:extLst>
                    <a:ext uri="{9D8B030D-6E8A-4147-A177-3AD203B41FA5}">
                      <a16:colId xmlns:a16="http://schemas.microsoft.com/office/drawing/2014/main" val="808061059"/>
                    </a:ext>
                  </a:extLst>
                </a:gridCol>
              </a:tblGrid>
              <a:tr h="311624">
                <a:tc>
                  <a:txBody>
                    <a:bodyPr/>
                    <a:lstStyle/>
                    <a:p>
                      <a:pPr>
                        <a:spcAft>
                          <a:spcPts val="0"/>
                        </a:spcAft>
                      </a:pPr>
                      <a:r>
                        <a:rPr lang="en-MY" sz="1400" b="1">
                          <a:solidFill>
                            <a:srgbClr val="FFFFFF"/>
                          </a:solidFill>
                          <a:effectLst/>
                          <a:latin typeface="Arial" panose="020B0604020202020204" pitchFamily="34" charset="0"/>
                          <a:ea typeface="Arial" panose="020B0604020202020204" pitchFamily="34" charset="0"/>
                        </a:rPr>
                        <a:t>Category</a:t>
                      </a:r>
                      <a:endParaRPr lang="en-MY" sz="1400">
                        <a:effectLst/>
                        <a:latin typeface="Arial" panose="020B0604020202020204" pitchFamily="34" charset="0"/>
                        <a:ea typeface="Arial" panose="020B0604020202020204" pitchFamily="34" charset="0"/>
                      </a:endParaRPr>
                    </a:p>
                  </a:txBody>
                  <a:tcPr marL="76200" marR="76200" marT="63500" marB="63500" anchor="ctr">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1F3864"/>
                    </a:solidFill>
                  </a:tcPr>
                </a:tc>
                <a:tc>
                  <a:txBody>
                    <a:bodyPr/>
                    <a:lstStyle/>
                    <a:p>
                      <a:pPr>
                        <a:spcAft>
                          <a:spcPts val="0"/>
                        </a:spcAft>
                      </a:pPr>
                      <a:r>
                        <a:rPr lang="en-MY" sz="1400" b="1">
                          <a:solidFill>
                            <a:srgbClr val="FFFFFF"/>
                          </a:solidFill>
                          <a:effectLst/>
                          <a:latin typeface="Arial" panose="020B0604020202020204" pitchFamily="34" charset="0"/>
                          <a:ea typeface="Arial" panose="020B0604020202020204" pitchFamily="34" charset="0"/>
                        </a:rPr>
                        <a:t>Finding</a:t>
                      </a:r>
                      <a:endParaRPr lang="en-MY" sz="1400">
                        <a:effectLst/>
                        <a:latin typeface="Arial" panose="020B0604020202020204" pitchFamily="34" charset="0"/>
                        <a:ea typeface="Arial" panose="020B0604020202020204" pitchFamily="34" charset="0"/>
                      </a:endParaRPr>
                    </a:p>
                  </a:txBody>
                  <a:tcPr marL="76200" marR="76200" marT="63500" marB="63500" anchor="ctr">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1F3864"/>
                    </a:solidFill>
                  </a:tcPr>
                </a:tc>
                <a:tc>
                  <a:txBody>
                    <a:bodyPr/>
                    <a:lstStyle/>
                    <a:p>
                      <a:pPr>
                        <a:spcAft>
                          <a:spcPts val="0"/>
                        </a:spcAft>
                      </a:pPr>
                      <a:r>
                        <a:rPr lang="en-MY" sz="1400" b="1">
                          <a:solidFill>
                            <a:srgbClr val="FFFFFF"/>
                          </a:solidFill>
                          <a:effectLst/>
                          <a:latin typeface="Arial" panose="020B0604020202020204" pitchFamily="34" charset="0"/>
                          <a:ea typeface="Arial" panose="020B0604020202020204" pitchFamily="34" charset="0"/>
                        </a:rPr>
                        <a:t>Impact</a:t>
                      </a:r>
                      <a:endParaRPr lang="en-MY" sz="1400">
                        <a:effectLst/>
                        <a:latin typeface="Arial" panose="020B0604020202020204" pitchFamily="34" charset="0"/>
                        <a:ea typeface="Arial" panose="020B0604020202020204" pitchFamily="34" charset="0"/>
                      </a:endParaRPr>
                    </a:p>
                  </a:txBody>
                  <a:tcPr marL="76200" marR="76200" marT="63500" marB="63500" anchor="ctr">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1F3864"/>
                    </a:solidFill>
                  </a:tcPr>
                </a:tc>
                <a:tc>
                  <a:txBody>
                    <a:bodyPr/>
                    <a:lstStyle/>
                    <a:p>
                      <a:pPr>
                        <a:spcAft>
                          <a:spcPts val="0"/>
                        </a:spcAft>
                      </a:pPr>
                      <a:r>
                        <a:rPr lang="en-MY" sz="1400" b="1">
                          <a:solidFill>
                            <a:srgbClr val="FFFFFF"/>
                          </a:solidFill>
                          <a:effectLst/>
                          <a:latin typeface="Arial" panose="020B0604020202020204" pitchFamily="34" charset="0"/>
                          <a:ea typeface="Arial" panose="020B0604020202020204" pitchFamily="34" charset="0"/>
                        </a:rPr>
                        <a:t>Recommendation</a:t>
                      </a:r>
                      <a:endParaRPr lang="en-MY" sz="1400">
                        <a:effectLst/>
                        <a:latin typeface="Arial" panose="020B0604020202020204" pitchFamily="34" charset="0"/>
                        <a:ea typeface="Arial" panose="020B0604020202020204" pitchFamily="34" charset="0"/>
                      </a:endParaRPr>
                    </a:p>
                  </a:txBody>
                  <a:tcPr marL="76200" marR="76200" marT="63500" marB="63500" anchor="ctr">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1F3864"/>
                    </a:solidFill>
                  </a:tcPr>
                </a:tc>
                <a:extLst>
                  <a:ext uri="{0D108BD9-81ED-4DB2-BD59-A6C34878D82A}">
                    <a16:rowId xmlns:a16="http://schemas.microsoft.com/office/drawing/2014/main" val="2519516284"/>
                  </a:ext>
                </a:extLst>
              </a:tr>
              <a:tr h="793225">
                <a:tc>
                  <a:txBody>
                    <a:bodyPr/>
                    <a:lstStyle/>
                    <a:p>
                      <a:pPr>
                        <a:spcAft>
                          <a:spcPts val="0"/>
                        </a:spcAft>
                      </a:pPr>
                      <a:r>
                        <a:rPr lang="en-MY" sz="1400">
                          <a:effectLst/>
                          <a:latin typeface="Arial" panose="020B0604020202020204" pitchFamily="34" charset="0"/>
                          <a:ea typeface="Arial" panose="020B0604020202020204" pitchFamily="34" charset="0"/>
                        </a:rPr>
                        <a:t>Performance</a:t>
                      </a: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FFFFFF"/>
                    </a:solidFill>
                  </a:tcPr>
                </a:tc>
                <a:tc>
                  <a:txBody>
                    <a:bodyPr/>
                    <a:lstStyle/>
                    <a:p>
                      <a:pPr>
                        <a:spcAft>
                          <a:spcPts val="0"/>
                        </a:spcAft>
                      </a:pPr>
                      <a:r>
                        <a:rPr lang="en-MY" sz="1400">
                          <a:effectLst/>
                          <a:latin typeface="Arial" panose="020B0604020202020204" pitchFamily="34" charset="0"/>
                          <a:ea typeface="Arial" panose="020B0604020202020204" pitchFamily="34" charset="0"/>
                        </a:rPr>
                        <a:t>Kafka latency averaged 120ms against a 150ms threshold — within target range</a:t>
                      </a: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FFFFFF"/>
                    </a:solidFill>
                  </a:tcPr>
                </a:tc>
                <a:tc>
                  <a:txBody>
                    <a:bodyPr/>
                    <a:lstStyle/>
                    <a:p>
                      <a:pPr>
                        <a:spcAft>
                          <a:spcPts val="0"/>
                        </a:spcAft>
                      </a:pPr>
                      <a:r>
                        <a:rPr lang="en-MY" sz="1400">
                          <a:effectLst/>
                          <a:latin typeface="Arial" panose="020B0604020202020204" pitchFamily="34" charset="0"/>
                          <a:ea typeface="Arial" panose="020B0604020202020204" pitchFamily="34" charset="0"/>
                        </a:rPr>
                        <a:t>Meets goal</a:t>
                      </a: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FFFFFF"/>
                    </a:solidFill>
                  </a:tcPr>
                </a:tc>
                <a:tc>
                  <a:txBody>
                    <a:bodyPr/>
                    <a:lstStyle/>
                    <a:p>
                      <a:pPr>
                        <a:spcAft>
                          <a:spcPts val="0"/>
                        </a:spcAft>
                      </a:pPr>
                      <a:r>
                        <a:rPr lang="en-MY" sz="1400">
                          <a:effectLst/>
                          <a:latin typeface="Arial" panose="020B0604020202020204" pitchFamily="34" charset="0"/>
                          <a:ea typeface="Arial" panose="020B0604020202020204" pitchFamily="34" charset="0"/>
                        </a:rPr>
                        <a:t>Scale Kafka partitions from 1 to 3 before production load testing to maintain margin</a:t>
                      </a: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FFFFFF"/>
                    </a:solidFill>
                  </a:tcPr>
                </a:tc>
                <a:extLst>
                  <a:ext uri="{0D108BD9-81ED-4DB2-BD59-A6C34878D82A}">
                    <a16:rowId xmlns:a16="http://schemas.microsoft.com/office/drawing/2014/main" val="2313111171"/>
                  </a:ext>
                </a:extLst>
              </a:tr>
              <a:tr h="623248">
                <a:tc>
                  <a:txBody>
                    <a:bodyPr/>
                    <a:lstStyle/>
                    <a:p>
                      <a:pPr>
                        <a:spcAft>
                          <a:spcPts val="0"/>
                        </a:spcAft>
                      </a:pPr>
                      <a:r>
                        <a:rPr lang="en-MY" sz="1400">
                          <a:effectLst/>
                          <a:latin typeface="Arial" panose="020B0604020202020204" pitchFamily="34" charset="0"/>
                          <a:ea typeface="Arial" panose="020B0604020202020204" pitchFamily="34" charset="0"/>
                        </a:rPr>
                        <a:t>Integration</a:t>
                      </a: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EAF2FB"/>
                    </a:solidFill>
                  </a:tcPr>
                </a:tc>
                <a:tc>
                  <a:txBody>
                    <a:bodyPr/>
                    <a:lstStyle/>
                    <a:p>
                      <a:pPr>
                        <a:spcAft>
                          <a:spcPts val="0"/>
                        </a:spcAft>
                      </a:pPr>
                      <a:r>
                        <a:rPr lang="en-MY" sz="1400">
                          <a:effectLst/>
                          <a:latin typeface="Arial" panose="020B0604020202020204" pitchFamily="34" charset="0"/>
                          <a:ea typeface="Arial" panose="020B0604020202020204" pitchFamily="34" charset="0"/>
                        </a:rPr>
                        <a:t>Credit Bureau mock API responded correctly; real OAuth 2.0 not yet tested</a:t>
                      </a: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EAF2FB"/>
                    </a:solidFill>
                  </a:tcPr>
                </a:tc>
                <a:tc>
                  <a:txBody>
                    <a:bodyPr/>
                    <a:lstStyle/>
                    <a:p>
                      <a:pPr>
                        <a:spcAft>
                          <a:spcPts val="0"/>
                        </a:spcAft>
                      </a:pPr>
                      <a:r>
                        <a:rPr lang="en-MY" sz="1400">
                          <a:effectLst/>
                          <a:latin typeface="Arial" panose="020B0604020202020204" pitchFamily="34" charset="0"/>
                          <a:ea typeface="Arial" panose="020B0604020202020204" pitchFamily="34" charset="0"/>
                        </a:rPr>
                        <a:t>Good (partial)</a:t>
                      </a: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EAF2FB"/>
                    </a:solidFill>
                  </a:tcPr>
                </a:tc>
                <a:tc>
                  <a:txBody>
                    <a:bodyPr/>
                    <a:lstStyle/>
                    <a:p>
                      <a:pPr>
                        <a:spcAft>
                          <a:spcPts val="0"/>
                        </a:spcAft>
                      </a:pPr>
                      <a:r>
                        <a:rPr lang="en-MY" sz="1400">
                          <a:effectLst/>
                          <a:latin typeface="Arial" panose="020B0604020202020204" pitchFamily="34" charset="0"/>
                          <a:ea typeface="Arial" panose="020B0604020202020204" pitchFamily="34" charset="0"/>
                        </a:rPr>
                        <a:t>Add OAuth 2.0 bearer token flow before production; implement retry with exponential backoff</a:t>
                      </a: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EAF2FB"/>
                    </a:solidFill>
                  </a:tcPr>
                </a:tc>
                <a:extLst>
                  <a:ext uri="{0D108BD9-81ED-4DB2-BD59-A6C34878D82A}">
                    <a16:rowId xmlns:a16="http://schemas.microsoft.com/office/drawing/2014/main" val="1566264426"/>
                  </a:ext>
                </a:extLst>
              </a:tr>
              <a:tr h="793225">
                <a:tc>
                  <a:txBody>
                    <a:bodyPr/>
                    <a:lstStyle/>
                    <a:p>
                      <a:pPr>
                        <a:spcAft>
                          <a:spcPts val="0"/>
                        </a:spcAft>
                      </a:pPr>
                      <a:r>
                        <a:rPr lang="en-MY" sz="1400">
                          <a:effectLst/>
                          <a:latin typeface="Arial" panose="020B0604020202020204" pitchFamily="34" charset="0"/>
                          <a:ea typeface="Arial" panose="020B0604020202020204" pitchFamily="34" charset="0"/>
                        </a:rPr>
                        <a:t>Security</a:t>
                      </a: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FFFFFF"/>
                    </a:solidFill>
                  </a:tcPr>
                </a:tc>
                <a:tc>
                  <a:txBody>
                    <a:bodyPr/>
                    <a:lstStyle/>
                    <a:p>
                      <a:pPr>
                        <a:spcAft>
                          <a:spcPts val="0"/>
                        </a:spcAft>
                      </a:pPr>
                      <a:r>
                        <a:rPr lang="en-MY" sz="1400">
                          <a:effectLst/>
                          <a:latin typeface="Arial" panose="020B0604020202020204" pitchFamily="34" charset="0"/>
                          <a:ea typeface="Arial" panose="020B0604020202020204" pitchFamily="34" charset="0"/>
                        </a:rPr>
                        <a:t>Basic auth only used in sandbox; no TLS between services; RBAC not yet enforced</a:t>
                      </a: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FFFFFF"/>
                    </a:solidFill>
                  </a:tcPr>
                </a:tc>
                <a:tc>
                  <a:txBody>
                    <a:bodyPr/>
                    <a:lstStyle/>
                    <a:p>
                      <a:pPr>
                        <a:spcAft>
                          <a:spcPts val="0"/>
                        </a:spcAft>
                      </a:pPr>
                      <a:r>
                        <a:rPr lang="en-MY" sz="1400">
                          <a:effectLst/>
                          <a:latin typeface="Arial" panose="020B0604020202020204" pitchFamily="34" charset="0"/>
                          <a:ea typeface="Arial" panose="020B0604020202020204" pitchFamily="34" charset="0"/>
                        </a:rPr>
                        <a:t>Partial</a:t>
                      </a: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FFFFFF"/>
                    </a:solidFill>
                  </a:tcPr>
                </a:tc>
                <a:tc>
                  <a:txBody>
                    <a:bodyPr/>
                    <a:lstStyle/>
                    <a:p>
                      <a:pPr>
                        <a:spcAft>
                          <a:spcPts val="0"/>
                        </a:spcAft>
                      </a:pPr>
                      <a:r>
                        <a:rPr lang="en-MY" sz="1400">
                          <a:effectLst/>
                          <a:latin typeface="Arial" panose="020B0604020202020204" pitchFamily="34" charset="0"/>
                          <a:ea typeface="Arial" panose="020B0604020202020204" pitchFamily="34" charset="0"/>
                        </a:rPr>
                        <a:t>Implement mTLS for service-to-service communication; integrate Kubernetes RBAC before staging promotion</a:t>
                      </a: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FFFFFF"/>
                    </a:solidFill>
                  </a:tcPr>
                </a:tc>
                <a:extLst>
                  <a:ext uri="{0D108BD9-81ED-4DB2-BD59-A6C34878D82A}">
                    <a16:rowId xmlns:a16="http://schemas.microsoft.com/office/drawing/2014/main" val="2468291108"/>
                  </a:ext>
                </a:extLst>
              </a:tr>
              <a:tr h="623248">
                <a:tc>
                  <a:txBody>
                    <a:bodyPr/>
                    <a:lstStyle/>
                    <a:p>
                      <a:pPr>
                        <a:spcAft>
                          <a:spcPts val="0"/>
                        </a:spcAft>
                      </a:pPr>
                      <a:r>
                        <a:rPr lang="en-MY" sz="1400">
                          <a:effectLst/>
                          <a:latin typeface="Arial" panose="020B0604020202020204" pitchFamily="34" charset="0"/>
                          <a:ea typeface="Arial" panose="020B0604020202020204" pitchFamily="34" charset="0"/>
                        </a:rPr>
                        <a:t>Deployment</a:t>
                      </a: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EAF2FB"/>
                    </a:solidFill>
                  </a:tcPr>
                </a:tc>
                <a:tc>
                  <a:txBody>
                    <a:bodyPr/>
                    <a:lstStyle/>
                    <a:p>
                      <a:pPr>
                        <a:spcAft>
                          <a:spcPts val="0"/>
                        </a:spcAft>
                      </a:pPr>
                      <a:r>
                        <a:rPr lang="en-MY" sz="1400">
                          <a:effectLst/>
                          <a:latin typeface="Arial" panose="020B0604020202020204" pitchFamily="34" charset="0"/>
                          <a:ea typeface="Arial" panose="020B0604020202020204" pitchFamily="34" charset="0"/>
                        </a:rPr>
                        <a:t>Spring Boot containerized successfully via Docker; image size ~145MB</a:t>
                      </a: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EAF2FB"/>
                    </a:solidFill>
                  </a:tcPr>
                </a:tc>
                <a:tc>
                  <a:txBody>
                    <a:bodyPr/>
                    <a:lstStyle/>
                    <a:p>
                      <a:pPr>
                        <a:spcAft>
                          <a:spcPts val="0"/>
                        </a:spcAft>
                      </a:pPr>
                      <a:r>
                        <a:rPr lang="en-MY" sz="1400">
                          <a:effectLst/>
                          <a:latin typeface="Arial" panose="020B0604020202020204" pitchFamily="34" charset="0"/>
                          <a:ea typeface="Arial" panose="020B0604020202020204" pitchFamily="34" charset="0"/>
                        </a:rPr>
                        <a:t>Good</a:t>
                      </a: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EAF2FB"/>
                    </a:solidFill>
                  </a:tcPr>
                </a:tc>
                <a:tc>
                  <a:txBody>
                    <a:bodyPr/>
                    <a:lstStyle/>
                    <a:p>
                      <a:pPr>
                        <a:spcAft>
                          <a:spcPts val="0"/>
                        </a:spcAft>
                      </a:pPr>
                      <a:r>
                        <a:rPr lang="en-MY" sz="1400">
                          <a:effectLst/>
                          <a:latin typeface="Arial" panose="020B0604020202020204" pitchFamily="34" charset="0"/>
                          <a:ea typeface="Arial" panose="020B0604020202020204" pitchFamily="34" charset="0"/>
                        </a:rPr>
                        <a:t>Integrate CI/CD pipeline next; add automated vulnerability scanning (Trivy) before registry push</a:t>
                      </a: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EAF2FB"/>
                    </a:solidFill>
                  </a:tcPr>
                </a:tc>
                <a:extLst>
                  <a:ext uri="{0D108BD9-81ED-4DB2-BD59-A6C34878D82A}">
                    <a16:rowId xmlns:a16="http://schemas.microsoft.com/office/drawing/2014/main" val="1901350767"/>
                  </a:ext>
                </a:extLst>
              </a:tr>
              <a:tr h="793225">
                <a:tc>
                  <a:txBody>
                    <a:bodyPr/>
                    <a:lstStyle/>
                    <a:p>
                      <a:pPr>
                        <a:spcAft>
                          <a:spcPts val="0"/>
                        </a:spcAft>
                      </a:pPr>
                      <a:r>
                        <a:rPr lang="en-MY" sz="1400">
                          <a:effectLst/>
                          <a:latin typeface="Arial" panose="020B0604020202020204" pitchFamily="34" charset="0"/>
                          <a:ea typeface="Arial" panose="020B0604020202020204" pitchFamily="34" charset="0"/>
                        </a:rPr>
                        <a:t>Data Sync</a:t>
                      </a: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FFFFFF"/>
                    </a:solidFill>
                  </a:tcPr>
                </a:tc>
                <a:tc>
                  <a:txBody>
                    <a:bodyPr/>
                    <a:lstStyle/>
                    <a:p>
                      <a:pPr>
                        <a:spcAft>
                          <a:spcPts val="0"/>
                        </a:spcAft>
                      </a:pPr>
                      <a:r>
                        <a:rPr lang="en-MY" sz="1400">
                          <a:effectLst/>
                          <a:latin typeface="Arial" panose="020B0604020202020204" pitchFamily="34" charset="0"/>
                          <a:ea typeface="Arial" panose="020B0604020202020204" pitchFamily="34" charset="0"/>
                        </a:rPr>
                        <a:t>PostgreSQL write latency within acceptable range; cloud object storage sync not fully tested</a:t>
                      </a: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FFFFFF"/>
                    </a:solidFill>
                  </a:tcPr>
                </a:tc>
                <a:tc>
                  <a:txBody>
                    <a:bodyPr/>
                    <a:lstStyle/>
                    <a:p>
                      <a:pPr>
                        <a:spcAft>
                          <a:spcPts val="0"/>
                        </a:spcAft>
                      </a:pPr>
                      <a:r>
                        <a:rPr lang="en-MY" sz="1400">
                          <a:effectLst/>
                          <a:latin typeface="Arial" panose="020B0604020202020204" pitchFamily="34" charset="0"/>
                          <a:ea typeface="Arial" panose="020B0604020202020204" pitchFamily="34" charset="0"/>
                        </a:rPr>
                        <a:t>Partial</a:t>
                      </a: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FFFFFF"/>
                    </a:solidFill>
                  </a:tcPr>
                </a:tc>
                <a:tc>
                  <a:txBody>
                    <a:bodyPr/>
                    <a:lstStyle/>
                    <a:p>
                      <a:pPr>
                        <a:spcAft>
                          <a:spcPts val="0"/>
                        </a:spcAft>
                      </a:pPr>
                      <a:r>
                        <a:rPr lang="en-MY" sz="1400" dirty="0">
                          <a:effectLst/>
                          <a:latin typeface="Arial" panose="020B0604020202020204" pitchFamily="34" charset="0"/>
                          <a:ea typeface="Arial" panose="020B0604020202020204" pitchFamily="34" charset="0"/>
                        </a:rPr>
                        <a:t>Complete object storage sync testing in next </a:t>
                      </a:r>
                      <a:r>
                        <a:rPr lang="en-MY" sz="1400" dirty="0" err="1">
                          <a:effectLst/>
                          <a:latin typeface="Arial" panose="020B0604020202020204" pitchFamily="34" charset="0"/>
                          <a:ea typeface="Arial" panose="020B0604020202020204" pitchFamily="34" charset="0"/>
                        </a:rPr>
                        <a:t>PoC</a:t>
                      </a:r>
                      <a:r>
                        <a:rPr lang="en-MY" sz="1400" dirty="0">
                          <a:effectLst/>
                          <a:latin typeface="Arial" panose="020B0604020202020204" pitchFamily="34" charset="0"/>
                          <a:ea typeface="Arial" panose="020B0604020202020204" pitchFamily="34" charset="0"/>
                        </a:rPr>
                        <a:t> iteration with AWS S3 or IBM COS</a:t>
                      </a: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FFFFFF"/>
                    </a:solidFill>
                  </a:tcPr>
                </a:tc>
                <a:extLst>
                  <a:ext uri="{0D108BD9-81ED-4DB2-BD59-A6C34878D82A}">
                    <a16:rowId xmlns:a16="http://schemas.microsoft.com/office/drawing/2014/main" val="3170070191"/>
                  </a:ext>
                </a:extLst>
              </a:tr>
            </a:tbl>
          </a:graphicData>
        </a:graphic>
      </p:graphicFrame>
    </p:spTree>
    <p:extLst>
      <p:ext uri="{BB962C8B-B14F-4D97-AF65-F5344CB8AC3E}">
        <p14:creationId xmlns:p14="http://schemas.microsoft.com/office/powerpoint/2010/main" val="29338102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4E8841-7F20-2527-7646-310BCB230EF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7D48B57-8B80-2913-BD20-CD738953F632}"/>
              </a:ext>
            </a:extLst>
          </p:cNvPr>
          <p:cNvSpPr>
            <a:spLocks noGrp="1"/>
          </p:cNvSpPr>
          <p:nvPr>
            <p:ph type="title"/>
          </p:nvPr>
        </p:nvSpPr>
        <p:spPr>
          <a:xfrm>
            <a:off x="572756" y="133943"/>
            <a:ext cx="9813446" cy="850726"/>
          </a:xfrm>
        </p:spPr>
        <p:txBody>
          <a:bodyPr>
            <a:noAutofit/>
          </a:bodyPr>
          <a:lstStyle/>
          <a:p>
            <a:r>
              <a:rPr lang="en-US" sz="3200" dirty="0">
                <a:solidFill>
                  <a:srgbClr val="00539A"/>
                </a:solidFill>
                <a:latin typeface="Arial Bold"/>
                <a:cs typeface="Arial Bold"/>
              </a:rPr>
              <a:t>Database design</a:t>
            </a:r>
            <a:endParaRPr lang="en-US" dirty="0"/>
          </a:p>
        </p:txBody>
      </p:sp>
      <p:sp>
        <p:nvSpPr>
          <p:cNvPr id="8" name="Content Placeholder 4">
            <a:extLst>
              <a:ext uri="{FF2B5EF4-FFF2-40B4-BE49-F238E27FC236}">
                <a16:creationId xmlns:a16="http://schemas.microsoft.com/office/drawing/2014/main" id="{65495165-6991-8FF4-F704-6E297EAFFECE}"/>
              </a:ext>
            </a:extLst>
          </p:cNvPr>
          <p:cNvSpPr txBox="1">
            <a:spLocks/>
          </p:cNvSpPr>
          <p:nvPr/>
        </p:nvSpPr>
        <p:spPr>
          <a:xfrm>
            <a:off x="573087" y="1216025"/>
            <a:ext cx="10659485" cy="4503738"/>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dirty="0">
                <a:solidFill>
                  <a:srgbClr val="111620"/>
                </a:solidFill>
                <a:cs typeface="Arial"/>
              </a:rPr>
              <a:t>Conceptual </a:t>
            </a:r>
            <a:r>
              <a:rPr lang="en-US" sz="2400" b="1" dirty="0" smtClean="0">
                <a:solidFill>
                  <a:srgbClr val="111620"/>
                </a:solidFill>
                <a:cs typeface="Arial"/>
              </a:rPr>
              <a:t>ERD</a:t>
            </a:r>
          </a:p>
          <a:p>
            <a:pPr marL="0" indent="0">
              <a:buNone/>
            </a:pPr>
            <a:endParaRPr lang="en-US" sz="2400" b="1" dirty="0">
              <a:solidFill>
                <a:srgbClr val="111620"/>
              </a:solidFill>
              <a:ea typeface="+mn-lt"/>
              <a:cs typeface="Arial"/>
            </a:endParaRPr>
          </a:p>
          <a:p>
            <a:pPr marL="0" indent="0">
              <a:buNone/>
            </a:pPr>
            <a:endParaRPr lang="en-US" dirty="0">
              <a:ea typeface="+mn-lt"/>
              <a:cs typeface="+mn-lt"/>
            </a:endParaRPr>
          </a:p>
        </p:txBody>
      </p:sp>
      <p:pic>
        <p:nvPicPr>
          <p:cNvPr id="2" name="Picture 1"/>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3696928" y="1216025"/>
            <a:ext cx="7653399" cy="5270812"/>
          </a:xfrm>
          <a:prstGeom prst="rect">
            <a:avLst/>
          </a:prstGeom>
        </p:spPr>
      </p:pic>
    </p:spTree>
    <p:extLst>
      <p:ext uri="{BB962C8B-B14F-4D97-AF65-F5344CB8AC3E}">
        <p14:creationId xmlns:p14="http://schemas.microsoft.com/office/powerpoint/2010/main" val="24722885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3B9CFD-5AC8-6C5F-C720-AD284E83580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3997CCC-4016-98BD-F149-695093E5D291}"/>
              </a:ext>
            </a:extLst>
          </p:cNvPr>
          <p:cNvSpPr>
            <a:spLocks noGrp="1"/>
          </p:cNvSpPr>
          <p:nvPr>
            <p:ph type="title"/>
          </p:nvPr>
        </p:nvSpPr>
        <p:spPr>
          <a:xfrm>
            <a:off x="572756" y="133943"/>
            <a:ext cx="9813446" cy="850726"/>
          </a:xfrm>
        </p:spPr>
        <p:txBody>
          <a:bodyPr>
            <a:noAutofit/>
          </a:bodyPr>
          <a:lstStyle/>
          <a:p>
            <a:r>
              <a:rPr lang="en-US" sz="3200" dirty="0">
                <a:solidFill>
                  <a:srgbClr val="00539A"/>
                </a:solidFill>
                <a:latin typeface="Arial Bold"/>
                <a:cs typeface="Arial Bold"/>
              </a:rPr>
              <a:t>Database design</a:t>
            </a:r>
            <a:endParaRPr lang="en-US" dirty="0"/>
          </a:p>
        </p:txBody>
      </p:sp>
      <p:sp>
        <p:nvSpPr>
          <p:cNvPr id="8" name="Content Placeholder 4">
            <a:extLst>
              <a:ext uri="{FF2B5EF4-FFF2-40B4-BE49-F238E27FC236}">
                <a16:creationId xmlns:a16="http://schemas.microsoft.com/office/drawing/2014/main" id="{3BA6798E-F6F4-42FB-C8A3-C3DD88D25CD7}"/>
              </a:ext>
            </a:extLst>
          </p:cNvPr>
          <p:cNvSpPr txBox="1">
            <a:spLocks/>
          </p:cNvSpPr>
          <p:nvPr/>
        </p:nvSpPr>
        <p:spPr>
          <a:xfrm>
            <a:off x="573087" y="1216025"/>
            <a:ext cx="10659485" cy="4503738"/>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dirty="0">
                <a:solidFill>
                  <a:srgbClr val="111620"/>
                </a:solidFill>
                <a:cs typeface="Arial"/>
              </a:rPr>
              <a:t>Logical </a:t>
            </a:r>
            <a:r>
              <a:rPr lang="en-US" sz="2400" b="1" dirty="0" smtClean="0">
                <a:solidFill>
                  <a:srgbClr val="111620"/>
                </a:solidFill>
                <a:cs typeface="Arial"/>
              </a:rPr>
              <a:t>ERD</a:t>
            </a:r>
          </a:p>
          <a:p>
            <a:pPr marL="0" indent="0">
              <a:buNone/>
            </a:pPr>
            <a:endParaRPr lang="en-US" dirty="0"/>
          </a:p>
        </p:txBody>
      </p:sp>
      <p:pic>
        <p:nvPicPr>
          <p:cNvPr id="2" name="Picture 1"/>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4041058" y="728853"/>
            <a:ext cx="7279430" cy="5726024"/>
          </a:xfrm>
          <a:prstGeom prst="rect">
            <a:avLst/>
          </a:prstGeom>
        </p:spPr>
      </p:pic>
    </p:spTree>
    <p:extLst>
      <p:ext uri="{BB962C8B-B14F-4D97-AF65-F5344CB8AC3E}">
        <p14:creationId xmlns:p14="http://schemas.microsoft.com/office/powerpoint/2010/main" val="11624131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060722-35BB-3A4A-85C7-05438A6B32B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31BB885-2C10-85E1-3929-393041B45B48}"/>
              </a:ext>
            </a:extLst>
          </p:cNvPr>
          <p:cNvSpPr>
            <a:spLocks noGrp="1"/>
          </p:cNvSpPr>
          <p:nvPr>
            <p:ph type="title"/>
          </p:nvPr>
        </p:nvSpPr>
        <p:spPr>
          <a:xfrm>
            <a:off x="572756" y="133943"/>
            <a:ext cx="9813446" cy="850726"/>
          </a:xfrm>
        </p:spPr>
        <p:txBody>
          <a:bodyPr>
            <a:noAutofit/>
          </a:bodyPr>
          <a:lstStyle/>
          <a:p>
            <a:r>
              <a:rPr lang="en-US" sz="3200" dirty="0">
                <a:solidFill>
                  <a:srgbClr val="00539A"/>
                </a:solidFill>
                <a:latin typeface="Arial Bold"/>
                <a:cs typeface="Arial Bold"/>
              </a:rPr>
              <a:t>Database design</a:t>
            </a:r>
            <a:endParaRPr lang="en-US" dirty="0"/>
          </a:p>
        </p:txBody>
      </p:sp>
      <p:sp>
        <p:nvSpPr>
          <p:cNvPr id="8" name="Content Placeholder 4">
            <a:extLst>
              <a:ext uri="{FF2B5EF4-FFF2-40B4-BE49-F238E27FC236}">
                <a16:creationId xmlns:a16="http://schemas.microsoft.com/office/drawing/2014/main" id="{DC35AA0F-3124-1C72-A090-DBCC51D3CD5D}"/>
              </a:ext>
            </a:extLst>
          </p:cNvPr>
          <p:cNvSpPr txBox="1">
            <a:spLocks/>
          </p:cNvSpPr>
          <p:nvPr/>
        </p:nvSpPr>
        <p:spPr>
          <a:xfrm>
            <a:off x="573087" y="1216025"/>
            <a:ext cx="10659485" cy="4503738"/>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dirty="0">
                <a:solidFill>
                  <a:srgbClr val="111620"/>
                </a:solidFill>
                <a:ea typeface="+mn-lt"/>
                <a:cs typeface="+mn-lt"/>
              </a:rPr>
              <a:t>Data Dictionary </a:t>
            </a:r>
            <a:endParaRPr lang="en-US" sz="2400" b="1" dirty="0" smtClean="0">
              <a:solidFill>
                <a:srgbClr val="111620"/>
              </a:solidFill>
              <a:ea typeface="+mn-lt"/>
              <a:cs typeface="+mn-lt"/>
            </a:endParaRPr>
          </a:p>
          <a:p>
            <a:pPr marL="0" indent="0">
              <a:buNone/>
            </a:pPr>
            <a:endParaRPr lang="en-US" dirty="0"/>
          </a:p>
        </p:txBody>
      </p:sp>
      <p:graphicFrame>
        <p:nvGraphicFramePr>
          <p:cNvPr id="3" name="Table 2"/>
          <p:cNvGraphicFramePr>
            <a:graphicFrameLocks noGrp="1"/>
          </p:cNvGraphicFramePr>
          <p:nvPr>
            <p:extLst>
              <p:ext uri="{D42A27DB-BD31-4B8C-83A1-F6EECF244321}">
                <p14:modId xmlns:p14="http://schemas.microsoft.com/office/powerpoint/2010/main" val="370773825"/>
              </p:ext>
            </p:extLst>
          </p:nvPr>
        </p:nvGraphicFramePr>
        <p:xfrm>
          <a:off x="648929" y="1769805"/>
          <a:ext cx="10776155" cy="4454013"/>
        </p:xfrm>
        <a:graphic>
          <a:graphicData uri="http://schemas.openxmlformats.org/drawingml/2006/table">
            <a:tbl>
              <a:tblPr/>
              <a:tblGrid>
                <a:gridCol w="2532856">
                  <a:extLst>
                    <a:ext uri="{9D8B030D-6E8A-4147-A177-3AD203B41FA5}">
                      <a16:colId xmlns:a16="http://schemas.microsoft.com/office/drawing/2014/main" val="1307788640"/>
                    </a:ext>
                  </a:extLst>
                </a:gridCol>
                <a:gridCol w="2072338">
                  <a:extLst>
                    <a:ext uri="{9D8B030D-6E8A-4147-A177-3AD203B41FA5}">
                      <a16:colId xmlns:a16="http://schemas.microsoft.com/office/drawing/2014/main" val="3817096636"/>
                    </a:ext>
                  </a:extLst>
                </a:gridCol>
                <a:gridCol w="3453896">
                  <a:extLst>
                    <a:ext uri="{9D8B030D-6E8A-4147-A177-3AD203B41FA5}">
                      <a16:colId xmlns:a16="http://schemas.microsoft.com/office/drawing/2014/main" val="3887971201"/>
                    </a:ext>
                  </a:extLst>
                </a:gridCol>
                <a:gridCol w="2717065">
                  <a:extLst>
                    <a:ext uri="{9D8B030D-6E8A-4147-A177-3AD203B41FA5}">
                      <a16:colId xmlns:a16="http://schemas.microsoft.com/office/drawing/2014/main" val="77743341"/>
                    </a:ext>
                  </a:extLst>
                </a:gridCol>
              </a:tblGrid>
              <a:tr h="466611">
                <a:tc>
                  <a:txBody>
                    <a:bodyPr/>
                    <a:lstStyle/>
                    <a:p>
                      <a:pPr>
                        <a:spcAft>
                          <a:spcPts val="0"/>
                        </a:spcAft>
                      </a:pPr>
                      <a:r>
                        <a:rPr lang="en-MY" sz="1400" b="1">
                          <a:solidFill>
                            <a:srgbClr val="FFFFFF"/>
                          </a:solidFill>
                          <a:effectLst/>
                          <a:latin typeface="Arial" panose="020B0604020202020204" pitchFamily="34" charset="0"/>
                          <a:ea typeface="Arial" panose="020B0604020202020204" pitchFamily="34" charset="0"/>
                        </a:rPr>
                        <a:t>Field</a:t>
                      </a:r>
                      <a:endParaRPr lang="en-MY" sz="1400">
                        <a:effectLst/>
                        <a:latin typeface="Arial" panose="020B0604020202020204" pitchFamily="34" charset="0"/>
                        <a:ea typeface="Arial" panose="020B0604020202020204" pitchFamily="34" charset="0"/>
                      </a:endParaRPr>
                    </a:p>
                  </a:txBody>
                  <a:tcPr marL="76200" marR="76200" marT="63500" marB="63500" anchor="ctr">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1F3864"/>
                    </a:solidFill>
                  </a:tcPr>
                </a:tc>
                <a:tc>
                  <a:txBody>
                    <a:bodyPr/>
                    <a:lstStyle/>
                    <a:p>
                      <a:pPr>
                        <a:spcAft>
                          <a:spcPts val="0"/>
                        </a:spcAft>
                      </a:pPr>
                      <a:r>
                        <a:rPr lang="en-MY" sz="1400" b="1">
                          <a:solidFill>
                            <a:srgbClr val="FFFFFF"/>
                          </a:solidFill>
                          <a:effectLst/>
                          <a:latin typeface="Arial" panose="020B0604020202020204" pitchFamily="34" charset="0"/>
                          <a:ea typeface="Arial" panose="020B0604020202020204" pitchFamily="34" charset="0"/>
                        </a:rPr>
                        <a:t>Data Type</a:t>
                      </a:r>
                      <a:endParaRPr lang="en-MY" sz="1400">
                        <a:effectLst/>
                        <a:latin typeface="Arial" panose="020B0604020202020204" pitchFamily="34" charset="0"/>
                        <a:ea typeface="Arial" panose="020B0604020202020204" pitchFamily="34" charset="0"/>
                      </a:endParaRPr>
                    </a:p>
                  </a:txBody>
                  <a:tcPr marL="76200" marR="76200" marT="63500" marB="63500" anchor="ctr">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1F3864"/>
                    </a:solidFill>
                  </a:tcPr>
                </a:tc>
                <a:tc>
                  <a:txBody>
                    <a:bodyPr/>
                    <a:lstStyle/>
                    <a:p>
                      <a:pPr>
                        <a:spcAft>
                          <a:spcPts val="0"/>
                        </a:spcAft>
                      </a:pPr>
                      <a:r>
                        <a:rPr lang="en-MY" sz="1400" b="1">
                          <a:solidFill>
                            <a:srgbClr val="FFFFFF"/>
                          </a:solidFill>
                          <a:effectLst/>
                          <a:latin typeface="Arial" panose="020B0604020202020204" pitchFamily="34" charset="0"/>
                          <a:ea typeface="Arial" panose="020B0604020202020204" pitchFamily="34" charset="0"/>
                        </a:rPr>
                        <a:t>Description</a:t>
                      </a:r>
                      <a:endParaRPr lang="en-MY" sz="1400">
                        <a:effectLst/>
                        <a:latin typeface="Arial" panose="020B0604020202020204" pitchFamily="34" charset="0"/>
                        <a:ea typeface="Arial" panose="020B0604020202020204" pitchFamily="34" charset="0"/>
                      </a:endParaRPr>
                    </a:p>
                  </a:txBody>
                  <a:tcPr marL="76200" marR="76200" marT="63500" marB="63500" anchor="ctr">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1F3864"/>
                    </a:solidFill>
                  </a:tcPr>
                </a:tc>
                <a:tc>
                  <a:txBody>
                    <a:bodyPr/>
                    <a:lstStyle/>
                    <a:p>
                      <a:pPr>
                        <a:spcAft>
                          <a:spcPts val="0"/>
                        </a:spcAft>
                      </a:pPr>
                      <a:r>
                        <a:rPr lang="en-MY" sz="1400" b="1">
                          <a:solidFill>
                            <a:srgbClr val="FFFFFF"/>
                          </a:solidFill>
                          <a:effectLst/>
                          <a:latin typeface="Arial" panose="020B0604020202020204" pitchFamily="34" charset="0"/>
                          <a:ea typeface="Arial" panose="020B0604020202020204" pitchFamily="34" charset="0"/>
                        </a:rPr>
                        <a:t>Constraints</a:t>
                      </a:r>
                      <a:endParaRPr lang="en-MY" sz="1400">
                        <a:effectLst/>
                        <a:latin typeface="Arial" panose="020B0604020202020204" pitchFamily="34" charset="0"/>
                        <a:ea typeface="Arial" panose="020B0604020202020204" pitchFamily="34" charset="0"/>
                      </a:endParaRPr>
                    </a:p>
                  </a:txBody>
                  <a:tcPr marL="76200" marR="76200" marT="63500" marB="63500" anchor="ctr">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1F3864"/>
                    </a:solidFill>
                  </a:tcPr>
                </a:tc>
                <a:extLst>
                  <a:ext uri="{0D108BD9-81ED-4DB2-BD59-A6C34878D82A}">
                    <a16:rowId xmlns:a16="http://schemas.microsoft.com/office/drawing/2014/main" val="675241631"/>
                  </a:ext>
                </a:extLst>
              </a:tr>
              <a:tr h="678706">
                <a:tc>
                  <a:txBody>
                    <a:bodyPr/>
                    <a:lstStyle/>
                    <a:p>
                      <a:pPr>
                        <a:spcAft>
                          <a:spcPts val="0"/>
                        </a:spcAft>
                      </a:pPr>
                      <a:r>
                        <a:rPr lang="en-MY" sz="1400" b="1">
                          <a:solidFill>
                            <a:srgbClr val="000000"/>
                          </a:solidFill>
                          <a:effectLst/>
                          <a:latin typeface="Arial" panose="020B0604020202020204" pitchFamily="34" charset="0"/>
                          <a:ea typeface="Arial" panose="020B0604020202020204" pitchFamily="34" charset="0"/>
                        </a:rPr>
                        <a:t>customer_id</a:t>
                      </a:r>
                      <a:endParaRPr lang="en-MY" sz="1400">
                        <a:effectLst/>
                        <a:latin typeface="Arial" panose="020B0604020202020204" pitchFamily="34" charset="0"/>
                        <a:ea typeface="Arial" panose="020B0604020202020204" pitchFamily="34" charset="0"/>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FFFFFF"/>
                    </a:solidFill>
                  </a:tcPr>
                </a:tc>
                <a:tc>
                  <a:txBody>
                    <a:bodyPr/>
                    <a:lstStyle/>
                    <a:p>
                      <a:pPr>
                        <a:spcAft>
                          <a:spcPts val="0"/>
                        </a:spcAft>
                      </a:pPr>
                      <a:r>
                        <a:rPr lang="en-MY" sz="1400">
                          <a:solidFill>
                            <a:srgbClr val="000000"/>
                          </a:solidFill>
                          <a:effectLst/>
                          <a:latin typeface="Arial" panose="020B0604020202020204" pitchFamily="34" charset="0"/>
                          <a:ea typeface="Arial" panose="020B0604020202020204" pitchFamily="34" charset="0"/>
                        </a:rPr>
                        <a:t>UUID</a:t>
                      </a:r>
                      <a:endParaRPr lang="en-MY" sz="1400">
                        <a:effectLst/>
                        <a:latin typeface="Arial" panose="020B0604020202020204" pitchFamily="34" charset="0"/>
                        <a:ea typeface="Arial" panose="020B0604020202020204" pitchFamily="34" charset="0"/>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FFFFFF"/>
                    </a:solidFill>
                  </a:tcPr>
                </a:tc>
                <a:tc>
                  <a:txBody>
                    <a:bodyPr/>
                    <a:lstStyle/>
                    <a:p>
                      <a:pPr>
                        <a:spcAft>
                          <a:spcPts val="0"/>
                        </a:spcAft>
                      </a:pPr>
                      <a:r>
                        <a:rPr lang="en-MY" sz="1400">
                          <a:solidFill>
                            <a:srgbClr val="000000"/>
                          </a:solidFill>
                          <a:effectLst/>
                          <a:latin typeface="Arial" panose="020B0604020202020204" pitchFamily="34" charset="0"/>
                          <a:ea typeface="Arial" panose="020B0604020202020204" pitchFamily="34" charset="0"/>
                        </a:rPr>
                        <a:t>Unique customer identifier (PK)</a:t>
                      </a:r>
                      <a:endParaRPr lang="en-MY" sz="1400">
                        <a:effectLst/>
                        <a:latin typeface="Arial" panose="020B0604020202020204" pitchFamily="34" charset="0"/>
                        <a:ea typeface="Arial" panose="020B0604020202020204" pitchFamily="34" charset="0"/>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FFFFFF"/>
                    </a:solidFill>
                  </a:tcPr>
                </a:tc>
                <a:tc>
                  <a:txBody>
                    <a:bodyPr/>
                    <a:lstStyle/>
                    <a:p>
                      <a:pPr>
                        <a:spcAft>
                          <a:spcPts val="0"/>
                        </a:spcAft>
                      </a:pPr>
                      <a:r>
                        <a:rPr lang="en-MY" sz="1400">
                          <a:solidFill>
                            <a:srgbClr val="000000"/>
                          </a:solidFill>
                          <a:effectLst/>
                          <a:latin typeface="Arial" panose="020B0604020202020204" pitchFamily="34" charset="0"/>
                          <a:ea typeface="Arial" panose="020B0604020202020204" pitchFamily="34" charset="0"/>
                        </a:rPr>
                        <a:t>PRIMARY KEY, NOT NULL</a:t>
                      </a:r>
                      <a:endParaRPr lang="en-MY" sz="1400">
                        <a:effectLst/>
                        <a:latin typeface="Arial" panose="020B0604020202020204" pitchFamily="34" charset="0"/>
                        <a:ea typeface="Arial" panose="020B0604020202020204" pitchFamily="34" charset="0"/>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FFFFFF"/>
                    </a:solidFill>
                  </a:tcPr>
                </a:tc>
                <a:extLst>
                  <a:ext uri="{0D108BD9-81ED-4DB2-BD59-A6C34878D82A}">
                    <a16:rowId xmlns:a16="http://schemas.microsoft.com/office/drawing/2014/main" val="1804111028"/>
                  </a:ext>
                </a:extLst>
              </a:tr>
              <a:tr h="424192">
                <a:tc>
                  <a:txBody>
                    <a:bodyPr/>
                    <a:lstStyle/>
                    <a:p>
                      <a:pPr>
                        <a:spcAft>
                          <a:spcPts val="0"/>
                        </a:spcAft>
                      </a:pPr>
                      <a:r>
                        <a:rPr lang="en-MY" sz="1400">
                          <a:solidFill>
                            <a:srgbClr val="000000"/>
                          </a:solidFill>
                          <a:effectLst/>
                          <a:latin typeface="Arial" panose="020B0604020202020204" pitchFamily="34" charset="0"/>
                          <a:ea typeface="Arial" panose="020B0604020202020204" pitchFamily="34" charset="0"/>
                        </a:rPr>
                        <a:t>first_name</a:t>
                      </a:r>
                      <a:endParaRPr lang="en-MY" sz="1400">
                        <a:effectLst/>
                        <a:latin typeface="Arial" panose="020B0604020202020204" pitchFamily="34" charset="0"/>
                        <a:ea typeface="Arial" panose="020B0604020202020204" pitchFamily="34" charset="0"/>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EAF2FB"/>
                    </a:solidFill>
                  </a:tcPr>
                </a:tc>
                <a:tc>
                  <a:txBody>
                    <a:bodyPr/>
                    <a:lstStyle/>
                    <a:p>
                      <a:pPr>
                        <a:spcAft>
                          <a:spcPts val="0"/>
                        </a:spcAft>
                      </a:pPr>
                      <a:r>
                        <a:rPr lang="en-MY" sz="1400">
                          <a:solidFill>
                            <a:srgbClr val="000000"/>
                          </a:solidFill>
                          <a:effectLst/>
                          <a:latin typeface="Arial" panose="020B0604020202020204" pitchFamily="34" charset="0"/>
                          <a:ea typeface="Arial" panose="020B0604020202020204" pitchFamily="34" charset="0"/>
                        </a:rPr>
                        <a:t>VARCHAR(50)</a:t>
                      </a:r>
                      <a:endParaRPr lang="en-MY" sz="1400">
                        <a:effectLst/>
                        <a:latin typeface="Arial" panose="020B0604020202020204" pitchFamily="34" charset="0"/>
                        <a:ea typeface="Arial" panose="020B0604020202020204" pitchFamily="34" charset="0"/>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EAF2FB"/>
                    </a:solidFill>
                  </a:tcPr>
                </a:tc>
                <a:tc>
                  <a:txBody>
                    <a:bodyPr/>
                    <a:lstStyle/>
                    <a:p>
                      <a:pPr>
                        <a:spcAft>
                          <a:spcPts val="0"/>
                        </a:spcAft>
                      </a:pPr>
                      <a:r>
                        <a:rPr lang="en-MY" sz="1400">
                          <a:solidFill>
                            <a:srgbClr val="000000"/>
                          </a:solidFill>
                          <a:effectLst/>
                          <a:latin typeface="Arial" panose="020B0604020202020204" pitchFamily="34" charset="0"/>
                          <a:ea typeface="Arial" panose="020B0604020202020204" pitchFamily="34" charset="0"/>
                        </a:rPr>
                        <a:t>Customer's legal first name</a:t>
                      </a:r>
                      <a:endParaRPr lang="en-MY" sz="1400">
                        <a:effectLst/>
                        <a:latin typeface="Arial" panose="020B0604020202020204" pitchFamily="34" charset="0"/>
                        <a:ea typeface="Arial" panose="020B0604020202020204" pitchFamily="34" charset="0"/>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EAF2FB"/>
                    </a:solidFill>
                  </a:tcPr>
                </a:tc>
                <a:tc>
                  <a:txBody>
                    <a:bodyPr/>
                    <a:lstStyle/>
                    <a:p>
                      <a:pPr>
                        <a:spcAft>
                          <a:spcPts val="0"/>
                        </a:spcAft>
                      </a:pPr>
                      <a:r>
                        <a:rPr lang="en-MY" sz="1400">
                          <a:solidFill>
                            <a:srgbClr val="000000"/>
                          </a:solidFill>
                          <a:effectLst/>
                          <a:latin typeface="Arial" panose="020B0604020202020204" pitchFamily="34" charset="0"/>
                          <a:ea typeface="Arial" panose="020B0604020202020204" pitchFamily="34" charset="0"/>
                        </a:rPr>
                        <a:t>NOT NULL</a:t>
                      </a:r>
                      <a:endParaRPr lang="en-MY" sz="1400">
                        <a:effectLst/>
                        <a:latin typeface="Arial" panose="020B0604020202020204" pitchFamily="34" charset="0"/>
                        <a:ea typeface="Arial" panose="020B0604020202020204" pitchFamily="34" charset="0"/>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EAF2FB"/>
                    </a:solidFill>
                  </a:tcPr>
                </a:tc>
                <a:extLst>
                  <a:ext uri="{0D108BD9-81ED-4DB2-BD59-A6C34878D82A}">
                    <a16:rowId xmlns:a16="http://schemas.microsoft.com/office/drawing/2014/main" val="3257012688"/>
                  </a:ext>
                </a:extLst>
              </a:tr>
              <a:tr h="424192">
                <a:tc>
                  <a:txBody>
                    <a:bodyPr/>
                    <a:lstStyle/>
                    <a:p>
                      <a:pPr>
                        <a:spcAft>
                          <a:spcPts val="0"/>
                        </a:spcAft>
                      </a:pPr>
                      <a:r>
                        <a:rPr lang="en-MY" sz="1400">
                          <a:solidFill>
                            <a:srgbClr val="000000"/>
                          </a:solidFill>
                          <a:effectLst/>
                          <a:latin typeface="Arial" panose="020B0604020202020204" pitchFamily="34" charset="0"/>
                          <a:ea typeface="Arial" panose="020B0604020202020204" pitchFamily="34" charset="0"/>
                        </a:rPr>
                        <a:t>last_name</a:t>
                      </a:r>
                      <a:endParaRPr lang="en-MY" sz="1400">
                        <a:effectLst/>
                        <a:latin typeface="Arial" panose="020B0604020202020204" pitchFamily="34" charset="0"/>
                        <a:ea typeface="Arial" panose="020B0604020202020204" pitchFamily="34" charset="0"/>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FFFFFF"/>
                    </a:solidFill>
                  </a:tcPr>
                </a:tc>
                <a:tc>
                  <a:txBody>
                    <a:bodyPr/>
                    <a:lstStyle/>
                    <a:p>
                      <a:pPr>
                        <a:spcAft>
                          <a:spcPts val="0"/>
                        </a:spcAft>
                      </a:pPr>
                      <a:r>
                        <a:rPr lang="en-MY" sz="1400">
                          <a:solidFill>
                            <a:srgbClr val="000000"/>
                          </a:solidFill>
                          <a:effectLst/>
                          <a:latin typeface="Arial" panose="020B0604020202020204" pitchFamily="34" charset="0"/>
                          <a:ea typeface="Arial" panose="020B0604020202020204" pitchFamily="34" charset="0"/>
                        </a:rPr>
                        <a:t>VARCHAR(50)</a:t>
                      </a:r>
                      <a:endParaRPr lang="en-MY" sz="1400">
                        <a:effectLst/>
                        <a:latin typeface="Arial" panose="020B0604020202020204" pitchFamily="34" charset="0"/>
                        <a:ea typeface="Arial" panose="020B0604020202020204" pitchFamily="34" charset="0"/>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FFFFFF"/>
                    </a:solidFill>
                  </a:tcPr>
                </a:tc>
                <a:tc>
                  <a:txBody>
                    <a:bodyPr/>
                    <a:lstStyle/>
                    <a:p>
                      <a:pPr>
                        <a:spcAft>
                          <a:spcPts val="0"/>
                        </a:spcAft>
                      </a:pPr>
                      <a:r>
                        <a:rPr lang="en-MY" sz="1400">
                          <a:solidFill>
                            <a:srgbClr val="000000"/>
                          </a:solidFill>
                          <a:effectLst/>
                          <a:latin typeface="Arial" panose="020B0604020202020204" pitchFamily="34" charset="0"/>
                          <a:ea typeface="Arial" panose="020B0604020202020204" pitchFamily="34" charset="0"/>
                        </a:rPr>
                        <a:t>Customer's legal last name</a:t>
                      </a:r>
                      <a:endParaRPr lang="en-MY" sz="1400">
                        <a:effectLst/>
                        <a:latin typeface="Arial" panose="020B0604020202020204" pitchFamily="34" charset="0"/>
                        <a:ea typeface="Arial" panose="020B0604020202020204" pitchFamily="34" charset="0"/>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FFFFFF"/>
                    </a:solidFill>
                  </a:tcPr>
                </a:tc>
                <a:tc>
                  <a:txBody>
                    <a:bodyPr/>
                    <a:lstStyle/>
                    <a:p>
                      <a:pPr>
                        <a:spcAft>
                          <a:spcPts val="0"/>
                        </a:spcAft>
                      </a:pPr>
                      <a:r>
                        <a:rPr lang="en-MY" sz="1400">
                          <a:solidFill>
                            <a:srgbClr val="000000"/>
                          </a:solidFill>
                          <a:effectLst/>
                          <a:latin typeface="Arial" panose="020B0604020202020204" pitchFamily="34" charset="0"/>
                          <a:ea typeface="Arial" panose="020B0604020202020204" pitchFamily="34" charset="0"/>
                        </a:rPr>
                        <a:t>NOT NULL</a:t>
                      </a:r>
                      <a:endParaRPr lang="en-MY" sz="1400">
                        <a:effectLst/>
                        <a:latin typeface="Arial" panose="020B0604020202020204" pitchFamily="34" charset="0"/>
                        <a:ea typeface="Arial" panose="020B0604020202020204" pitchFamily="34" charset="0"/>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FFFFFF"/>
                    </a:solidFill>
                  </a:tcPr>
                </a:tc>
                <a:extLst>
                  <a:ext uri="{0D108BD9-81ED-4DB2-BD59-A6C34878D82A}">
                    <a16:rowId xmlns:a16="http://schemas.microsoft.com/office/drawing/2014/main" val="2964980768"/>
                  </a:ext>
                </a:extLst>
              </a:tr>
              <a:tr h="678706">
                <a:tc>
                  <a:txBody>
                    <a:bodyPr/>
                    <a:lstStyle/>
                    <a:p>
                      <a:pPr>
                        <a:spcAft>
                          <a:spcPts val="0"/>
                        </a:spcAft>
                      </a:pPr>
                      <a:r>
                        <a:rPr lang="en-MY" sz="1400">
                          <a:solidFill>
                            <a:srgbClr val="000000"/>
                          </a:solidFill>
                          <a:effectLst/>
                          <a:latin typeface="Arial" panose="020B0604020202020204" pitchFamily="34" charset="0"/>
                          <a:ea typeface="Arial" panose="020B0604020202020204" pitchFamily="34" charset="0"/>
                        </a:rPr>
                        <a:t>dob</a:t>
                      </a:r>
                      <a:endParaRPr lang="en-MY" sz="1400">
                        <a:effectLst/>
                        <a:latin typeface="Arial" panose="020B0604020202020204" pitchFamily="34" charset="0"/>
                        <a:ea typeface="Arial" panose="020B0604020202020204" pitchFamily="34" charset="0"/>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EAF2FB"/>
                    </a:solidFill>
                  </a:tcPr>
                </a:tc>
                <a:tc>
                  <a:txBody>
                    <a:bodyPr/>
                    <a:lstStyle/>
                    <a:p>
                      <a:pPr>
                        <a:spcAft>
                          <a:spcPts val="0"/>
                        </a:spcAft>
                      </a:pPr>
                      <a:r>
                        <a:rPr lang="en-MY" sz="1400">
                          <a:solidFill>
                            <a:srgbClr val="000000"/>
                          </a:solidFill>
                          <a:effectLst/>
                          <a:latin typeface="Arial" panose="020B0604020202020204" pitchFamily="34" charset="0"/>
                          <a:ea typeface="Arial" panose="020B0604020202020204" pitchFamily="34" charset="0"/>
                        </a:rPr>
                        <a:t>DATE</a:t>
                      </a:r>
                      <a:endParaRPr lang="en-MY" sz="1400">
                        <a:effectLst/>
                        <a:latin typeface="Arial" panose="020B0604020202020204" pitchFamily="34" charset="0"/>
                        <a:ea typeface="Arial" panose="020B0604020202020204" pitchFamily="34" charset="0"/>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EAF2FB"/>
                    </a:solidFill>
                  </a:tcPr>
                </a:tc>
                <a:tc>
                  <a:txBody>
                    <a:bodyPr/>
                    <a:lstStyle/>
                    <a:p>
                      <a:pPr>
                        <a:spcAft>
                          <a:spcPts val="0"/>
                        </a:spcAft>
                      </a:pPr>
                      <a:r>
                        <a:rPr lang="en-MY" sz="1400">
                          <a:solidFill>
                            <a:srgbClr val="000000"/>
                          </a:solidFill>
                          <a:effectLst/>
                          <a:latin typeface="Arial" panose="020B0604020202020204" pitchFamily="34" charset="0"/>
                          <a:ea typeface="Arial" panose="020B0604020202020204" pitchFamily="34" charset="0"/>
                        </a:rPr>
                        <a:t>Date of birth for KYC verification</a:t>
                      </a:r>
                      <a:endParaRPr lang="en-MY" sz="1400">
                        <a:effectLst/>
                        <a:latin typeface="Arial" panose="020B0604020202020204" pitchFamily="34" charset="0"/>
                        <a:ea typeface="Arial" panose="020B0604020202020204" pitchFamily="34" charset="0"/>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EAF2FB"/>
                    </a:solidFill>
                  </a:tcPr>
                </a:tc>
                <a:tc>
                  <a:txBody>
                    <a:bodyPr/>
                    <a:lstStyle/>
                    <a:p>
                      <a:pPr>
                        <a:spcAft>
                          <a:spcPts val="0"/>
                        </a:spcAft>
                      </a:pPr>
                      <a:r>
                        <a:rPr lang="en-MY" sz="1400">
                          <a:solidFill>
                            <a:srgbClr val="000000"/>
                          </a:solidFill>
                          <a:effectLst/>
                          <a:latin typeface="Arial" panose="020B0604020202020204" pitchFamily="34" charset="0"/>
                          <a:ea typeface="Arial" panose="020B0604020202020204" pitchFamily="34" charset="0"/>
                        </a:rPr>
                        <a:t>NOT NULL</a:t>
                      </a:r>
                      <a:endParaRPr lang="en-MY" sz="1400">
                        <a:effectLst/>
                        <a:latin typeface="Arial" panose="020B0604020202020204" pitchFamily="34" charset="0"/>
                        <a:ea typeface="Arial" panose="020B0604020202020204" pitchFamily="34" charset="0"/>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EAF2FB"/>
                    </a:solidFill>
                  </a:tcPr>
                </a:tc>
                <a:extLst>
                  <a:ext uri="{0D108BD9-81ED-4DB2-BD59-A6C34878D82A}">
                    <a16:rowId xmlns:a16="http://schemas.microsoft.com/office/drawing/2014/main" val="1738108515"/>
                  </a:ext>
                </a:extLst>
              </a:tr>
              <a:tr h="424192">
                <a:tc>
                  <a:txBody>
                    <a:bodyPr/>
                    <a:lstStyle/>
                    <a:p>
                      <a:pPr>
                        <a:spcAft>
                          <a:spcPts val="0"/>
                        </a:spcAft>
                      </a:pPr>
                      <a:r>
                        <a:rPr lang="en-MY" sz="1400">
                          <a:solidFill>
                            <a:srgbClr val="000000"/>
                          </a:solidFill>
                          <a:effectLst/>
                          <a:latin typeface="Arial" panose="020B0604020202020204" pitchFamily="34" charset="0"/>
                          <a:ea typeface="Arial" panose="020B0604020202020204" pitchFamily="34" charset="0"/>
                        </a:rPr>
                        <a:t>email</a:t>
                      </a:r>
                      <a:endParaRPr lang="en-MY" sz="1400">
                        <a:effectLst/>
                        <a:latin typeface="Arial" panose="020B0604020202020204" pitchFamily="34" charset="0"/>
                        <a:ea typeface="Arial" panose="020B0604020202020204" pitchFamily="34" charset="0"/>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FFFFFF"/>
                    </a:solidFill>
                  </a:tcPr>
                </a:tc>
                <a:tc>
                  <a:txBody>
                    <a:bodyPr/>
                    <a:lstStyle/>
                    <a:p>
                      <a:pPr>
                        <a:spcAft>
                          <a:spcPts val="0"/>
                        </a:spcAft>
                      </a:pPr>
                      <a:r>
                        <a:rPr lang="en-MY" sz="1400">
                          <a:solidFill>
                            <a:srgbClr val="000000"/>
                          </a:solidFill>
                          <a:effectLst/>
                          <a:latin typeface="Arial" panose="020B0604020202020204" pitchFamily="34" charset="0"/>
                          <a:ea typeface="Arial" panose="020B0604020202020204" pitchFamily="34" charset="0"/>
                        </a:rPr>
                        <a:t>VARCHAR(100)</a:t>
                      </a:r>
                      <a:endParaRPr lang="en-MY" sz="1400">
                        <a:effectLst/>
                        <a:latin typeface="Arial" panose="020B0604020202020204" pitchFamily="34" charset="0"/>
                        <a:ea typeface="Arial" panose="020B0604020202020204" pitchFamily="34" charset="0"/>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FFFFFF"/>
                    </a:solidFill>
                  </a:tcPr>
                </a:tc>
                <a:tc>
                  <a:txBody>
                    <a:bodyPr/>
                    <a:lstStyle/>
                    <a:p>
                      <a:pPr>
                        <a:spcAft>
                          <a:spcPts val="0"/>
                        </a:spcAft>
                      </a:pPr>
                      <a:r>
                        <a:rPr lang="en-MY" sz="1400">
                          <a:solidFill>
                            <a:srgbClr val="000000"/>
                          </a:solidFill>
                          <a:effectLst/>
                          <a:latin typeface="Arial" panose="020B0604020202020204" pitchFamily="34" charset="0"/>
                          <a:ea typeface="Arial" panose="020B0604020202020204" pitchFamily="34" charset="0"/>
                        </a:rPr>
                        <a:t>Primary contact email address</a:t>
                      </a:r>
                      <a:endParaRPr lang="en-MY" sz="1400">
                        <a:effectLst/>
                        <a:latin typeface="Arial" panose="020B0604020202020204" pitchFamily="34" charset="0"/>
                        <a:ea typeface="Arial" panose="020B0604020202020204" pitchFamily="34" charset="0"/>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FFFFFF"/>
                    </a:solidFill>
                  </a:tcPr>
                </a:tc>
                <a:tc>
                  <a:txBody>
                    <a:bodyPr/>
                    <a:lstStyle/>
                    <a:p>
                      <a:pPr>
                        <a:spcAft>
                          <a:spcPts val="0"/>
                        </a:spcAft>
                      </a:pPr>
                      <a:r>
                        <a:rPr lang="en-MY" sz="1400">
                          <a:solidFill>
                            <a:srgbClr val="000000"/>
                          </a:solidFill>
                          <a:effectLst/>
                          <a:latin typeface="Arial" panose="020B0604020202020204" pitchFamily="34" charset="0"/>
                          <a:ea typeface="Arial" panose="020B0604020202020204" pitchFamily="34" charset="0"/>
                        </a:rPr>
                        <a:t>UNIQUE, NOT NULL</a:t>
                      </a:r>
                      <a:endParaRPr lang="en-MY" sz="1400">
                        <a:effectLst/>
                        <a:latin typeface="Arial" panose="020B0604020202020204" pitchFamily="34" charset="0"/>
                        <a:ea typeface="Arial" panose="020B0604020202020204" pitchFamily="34" charset="0"/>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FFFFFF"/>
                    </a:solidFill>
                  </a:tcPr>
                </a:tc>
                <a:extLst>
                  <a:ext uri="{0D108BD9-81ED-4DB2-BD59-A6C34878D82A}">
                    <a16:rowId xmlns:a16="http://schemas.microsoft.com/office/drawing/2014/main" val="157847271"/>
                  </a:ext>
                </a:extLst>
              </a:tr>
              <a:tr h="933222">
                <a:tc>
                  <a:txBody>
                    <a:bodyPr/>
                    <a:lstStyle/>
                    <a:p>
                      <a:pPr>
                        <a:spcAft>
                          <a:spcPts val="0"/>
                        </a:spcAft>
                      </a:pPr>
                      <a:r>
                        <a:rPr lang="en-MY" sz="1400">
                          <a:solidFill>
                            <a:srgbClr val="000000"/>
                          </a:solidFill>
                          <a:effectLst/>
                          <a:latin typeface="Arial" panose="020B0604020202020204" pitchFamily="34" charset="0"/>
                          <a:ea typeface="Arial" panose="020B0604020202020204" pitchFamily="34" charset="0"/>
                        </a:rPr>
                        <a:t>kyc_status</a:t>
                      </a:r>
                      <a:endParaRPr lang="en-MY" sz="1400">
                        <a:effectLst/>
                        <a:latin typeface="Arial" panose="020B0604020202020204" pitchFamily="34" charset="0"/>
                        <a:ea typeface="Arial" panose="020B0604020202020204" pitchFamily="34" charset="0"/>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EAF2FB"/>
                    </a:solidFill>
                  </a:tcPr>
                </a:tc>
                <a:tc>
                  <a:txBody>
                    <a:bodyPr/>
                    <a:lstStyle/>
                    <a:p>
                      <a:pPr>
                        <a:spcAft>
                          <a:spcPts val="0"/>
                        </a:spcAft>
                      </a:pPr>
                      <a:r>
                        <a:rPr lang="en-MY" sz="1400">
                          <a:solidFill>
                            <a:srgbClr val="000000"/>
                          </a:solidFill>
                          <a:effectLst/>
                          <a:latin typeface="Arial" panose="020B0604020202020204" pitchFamily="34" charset="0"/>
                          <a:ea typeface="Arial" panose="020B0604020202020204" pitchFamily="34" charset="0"/>
                        </a:rPr>
                        <a:t>VARCHAR(20)</a:t>
                      </a:r>
                      <a:endParaRPr lang="en-MY" sz="1400">
                        <a:effectLst/>
                        <a:latin typeface="Arial" panose="020B0604020202020204" pitchFamily="34" charset="0"/>
                        <a:ea typeface="Arial" panose="020B0604020202020204" pitchFamily="34" charset="0"/>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EAF2FB"/>
                    </a:solidFill>
                  </a:tcPr>
                </a:tc>
                <a:tc>
                  <a:txBody>
                    <a:bodyPr/>
                    <a:lstStyle/>
                    <a:p>
                      <a:pPr>
                        <a:spcAft>
                          <a:spcPts val="0"/>
                        </a:spcAft>
                      </a:pPr>
                      <a:r>
                        <a:rPr lang="en-MY" sz="1400">
                          <a:solidFill>
                            <a:srgbClr val="000000"/>
                          </a:solidFill>
                          <a:effectLst/>
                          <a:latin typeface="Arial" panose="020B0604020202020204" pitchFamily="34" charset="0"/>
                          <a:ea typeface="Arial" panose="020B0604020202020204" pitchFamily="34" charset="0"/>
                        </a:rPr>
                        <a:t>KYC verification state</a:t>
                      </a:r>
                      <a:endParaRPr lang="en-MY" sz="1400">
                        <a:effectLst/>
                        <a:latin typeface="Arial" panose="020B0604020202020204" pitchFamily="34" charset="0"/>
                        <a:ea typeface="Arial" panose="020B0604020202020204" pitchFamily="34" charset="0"/>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EAF2FB"/>
                    </a:solidFill>
                  </a:tcPr>
                </a:tc>
                <a:tc>
                  <a:txBody>
                    <a:bodyPr/>
                    <a:lstStyle/>
                    <a:p>
                      <a:pPr>
                        <a:spcAft>
                          <a:spcPts val="0"/>
                        </a:spcAft>
                      </a:pPr>
                      <a:r>
                        <a:rPr lang="en-MY" sz="1400">
                          <a:solidFill>
                            <a:srgbClr val="000000"/>
                          </a:solidFill>
                          <a:effectLst/>
                          <a:latin typeface="Arial" panose="020B0604020202020204" pitchFamily="34" charset="0"/>
                          <a:ea typeface="Arial" panose="020B0604020202020204" pitchFamily="34" charset="0"/>
                        </a:rPr>
                        <a:t>CHECK IN ('PENDING','VERIFIED','REJECTED')</a:t>
                      </a:r>
                      <a:endParaRPr lang="en-MY" sz="1400">
                        <a:effectLst/>
                        <a:latin typeface="Arial" panose="020B0604020202020204" pitchFamily="34" charset="0"/>
                        <a:ea typeface="Arial" panose="020B0604020202020204" pitchFamily="34" charset="0"/>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EAF2FB"/>
                    </a:solidFill>
                  </a:tcPr>
                </a:tc>
                <a:extLst>
                  <a:ext uri="{0D108BD9-81ED-4DB2-BD59-A6C34878D82A}">
                    <a16:rowId xmlns:a16="http://schemas.microsoft.com/office/drawing/2014/main" val="373140716"/>
                  </a:ext>
                </a:extLst>
              </a:tr>
              <a:tr h="424192">
                <a:tc>
                  <a:txBody>
                    <a:bodyPr/>
                    <a:lstStyle/>
                    <a:p>
                      <a:pPr>
                        <a:spcAft>
                          <a:spcPts val="0"/>
                        </a:spcAft>
                      </a:pPr>
                      <a:r>
                        <a:rPr lang="en-MY" sz="1400">
                          <a:solidFill>
                            <a:srgbClr val="000000"/>
                          </a:solidFill>
                          <a:effectLst/>
                          <a:latin typeface="Arial" panose="020B0604020202020204" pitchFamily="34" charset="0"/>
                          <a:ea typeface="Arial" panose="020B0604020202020204" pitchFamily="34" charset="0"/>
                        </a:rPr>
                        <a:t>created_at</a:t>
                      </a:r>
                      <a:endParaRPr lang="en-MY" sz="1400">
                        <a:effectLst/>
                        <a:latin typeface="Arial" panose="020B0604020202020204" pitchFamily="34" charset="0"/>
                        <a:ea typeface="Arial" panose="020B0604020202020204" pitchFamily="34" charset="0"/>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FFFFFF"/>
                    </a:solidFill>
                  </a:tcPr>
                </a:tc>
                <a:tc>
                  <a:txBody>
                    <a:bodyPr/>
                    <a:lstStyle/>
                    <a:p>
                      <a:pPr>
                        <a:spcAft>
                          <a:spcPts val="0"/>
                        </a:spcAft>
                      </a:pPr>
                      <a:r>
                        <a:rPr lang="en-MY" sz="1400">
                          <a:solidFill>
                            <a:srgbClr val="000000"/>
                          </a:solidFill>
                          <a:effectLst/>
                          <a:latin typeface="Arial" panose="020B0604020202020204" pitchFamily="34" charset="0"/>
                          <a:ea typeface="Arial" panose="020B0604020202020204" pitchFamily="34" charset="0"/>
                        </a:rPr>
                        <a:t>TIMESTAMP</a:t>
                      </a:r>
                      <a:endParaRPr lang="en-MY" sz="1400">
                        <a:effectLst/>
                        <a:latin typeface="Arial" panose="020B0604020202020204" pitchFamily="34" charset="0"/>
                        <a:ea typeface="Arial" panose="020B0604020202020204" pitchFamily="34" charset="0"/>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FFFFFF"/>
                    </a:solidFill>
                  </a:tcPr>
                </a:tc>
                <a:tc>
                  <a:txBody>
                    <a:bodyPr/>
                    <a:lstStyle/>
                    <a:p>
                      <a:pPr>
                        <a:spcAft>
                          <a:spcPts val="0"/>
                        </a:spcAft>
                      </a:pPr>
                      <a:r>
                        <a:rPr lang="en-MY" sz="1400">
                          <a:solidFill>
                            <a:srgbClr val="000000"/>
                          </a:solidFill>
                          <a:effectLst/>
                          <a:latin typeface="Arial" panose="020B0604020202020204" pitchFamily="34" charset="0"/>
                          <a:ea typeface="Arial" panose="020B0604020202020204" pitchFamily="34" charset="0"/>
                        </a:rPr>
                        <a:t>Record creation timestamp</a:t>
                      </a:r>
                      <a:endParaRPr lang="en-MY" sz="1400">
                        <a:effectLst/>
                        <a:latin typeface="Arial" panose="020B0604020202020204" pitchFamily="34" charset="0"/>
                        <a:ea typeface="Arial" panose="020B0604020202020204" pitchFamily="34" charset="0"/>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FFFFFF"/>
                    </a:solidFill>
                  </a:tcPr>
                </a:tc>
                <a:tc>
                  <a:txBody>
                    <a:bodyPr/>
                    <a:lstStyle/>
                    <a:p>
                      <a:pPr>
                        <a:spcAft>
                          <a:spcPts val="0"/>
                        </a:spcAft>
                      </a:pPr>
                      <a:r>
                        <a:rPr lang="en-MY" sz="1400" dirty="0">
                          <a:solidFill>
                            <a:srgbClr val="000000"/>
                          </a:solidFill>
                          <a:effectLst/>
                          <a:latin typeface="Arial" panose="020B0604020202020204" pitchFamily="34" charset="0"/>
                          <a:ea typeface="Arial" panose="020B0604020202020204" pitchFamily="34" charset="0"/>
                        </a:rPr>
                        <a:t>DEFAULT NOW()</a:t>
                      </a:r>
                      <a:endParaRPr lang="en-MY" sz="1400" dirty="0">
                        <a:effectLst/>
                        <a:latin typeface="Arial" panose="020B0604020202020204" pitchFamily="34" charset="0"/>
                        <a:ea typeface="Arial" panose="020B0604020202020204" pitchFamily="34" charset="0"/>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FFFFFF"/>
                    </a:solidFill>
                  </a:tcPr>
                </a:tc>
                <a:extLst>
                  <a:ext uri="{0D108BD9-81ED-4DB2-BD59-A6C34878D82A}">
                    <a16:rowId xmlns:a16="http://schemas.microsoft.com/office/drawing/2014/main" val="1860703633"/>
                  </a:ext>
                </a:extLst>
              </a:tr>
            </a:tbl>
          </a:graphicData>
        </a:graphic>
      </p:graphicFrame>
    </p:spTree>
    <p:extLst>
      <p:ext uri="{BB962C8B-B14F-4D97-AF65-F5344CB8AC3E}">
        <p14:creationId xmlns:p14="http://schemas.microsoft.com/office/powerpoint/2010/main" val="10119415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8EDF75-0D3B-7AFC-3D71-97C545F5A4C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83D5C0D-0702-B842-B05A-AB40E6729109}"/>
              </a:ext>
            </a:extLst>
          </p:cNvPr>
          <p:cNvSpPr>
            <a:spLocks noGrp="1"/>
          </p:cNvSpPr>
          <p:nvPr>
            <p:ph type="title"/>
          </p:nvPr>
        </p:nvSpPr>
        <p:spPr>
          <a:xfrm>
            <a:off x="572756" y="133943"/>
            <a:ext cx="9813446" cy="850726"/>
          </a:xfrm>
        </p:spPr>
        <p:txBody>
          <a:bodyPr>
            <a:noAutofit/>
          </a:bodyPr>
          <a:lstStyle/>
          <a:p>
            <a:r>
              <a:rPr lang="en-US" sz="3200" dirty="0">
                <a:solidFill>
                  <a:srgbClr val="00539A"/>
                </a:solidFill>
                <a:latin typeface="Arial Bold"/>
                <a:cs typeface="Arial Bold"/>
              </a:rPr>
              <a:t>Database design</a:t>
            </a:r>
            <a:endParaRPr lang="en-US" dirty="0"/>
          </a:p>
        </p:txBody>
      </p:sp>
      <p:sp>
        <p:nvSpPr>
          <p:cNvPr id="8" name="Content Placeholder 4">
            <a:extLst>
              <a:ext uri="{FF2B5EF4-FFF2-40B4-BE49-F238E27FC236}">
                <a16:creationId xmlns:a16="http://schemas.microsoft.com/office/drawing/2014/main" id="{6EBF7F26-70E8-8F0A-9EEF-FF09EABBE3B4}"/>
              </a:ext>
            </a:extLst>
          </p:cNvPr>
          <p:cNvSpPr txBox="1">
            <a:spLocks/>
          </p:cNvSpPr>
          <p:nvPr/>
        </p:nvSpPr>
        <p:spPr>
          <a:xfrm>
            <a:off x="573087" y="1216025"/>
            <a:ext cx="10659485" cy="4503738"/>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dirty="0">
                <a:solidFill>
                  <a:srgbClr val="111620"/>
                </a:solidFill>
                <a:ea typeface="+mn-lt"/>
                <a:cs typeface="+mn-lt"/>
              </a:rPr>
              <a:t>Data Migration Strategy  </a:t>
            </a:r>
            <a:endParaRPr lang="en-US" sz="2400" b="1" dirty="0" smtClean="0">
              <a:solidFill>
                <a:srgbClr val="111620"/>
              </a:solidFill>
              <a:ea typeface="+mn-lt"/>
              <a:cs typeface="+mn-lt"/>
            </a:endParaRPr>
          </a:p>
          <a:p>
            <a:pPr marL="0" indent="0">
              <a:buNone/>
            </a:pPr>
            <a:endParaRPr lang="en-US" dirty="0">
              <a:cs typeface="Arial"/>
            </a:endParaRPr>
          </a:p>
        </p:txBody>
      </p:sp>
      <p:graphicFrame>
        <p:nvGraphicFramePr>
          <p:cNvPr id="3" name="Table 2"/>
          <p:cNvGraphicFramePr>
            <a:graphicFrameLocks noGrp="1"/>
          </p:cNvGraphicFramePr>
          <p:nvPr>
            <p:extLst>
              <p:ext uri="{D42A27DB-BD31-4B8C-83A1-F6EECF244321}">
                <p14:modId xmlns:p14="http://schemas.microsoft.com/office/powerpoint/2010/main" val="2906441564"/>
              </p:ext>
            </p:extLst>
          </p:nvPr>
        </p:nvGraphicFramePr>
        <p:xfrm>
          <a:off x="668594" y="1986115"/>
          <a:ext cx="10441858" cy="3965003"/>
        </p:xfrm>
        <a:graphic>
          <a:graphicData uri="http://schemas.openxmlformats.org/drawingml/2006/table">
            <a:tbl>
              <a:tblPr firstRow="1" firstCol="1" bandRow="1"/>
              <a:tblGrid>
                <a:gridCol w="10441858">
                  <a:extLst>
                    <a:ext uri="{9D8B030D-6E8A-4147-A177-3AD203B41FA5}">
                      <a16:colId xmlns:a16="http://schemas.microsoft.com/office/drawing/2014/main" val="2780768391"/>
                    </a:ext>
                  </a:extLst>
                </a:gridCol>
              </a:tblGrid>
              <a:tr h="3965003">
                <a:tc>
                  <a:txBody>
                    <a:bodyPr/>
                    <a:lstStyle/>
                    <a:p>
                      <a:pPr>
                        <a:spcAft>
                          <a:spcPts val="0"/>
                        </a:spcAft>
                      </a:pPr>
                      <a:r>
                        <a:rPr lang="en-MY" sz="3200" b="1" dirty="0">
                          <a:solidFill>
                            <a:srgbClr val="1F3864"/>
                          </a:solidFill>
                          <a:effectLst/>
                          <a:latin typeface="Arial" panose="020B0604020202020204" pitchFamily="34" charset="0"/>
                          <a:ea typeface="Arial" panose="020B0604020202020204" pitchFamily="34" charset="0"/>
                        </a:rPr>
                        <a:t>Migration Flow:</a:t>
                      </a:r>
                      <a:endParaRPr lang="en-MY" sz="3200" dirty="0">
                        <a:effectLst/>
                        <a:latin typeface="Arial" panose="020B0604020202020204" pitchFamily="34" charset="0"/>
                        <a:ea typeface="Arial" panose="020B0604020202020204" pitchFamily="34" charset="0"/>
                      </a:endParaRPr>
                    </a:p>
                    <a:p>
                      <a:pPr>
                        <a:spcBef>
                          <a:spcPts val="400"/>
                        </a:spcBef>
                        <a:spcAft>
                          <a:spcPts val="0"/>
                        </a:spcAft>
                      </a:pPr>
                      <a:r>
                        <a:rPr lang="en-MY" sz="3200" dirty="0">
                          <a:solidFill>
                            <a:srgbClr val="222222"/>
                          </a:solidFill>
                          <a:effectLst/>
                          <a:latin typeface="Arial" panose="020B0604020202020204" pitchFamily="34" charset="0"/>
                          <a:ea typeface="Arial" panose="020B0604020202020204" pitchFamily="34" charset="0"/>
                        </a:rPr>
                        <a:t>Legacy Source Systems  →  ETL Extract  →  Staging Area  →  Data Validation  →  Transform &amp; Cleanse  →  Load to EDW  →  Parallel Validation  →  Go/No-Go Gate  →  Production Cutover</a:t>
                      </a:r>
                      <a:endParaRPr lang="en-MY" sz="3200" dirty="0">
                        <a:effectLst/>
                        <a:latin typeface="Arial" panose="020B0604020202020204" pitchFamily="34" charset="0"/>
                        <a:ea typeface="Arial" panose="020B0604020202020204" pitchFamily="34" charset="0"/>
                      </a:endParaRPr>
                    </a:p>
                    <a:p>
                      <a:pPr>
                        <a:spcBef>
                          <a:spcPts val="300"/>
                        </a:spcBef>
                        <a:spcAft>
                          <a:spcPts val="0"/>
                        </a:spcAft>
                      </a:pPr>
                      <a:r>
                        <a:rPr lang="en-MY" sz="3200" i="1" dirty="0">
                          <a:solidFill>
                            <a:srgbClr val="8B0000"/>
                          </a:solidFill>
                          <a:effectLst/>
                          <a:latin typeface="Arial" panose="020B0604020202020204" pitchFamily="34" charset="0"/>
                          <a:ea typeface="Arial" panose="020B0604020202020204" pitchFamily="34" charset="0"/>
                        </a:rPr>
                        <a:t>Rollback available at every arrow. Legacy systems remain live until final cutover is signed off.</a:t>
                      </a:r>
                      <a:endParaRPr lang="en-MY" sz="3200" dirty="0">
                        <a:effectLst/>
                        <a:latin typeface="Arial" panose="020B0604020202020204" pitchFamily="34" charset="0"/>
                        <a:ea typeface="Arial" panose="020B0604020202020204" pitchFamily="34" charset="0"/>
                      </a:endParaRPr>
                    </a:p>
                  </a:txBody>
                  <a:tcPr marL="127000" marR="127000" marT="76200" marB="762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D5E8F0"/>
                    </a:solidFill>
                  </a:tcPr>
                </a:tc>
                <a:extLst>
                  <a:ext uri="{0D108BD9-81ED-4DB2-BD59-A6C34878D82A}">
                    <a16:rowId xmlns:a16="http://schemas.microsoft.com/office/drawing/2014/main" val="811706759"/>
                  </a:ext>
                </a:extLst>
              </a:tr>
            </a:tbl>
          </a:graphicData>
        </a:graphic>
      </p:graphicFrame>
    </p:spTree>
    <p:extLst>
      <p:ext uri="{BB962C8B-B14F-4D97-AF65-F5344CB8AC3E}">
        <p14:creationId xmlns:p14="http://schemas.microsoft.com/office/powerpoint/2010/main" val="342572333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E36F2E-72F7-2E54-3008-4F663F9AEB6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1571C3F-2C67-4AD9-4CE6-4A9BA1280CC6}"/>
              </a:ext>
            </a:extLst>
          </p:cNvPr>
          <p:cNvSpPr>
            <a:spLocks noGrp="1"/>
          </p:cNvSpPr>
          <p:nvPr>
            <p:ph type="title"/>
          </p:nvPr>
        </p:nvSpPr>
        <p:spPr>
          <a:xfrm>
            <a:off x="572756" y="133943"/>
            <a:ext cx="9813446" cy="850726"/>
          </a:xfrm>
        </p:spPr>
        <p:txBody>
          <a:bodyPr>
            <a:noAutofit/>
          </a:bodyPr>
          <a:lstStyle/>
          <a:p>
            <a:r>
              <a:rPr lang="en-US" sz="3200" dirty="0">
                <a:solidFill>
                  <a:srgbClr val="00539A"/>
                </a:solidFill>
                <a:latin typeface="Arial Bold"/>
                <a:cs typeface="Arial Bold"/>
              </a:rPr>
              <a:t>Database design</a:t>
            </a:r>
            <a:endParaRPr lang="en-US" dirty="0"/>
          </a:p>
        </p:txBody>
      </p:sp>
      <p:sp>
        <p:nvSpPr>
          <p:cNvPr id="8" name="Content Placeholder 4">
            <a:extLst>
              <a:ext uri="{FF2B5EF4-FFF2-40B4-BE49-F238E27FC236}">
                <a16:creationId xmlns:a16="http://schemas.microsoft.com/office/drawing/2014/main" id="{136C01C3-A9C5-0652-D45B-B41050237728}"/>
              </a:ext>
            </a:extLst>
          </p:cNvPr>
          <p:cNvSpPr txBox="1">
            <a:spLocks/>
          </p:cNvSpPr>
          <p:nvPr/>
        </p:nvSpPr>
        <p:spPr>
          <a:xfrm>
            <a:off x="573087" y="1216025"/>
            <a:ext cx="10659485" cy="4503738"/>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dirty="0">
                <a:solidFill>
                  <a:srgbClr val="111620"/>
                </a:solidFill>
                <a:ea typeface="+mn-lt"/>
                <a:cs typeface="+mn-lt"/>
              </a:rPr>
              <a:t>Normalization and Key Table Details  </a:t>
            </a:r>
            <a:endParaRPr lang="en-US" sz="2400" b="1" dirty="0" smtClean="0">
              <a:solidFill>
                <a:srgbClr val="111620"/>
              </a:solidFill>
              <a:ea typeface="+mn-lt"/>
              <a:cs typeface="+mn-lt"/>
            </a:endParaRPr>
          </a:p>
          <a:p>
            <a:pPr marL="0" indent="0">
              <a:buNone/>
            </a:pPr>
            <a:endParaRPr lang="en-US" dirty="0">
              <a:cs typeface="Arial"/>
            </a:endParaRPr>
          </a:p>
        </p:txBody>
      </p:sp>
      <p:graphicFrame>
        <p:nvGraphicFramePr>
          <p:cNvPr id="3" name="Table 2"/>
          <p:cNvGraphicFramePr>
            <a:graphicFrameLocks noGrp="1"/>
          </p:cNvGraphicFramePr>
          <p:nvPr>
            <p:extLst>
              <p:ext uri="{D42A27DB-BD31-4B8C-83A1-F6EECF244321}">
                <p14:modId xmlns:p14="http://schemas.microsoft.com/office/powerpoint/2010/main" val="400067034"/>
              </p:ext>
            </p:extLst>
          </p:nvPr>
        </p:nvGraphicFramePr>
        <p:xfrm>
          <a:off x="648928" y="1818968"/>
          <a:ext cx="10583644" cy="4370073"/>
        </p:xfrm>
        <a:graphic>
          <a:graphicData uri="http://schemas.openxmlformats.org/drawingml/2006/table">
            <a:tbl>
              <a:tblPr/>
              <a:tblGrid>
                <a:gridCol w="2035316">
                  <a:extLst>
                    <a:ext uri="{9D8B030D-6E8A-4147-A177-3AD203B41FA5}">
                      <a16:colId xmlns:a16="http://schemas.microsoft.com/office/drawing/2014/main" val="2562335614"/>
                    </a:ext>
                  </a:extLst>
                </a:gridCol>
                <a:gridCol w="4274164">
                  <a:extLst>
                    <a:ext uri="{9D8B030D-6E8A-4147-A177-3AD203B41FA5}">
                      <a16:colId xmlns:a16="http://schemas.microsoft.com/office/drawing/2014/main" val="3930953270"/>
                    </a:ext>
                  </a:extLst>
                </a:gridCol>
                <a:gridCol w="4274164">
                  <a:extLst>
                    <a:ext uri="{9D8B030D-6E8A-4147-A177-3AD203B41FA5}">
                      <a16:colId xmlns:a16="http://schemas.microsoft.com/office/drawing/2014/main" val="2800840413"/>
                    </a:ext>
                  </a:extLst>
                </a:gridCol>
              </a:tblGrid>
              <a:tr h="335809">
                <a:tc>
                  <a:txBody>
                    <a:bodyPr/>
                    <a:lstStyle/>
                    <a:p>
                      <a:pPr>
                        <a:spcAft>
                          <a:spcPts val="0"/>
                        </a:spcAft>
                      </a:pPr>
                      <a:r>
                        <a:rPr lang="en-MY" sz="1400" b="1">
                          <a:solidFill>
                            <a:srgbClr val="FFFFFF"/>
                          </a:solidFill>
                          <a:effectLst/>
                          <a:latin typeface="Arial" panose="020B0604020202020204" pitchFamily="34" charset="0"/>
                          <a:ea typeface="Arial" panose="020B0604020202020204" pitchFamily="34" charset="0"/>
                        </a:rPr>
                        <a:t>Step</a:t>
                      </a:r>
                      <a:endParaRPr lang="en-MY" sz="1400">
                        <a:effectLst/>
                        <a:latin typeface="Arial" panose="020B0604020202020204" pitchFamily="34" charset="0"/>
                        <a:ea typeface="Arial" panose="020B0604020202020204" pitchFamily="34" charset="0"/>
                      </a:endParaRPr>
                    </a:p>
                  </a:txBody>
                  <a:tcPr marL="76200" marR="76200" marT="63500" marB="63500" anchor="ctr">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1F3864"/>
                    </a:solidFill>
                  </a:tcPr>
                </a:tc>
                <a:tc>
                  <a:txBody>
                    <a:bodyPr/>
                    <a:lstStyle/>
                    <a:p>
                      <a:pPr>
                        <a:spcAft>
                          <a:spcPts val="0"/>
                        </a:spcAft>
                      </a:pPr>
                      <a:r>
                        <a:rPr lang="en-MY" sz="1400" b="1">
                          <a:solidFill>
                            <a:srgbClr val="FFFFFF"/>
                          </a:solidFill>
                          <a:effectLst/>
                          <a:latin typeface="Arial" panose="020B0604020202020204" pitchFamily="34" charset="0"/>
                          <a:ea typeface="Arial" panose="020B0604020202020204" pitchFamily="34" charset="0"/>
                        </a:rPr>
                        <a:t>Action Taken</a:t>
                      </a:r>
                      <a:endParaRPr lang="en-MY" sz="1400">
                        <a:effectLst/>
                        <a:latin typeface="Arial" panose="020B0604020202020204" pitchFamily="34" charset="0"/>
                        <a:ea typeface="Arial" panose="020B0604020202020204" pitchFamily="34" charset="0"/>
                      </a:endParaRPr>
                    </a:p>
                  </a:txBody>
                  <a:tcPr marL="76200" marR="76200" marT="63500" marB="63500" anchor="ctr">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1F3864"/>
                    </a:solidFill>
                  </a:tcPr>
                </a:tc>
                <a:tc>
                  <a:txBody>
                    <a:bodyPr/>
                    <a:lstStyle/>
                    <a:p>
                      <a:pPr>
                        <a:spcAft>
                          <a:spcPts val="0"/>
                        </a:spcAft>
                      </a:pPr>
                      <a:r>
                        <a:rPr lang="en-MY" sz="1400" b="1">
                          <a:solidFill>
                            <a:srgbClr val="FFFFFF"/>
                          </a:solidFill>
                          <a:effectLst/>
                          <a:latin typeface="Arial" panose="020B0604020202020204" pitchFamily="34" charset="0"/>
                          <a:ea typeface="Arial" panose="020B0604020202020204" pitchFamily="34" charset="0"/>
                        </a:rPr>
                        <a:t>Example</a:t>
                      </a:r>
                      <a:endParaRPr lang="en-MY" sz="1400">
                        <a:effectLst/>
                        <a:latin typeface="Arial" panose="020B0604020202020204" pitchFamily="34" charset="0"/>
                        <a:ea typeface="Arial" panose="020B0604020202020204" pitchFamily="34" charset="0"/>
                      </a:endParaRPr>
                    </a:p>
                  </a:txBody>
                  <a:tcPr marL="76200" marR="76200" marT="63500" marB="63500" anchor="ctr">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1F3864"/>
                    </a:solidFill>
                  </a:tcPr>
                </a:tc>
                <a:extLst>
                  <a:ext uri="{0D108BD9-81ED-4DB2-BD59-A6C34878D82A}">
                    <a16:rowId xmlns:a16="http://schemas.microsoft.com/office/drawing/2014/main" val="3606585819"/>
                  </a:ext>
                </a:extLst>
              </a:tr>
              <a:tr h="1404294">
                <a:tc>
                  <a:txBody>
                    <a:bodyPr/>
                    <a:lstStyle/>
                    <a:p>
                      <a:pPr>
                        <a:spcAft>
                          <a:spcPts val="0"/>
                        </a:spcAft>
                      </a:pPr>
                      <a:r>
                        <a:rPr lang="en-MY" sz="1400" b="1">
                          <a:solidFill>
                            <a:srgbClr val="000000"/>
                          </a:solidFill>
                          <a:effectLst/>
                          <a:latin typeface="Arial" panose="020B0604020202020204" pitchFamily="34" charset="0"/>
                          <a:ea typeface="Arial" panose="020B0604020202020204" pitchFamily="34" charset="0"/>
                        </a:rPr>
                        <a:t>1NF</a:t>
                      </a:r>
                      <a:endParaRPr lang="en-MY" sz="1400">
                        <a:effectLst/>
                        <a:latin typeface="Arial" panose="020B0604020202020204" pitchFamily="34" charset="0"/>
                        <a:ea typeface="Arial" panose="020B0604020202020204" pitchFamily="34" charset="0"/>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FFFFFF"/>
                    </a:solidFill>
                  </a:tcPr>
                </a:tc>
                <a:tc>
                  <a:txBody>
                    <a:bodyPr/>
                    <a:lstStyle/>
                    <a:p>
                      <a:pPr>
                        <a:spcAft>
                          <a:spcPts val="0"/>
                        </a:spcAft>
                      </a:pPr>
                      <a:r>
                        <a:rPr lang="en-MY" sz="1400">
                          <a:solidFill>
                            <a:srgbClr val="000000"/>
                          </a:solidFill>
                          <a:effectLst/>
                          <a:latin typeface="Arial" panose="020B0604020202020204" pitchFamily="34" charset="0"/>
                          <a:ea typeface="Arial" panose="020B0604020202020204" pitchFamily="34" charset="0"/>
                        </a:rPr>
                        <a:t>Ensured all columns contain atomic (indivisible) values. Removed multi-valued fields — e.g., a customer's multiple phone numbers stored in a single column were split into a separate PhoneNumbers table. Ensured each table has a defined primary key.</a:t>
                      </a:r>
                      <a:endParaRPr lang="en-MY" sz="1400">
                        <a:effectLst/>
                        <a:latin typeface="Arial" panose="020B0604020202020204" pitchFamily="34" charset="0"/>
                        <a:ea typeface="Arial" panose="020B0604020202020204" pitchFamily="34" charset="0"/>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FFFFFF"/>
                    </a:solidFill>
                  </a:tcPr>
                </a:tc>
                <a:tc>
                  <a:txBody>
                    <a:bodyPr/>
                    <a:lstStyle/>
                    <a:p>
                      <a:pPr>
                        <a:spcAft>
                          <a:spcPts val="0"/>
                        </a:spcAft>
                      </a:pPr>
                      <a:r>
                        <a:rPr lang="en-MY" sz="1400">
                          <a:solidFill>
                            <a:srgbClr val="000000"/>
                          </a:solidFill>
                          <a:effectLst/>
                          <a:latin typeface="Arial" panose="020B0604020202020204" pitchFamily="34" charset="0"/>
                          <a:ea typeface="Arial" panose="020B0604020202020204" pitchFamily="34" charset="0"/>
                        </a:rPr>
                        <a:t>customer.phone split from a comma-separated list into separate rows with customer_id as FK. Every table assigned a UUID primary key.</a:t>
                      </a:r>
                      <a:endParaRPr lang="en-MY" sz="1400">
                        <a:effectLst/>
                        <a:latin typeface="Arial" panose="020B0604020202020204" pitchFamily="34" charset="0"/>
                        <a:ea typeface="Arial" panose="020B0604020202020204" pitchFamily="34" charset="0"/>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FFFFFF"/>
                    </a:solidFill>
                  </a:tcPr>
                </a:tc>
                <a:extLst>
                  <a:ext uri="{0D108BD9-81ED-4DB2-BD59-A6C34878D82A}">
                    <a16:rowId xmlns:a16="http://schemas.microsoft.com/office/drawing/2014/main" val="1657557656"/>
                  </a:ext>
                </a:extLst>
              </a:tr>
              <a:tr h="1221125">
                <a:tc>
                  <a:txBody>
                    <a:bodyPr/>
                    <a:lstStyle/>
                    <a:p>
                      <a:pPr>
                        <a:spcAft>
                          <a:spcPts val="0"/>
                        </a:spcAft>
                      </a:pPr>
                      <a:r>
                        <a:rPr lang="en-MY" sz="1400" b="1">
                          <a:solidFill>
                            <a:srgbClr val="000000"/>
                          </a:solidFill>
                          <a:effectLst/>
                          <a:latin typeface="Arial" panose="020B0604020202020204" pitchFamily="34" charset="0"/>
                          <a:ea typeface="Arial" panose="020B0604020202020204" pitchFamily="34" charset="0"/>
                        </a:rPr>
                        <a:t>2NF</a:t>
                      </a:r>
                      <a:endParaRPr lang="en-MY" sz="1400">
                        <a:effectLst/>
                        <a:latin typeface="Arial" panose="020B0604020202020204" pitchFamily="34" charset="0"/>
                        <a:ea typeface="Arial" panose="020B0604020202020204" pitchFamily="34" charset="0"/>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EAF2FB"/>
                    </a:solidFill>
                  </a:tcPr>
                </a:tc>
                <a:tc>
                  <a:txBody>
                    <a:bodyPr/>
                    <a:lstStyle/>
                    <a:p>
                      <a:pPr>
                        <a:spcAft>
                          <a:spcPts val="0"/>
                        </a:spcAft>
                      </a:pPr>
                      <a:r>
                        <a:rPr lang="en-MY" sz="1400">
                          <a:solidFill>
                            <a:srgbClr val="000000"/>
                          </a:solidFill>
                          <a:effectLst/>
                          <a:latin typeface="Arial" panose="020B0604020202020204" pitchFamily="34" charset="0"/>
                          <a:ea typeface="Arial" panose="020B0604020202020204" pitchFamily="34" charset="0"/>
                        </a:rPr>
                        <a:t>Eliminated partial dependencies. Ensured all non-key attributes depend on the full primary key, not just part of it. Applied to composite-key tables by separating attributes that depend on only one part of the composite key.</a:t>
                      </a:r>
                      <a:endParaRPr lang="en-MY" sz="1400">
                        <a:effectLst/>
                        <a:latin typeface="Arial" panose="020B0604020202020204" pitchFamily="34" charset="0"/>
                        <a:ea typeface="Arial" panose="020B0604020202020204" pitchFamily="34" charset="0"/>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EAF2FB"/>
                    </a:solidFill>
                  </a:tcPr>
                </a:tc>
                <a:tc>
                  <a:txBody>
                    <a:bodyPr/>
                    <a:lstStyle/>
                    <a:p>
                      <a:pPr>
                        <a:spcAft>
                          <a:spcPts val="0"/>
                        </a:spcAft>
                      </a:pPr>
                      <a:r>
                        <a:rPr lang="en-MY" sz="1400">
                          <a:solidFill>
                            <a:srgbClr val="000000"/>
                          </a:solidFill>
                          <a:effectLst/>
                          <a:latin typeface="Arial" panose="020B0604020202020204" pitchFamily="34" charset="0"/>
                          <a:ea typeface="Arial" panose="020B0604020202020204" pitchFamily="34" charset="0"/>
                        </a:rPr>
                        <a:t>In a hypothetical OrderItem table with (order_id, product_id) as PK, product_name depended only on product_id — moved to a Products table. In Transactions, account_type was moved to Accounts.</a:t>
                      </a:r>
                      <a:endParaRPr lang="en-MY" sz="1400">
                        <a:effectLst/>
                        <a:latin typeface="Arial" panose="020B0604020202020204" pitchFamily="34" charset="0"/>
                        <a:ea typeface="Arial" panose="020B0604020202020204" pitchFamily="34" charset="0"/>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EAF2FB"/>
                    </a:solidFill>
                  </a:tcPr>
                </a:tc>
                <a:extLst>
                  <a:ext uri="{0D108BD9-81ED-4DB2-BD59-A6C34878D82A}">
                    <a16:rowId xmlns:a16="http://schemas.microsoft.com/office/drawing/2014/main" val="2755937287"/>
                  </a:ext>
                </a:extLst>
              </a:tr>
              <a:tr h="1404294">
                <a:tc>
                  <a:txBody>
                    <a:bodyPr/>
                    <a:lstStyle/>
                    <a:p>
                      <a:pPr>
                        <a:spcAft>
                          <a:spcPts val="0"/>
                        </a:spcAft>
                      </a:pPr>
                      <a:r>
                        <a:rPr lang="en-MY" sz="1400" b="1">
                          <a:solidFill>
                            <a:srgbClr val="000000"/>
                          </a:solidFill>
                          <a:effectLst/>
                          <a:latin typeface="Arial" panose="020B0604020202020204" pitchFamily="34" charset="0"/>
                          <a:ea typeface="Arial" panose="020B0604020202020204" pitchFamily="34" charset="0"/>
                        </a:rPr>
                        <a:t>3NF</a:t>
                      </a:r>
                      <a:endParaRPr lang="en-MY" sz="1400">
                        <a:effectLst/>
                        <a:latin typeface="Arial" panose="020B0604020202020204" pitchFamily="34" charset="0"/>
                        <a:ea typeface="Arial" panose="020B0604020202020204" pitchFamily="34" charset="0"/>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FFFFFF"/>
                    </a:solidFill>
                  </a:tcPr>
                </a:tc>
                <a:tc>
                  <a:txBody>
                    <a:bodyPr/>
                    <a:lstStyle/>
                    <a:p>
                      <a:pPr>
                        <a:spcAft>
                          <a:spcPts val="0"/>
                        </a:spcAft>
                      </a:pPr>
                      <a:r>
                        <a:rPr lang="en-MY" sz="1400">
                          <a:solidFill>
                            <a:srgbClr val="000000"/>
                          </a:solidFill>
                          <a:effectLst/>
                          <a:latin typeface="Arial" panose="020B0604020202020204" pitchFamily="34" charset="0"/>
                          <a:ea typeface="Arial" panose="020B0604020202020204" pitchFamily="34" charset="0"/>
                        </a:rPr>
                        <a:t>Removed transitive dependencies. Ensured non-key attributes depend only on the primary key, not on other non-key attributes. Extracted any derived or indirectly dependent data into separate reference tables.</a:t>
                      </a:r>
                      <a:endParaRPr lang="en-MY" sz="1400">
                        <a:effectLst/>
                        <a:latin typeface="Arial" panose="020B0604020202020204" pitchFamily="34" charset="0"/>
                        <a:ea typeface="Arial" panose="020B0604020202020204" pitchFamily="34" charset="0"/>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FFFFFF"/>
                    </a:solidFill>
                  </a:tcPr>
                </a:tc>
                <a:tc>
                  <a:txBody>
                    <a:bodyPr/>
                    <a:lstStyle/>
                    <a:p>
                      <a:pPr>
                        <a:spcAft>
                          <a:spcPts val="0"/>
                        </a:spcAft>
                      </a:pPr>
                      <a:r>
                        <a:rPr lang="en-MY" sz="1400" dirty="0">
                          <a:solidFill>
                            <a:srgbClr val="000000"/>
                          </a:solidFill>
                          <a:effectLst/>
                          <a:latin typeface="Arial" panose="020B0604020202020204" pitchFamily="34" charset="0"/>
                          <a:ea typeface="Arial" panose="020B0604020202020204" pitchFamily="34" charset="0"/>
                        </a:rPr>
                        <a:t>In Customer, </a:t>
                      </a:r>
                      <a:r>
                        <a:rPr lang="en-MY" sz="1400" dirty="0" err="1">
                          <a:solidFill>
                            <a:srgbClr val="000000"/>
                          </a:solidFill>
                          <a:effectLst/>
                          <a:latin typeface="Arial" panose="020B0604020202020204" pitchFamily="34" charset="0"/>
                          <a:ea typeface="Arial" panose="020B0604020202020204" pitchFamily="34" charset="0"/>
                        </a:rPr>
                        <a:t>branch_city</a:t>
                      </a:r>
                      <a:r>
                        <a:rPr lang="en-MY" sz="1400" dirty="0">
                          <a:solidFill>
                            <a:srgbClr val="000000"/>
                          </a:solidFill>
                          <a:effectLst/>
                          <a:latin typeface="Arial" panose="020B0604020202020204" pitchFamily="34" charset="0"/>
                          <a:ea typeface="Arial" panose="020B0604020202020204" pitchFamily="34" charset="0"/>
                        </a:rPr>
                        <a:t> and </a:t>
                      </a:r>
                      <a:r>
                        <a:rPr lang="en-MY" sz="1400" dirty="0" err="1">
                          <a:solidFill>
                            <a:srgbClr val="000000"/>
                          </a:solidFill>
                          <a:effectLst/>
                          <a:latin typeface="Arial" panose="020B0604020202020204" pitchFamily="34" charset="0"/>
                          <a:ea typeface="Arial" panose="020B0604020202020204" pitchFamily="34" charset="0"/>
                        </a:rPr>
                        <a:t>branch_region</a:t>
                      </a:r>
                      <a:r>
                        <a:rPr lang="en-MY" sz="1400" dirty="0">
                          <a:solidFill>
                            <a:srgbClr val="000000"/>
                          </a:solidFill>
                          <a:effectLst/>
                          <a:latin typeface="Arial" panose="020B0604020202020204" pitchFamily="34" charset="0"/>
                          <a:ea typeface="Arial" panose="020B0604020202020204" pitchFamily="34" charset="0"/>
                        </a:rPr>
                        <a:t> transitively depended on </a:t>
                      </a:r>
                      <a:r>
                        <a:rPr lang="en-MY" sz="1400" dirty="0" err="1">
                          <a:solidFill>
                            <a:srgbClr val="000000"/>
                          </a:solidFill>
                          <a:effectLst/>
                          <a:latin typeface="Arial" panose="020B0604020202020204" pitchFamily="34" charset="0"/>
                          <a:ea typeface="Arial" panose="020B0604020202020204" pitchFamily="34" charset="0"/>
                        </a:rPr>
                        <a:t>branch_id</a:t>
                      </a:r>
                      <a:r>
                        <a:rPr lang="en-MY" sz="1400" dirty="0">
                          <a:solidFill>
                            <a:srgbClr val="000000"/>
                          </a:solidFill>
                          <a:effectLst/>
                          <a:latin typeface="Arial" panose="020B0604020202020204" pitchFamily="34" charset="0"/>
                          <a:ea typeface="Arial" panose="020B0604020202020204" pitchFamily="34" charset="0"/>
                        </a:rPr>
                        <a:t> — extracted to a dedicated Branch table. Credit Score data separated from Customer to its own table since it depends on bureau assessment, not just customer identity.</a:t>
                      </a:r>
                      <a:endParaRPr lang="en-MY" sz="1400" dirty="0">
                        <a:effectLst/>
                        <a:latin typeface="Arial" panose="020B0604020202020204" pitchFamily="34" charset="0"/>
                        <a:ea typeface="Arial" panose="020B0604020202020204" pitchFamily="34" charset="0"/>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FFFFFF"/>
                    </a:solidFill>
                  </a:tcPr>
                </a:tc>
                <a:extLst>
                  <a:ext uri="{0D108BD9-81ED-4DB2-BD59-A6C34878D82A}">
                    <a16:rowId xmlns:a16="http://schemas.microsoft.com/office/drawing/2014/main" val="4252030816"/>
                  </a:ext>
                </a:extLst>
              </a:tr>
            </a:tbl>
          </a:graphicData>
        </a:graphic>
      </p:graphicFrame>
    </p:spTree>
    <p:extLst>
      <p:ext uri="{BB962C8B-B14F-4D97-AF65-F5344CB8AC3E}">
        <p14:creationId xmlns:p14="http://schemas.microsoft.com/office/powerpoint/2010/main" val="23697985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436E11-6F64-7A17-FE8D-FF8E17EF239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A1F0203-3159-B3EA-3C91-8052123825C0}"/>
              </a:ext>
            </a:extLst>
          </p:cNvPr>
          <p:cNvSpPr>
            <a:spLocks noGrp="1"/>
          </p:cNvSpPr>
          <p:nvPr>
            <p:ph type="title"/>
          </p:nvPr>
        </p:nvSpPr>
        <p:spPr>
          <a:xfrm>
            <a:off x="572756" y="234585"/>
            <a:ext cx="9957220" cy="850726"/>
          </a:xfrm>
        </p:spPr>
        <p:txBody>
          <a:bodyPr>
            <a:noAutofit/>
          </a:bodyPr>
          <a:lstStyle/>
          <a:p>
            <a:r>
              <a:rPr lang="en-US" sz="3000" dirty="0">
                <a:solidFill>
                  <a:srgbClr val="00539A"/>
                </a:solidFill>
                <a:latin typeface="Arial Bold"/>
                <a:cs typeface="Arial Bold"/>
              </a:rPr>
              <a:t>Test planning and case design using TDD and BDD</a:t>
            </a:r>
          </a:p>
          <a:p>
            <a:endParaRPr lang="en-US" sz="3200" dirty="0">
              <a:cs typeface="Arial Bold"/>
            </a:endParaRPr>
          </a:p>
        </p:txBody>
      </p:sp>
      <p:sp>
        <p:nvSpPr>
          <p:cNvPr id="8" name="Content Placeholder 4">
            <a:extLst>
              <a:ext uri="{FF2B5EF4-FFF2-40B4-BE49-F238E27FC236}">
                <a16:creationId xmlns:a16="http://schemas.microsoft.com/office/drawing/2014/main" id="{5720B179-696D-9BCE-D135-4ECE0E4FD1FD}"/>
              </a:ext>
            </a:extLst>
          </p:cNvPr>
          <p:cNvSpPr txBox="1">
            <a:spLocks/>
          </p:cNvSpPr>
          <p:nvPr/>
        </p:nvSpPr>
        <p:spPr>
          <a:xfrm>
            <a:off x="573087" y="1216025"/>
            <a:ext cx="10659485" cy="4503738"/>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dirty="0">
                <a:solidFill>
                  <a:srgbClr val="111620"/>
                </a:solidFill>
              </a:rPr>
              <a:t>Test plan</a:t>
            </a:r>
            <a:endParaRPr lang="en-US" sz="1800" dirty="0">
              <a:highlight>
                <a:srgbClr val="FFFF00"/>
              </a:highlight>
              <a:ea typeface="+mn-lt"/>
              <a:cs typeface="+mn-lt"/>
            </a:endParaRPr>
          </a:p>
          <a:p>
            <a:pPr marL="0" indent="0">
              <a:buNone/>
            </a:pPr>
            <a:r>
              <a:rPr lang="en-US" sz="1800" dirty="0">
                <a:highlight>
                  <a:srgbClr val="FFFF00"/>
                </a:highlight>
                <a:ea typeface="+mn-lt"/>
                <a:cs typeface="+mn-lt"/>
              </a:rPr>
              <a:t>[Summarize the testing scope, approach, and key activities created in </a:t>
            </a:r>
            <a:r>
              <a:rPr lang="en-US" sz="1800" b="1" dirty="0">
                <a:highlight>
                  <a:srgbClr val="FFFF00"/>
                </a:highlight>
                <a:ea typeface="+mn-lt"/>
                <a:cs typeface="+mn-lt"/>
              </a:rPr>
              <a:t>Lab: Reviewing Test Plans and TDD/BDD Test Cases</a:t>
            </a:r>
            <a:r>
              <a:rPr lang="en-US" sz="1800" dirty="0">
                <a:highlight>
                  <a:srgbClr val="FFFF00"/>
                </a:highlight>
                <a:ea typeface="+mn-lt"/>
                <a:cs typeface="+mn-lt"/>
              </a:rPr>
              <a:t>.</a:t>
            </a:r>
            <a:r>
              <a:rPr lang="en-US" sz="1800" dirty="0">
                <a:solidFill>
                  <a:srgbClr val="111620"/>
                </a:solidFill>
                <a:highlight>
                  <a:srgbClr val="FFFF00"/>
                </a:highlight>
                <a:ea typeface="+mn-lt"/>
                <a:cs typeface="+mn-lt"/>
              </a:rPr>
              <a:t>]</a:t>
            </a:r>
            <a:endParaRPr lang="en-US" sz="1800" dirty="0">
              <a:highlight>
                <a:srgbClr val="FFFF00"/>
              </a:highlight>
              <a:cs typeface="Arial"/>
            </a:endParaRPr>
          </a:p>
        </p:txBody>
      </p:sp>
    </p:spTree>
    <p:extLst>
      <p:ext uri="{BB962C8B-B14F-4D97-AF65-F5344CB8AC3E}">
        <p14:creationId xmlns:p14="http://schemas.microsoft.com/office/powerpoint/2010/main" val="219519315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29FBBB-CD7E-C048-0ADC-572CA35A73E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57B0AD9-5140-3E92-6AA8-463627B3EF56}"/>
              </a:ext>
            </a:extLst>
          </p:cNvPr>
          <p:cNvSpPr>
            <a:spLocks noGrp="1"/>
          </p:cNvSpPr>
          <p:nvPr>
            <p:ph type="title"/>
          </p:nvPr>
        </p:nvSpPr>
        <p:spPr>
          <a:xfrm>
            <a:off x="572756" y="234585"/>
            <a:ext cx="9957220" cy="850726"/>
          </a:xfrm>
        </p:spPr>
        <p:txBody>
          <a:bodyPr>
            <a:noAutofit/>
          </a:bodyPr>
          <a:lstStyle/>
          <a:p>
            <a:r>
              <a:rPr lang="en-US" sz="3000" dirty="0">
                <a:solidFill>
                  <a:srgbClr val="00539A"/>
                </a:solidFill>
                <a:latin typeface="Arial Bold"/>
                <a:cs typeface="Arial Bold"/>
              </a:rPr>
              <a:t>Test planning and case design using TDD and BDD</a:t>
            </a:r>
          </a:p>
          <a:p>
            <a:endParaRPr lang="en-US" sz="3200" dirty="0">
              <a:cs typeface="Arial Bold"/>
            </a:endParaRPr>
          </a:p>
        </p:txBody>
      </p:sp>
      <p:sp>
        <p:nvSpPr>
          <p:cNvPr id="8" name="Content Placeholder 4">
            <a:extLst>
              <a:ext uri="{FF2B5EF4-FFF2-40B4-BE49-F238E27FC236}">
                <a16:creationId xmlns:a16="http://schemas.microsoft.com/office/drawing/2014/main" id="{2500E4EA-AF72-6392-00FA-1C26E597DC41}"/>
              </a:ext>
            </a:extLst>
          </p:cNvPr>
          <p:cNvSpPr txBox="1">
            <a:spLocks/>
          </p:cNvSpPr>
          <p:nvPr/>
        </p:nvSpPr>
        <p:spPr>
          <a:xfrm>
            <a:off x="573087" y="1216025"/>
            <a:ext cx="10659485" cy="4503738"/>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dirty="0">
                <a:solidFill>
                  <a:srgbClr val="111620"/>
                </a:solidFill>
              </a:rPr>
              <a:t>TDD and BDD test cases</a:t>
            </a:r>
            <a:endParaRPr lang="en-US" sz="2400" b="1" dirty="0">
              <a:ea typeface="+mn-lt"/>
              <a:cs typeface="+mn-lt"/>
            </a:endParaRPr>
          </a:p>
          <a:p>
            <a:pPr marL="0" indent="0">
              <a:buNone/>
            </a:pPr>
            <a:r>
              <a:rPr lang="en-US" sz="1800" dirty="0">
                <a:highlight>
                  <a:srgbClr val="FFFF00"/>
                </a:highlight>
                <a:ea typeface="+mn-lt"/>
                <a:cs typeface="+mn-lt"/>
              </a:rPr>
              <a:t>[Provide examples linking requirements to test cases in TDD/BDD format created in </a:t>
            </a:r>
            <a:r>
              <a:rPr lang="en-US" sz="1800" b="1" dirty="0">
                <a:highlight>
                  <a:srgbClr val="FFFF00"/>
                </a:highlight>
                <a:ea typeface="+mn-lt"/>
                <a:cs typeface="+mn-lt"/>
              </a:rPr>
              <a:t>Lab: Reviewing Test Plans and TDD/BDD Test Cases</a:t>
            </a:r>
            <a:r>
              <a:rPr lang="en-US" sz="1800" dirty="0">
                <a:highlight>
                  <a:srgbClr val="FFFF00"/>
                </a:highlight>
                <a:ea typeface="+mn-lt"/>
                <a:cs typeface="+mn-lt"/>
              </a:rPr>
              <a:t>.</a:t>
            </a:r>
            <a:r>
              <a:rPr lang="en-US" sz="1800" dirty="0">
                <a:solidFill>
                  <a:srgbClr val="111620"/>
                </a:solidFill>
                <a:highlight>
                  <a:srgbClr val="FFFF00"/>
                </a:highlight>
                <a:ea typeface="+mn-lt"/>
                <a:cs typeface="+mn-lt"/>
              </a:rPr>
              <a:t>]</a:t>
            </a:r>
            <a:endParaRPr lang="en-US" sz="1800" dirty="0">
              <a:highlight>
                <a:srgbClr val="FFFF00"/>
              </a:highlight>
              <a:cs typeface="Arial"/>
            </a:endParaRPr>
          </a:p>
        </p:txBody>
      </p:sp>
    </p:spTree>
    <p:extLst>
      <p:ext uri="{BB962C8B-B14F-4D97-AF65-F5344CB8AC3E}">
        <p14:creationId xmlns:p14="http://schemas.microsoft.com/office/powerpoint/2010/main" val="260236858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73A200-2DE5-4A75-B23B-D44A04478E3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1A26662-7D55-8D74-DB1C-CE6350E9AE94}"/>
              </a:ext>
            </a:extLst>
          </p:cNvPr>
          <p:cNvSpPr>
            <a:spLocks noGrp="1"/>
          </p:cNvSpPr>
          <p:nvPr>
            <p:ph type="title"/>
          </p:nvPr>
        </p:nvSpPr>
        <p:spPr>
          <a:xfrm>
            <a:off x="572756" y="133943"/>
            <a:ext cx="9813446" cy="850726"/>
          </a:xfrm>
        </p:spPr>
        <p:txBody>
          <a:bodyPr>
            <a:noAutofit/>
          </a:bodyPr>
          <a:lstStyle/>
          <a:p>
            <a:r>
              <a:rPr lang="en-US" sz="3200" dirty="0">
                <a:solidFill>
                  <a:srgbClr val="00539A"/>
                </a:solidFill>
                <a:latin typeface="Arial Bold"/>
                <a:cs typeface="Arial Bold"/>
              </a:rPr>
              <a:t>CI/CD workflow and monitoring plan</a:t>
            </a:r>
            <a:endParaRPr lang="en-US" sz="3200" dirty="0">
              <a:cs typeface="Arial Bold"/>
            </a:endParaRPr>
          </a:p>
        </p:txBody>
      </p:sp>
      <p:sp>
        <p:nvSpPr>
          <p:cNvPr id="8" name="Content Placeholder 4">
            <a:extLst>
              <a:ext uri="{FF2B5EF4-FFF2-40B4-BE49-F238E27FC236}">
                <a16:creationId xmlns:a16="http://schemas.microsoft.com/office/drawing/2014/main" id="{1FD1E875-4172-0570-4CDD-CDE5A56ADD52}"/>
              </a:ext>
            </a:extLst>
          </p:cNvPr>
          <p:cNvSpPr txBox="1">
            <a:spLocks/>
          </p:cNvSpPr>
          <p:nvPr/>
        </p:nvSpPr>
        <p:spPr>
          <a:xfrm>
            <a:off x="573087" y="1216025"/>
            <a:ext cx="10659485" cy="4503738"/>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dirty="0">
                <a:solidFill>
                  <a:srgbClr val="111620"/>
                </a:solidFill>
                <a:ea typeface="+mn-lt"/>
                <a:cs typeface="+mn-lt"/>
              </a:rPr>
              <a:t>CI workflow</a:t>
            </a:r>
            <a:endParaRPr lang="en-US" dirty="0"/>
          </a:p>
          <a:p>
            <a:pPr marL="0" indent="0">
              <a:buNone/>
            </a:pPr>
            <a:r>
              <a:rPr lang="en-US" sz="1800" dirty="0">
                <a:highlight>
                  <a:srgbClr val="FFFF00"/>
                </a:highlight>
                <a:cs typeface="Arial"/>
              </a:rPr>
              <a:t>[</a:t>
            </a:r>
            <a:r>
              <a:rPr lang="en-US" sz="1800" dirty="0">
                <a:highlight>
                  <a:srgbClr val="FFFF00"/>
                </a:highlight>
                <a:ea typeface="+mn-lt"/>
                <a:cs typeface="+mn-lt"/>
              </a:rPr>
              <a:t>Include the CI workflow created in </a:t>
            </a:r>
            <a:r>
              <a:rPr lang="en-US" sz="1800" b="1" dirty="0">
                <a:highlight>
                  <a:srgbClr val="FFFF00"/>
                </a:highlight>
                <a:ea typeface="+mn-lt"/>
                <a:cs typeface="+mn-lt"/>
              </a:rPr>
              <a:t>Lab: Create a CI/CD Pipeline and Monitoring Strategies</a:t>
            </a:r>
            <a:r>
              <a:rPr lang="en-US" sz="1800" dirty="0">
                <a:solidFill>
                  <a:srgbClr val="111620"/>
                </a:solidFill>
                <a:highlight>
                  <a:srgbClr val="FFFF00"/>
                </a:highlight>
                <a:cs typeface="Arial"/>
              </a:rPr>
              <a:t>.</a:t>
            </a:r>
            <a:r>
              <a:rPr lang="en-US" sz="1800" dirty="0">
                <a:highlight>
                  <a:srgbClr val="FFFF00"/>
                </a:highlight>
                <a:cs typeface="Arial"/>
              </a:rPr>
              <a:t>]</a:t>
            </a:r>
          </a:p>
        </p:txBody>
      </p:sp>
    </p:spTree>
    <p:extLst>
      <p:ext uri="{BB962C8B-B14F-4D97-AF65-F5344CB8AC3E}">
        <p14:creationId xmlns:p14="http://schemas.microsoft.com/office/powerpoint/2010/main" val="145408827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B755F1-02E3-1E4B-7867-5E835F85943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B14C28B-256F-4AEF-FF1C-70C9EF3567AC}"/>
              </a:ext>
            </a:extLst>
          </p:cNvPr>
          <p:cNvSpPr>
            <a:spLocks noGrp="1"/>
          </p:cNvSpPr>
          <p:nvPr>
            <p:ph type="title"/>
          </p:nvPr>
        </p:nvSpPr>
        <p:spPr>
          <a:xfrm>
            <a:off x="572756" y="133943"/>
            <a:ext cx="9813446" cy="850726"/>
          </a:xfrm>
        </p:spPr>
        <p:txBody>
          <a:bodyPr>
            <a:noAutofit/>
          </a:bodyPr>
          <a:lstStyle/>
          <a:p>
            <a:r>
              <a:rPr lang="en-US" sz="3200" dirty="0">
                <a:ea typeface="+mj-lt"/>
                <a:cs typeface="+mj-lt"/>
              </a:rPr>
              <a:t>CI/CD workflow and monitoring plan</a:t>
            </a:r>
            <a:endParaRPr lang="en-US" dirty="0"/>
          </a:p>
        </p:txBody>
      </p:sp>
      <p:sp>
        <p:nvSpPr>
          <p:cNvPr id="8" name="Content Placeholder 4">
            <a:extLst>
              <a:ext uri="{FF2B5EF4-FFF2-40B4-BE49-F238E27FC236}">
                <a16:creationId xmlns:a16="http://schemas.microsoft.com/office/drawing/2014/main" id="{33CC5425-C181-DDA7-CA9E-A4AF53248B80}"/>
              </a:ext>
            </a:extLst>
          </p:cNvPr>
          <p:cNvSpPr txBox="1">
            <a:spLocks/>
          </p:cNvSpPr>
          <p:nvPr/>
        </p:nvSpPr>
        <p:spPr>
          <a:xfrm>
            <a:off x="573087" y="1216025"/>
            <a:ext cx="10659485" cy="4503738"/>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dirty="0">
                <a:solidFill>
                  <a:srgbClr val="111620"/>
                </a:solidFill>
                <a:ea typeface="+mn-lt"/>
                <a:cs typeface="+mn-lt"/>
              </a:rPr>
              <a:t>CD pipeline diagram</a:t>
            </a:r>
            <a:endParaRPr lang="en-US" dirty="0"/>
          </a:p>
          <a:p>
            <a:pPr marL="0" indent="0">
              <a:buNone/>
            </a:pPr>
            <a:r>
              <a:rPr lang="en-US" sz="1800" dirty="0">
                <a:highlight>
                  <a:srgbClr val="FFFF00"/>
                </a:highlight>
                <a:cs typeface="Arial"/>
              </a:rPr>
              <a:t>[</a:t>
            </a:r>
            <a:r>
              <a:rPr lang="en-US" sz="1800" dirty="0">
                <a:highlight>
                  <a:srgbClr val="FFFF00"/>
                </a:highlight>
                <a:ea typeface="+mn-lt"/>
                <a:cs typeface="+mn-lt"/>
              </a:rPr>
              <a:t>Include the CD pipeline diagram created in </a:t>
            </a:r>
            <a:r>
              <a:rPr lang="en-US" sz="1800" b="1" dirty="0">
                <a:highlight>
                  <a:srgbClr val="FFFF00"/>
                </a:highlight>
                <a:ea typeface="+mn-lt"/>
                <a:cs typeface="+mn-lt"/>
              </a:rPr>
              <a:t>Lab: Create a CI/CD Pipeline and Monitoring Strategies</a:t>
            </a:r>
            <a:r>
              <a:rPr lang="en-US" sz="1800" dirty="0">
                <a:highlight>
                  <a:srgbClr val="FFFF00"/>
                </a:highlight>
                <a:cs typeface="Arial"/>
              </a:rPr>
              <a:t>.]</a:t>
            </a:r>
          </a:p>
        </p:txBody>
      </p:sp>
    </p:spTree>
    <p:extLst>
      <p:ext uri="{BB962C8B-B14F-4D97-AF65-F5344CB8AC3E}">
        <p14:creationId xmlns:p14="http://schemas.microsoft.com/office/powerpoint/2010/main" val="206807162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53C2BE-DA74-ED08-E165-309E21F2C1F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21EE23E-8BD0-EF64-913E-088148C3C136}"/>
              </a:ext>
            </a:extLst>
          </p:cNvPr>
          <p:cNvSpPr>
            <a:spLocks noGrp="1"/>
          </p:cNvSpPr>
          <p:nvPr>
            <p:ph type="title"/>
          </p:nvPr>
        </p:nvSpPr>
        <p:spPr>
          <a:xfrm>
            <a:off x="572756" y="133943"/>
            <a:ext cx="9813446" cy="850726"/>
          </a:xfrm>
        </p:spPr>
        <p:txBody>
          <a:bodyPr>
            <a:noAutofit/>
          </a:bodyPr>
          <a:lstStyle/>
          <a:p>
            <a:r>
              <a:rPr lang="en-US" sz="3200" dirty="0">
                <a:ea typeface="+mj-lt"/>
                <a:cs typeface="+mj-lt"/>
              </a:rPr>
              <a:t>CI/CD workflow and monitoring plan</a:t>
            </a:r>
            <a:endParaRPr lang="en-US" dirty="0"/>
          </a:p>
        </p:txBody>
      </p:sp>
      <p:sp>
        <p:nvSpPr>
          <p:cNvPr id="8" name="Content Placeholder 4">
            <a:extLst>
              <a:ext uri="{FF2B5EF4-FFF2-40B4-BE49-F238E27FC236}">
                <a16:creationId xmlns:a16="http://schemas.microsoft.com/office/drawing/2014/main" id="{1B9E111D-549D-1D24-DF81-DF9C8D92E8DE}"/>
              </a:ext>
            </a:extLst>
          </p:cNvPr>
          <p:cNvSpPr txBox="1">
            <a:spLocks/>
          </p:cNvSpPr>
          <p:nvPr/>
        </p:nvSpPr>
        <p:spPr>
          <a:xfrm>
            <a:off x="573087" y="1216025"/>
            <a:ext cx="10659485" cy="4503738"/>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dirty="0">
                <a:solidFill>
                  <a:srgbClr val="111620"/>
                </a:solidFill>
                <a:ea typeface="+mn-lt"/>
                <a:cs typeface="+mn-lt"/>
              </a:rPr>
              <a:t>Configuration guides for database, API gateway, CI/CD components</a:t>
            </a:r>
            <a:endParaRPr lang="en-US" dirty="0"/>
          </a:p>
          <a:p>
            <a:pPr marL="0" indent="0">
              <a:buNone/>
            </a:pPr>
            <a:r>
              <a:rPr lang="en-US" sz="1800" dirty="0">
                <a:highlight>
                  <a:srgbClr val="FFFF00"/>
                </a:highlight>
                <a:cs typeface="Arial"/>
              </a:rPr>
              <a:t>[</a:t>
            </a:r>
            <a:r>
              <a:rPr lang="en-US" sz="1800" dirty="0">
                <a:highlight>
                  <a:srgbClr val="FFFF00"/>
                </a:highlight>
                <a:ea typeface="+mn-lt"/>
                <a:cs typeface="+mn-lt"/>
              </a:rPr>
              <a:t>Include the configuration guides for database, API gateway, CI/CD components created in </a:t>
            </a:r>
            <a:r>
              <a:rPr lang="en-US" sz="1800" b="1" dirty="0">
                <a:highlight>
                  <a:srgbClr val="FFFF00"/>
                </a:highlight>
                <a:ea typeface="+mn-lt"/>
                <a:cs typeface="+mn-lt"/>
              </a:rPr>
              <a:t>Lab: Create a CI/CD Pipeline and Monitoring Strategies</a:t>
            </a:r>
            <a:r>
              <a:rPr lang="en-US" sz="1800" dirty="0">
                <a:solidFill>
                  <a:srgbClr val="111620"/>
                </a:solidFill>
                <a:highlight>
                  <a:srgbClr val="FFFF00"/>
                </a:highlight>
                <a:cs typeface="Arial"/>
              </a:rPr>
              <a:t>.</a:t>
            </a:r>
            <a:r>
              <a:rPr lang="en-US" sz="1800" dirty="0">
                <a:highlight>
                  <a:srgbClr val="FFFF00"/>
                </a:highlight>
                <a:cs typeface="Arial"/>
              </a:rPr>
              <a:t>]</a:t>
            </a:r>
          </a:p>
        </p:txBody>
      </p:sp>
    </p:spTree>
    <p:extLst>
      <p:ext uri="{BB962C8B-B14F-4D97-AF65-F5344CB8AC3E}">
        <p14:creationId xmlns:p14="http://schemas.microsoft.com/office/powerpoint/2010/main" val="101360932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34DD35-B3FA-B5AA-F986-ECCEDB57E95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2873621-74FF-2EB6-8184-8F40645F6A55}"/>
              </a:ext>
            </a:extLst>
          </p:cNvPr>
          <p:cNvSpPr>
            <a:spLocks noGrp="1"/>
          </p:cNvSpPr>
          <p:nvPr>
            <p:ph type="title"/>
          </p:nvPr>
        </p:nvSpPr>
        <p:spPr>
          <a:xfrm>
            <a:off x="572756" y="133943"/>
            <a:ext cx="9813446" cy="850726"/>
          </a:xfrm>
        </p:spPr>
        <p:txBody>
          <a:bodyPr>
            <a:noAutofit/>
          </a:bodyPr>
          <a:lstStyle/>
          <a:p>
            <a:r>
              <a:rPr lang="en-US" sz="3200" dirty="0">
                <a:ea typeface="+mj-lt"/>
                <a:cs typeface="+mj-lt"/>
              </a:rPr>
              <a:t>CI/CD workflow and monitoring plan</a:t>
            </a:r>
            <a:endParaRPr lang="en-US" dirty="0"/>
          </a:p>
        </p:txBody>
      </p:sp>
      <p:sp>
        <p:nvSpPr>
          <p:cNvPr id="8" name="Content Placeholder 4">
            <a:extLst>
              <a:ext uri="{FF2B5EF4-FFF2-40B4-BE49-F238E27FC236}">
                <a16:creationId xmlns:a16="http://schemas.microsoft.com/office/drawing/2014/main" id="{7FE39946-25C6-A79A-6335-765303B9FD71}"/>
              </a:ext>
            </a:extLst>
          </p:cNvPr>
          <p:cNvSpPr txBox="1">
            <a:spLocks/>
          </p:cNvSpPr>
          <p:nvPr/>
        </p:nvSpPr>
        <p:spPr>
          <a:xfrm>
            <a:off x="573087" y="1216025"/>
            <a:ext cx="10659485" cy="4503738"/>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dirty="0">
                <a:solidFill>
                  <a:srgbClr val="111620"/>
                </a:solidFill>
                <a:ea typeface="+mn-lt"/>
                <a:cs typeface="+mn-lt"/>
              </a:rPr>
              <a:t>Backup and disaster recovery plan</a:t>
            </a:r>
            <a:endParaRPr lang="en-US" dirty="0"/>
          </a:p>
          <a:p>
            <a:pPr marL="0" indent="0">
              <a:buNone/>
            </a:pPr>
            <a:r>
              <a:rPr lang="en-US" sz="1800" dirty="0">
                <a:highlight>
                  <a:srgbClr val="FFFF00"/>
                </a:highlight>
                <a:cs typeface="Arial"/>
              </a:rPr>
              <a:t>[</a:t>
            </a:r>
            <a:r>
              <a:rPr lang="en-US" sz="1800" dirty="0">
                <a:highlight>
                  <a:srgbClr val="FFFF00"/>
                </a:highlight>
                <a:ea typeface="+mn-lt"/>
                <a:cs typeface="+mn-lt"/>
              </a:rPr>
              <a:t>Include the backup and disaster recovery plan created in </a:t>
            </a:r>
            <a:r>
              <a:rPr lang="en-US" sz="1800" b="1" dirty="0">
                <a:highlight>
                  <a:srgbClr val="FFFF00"/>
                </a:highlight>
                <a:ea typeface="+mn-lt"/>
                <a:cs typeface="+mn-lt"/>
              </a:rPr>
              <a:t>Lab: Create a CI/CD Pipeline and Monitoring Strategies</a:t>
            </a:r>
            <a:r>
              <a:rPr lang="en-US" sz="1800" dirty="0">
                <a:solidFill>
                  <a:srgbClr val="111620"/>
                </a:solidFill>
                <a:highlight>
                  <a:srgbClr val="FFFF00"/>
                </a:highlight>
                <a:cs typeface="Arial"/>
              </a:rPr>
              <a:t>.</a:t>
            </a:r>
            <a:r>
              <a:rPr lang="en-US" sz="1800" dirty="0">
                <a:highlight>
                  <a:srgbClr val="FFFF00"/>
                </a:highlight>
                <a:cs typeface="Arial"/>
              </a:rPr>
              <a:t>]</a:t>
            </a:r>
          </a:p>
        </p:txBody>
      </p:sp>
    </p:spTree>
    <p:extLst>
      <p:ext uri="{BB962C8B-B14F-4D97-AF65-F5344CB8AC3E}">
        <p14:creationId xmlns:p14="http://schemas.microsoft.com/office/powerpoint/2010/main" val="34434208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AC2872-D84D-9BF6-D89F-D405502BB18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418BCBC-A381-19B9-0A86-57945A71A104}"/>
              </a:ext>
            </a:extLst>
          </p:cNvPr>
          <p:cNvSpPr>
            <a:spLocks noGrp="1"/>
          </p:cNvSpPr>
          <p:nvPr>
            <p:ph type="title"/>
          </p:nvPr>
        </p:nvSpPr>
        <p:spPr>
          <a:xfrm>
            <a:off x="572756" y="133943"/>
            <a:ext cx="9813446" cy="850726"/>
          </a:xfrm>
        </p:spPr>
        <p:txBody>
          <a:bodyPr>
            <a:noAutofit/>
          </a:bodyPr>
          <a:lstStyle/>
          <a:p>
            <a:r>
              <a:rPr lang="en-US" sz="3200" dirty="0">
                <a:ea typeface="+mj-lt"/>
                <a:cs typeface="+mj-lt"/>
              </a:rPr>
              <a:t>CI/CD workflow and monitoring plan</a:t>
            </a:r>
            <a:endParaRPr lang="en-US" dirty="0"/>
          </a:p>
        </p:txBody>
      </p:sp>
      <p:sp>
        <p:nvSpPr>
          <p:cNvPr id="8" name="Content Placeholder 4">
            <a:extLst>
              <a:ext uri="{FF2B5EF4-FFF2-40B4-BE49-F238E27FC236}">
                <a16:creationId xmlns:a16="http://schemas.microsoft.com/office/drawing/2014/main" id="{42E4F986-C161-BD4B-A458-C9E3622E4A87}"/>
              </a:ext>
            </a:extLst>
          </p:cNvPr>
          <p:cNvSpPr txBox="1">
            <a:spLocks/>
          </p:cNvSpPr>
          <p:nvPr/>
        </p:nvSpPr>
        <p:spPr>
          <a:xfrm>
            <a:off x="573087" y="1216025"/>
            <a:ext cx="10659485" cy="4503738"/>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dirty="0">
                <a:solidFill>
                  <a:srgbClr val="111620"/>
                </a:solidFill>
                <a:ea typeface="+mn-lt"/>
                <a:cs typeface="+mn-lt"/>
              </a:rPr>
              <a:t>Monitoring framework</a:t>
            </a:r>
            <a:endParaRPr lang="en-US" dirty="0"/>
          </a:p>
          <a:p>
            <a:pPr marL="0" indent="0">
              <a:buNone/>
            </a:pPr>
            <a:r>
              <a:rPr lang="en-US" sz="1800" dirty="0">
                <a:highlight>
                  <a:srgbClr val="FFFF00"/>
                </a:highlight>
                <a:cs typeface="Arial"/>
              </a:rPr>
              <a:t>[</a:t>
            </a:r>
            <a:r>
              <a:rPr lang="en-US" sz="1800" dirty="0">
                <a:highlight>
                  <a:srgbClr val="FFFF00"/>
                </a:highlight>
                <a:ea typeface="+mn-lt"/>
                <a:cs typeface="+mn-lt"/>
              </a:rPr>
              <a:t>Include the monitoring framework created in </a:t>
            </a:r>
            <a:r>
              <a:rPr lang="en-US" sz="1800" b="1" dirty="0">
                <a:highlight>
                  <a:srgbClr val="FFFF00"/>
                </a:highlight>
                <a:ea typeface="+mn-lt"/>
                <a:cs typeface="+mn-lt"/>
              </a:rPr>
              <a:t>Lab: Create a CI/CD Pipeline and Monitoring Strategies</a:t>
            </a:r>
            <a:r>
              <a:rPr lang="en-US" sz="1800" dirty="0">
                <a:solidFill>
                  <a:srgbClr val="111620"/>
                </a:solidFill>
                <a:highlight>
                  <a:srgbClr val="FFFF00"/>
                </a:highlight>
                <a:cs typeface="Arial"/>
              </a:rPr>
              <a:t>.</a:t>
            </a:r>
            <a:r>
              <a:rPr lang="en-US" sz="1800" dirty="0">
                <a:highlight>
                  <a:srgbClr val="FFFF00"/>
                </a:highlight>
                <a:cs typeface="Arial"/>
              </a:rPr>
              <a:t>]</a:t>
            </a:r>
          </a:p>
        </p:txBody>
      </p:sp>
    </p:spTree>
    <p:extLst>
      <p:ext uri="{BB962C8B-B14F-4D97-AF65-F5344CB8AC3E}">
        <p14:creationId xmlns:p14="http://schemas.microsoft.com/office/powerpoint/2010/main" val="176291645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8D3B93-F35E-7579-5718-CA1A37A4AA7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3F2C6B8-4B4F-AD82-3B53-C626C60B429A}"/>
              </a:ext>
            </a:extLst>
          </p:cNvPr>
          <p:cNvSpPr>
            <a:spLocks noGrp="1"/>
          </p:cNvSpPr>
          <p:nvPr>
            <p:ph type="title"/>
          </p:nvPr>
        </p:nvSpPr>
        <p:spPr>
          <a:xfrm>
            <a:off x="572756" y="133943"/>
            <a:ext cx="9813446" cy="850726"/>
          </a:xfrm>
        </p:spPr>
        <p:txBody>
          <a:bodyPr>
            <a:noAutofit/>
          </a:bodyPr>
          <a:lstStyle/>
          <a:p>
            <a:r>
              <a:rPr lang="en-US" sz="3200" dirty="0">
                <a:ea typeface="+mj-lt"/>
                <a:cs typeface="+mj-lt"/>
              </a:rPr>
              <a:t>CI/CD workflow and monitoring plan</a:t>
            </a:r>
            <a:endParaRPr lang="en-US" dirty="0"/>
          </a:p>
        </p:txBody>
      </p:sp>
      <p:sp>
        <p:nvSpPr>
          <p:cNvPr id="8" name="Content Placeholder 4">
            <a:extLst>
              <a:ext uri="{FF2B5EF4-FFF2-40B4-BE49-F238E27FC236}">
                <a16:creationId xmlns:a16="http://schemas.microsoft.com/office/drawing/2014/main" id="{2EE0C3C8-2842-DBD7-6B43-E760E003E237}"/>
              </a:ext>
            </a:extLst>
          </p:cNvPr>
          <p:cNvSpPr txBox="1">
            <a:spLocks/>
          </p:cNvSpPr>
          <p:nvPr/>
        </p:nvSpPr>
        <p:spPr>
          <a:xfrm>
            <a:off x="573087" y="1216025"/>
            <a:ext cx="10659485" cy="4503738"/>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dirty="0">
                <a:solidFill>
                  <a:srgbClr val="111620"/>
                </a:solidFill>
                <a:ea typeface="+mn-lt"/>
                <a:cs typeface="+mn-lt"/>
              </a:rPr>
              <a:t>Cloud components</a:t>
            </a:r>
            <a:endParaRPr lang="en-US" dirty="0"/>
          </a:p>
          <a:p>
            <a:pPr marL="0" indent="0">
              <a:buNone/>
            </a:pPr>
            <a:r>
              <a:rPr lang="en-US" sz="1800" dirty="0">
                <a:highlight>
                  <a:srgbClr val="FFFF00"/>
                </a:highlight>
                <a:cs typeface="Arial"/>
              </a:rPr>
              <a:t>[</a:t>
            </a:r>
            <a:r>
              <a:rPr lang="en-US" sz="1800" dirty="0">
                <a:highlight>
                  <a:srgbClr val="FFFF00"/>
                </a:highlight>
                <a:ea typeface="+mn-lt"/>
                <a:cs typeface="+mn-lt"/>
              </a:rPr>
              <a:t>Include the cloud components created in </a:t>
            </a:r>
            <a:r>
              <a:rPr lang="en-US" sz="1800" b="1" dirty="0">
                <a:highlight>
                  <a:srgbClr val="FFFF00"/>
                </a:highlight>
                <a:ea typeface="+mn-lt"/>
                <a:cs typeface="+mn-lt"/>
              </a:rPr>
              <a:t>Lab: Create a CI/CD Pipeline and Monitoring Strategies</a:t>
            </a:r>
            <a:r>
              <a:rPr lang="en-US" sz="1800" dirty="0">
                <a:solidFill>
                  <a:srgbClr val="111620"/>
                </a:solidFill>
                <a:highlight>
                  <a:srgbClr val="FFFF00"/>
                </a:highlight>
                <a:cs typeface="Arial"/>
              </a:rPr>
              <a:t>.</a:t>
            </a:r>
            <a:r>
              <a:rPr lang="en-US" sz="1800" dirty="0">
                <a:highlight>
                  <a:srgbClr val="FFFF00"/>
                </a:highlight>
                <a:cs typeface="Arial"/>
              </a:rPr>
              <a:t>]</a:t>
            </a:r>
          </a:p>
        </p:txBody>
      </p:sp>
    </p:spTree>
    <p:extLst>
      <p:ext uri="{BB962C8B-B14F-4D97-AF65-F5344CB8AC3E}">
        <p14:creationId xmlns:p14="http://schemas.microsoft.com/office/powerpoint/2010/main" val="126678616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E121CC5-F122-52A3-03A7-4C0CBFE2B73B}"/>
              </a:ext>
            </a:extLst>
          </p:cNvPr>
          <p:cNvSpPr>
            <a:spLocks noGrp="1"/>
          </p:cNvSpPr>
          <p:nvPr>
            <p:ph type="title"/>
          </p:nvPr>
        </p:nvSpPr>
        <p:spPr>
          <a:xfrm>
            <a:off x="1032831" y="2996183"/>
            <a:ext cx="8488117" cy="850726"/>
          </a:xfrm>
        </p:spPr>
        <p:txBody>
          <a:bodyPr/>
          <a:lstStyle/>
          <a:p>
            <a:r>
              <a:rPr lang="en-IN" dirty="0"/>
              <a:t>Findings and Recommendations</a:t>
            </a:r>
          </a:p>
        </p:txBody>
      </p:sp>
    </p:spTree>
    <p:extLst>
      <p:ext uri="{BB962C8B-B14F-4D97-AF65-F5344CB8AC3E}">
        <p14:creationId xmlns:p14="http://schemas.microsoft.com/office/powerpoint/2010/main" val="255574745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AD1E4C-AE37-A76B-3C2C-1A8B247E8A1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B027EF3-E175-97A4-E55A-3F99214BCB8F}"/>
              </a:ext>
            </a:extLst>
          </p:cNvPr>
          <p:cNvSpPr>
            <a:spLocks noGrp="1"/>
          </p:cNvSpPr>
          <p:nvPr>
            <p:ph type="title"/>
          </p:nvPr>
        </p:nvSpPr>
        <p:spPr>
          <a:xfrm>
            <a:off x="572756" y="133943"/>
            <a:ext cx="9813446" cy="850726"/>
          </a:xfrm>
        </p:spPr>
        <p:txBody>
          <a:bodyPr>
            <a:noAutofit/>
          </a:bodyPr>
          <a:lstStyle/>
          <a:p>
            <a:r>
              <a:rPr lang="en-US" sz="3200" dirty="0">
                <a:solidFill>
                  <a:srgbClr val="00539A"/>
                </a:solidFill>
                <a:latin typeface="Arial Bold"/>
                <a:cs typeface="Arial Bold"/>
              </a:rPr>
              <a:t>Key findings</a:t>
            </a:r>
            <a:endParaRPr lang="en-US" dirty="0"/>
          </a:p>
        </p:txBody>
      </p:sp>
      <p:sp>
        <p:nvSpPr>
          <p:cNvPr id="8" name="Content Placeholder 4">
            <a:extLst>
              <a:ext uri="{FF2B5EF4-FFF2-40B4-BE49-F238E27FC236}">
                <a16:creationId xmlns:a16="http://schemas.microsoft.com/office/drawing/2014/main" id="{B7F8757F-14D2-A91B-246F-1E4177D4C520}"/>
              </a:ext>
            </a:extLst>
          </p:cNvPr>
          <p:cNvSpPr txBox="1">
            <a:spLocks/>
          </p:cNvSpPr>
          <p:nvPr/>
        </p:nvSpPr>
        <p:spPr>
          <a:xfrm>
            <a:off x="573087" y="1216025"/>
            <a:ext cx="10659485" cy="4503738"/>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dirty="0">
                <a:highlight>
                  <a:srgbClr val="FFFF00"/>
                </a:highlight>
                <a:ea typeface="+mn-lt"/>
                <a:cs typeface="+mn-lt"/>
              </a:rPr>
              <a:t>[</a:t>
            </a:r>
            <a:r>
              <a:rPr lang="en-US" sz="1800" dirty="0">
                <a:solidFill>
                  <a:srgbClr val="111620"/>
                </a:solidFill>
                <a:highlight>
                  <a:srgbClr val="FFFF00"/>
                </a:highlight>
                <a:ea typeface="+mn-lt"/>
                <a:cs typeface="+mn-lt"/>
              </a:rPr>
              <a:t>Reuse the most significant, data-backed findings from your earlier labs. Keep this to the three most important insights, with metrics where possible.</a:t>
            </a:r>
            <a:r>
              <a:rPr lang="en-US" sz="1800" dirty="0">
                <a:highlight>
                  <a:srgbClr val="FFFF00"/>
                </a:highlight>
                <a:ea typeface="+mn-lt"/>
                <a:cs typeface="+mn-lt"/>
              </a:rPr>
              <a:t>]</a:t>
            </a:r>
          </a:p>
          <a:p>
            <a:pPr marL="0" indent="0">
              <a:buNone/>
            </a:pPr>
            <a:r>
              <a:rPr lang="en-US" sz="1800" dirty="0">
                <a:highlight>
                  <a:srgbClr val="FFFF00"/>
                </a:highlight>
                <a:cs typeface="Arial"/>
              </a:rPr>
              <a:t>1.</a:t>
            </a:r>
            <a:endParaRPr lang="en-US" sz="1800" dirty="0">
              <a:solidFill>
                <a:srgbClr val="111620"/>
              </a:solidFill>
              <a:highlight>
                <a:srgbClr val="FFFF00"/>
              </a:highlight>
              <a:cs typeface="Arial"/>
            </a:endParaRPr>
          </a:p>
          <a:p>
            <a:pPr marL="0" indent="0">
              <a:buNone/>
            </a:pPr>
            <a:r>
              <a:rPr lang="en-US" sz="1800" dirty="0">
                <a:highlight>
                  <a:srgbClr val="FFFF00"/>
                </a:highlight>
                <a:cs typeface="Arial"/>
              </a:rPr>
              <a:t>2.</a:t>
            </a:r>
            <a:endParaRPr lang="en-US" sz="1800" dirty="0">
              <a:solidFill>
                <a:srgbClr val="111620"/>
              </a:solidFill>
              <a:highlight>
                <a:srgbClr val="FFFF00"/>
              </a:highlight>
              <a:cs typeface="Arial"/>
            </a:endParaRPr>
          </a:p>
          <a:p>
            <a:pPr marL="0" indent="0">
              <a:buNone/>
            </a:pPr>
            <a:r>
              <a:rPr lang="en-US" sz="1800" dirty="0">
                <a:highlight>
                  <a:srgbClr val="FFFF00"/>
                </a:highlight>
                <a:cs typeface="Arial"/>
              </a:rPr>
              <a:t>3. </a:t>
            </a:r>
            <a:endParaRPr lang="en-US" dirty="0"/>
          </a:p>
        </p:txBody>
      </p:sp>
    </p:spTree>
    <p:extLst>
      <p:ext uri="{BB962C8B-B14F-4D97-AF65-F5344CB8AC3E}">
        <p14:creationId xmlns:p14="http://schemas.microsoft.com/office/powerpoint/2010/main" val="159482201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338F89-841A-060A-2862-041FEC6864B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C1E832A-5D3E-611B-6EEA-48C31A729DB9}"/>
              </a:ext>
            </a:extLst>
          </p:cNvPr>
          <p:cNvSpPr>
            <a:spLocks noGrp="1"/>
          </p:cNvSpPr>
          <p:nvPr>
            <p:ph type="title"/>
          </p:nvPr>
        </p:nvSpPr>
        <p:spPr>
          <a:xfrm>
            <a:off x="572756" y="133943"/>
            <a:ext cx="9813446" cy="850726"/>
          </a:xfrm>
        </p:spPr>
        <p:txBody>
          <a:bodyPr>
            <a:noAutofit/>
          </a:bodyPr>
          <a:lstStyle/>
          <a:p>
            <a:r>
              <a:rPr lang="en-US" sz="3200" dirty="0">
                <a:solidFill>
                  <a:srgbClr val="00539A"/>
                </a:solidFill>
                <a:latin typeface="Arial Bold"/>
                <a:cs typeface="Arial Bold"/>
              </a:rPr>
              <a:t>Key recommendations</a:t>
            </a:r>
            <a:endParaRPr lang="en-US" dirty="0"/>
          </a:p>
        </p:txBody>
      </p:sp>
      <p:sp>
        <p:nvSpPr>
          <p:cNvPr id="8" name="Content Placeholder 4">
            <a:extLst>
              <a:ext uri="{FF2B5EF4-FFF2-40B4-BE49-F238E27FC236}">
                <a16:creationId xmlns:a16="http://schemas.microsoft.com/office/drawing/2014/main" id="{E91DBB7E-8308-CDF9-F42F-CB5B33C06C63}"/>
              </a:ext>
            </a:extLst>
          </p:cNvPr>
          <p:cNvSpPr txBox="1">
            <a:spLocks/>
          </p:cNvSpPr>
          <p:nvPr/>
        </p:nvSpPr>
        <p:spPr>
          <a:xfrm>
            <a:off x="573087" y="1216025"/>
            <a:ext cx="10659485" cy="4503738"/>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dirty="0">
                <a:highlight>
                  <a:srgbClr val="FFFF00"/>
                </a:highlight>
                <a:ea typeface="+mn-lt"/>
                <a:cs typeface="+mn-lt"/>
              </a:rPr>
              <a:t>[</a:t>
            </a:r>
            <a:r>
              <a:rPr lang="en-US" sz="1800" dirty="0">
                <a:solidFill>
                  <a:srgbClr val="111620"/>
                </a:solidFill>
                <a:highlight>
                  <a:srgbClr val="FFFF00"/>
                </a:highlight>
                <a:ea typeface="+mn-lt"/>
                <a:cs typeface="+mn-lt"/>
              </a:rPr>
              <a:t>Present the top three to four prioritized recommendations from your prior analysis labs. Include a short note on the expected impact for each.</a:t>
            </a:r>
            <a:r>
              <a:rPr lang="en-US" sz="1800" dirty="0">
                <a:highlight>
                  <a:srgbClr val="FFFF00"/>
                </a:highlight>
                <a:ea typeface="+mn-lt"/>
                <a:cs typeface="+mn-lt"/>
              </a:rPr>
              <a:t>]</a:t>
            </a:r>
          </a:p>
          <a:p>
            <a:pPr marL="0" indent="0">
              <a:buNone/>
            </a:pPr>
            <a:r>
              <a:rPr lang="en-US" sz="1800" dirty="0">
                <a:highlight>
                  <a:srgbClr val="FFFF00"/>
                </a:highlight>
                <a:cs typeface="Arial"/>
              </a:rPr>
              <a:t>1.</a:t>
            </a:r>
            <a:endParaRPr lang="en-US" sz="1800" dirty="0">
              <a:solidFill>
                <a:srgbClr val="111620"/>
              </a:solidFill>
              <a:highlight>
                <a:srgbClr val="FFFF00"/>
              </a:highlight>
              <a:cs typeface="Arial"/>
            </a:endParaRPr>
          </a:p>
          <a:p>
            <a:pPr marL="0" indent="0">
              <a:buNone/>
            </a:pPr>
            <a:r>
              <a:rPr lang="en-US" sz="1800" dirty="0">
                <a:highlight>
                  <a:srgbClr val="FFFF00"/>
                </a:highlight>
                <a:cs typeface="Arial"/>
              </a:rPr>
              <a:t>2.</a:t>
            </a:r>
            <a:endParaRPr lang="en-US" sz="1800" dirty="0">
              <a:solidFill>
                <a:srgbClr val="111620"/>
              </a:solidFill>
              <a:highlight>
                <a:srgbClr val="FFFF00"/>
              </a:highlight>
              <a:cs typeface="Arial"/>
            </a:endParaRPr>
          </a:p>
          <a:p>
            <a:pPr marL="0" indent="0">
              <a:buNone/>
            </a:pPr>
            <a:r>
              <a:rPr lang="en-US" sz="1800" dirty="0">
                <a:highlight>
                  <a:srgbClr val="FFFF00"/>
                </a:highlight>
                <a:cs typeface="Arial"/>
              </a:rPr>
              <a:t>3.</a:t>
            </a:r>
            <a:endParaRPr lang="en-US" sz="1800" dirty="0">
              <a:solidFill>
                <a:srgbClr val="111620"/>
              </a:solidFill>
              <a:highlight>
                <a:srgbClr val="FFFF00"/>
              </a:highlight>
              <a:cs typeface="Arial"/>
            </a:endParaRPr>
          </a:p>
          <a:p>
            <a:pPr marL="0" indent="0">
              <a:buNone/>
            </a:pPr>
            <a:r>
              <a:rPr lang="en-US" sz="1800" dirty="0">
                <a:highlight>
                  <a:srgbClr val="FFFF00"/>
                </a:highlight>
                <a:cs typeface="Arial"/>
              </a:rPr>
              <a:t>4. </a:t>
            </a:r>
            <a:endParaRPr lang="en-US" dirty="0"/>
          </a:p>
        </p:txBody>
      </p:sp>
    </p:spTree>
    <p:extLst>
      <p:ext uri="{BB962C8B-B14F-4D97-AF65-F5344CB8AC3E}">
        <p14:creationId xmlns:p14="http://schemas.microsoft.com/office/powerpoint/2010/main" val="411069260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03184B-B96D-AB63-8189-989217693D5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F60873F-EEDF-5FEA-8347-0D9FD92A9648}"/>
              </a:ext>
            </a:extLst>
          </p:cNvPr>
          <p:cNvSpPr>
            <a:spLocks noGrp="1"/>
          </p:cNvSpPr>
          <p:nvPr>
            <p:ph type="title"/>
          </p:nvPr>
        </p:nvSpPr>
        <p:spPr>
          <a:xfrm>
            <a:off x="572756" y="133943"/>
            <a:ext cx="9813446" cy="850726"/>
          </a:xfrm>
        </p:spPr>
        <p:txBody>
          <a:bodyPr>
            <a:noAutofit/>
          </a:bodyPr>
          <a:lstStyle/>
          <a:p>
            <a:r>
              <a:rPr lang="en-US" sz="3200" dirty="0"/>
              <a:t>Conclusion</a:t>
            </a:r>
          </a:p>
        </p:txBody>
      </p:sp>
      <p:sp>
        <p:nvSpPr>
          <p:cNvPr id="8" name="Content Placeholder 4">
            <a:extLst>
              <a:ext uri="{FF2B5EF4-FFF2-40B4-BE49-F238E27FC236}">
                <a16:creationId xmlns:a16="http://schemas.microsoft.com/office/drawing/2014/main" id="{F58C856C-E871-1D81-9531-41D62F571353}"/>
              </a:ext>
            </a:extLst>
          </p:cNvPr>
          <p:cNvSpPr txBox="1">
            <a:spLocks/>
          </p:cNvSpPr>
          <p:nvPr/>
        </p:nvSpPr>
        <p:spPr>
          <a:xfrm>
            <a:off x="573087" y="1216025"/>
            <a:ext cx="10659485" cy="4503738"/>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dirty="0">
                <a:highlight>
                  <a:srgbClr val="FFFF00"/>
                </a:highlight>
              </a:rPr>
              <a:t>[Include a summary of observations in 3–4 bullet points.]</a:t>
            </a:r>
            <a:endParaRPr lang="en-US" sz="1800" dirty="0">
              <a:highlight>
                <a:srgbClr val="FFFF00"/>
              </a:highlight>
              <a:cs typeface="Arial"/>
            </a:endParaRPr>
          </a:p>
          <a:p>
            <a:pPr marL="0" indent="0">
              <a:buNone/>
            </a:pPr>
            <a:r>
              <a:rPr lang="en-US" sz="1800" dirty="0">
                <a:cs typeface="Arial"/>
              </a:rPr>
              <a:t>1.</a:t>
            </a:r>
          </a:p>
          <a:p>
            <a:pPr marL="0" indent="0">
              <a:buNone/>
            </a:pPr>
            <a:r>
              <a:rPr lang="en-US" sz="1800" dirty="0">
                <a:cs typeface="Arial"/>
              </a:rPr>
              <a:t>2.</a:t>
            </a:r>
          </a:p>
          <a:p>
            <a:pPr marL="0" indent="0">
              <a:buNone/>
            </a:pPr>
            <a:r>
              <a:rPr lang="en-US" sz="1800" dirty="0"/>
              <a:t>3.</a:t>
            </a:r>
            <a:endParaRPr lang="en-US" sz="1800" dirty="0">
              <a:cs typeface="Arial"/>
            </a:endParaRPr>
          </a:p>
          <a:p>
            <a:pPr marL="0" indent="0">
              <a:buNone/>
            </a:pPr>
            <a:r>
              <a:rPr lang="en-US" sz="1800" dirty="0">
                <a:cs typeface="Arial"/>
              </a:rPr>
              <a:t>4.</a:t>
            </a:r>
          </a:p>
          <a:p>
            <a:pPr marL="0" indent="0">
              <a:buNone/>
            </a:pPr>
            <a:endParaRPr lang="en-US" sz="2000" dirty="0">
              <a:cs typeface="Arial"/>
            </a:endParaRPr>
          </a:p>
        </p:txBody>
      </p:sp>
    </p:spTree>
    <p:extLst>
      <p:ext uri="{BB962C8B-B14F-4D97-AF65-F5344CB8AC3E}">
        <p14:creationId xmlns:p14="http://schemas.microsoft.com/office/powerpoint/2010/main" val="260740480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7EAEC7-EBC8-986E-26E8-53DFFA2DFCF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61B0814-4448-D6CB-E142-6E930B0C5040}"/>
              </a:ext>
            </a:extLst>
          </p:cNvPr>
          <p:cNvSpPr>
            <a:spLocks noGrp="1"/>
          </p:cNvSpPr>
          <p:nvPr>
            <p:ph type="title"/>
          </p:nvPr>
        </p:nvSpPr>
        <p:spPr>
          <a:xfrm>
            <a:off x="572756" y="133943"/>
            <a:ext cx="9813446" cy="850726"/>
          </a:xfrm>
        </p:spPr>
        <p:txBody>
          <a:bodyPr>
            <a:noAutofit/>
          </a:bodyPr>
          <a:lstStyle/>
          <a:p>
            <a:r>
              <a:rPr lang="en-US" sz="3200" dirty="0"/>
              <a:t>Appendix</a:t>
            </a:r>
          </a:p>
        </p:txBody>
      </p:sp>
      <p:sp>
        <p:nvSpPr>
          <p:cNvPr id="8" name="Content Placeholder 4">
            <a:extLst>
              <a:ext uri="{FF2B5EF4-FFF2-40B4-BE49-F238E27FC236}">
                <a16:creationId xmlns:a16="http://schemas.microsoft.com/office/drawing/2014/main" id="{63448522-74BF-A288-EB52-149299CDAF3A}"/>
              </a:ext>
            </a:extLst>
          </p:cNvPr>
          <p:cNvSpPr txBox="1">
            <a:spLocks/>
          </p:cNvSpPr>
          <p:nvPr/>
        </p:nvSpPr>
        <p:spPr>
          <a:xfrm>
            <a:off x="573087" y="1216024"/>
            <a:ext cx="10659485" cy="5641975"/>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800" dirty="0">
                <a:highlight>
                  <a:srgbClr val="FFFF00"/>
                </a:highlight>
                <a:cs typeface="Arial"/>
              </a:rPr>
              <a:t>1 Develop a project charter</a:t>
            </a:r>
          </a:p>
          <a:p>
            <a:pPr marL="0" indent="0">
              <a:buNone/>
            </a:pPr>
            <a:r>
              <a:rPr lang="en-US" sz="800" dirty="0">
                <a:highlight>
                  <a:srgbClr val="FFFF00"/>
                </a:highlight>
                <a:cs typeface="Arial"/>
              </a:rPr>
              <a:t>2 Develop a stakeholder register</a:t>
            </a:r>
          </a:p>
          <a:p>
            <a:pPr marL="0" indent="0">
              <a:buNone/>
            </a:pPr>
            <a:r>
              <a:rPr lang="en-US" sz="800" dirty="0">
                <a:highlight>
                  <a:srgbClr val="FFFF00"/>
                </a:highlight>
                <a:cs typeface="Arial"/>
              </a:rPr>
              <a:t>3 Develop a stakeholder engagement plan (PMI scale)</a:t>
            </a:r>
          </a:p>
          <a:p>
            <a:pPr marL="0" indent="0">
              <a:buNone/>
            </a:pPr>
            <a:r>
              <a:rPr lang="en-US" sz="800" dirty="0">
                <a:highlight>
                  <a:srgbClr val="FFFF00"/>
                </a:highlight>
                <a:cs typeface="Arial"/>
              </a:rPr>
              <a:t>4 Draft a Business Requirements Document (BRD)</a:t>
            </a:r>
          </a:p>
          <a:p>
            <a:pPr marL="0" indent="0">
              <a:buNone/>
            </a:pPr>
            <a:r>
              <a:rPr lang="en-US" sz="800" dirty="0">
                <a:highlight>
                  <a:srgbClr val="FFFF00"/>
                </a:highlight>
                <a:cs typeface="Arial"/>
              </a:rPr>
              <a:t>5 Elicit requirements via interviews/workshops</a:t>
            </a:r>
          </a:p>
          <a:p>
            <a:pPr marL="0" indent="0">
              <a:buNone/>
            </a:pPr>
            <a:r>
              <a:rPr lang="en-US" sz="800" dirty="0">
                <a:highlight>
                  <a:srgbClr val="FFFF00"/>
                </a:highlight>
                <a:cs typeface="Arial"/>
              </a:rPr>
              <a:t>6 Create a use case diagram and detailed flow descriptions</a:t>
            </a:r>
          </a:p>
          <a:p>
            <a:pPr marL="0" indent="0">
              <a:buNone/>
            </a:pPr>
            <a:r>
              <a:rPr lang="en-US" sz="800" dirty="0">
                <a:highlight>
                  <a:srgbClr val="FFFF00"/>
                </a:highlight>
                <a:cs typeface="Arial"/>
              </a:rPr>
              <a:t>7 Build requirements traceability matrix (RTM)</a:t>
            </a:r>
          </a:p>
          <a:p>
            <a:pPr marL="0" indent="0">
              <a:buNone/>
            </a:pPr>
            <a:r>
              <a:rPr lang="en-US" sz="800" dirty="0">
                <a:highlight>
                  <a:srgbClr val="FFFF00"/>
                </a:highlight>
                <a:cs typeface="Arial"/>
              </a:rPr>
              <a:t>8 Build a work breakdown structure (WBS) and network diagram</a:t>
            </a:r>
          </a:p>
          <a:p>
            <a:pPr marL="0" indent="0">
              <a:buNone/>
            </a:pPr>
            <a:r>
              <a:rPr lang="en-US" sz="800" dirty="0">
                <a:highlight>
                  <a:srgbClr val="FFFF00"/>
                </a:highlight>
                <a:cs typeface="Arial"/>
              </a:rPr>
              <a:t>9 Perform SWOT analysis</a:t>
            </a:r>
          </a:p>
          <a:p>
            <a:pPr marL="0" indent="0">
              <a:buNone/>
            </a:pPr>
            <a:r>
              <a:rPr lang="en-US" sz="800" dirty="0">
                <a:highlight>
                  <a:srgbClr val="FFFF00"/>
                </a:highlight>
                <a:cs typeface="Arial"/>
              </a:rPr>
              <a:t>10 Develop a Risk Register</a:t>
            </a:r>
          </a:p>
          <a:p>
            <a:pPr marL="0" indent="0">
              <a:buNone/>
            </a:pPr>
            <a:r>
              <a:rPr lang="en-US" sz="800" dirty="0">
                <a:highlight>
                  <a:srgbClr val="FFFF00"/>
                </a:highlight>
                <a:cs typeface="Arial"/>
              </a:rPr>
              <a:t>11 Create Process Models and Visualization</a:t>
            </a:r>
          </a:p>
          <a:p>
            <a:pPr marL="0" indent="0">
              <a:buNone/>
            </a:pPr>
            <a:r>
              <a:rPr lang="en-US" sz="800" dirty="0">
                <a:highlight>
                  <a:srgbClr val="FFFF00"/>
                </a:highlight>
                <a:cs typeface="Arial"/>
              </a:rPr>
              <a:t>12 Design initial container topology</a:t>
            </a:r>
          </a:p>
          <a:p>
            <a:pPr marL="0" indent="0">
              <a:buNone/>
            </a:pPr>
            <a:r>
              <a:rPr lang="en-US" sz="800" dirty="0">
                <a:highlight>
                  <a:srgbClr val="FFFF00"/>
                </a:highlight>
                <a:cs typeface="Arial"/>
              </a:rPr>
              <a:t>13 Build </a:t>
            </a:r>
            <a:r>
              <a:rPr lang="en-US" sz="800" dirty="0" err="1">
                <a:highlight>
                  <a:srgbClr val="FFFF00"/>
                </a:highlight>
                <a:cs typeface="Arial"/>
              </a:rPr>
              <a:t>Dockerfiles</a:t>
            </a:r>
            <a:r>
              <a:rPr lang="en-US" sz="800" dirty="0">
                <a:highlight>
                  <a:srgbClr val="FFFF00"/>
                </a:highlight>
                <a:cs typeface="Arial"/>
              </a:rPr>
              <a:t> for three </a:t>
            </a:r>
            <a:r>
              <a:rPr lang="en-US" sz="800" dirty="0" err="1">
                <a:highlight>
                  <a:srgbClr val="FFFF00"/>
                </a:highlight>
                <a:cs typeface="Arial"/>
              </a:rPr>
              <a:t>microservices</a:t>
            </a:r>
            <a:endParaRPr lang="en-US" sz="800" dirty="0">
              <a:highlight>
                <a:srgbClr val="FFFF00"/>
              </a:highlight>
              <a:cs typeface="Arial"/>
            </a:endParaRPr>
          </a:p>
          <a:p>
            <a:pPr marL="0" indent="0">
              <a:buNone/>
            </a:pPr>
            <a:r>
              <a:rPr lang="en-US" sz="800" dirty="0">
                <a:highlight>
                  <a:srgbClr val="FFFF00"/>
                </a:highlight>
                <a:cs typeface="Arial"/>
              </a:rPr>
              <a:t>14 Push Docker images to IBM Cloud Container Registry (ICR)</a:t>
            </a:r>
          </a:p>
          <a:p>
            <a:pPr marL="0" indent="0">
              <a:buNone/>
            </a:pPr>
            <a:r>
              <a:rPr lang="en-US" sz="800" dirty="0">
                <a:highlight>
                  <a:srgbClr val="FFFF00"/>
                </a:highlight>
                <a:cs typeface="Arial"/>
              </a:rPr>
              <a:t>15 Data Flowchart for the Consolidation of Data Infrastructure</a:t>
            </a:r>
          </a:p>
          <a:p>
            <a:pPr marL="0" indent="0">
              <a:buNone/>
            </a:pPr>
            <a:r>
              <a:rPr lang="en-US" sz="800" dirty="0">
                <a:highlight>
                  <a:srgbClr val="FFFF00"/>
                </a:highlight>
                <a:cs typeface="Arial"/>
              </a:rPr>
              <a:t>16 Design EDA Blueprint</a:t>
            </a:r>
          </a:p>
          <a:p>
            <a:pPr marL="0" indent="0">
              <a:buNone/>
            </a:pPr>
            <a:r>
              <a:rPr lang="en-US" sz="800" dirty="0">
                <a:highlight>
                  <a:srgbClr val="FFFF00"/>
                </a:highlight>
                <a:cs typeface="Arial"/>
              </a:rPr>
              <a:t>17 Preparing Capacity Planning </a:t>
            </a:r>
          </a:p>
          <a:p>
            <a:pPr marL="0" indent="0">
              <a:buNone/>
            </a:pPr>
            <a:r>
              <a:rPr lang="en-US" sz="800" dirty="0">
                <a:highlight>
                  <a:srgbClr val="FFFF00"/>
                </a:highlight>
                <a:cs typeface="Arial"/>
              </a:rPr>
              <a:t>18 Creating an Infrastructure Inventory</a:t>
            </a:r>
          </a:p>
          <a:p>
            <a:pPr marL="0" indent="0">
              <a:buNone/>
            </a:pPr>
            <a:r>
              <a:rPr lang="en-US" sz="800" dirty="0">
                <a:highlight>
                  <a:srgbClr val="FFFF00"/>
                </a:highlight>
                <a:cs typeface="Arial"/>
              </a:rPr>
              <a:t>19 Create System Models, Use Cases, and Sequence Diagrams</a:t>
            </a:r>
          </a:p>
          <a:p>
            <a:pPr marL="0" indent="0">
              <a:buNone/>
            </a:pPr>
            <a:r>
              <a:rPr lang="en-US" sz="800" dirty="0">
                <a:highlight>
                  <a:srgbClr val="FFFF00"/>
                </a:highlight>
                <a:cs typeface="Arial"/>
              </a:rPr>
              <a:t>20 Technology Stack Recommendations</a:t>
            </a:r>
          </a:p>
          <a:p>
            <a:pPr marL="0" indent="0">
              <a:buNone/>
            </a:pPr>
            <a:r>
              <a:rPr lang="en-US" sz="800" dirty="0">
                <a:highlight>
                  <a:srgbClr val="FFFF00"/>
                </a:highlight>
                <a:cs typeface="Arial"/>
              </a:rPr>
              <a:t>21 Developing Proof of Concept (</a:t>
            </a:r>
            <a:r>
              <a:rPr lang="en-US" sz="800" dirty="0" err="1">
                <a:highlight>
                  <a:srgbClr val="FFFF00"/>
                </a:highlight>
                <a:cs typeface="Arial"/>
              </a:rPr>
              <a:t>PoC</a:t>
            </a:r>
            <a:r>
              <a:rPr lang="en-US" sz="800" dirty="0">
                <a:highlight>
                  <a:srgbClr val="FFFF00"/>
                </a:highlight>
                <a:cs typeface="Arial"/>
              </a:rPr>
              <a:t>) Reports</a:t>
            </a:r>
          </a:p>
          <a:p>
            <a:pPr marL="0" indent="0">
              <a:buNone/>
            </a:pPr>
            <a:r>
              <a:rPr lang="en-US" sz="800" dirty="0">
                <a:highlight>
                  <a:srgbClr val="FFFF00"/>
                </a:highlight>
                <a:cs typeface="Arial"/>
              </a:rPr>
              <a:t>22 Reviewing Test Plans and Creating TDD/BDD Test Cases</a:t>
            </a:r>
          </a:p>
          <a:p>
            <a:pPr marL="0" indent="0">
              <a:buNone/>
            </a:pPr>
            <a:r>
              <a:rPr lang="en-US" sz="800" dirty="0">
                <a:highlight>
                  <a:srgbClr val="FFFF00"/>
                </a:highlight>
                <a:cs typeface="Arial"/>
              </a:rPr>
              <a:t>23 Create a CI/CD Pipeline and Monitoring Strategy</a:t>
            </a:r>
          </a:p>
          <a:p>
            <a:pPr marL="0" indent="0">
              <a:buNone/>
            </a:pPr>
            <a:r>
              <a:rPr lang="en-US" sz="800" dirty="0">
                <a:highlight>
                  <a:srgbClr val="FFFF00"/>
                </a:highlight>
                <a:cs typeface="Arial"/>
              </a:rPr>
              <a:t>24 Designing Backup and Recovery Plans</a:t>
            </a:r>
          </a:p>
          <a:p>
            <a:pPr marL="0" indent="0">
              <a:buNone/>
            </a:pPr>
            <a:r>
              <a:rPr lang="en-US" sz="800" dirty="0">
                <a:highlight>
                  <a:srgbClr val="FFFF00"/>
                </a:highlight>
                <a:cs typeface="Arial"/>
              </a:rPr>
              <a:t>25 Documenting Configuration for Solution Components</a:t>
            </a:r>
          </a:p>
          <a:p>
            <a:pPr marL="0" indent="0">
              <a:buNone/>
            </a:pPr>
            <a:r>
              <a:rPr lang="en-US" sz="800" dirty="0">
                <a:highlight>
                  <a:srgbClr val="FFFF00"/>
                </a:highlight>
                <a:cs typeface="Arial"/>
              </a:rPr>
              <a:t>26 Documenting APIs and Data Flows</a:t>
            </a:r>
          </a:p>
        </p:txBody>
      </p:sp>
    </p:spTree>
    <p:extLst>
      <p:ext uri="{BB962C8B-B14F-4D97-AF65-F5344CB8AC3E}">
        <p14:creationId xmlns:p14="http://schemas.microsoft.com/office/powerpoint/2010/main" val="4262656106"/>
      </p:ext>
    </p:extLst>
  </p:cSld>
  <p:clrMapOvr>
    <a:masterClrMapping/>
  </p:clrMapOvr>
</p:sld>
</file>

<file path=ppt/theme/theme1.xml><?xml version="1.0" encoding="utf-8"?>
<a:theme xmlns:a="http://schemas.openxmlformats.org/drawingml/2006/main" name="Office Theme">
  <a:themeElements>
    <a:clrScheme name="Custom 2">
      <a:dk1>
        <a:srgbClr val="00539A"/>
      </a:dk1>
      <a:lt1>
        <a:srgbClr val="FFFFFF"/>
      </a:lt1>
      <a:dk2>
        <a:srgbClr val="0F62FE"/>
      </a:dk2>
      <a:lt2>
        <a:srgbClr val="F2F4F8"/>
      </a:lt2>
      <a:accent1>
        <a:srgbClr val="00539A"/>
      </a:accent1>
      <a:accent2>
        <a:srgbClr val="8A3FFC"/>
      </a:accent2>
      <a:accent3>
        <a:srgbClr val="D02670"/>
      </a:accent3>
      <a:accent4>
        <a:srgbClr val="198038"/>
      </a:accent4>
      <a:accent5>
        <a:srgbClr val="A02B93"/>
      </a:accent5>
      <a:accent6>
        <a:srgbClr val="4EA72E"/>
      </a:accent6>
      <a:hlink>
        <a:srgbClr val="467886"/>
      </a:hlink>
      <a:folHlink>
        <a:srgbClr val="96607D"/>
      </a:folHlink>
    </a:clrScheme>
    <a:fontScheme name="Custom 6">
      <a:majorFont>
        <a:latin typeface="Arial Bold"/>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256</TotalTime>
  <Words>4727</Words>
  <Application>Microsoft Office PowerPoint</Application>
  <PresentationFormat>Widescreen</PresentationFormat>
  <Paragraphs>788</Paragraphs>
  <Slides>41</Slides>
  <Notes>1</Notes>
  <HiddenSlides>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41</vt:i4>
      </vt:variant>
    </vt:vector>
  </HeadingPairs>
  <TitlesOfParts>
    <vt:vector size="46" baseType="lpstr">
      <vt:lpstr>Aptos</vt:lpstr>
      <vt:lpstr>Arial</vt:lpstr>
      <vt:lpstr>Arial Bold</vt:lpstr>
      <vt:lpstr>Calibri</vt:lpstr>
      <vt:lpstr>Office Theme</vt:lpstr>
      <vt:lpstr>How to Use This Template</vt:lpstr>
      <vt:lpstr>Modernizing Digital Banking Operations at a Retail Bank</vt:lpstr>
      <vt:lpstr>Table of Contents</vt:lpstr>
      <vt:lpstr>Executive Summary</vt:lpstr>
      <vt:lpstr>Introduction</vt:lpstr>
      <vt:lpstr>Objectives</vt:lpstr>
      <vt:lpstr>Artifacts</vt:lpstr>
      <vt:lpstr>Project Initiation and Stakeholder Engagement</vt:lpstr>
      <vt:lpstr>Project Initiation and Stakeholder Engagement</vt:lpstr>
      <vt:lpstr>Project Initiation and Stakeholder Engagement</vt:lpstr>
      <vt:lpstr>Requirements Gathering</vt:lpstr>
      <vt:lpstr>Requirements Gathering</vt:lpstr>
      <vt:lpstr>Requirements Gathering</vt:lpstr>
      <vt:lpstr>Project Planning and Risk Analysis</vt:lpstr>
      <vt:lpstr>Project Planning and Risk Analysis</vt:lpstr>
      <vt:lpstr>Project Planning and Risk Analysis</vt:lpstr>
      <vt:lpstr>Project Planning and Risk Analysis</vt:lpstr>
      <vt:lpstr>Project Planning and Risk Analysis</vt:lpstr>
      <vt:lpstr>Process Modeling</vt:lpstr>
      <vt:lpstr>System Design</vt:lpstr>
      <vt:lpstr>Proof of Concept (PoC)</vt:lpstr>
      <vt:lpstr>Proof of Concept (PoC)</vt:lpstr>
      <vt:lpstr>Proof of Concept (PoC)</vt:lpstr>
      <vt:lpstr>Database design</vt:lpstr>
      <vt:lpstr>Database design</vt:lpstr>
      <vt:lpstr>Database design</vt:lpstr>
      <vt:lpstr>Database design</vt:lpstr>
      <vt:lpstr>Database design</vt:lpstr>
      <vt:lpstr>Test planning and case design using TDD and BDD </vt:lpstr>
      <vt:lpstr>Test planning and case design using TDD and BDD </vt:lpstr>
      <vt:lpstr>CI/CD workflow and monitoring plan</vt:lpstr>
      <vt:lpstr>CI/CD workflow and monitoring plan</vt:lpstr>
      <vt:lpstr>CI/CD workflow and monitoring plan</vt:lpstr>
      <vt:lpstr>CI/CD workflow and monitoring plan</vt:lpstr>
      <vt:lpstr>CI/CD workflow and monitoring plan</vt:lpstr>
      <vt:lpstr>CI/CD workflow and monitoring plan</vt:lpstr>
      <vt:lpstr>Findings and Recommendations</vt:lpstr>
      <vt:lpstr>Key findings</vt:lpstr>
      <vt:lpstr>Key recommendations</vt:lpstr>
      <vt:lpstr>Conclusion</vt:lpstr>
      <vt:lpstr>Appendix</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to Use This Template</dc:title>
  <dc:creator>Vaishali Rani</dc:creator>
  <cp:lastModifiedBy>Dennis</cp:lastModifiedBy>
  <cp:revision>708</cp:revision>
  <dcterms:created xsi:type="dcterms:W3CDTF">2025-08-12T09:00:23Z</dcterms:created>
  <dcterms:modified xsi:type="dcterms:W3CDTF">2026-02-18T08:40:14Z</dcterms:modified>
</cp:coreProperties>
</file>